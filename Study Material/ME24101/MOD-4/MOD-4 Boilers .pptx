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287" r:id="rId2"/>
    <p:sldId id="289" r:id="rId3"/>
    <p:sldId id="288"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88" autoAdjust="0"/>
    <p:restoredTop sz="94660" autoAdjust="0"/>
  </p:normalViewPr>
  <p:slideViewPr>
    <p:cSldViewPr>
      <p:cViewPr>
        <p:scale>
          <a:sx n="91" d="100"/>
          <a:sy n="91" d="100"/>
        </p:scale>
        <p:origin x="-786" y="-72"/>
      </p:cViewPr>
      <p:guideLst>
        <p:guide orient="horz" pos="2880"/>
        <p:guide pos="2160"/>
      </p:guideLst>
    </p:cSldViewPr>
  </p:slideViewPr>
  <p:outlineViewPr>
    <p:cViewPr>
      <p:scale>
        <a:sx n="33" d="100"/>
        <a:sy n="33" d="100"/>
      </p:scale>
      <p:origin x="0" y="444"/>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AF466F-BDA4-4F18-9C7B-FF0A9A1B0E80}" type="datetime1">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extLst>
      <p:ext uri="{BB962C8B-B14F-4D97-AF65-F5344CB8AC3E}">
        <p14:creationId xmlns="" xmlns:p14="http://schemas.microsoft.com/office/powerpoint/2010/main" val="1304484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F607B-A47E-422C-9BEF-122CCDB7C526}" type="datetime1">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4043183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9A7CB-BEE6-4F99-898E-913F06E8E125}" type="datetime1">
              <a:rPr lang="en-US" smtClean="0"/>
              <a:pPr/>
              <a:t>4/9/2020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541580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EE300C-6FC5-4FC3-AF1A-075E4F50620D}" type="datetime1">
              <a:rPr lang="en-US" smtClean="0"/>
              <a:pPr/>
              <a:t>4/9/2020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3921073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0D295D-4A77-4DEB-B04C-9F4282A8BC04}" type="datetime1">
              <a:rPr lang="en-US" smtClean="0"/>
              <a:pPr/>
              <a:t>4/9/2020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2977760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B28685-4D0C-42D5-8013-B5904CD1FCBC}" type="datetime1">
              <a:rPr lang="en-US" smtClean="0"/>
              <a:pPr/>
              <a:t>4/9/2020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209912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F226C0-9885-4BA9-BBFA-A52CBFEBB775}" type="datetime1">
              <a:rPr lang="en-US" smtClean="0"/>
              <a:pPr/>
              <a:t>4/9/2020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1021736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EE1B38-C5EB-4D66-9137-0AFE9CDEDE8F}" type="datetime1">
              <a:rPr lang="en-US" smtClean="0"/>
              <a:pPr/>
              <a:t>4/9/2020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4260214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7B613C-1AD7-49D3-885D-F654C5CDBAA6}" type="datetime1">
              <a:rPr lang="en-US" smtClean="0"/>
              <a:pPr/>
              <a:t>4/9/2020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Tree>
    <p:extLst>
      <p:ext uri="{BB962C8B-B14F-4D97-AF65-F5344CB8AC3E}">
        <p14:creationId xmlns="" xmlns:p14="http://schemas.microsoft.com/office/powerpoint/2010/main" val="108179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FB4290-6522-4139-852E-05BD9E7F0D2E}" type="datetime1">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523768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B955F9-81EA-47C5-8059-9E5C2B437C70}" type="datetime1">
              <a:rPr lang="en-US" smtClean="0"/>
              <a:pPr/>
              <a:t>4/9/2020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extLst>
      <p:ext uri="{BB962C8B-B14F-4D97-AF65-F5344CB8AC3E}">
        <p14:creationId xmlns="" xmlns:p14="http://schemas.microsoft.com/office/powerpoint/2010/main" val="290143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7B613C-1AD7-49D3-885D-F654C5CDBAA6}" type="datetime1">
              <a:rPr lang="en-US" smtClean="0"/>
              <a:pPr/>
              <a:t>4/9/2020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2D2B3B-882E-40F3-A32F-6DD516915044}" type="slidenum">
              <a:rPr lang="en-US" smtClean="0"/>
              <a:pPr/>
              <a:t>‹#›</a:t>
            </a:fld>
            <a:endParaRPr lang="en-US" dirty="0"/>
          </a:p>
        </p:txBody>
      </p:sp>
    </p:spTree>
    <p:extLst>
      <p:ext uri="{BB962C8B-B14F-4D97-AF65-F5344CB8AC3E}">
        <p14:creationId xmlns="" xmlns:p14="http://schemas.microsoft.com/office/powerpoint/2010/main" val="1044900449"/>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2.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4.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2.png"/><Relationship Id="rId7" Type="http://schemas.openxmlformats.org/officeDocument/2006/relationships/image" Target="../media/image43.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2.png"/><Relationship Id="rId7" Type="http://schemas.openxmlformats.org/officeDocument/2006/relationships/image" Target="../media/image4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2.png"/><Relationship Id="rId7" Type="http://schemas.openxmlformats.org/officeDocument/2006/relationships/image" Target="../media/image4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jpeg"/><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2.png"/><Relationship Id="rId7" Type="http://schemas.openxmlformats.org/officeDocument/2006/relationships/image" Target="../media/image5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2.png"/><Relationship Id="rId7" Type="http://schemas.openxmlformats.org/officeDocument/2006/relationships/image" Target="../media/image53.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2.png"/><Relationship Id="rId7" Type="http://schemas.openxmlformats.org/officeDocument/2006/relationships/image" Target="../media/image5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7.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8.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9.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png"/><Relationship Id="rId7"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png"/><Relationship Id="rId7"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png"/><Relationship Id="rId7"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492500" y="622300"/>
            <a:ext cx="1689100" cy="596900"/>
          </a:xfrm>
          <a:prstGeom prst="rect">
            <a:avLst/>
          </a:prstGeom>
        </p:spPr>
        <p:txBody>
          <a:bodyPr wrap="square" lIns="0" tIns="29210" rIns="0" bIns="0" rtlCol="0">
            <a:noAutofit/>
          </a:bodyPr>
          <a:lstStyle/>
          <a:p>
            <a:pPr marL="12700" algn="ctr">
              <a:lnSpc>
                <a:spcPts val="4600"/>
              </a:lnSpc>
            </a:pPr>
            <a:r>
              <a:rPr lang="en-GB" sz="4500" b="1" spc="-12" dirty="0" smtClean="0">
                <a:solidFill>
                  <a:srgbClr val="04607A"/>
                </a:solidFill>
                <a:latin typeface="Calibri"/>
                <a:cs typeface="Calibri"/>
              </a:rPr>
              <a:t>Boilers</a:t>
            </a:r>
            <a:endParaRPr sz="4500">
              <a:latin typeface="Calibri"/>
              <a:cs typeface="Calibri"/>
            </a:endParaRPr>
          </a:p>
        </p:txBody>
      </p:sp>
      <p:sp>
        <p:nvSpPr>
          <p:cNvPr id="3" name="object 3"/>
          <p:cNvSpPr txBox="1"/>
          <p:nvPr/>
        </p:nvSpPr>
        <p:spPr>
          <a:xfrm>
            <a:off x="609600" y="1447800"/>
            <a:ext cx="8001000" cy="4648200"/>
          </a:xfrm>
          <a:prstGeom prst="rect">
            <a:avLst/>
          </a:prstGeom>
        </p:spPr>
        <p:txBody>
          <a:bodyPr wrap="square" lIns="0" tIns="17526" rIns="0" bIns="0" rtlCol="0">
            <a:noAutofit/>
          </a:bodyPr>
          <a:lstStyle/>
          <a:p>
            <a:pPr marL="12700" marR="44254">
              <a:lnSpc>
                <a:spcPts val="2760"/>
              </a:lnSpc>
            </a:pPr>
            <a:r>
              <a:rPr lang="en-GB" sz="2600" spc="-1" dirty="0" smtClean="0">
                <a:latin typeface="Times New Roman"/>
                <a:cs typeface="Times New Roman"/>
              </a:rPr>
              <a:t>Boiler is defined as a closed metallic vessel in which water is heated beyond the boiling stage by the application of heat liberated by the combustion of fuels and converted into steam.</a:t>
            </a:r>
            <a:endParaRPr sz="2600">
              <a:latin typeface="Times New Roman"/>
              <a:cs typeface="Times New Roman"/>
            </a:endParaRPr>
          </a:p>
          <a:p>
            <a:pPr marL="12700">
              <a:lnSpc>
                <a:spcPct val="100041"/>
              </a:lnSpc>
              <a:spcBef>
                <a:spcPts val="616"/>
              </a:spcBef>
            </a:pPr>
            <a:r>
              <a:rPr lang="en-GB" sz="2600" b="1" dirty="0" smtClean="0">
                <a:latin typeface="Times New Roman"/>
                <a:cs typeface="Times New Roman"/>
              </a:rPr>
              <a:t>Function:</a:t>
            </a:r>
          </a:p>
          <a:p>
            <a:pPr marL="12700">
              <a:lnSpc>
                <a:spcPct val="100041"/>
              </a:lnSpc>
              <a:spcBef>
                <a:spcPts val="616"/>
              </a:spcBef>
              <a:buFont typeface="Arial" pitchFamily="34" charset="0"/>
              <a:buChar char="•"/>
            </a:pPr>
            <a:r>
              <a:rPr lang="en-GB" sz="2600" dirty="0" smtClean="0">
                <a:latin typeface="Times New Roman"/>
                <a:cs typeface="Times New Roman"/>
              </a:rPr>
              <a:t>Supply the steam at required constant pressure with its quality either dry, or nearly as dry, or superheated.</a:t>
            </a:r>
          </a:p>
          <a:p>
            <a:pPr marL="12700">
              <a:lnSpc>
                <a:spcPct val="100041"/>
              </a:lnSpc>
              <a:spcBef>
                <a:spcPts val="616"/>
              </a:spcBef>
              <a:buFont typeface="Arial" pitchFamily="34" charset="0"/>
              <a:buChar char="•"/>
            </a:pPr>
            <a:r>
              <a:rPr lang="en-GB" sz="2600" dirty="0" smtClean="0">
                <a:latin typeface="Times New Roman"/>
                <a:cs typeface="Times New Roman"/>
              </a:rPr>
              <a:t>Steam can be supplied at constant pressure by maintaining the steam generation rate and steam flow rate equal. </a:t>
            </a:r>
            <a:endParaRPr sz="260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Classification on the basis of Principle of Working</a:t>
            </a:r>
            <a:endParaRPr sz="4000">
              <a:latin typeface="Calibri"/>
              <a:cs typeface="Calibri"/>
            </a:endParaRPr>
          </a:p>
        </p:txBody>
      </p:sp>
      <p:sp>
        <p:nvSpPr>
          <p:cNvPr id="3" name="object 3"/>
          <p:cNvSpPr txBox="1"/>
          <p:nvPr/>
        </p:nvSpPr>
        <p:spPr>
          <a:xfrm>
            <a:off x="685800" y="2514600"/>
            <a:ext cx="8001000" cy="3505200"/>
          </a:xfrm>
          <a:prstGeom prst="rect">
            <a:avLst/>
          </a:prstGeom>
        </p:spPr>
        <p:txBody>
          <a:bodyPr wrap="square" lIns="0" tIns="17526" rIns="0" bIns="0" rtlCol="0">
            <a:noAutofit/>
          </a:bodyPr>
          <a:lstStyle/>
          <a:p>
            <a:pPr marL="527050" marR="44254" indent="-514350">
              <a:lnSpc>
                <a:spcPts val="2760"/>
              </a:lnSpc>
            </a:pPr>
            <a:r>
              <a:rPr lang="en-GB" sz="2600" b="1" dirty="0" smtClean="0">
                <a:latin typeface="Times New Roman"/>
                <a:cs typeface="Times New Roman"/>
              </a:rPr>
              <a:t>1) Fire Tube Boilers:</a:t>
            </a:r>
          </a:p>
          <a:p>
            <a:pPr marL="527050" marR="44254" indent="-514350">
              <a:lnSpc>
                <a:spcPts val="2760"/>
              </a:lnSpc>
              <a:buFont typeface="Arial" pitchFamily="34" charset="0"/>
              <a:buChar char="•"/>
            </a:pPr>
            <a:r>
              <a:rPr lang="en-GB" sz="2600" dirty="0" smtClean="0">
                <a:latin typeface="Times New Roman"/>
                <a:cs typeface="Times New Roman"/>
              </a:rPr>
              <a:t>Hot flue gases produced by the combustion of fuels are led through a nest of tubes around which the water circulates</a:t>
            </a:r>
          </a:p>
          <a:p>
            <a:pPr marL="527050" marR="44254" indent="-514350">
              <a:lnSpc>
                <a:spcPts val="2760"/>
              </a:lnSpc>
              <a:buFont typeface="Arial" pitchFamily="34" charset="0"/>
              <a:buChar char="•"/>
            </a:pPr>
            <a:r>
              <a:rPr lang="en-GB" sz="2600" dirty="0" smtClean="0">
                <a:latin typeface="Times New Roman"/>
                <a:cs typeface="Times New Roman"/>
              </a:rPr>
              <a:t>Suitable for steady working pressures </a:t>
            </a:r>
            <a:r>
              <a:rPr lang="en-GB" sz="2600" dirty="0" err="1" smtClean="0">
                <a:latin typeface="Times New Roman"/>
                <a:cs typeface="Times New Roman"/>
              </a:rPr>
              <a:t>upto</a:t>
            </a:r>
            <a:r>
              <a:rPr lang="en-GB" sz="2600" dirty="0" smtClean="0">
                <a:latin typeface="Times New Roman"/>
                <a:cs typeface="Times New Roman"/>
              </a:rPr>
              <a:t> 20 bar.</a:t>
            </a:r>
          </a:p>
          <a:p>
            <a:pPr marL="527050" marR="44254" indent="-514350">
              <a:lnSpc>
                <a:spcPts val="2760"/>
              </a:lnSpc>
              <a:buFont typeface="Arial" pitchFamily="34" charset="0"/>
              <a:buChar char="•"/>
            </a:pPr>
            <a:r>
              <a:rPr lang="en-GB" sz="2600" dirty="0" smtClean="0">
                <a:latin typeface="Times New Roman"/>
                <a:cs typeface="Times New Roman"/>
              </a:rPr>
              <a:t>Examples are Cochran boiler, Cornish boiler, Lancashire boiler, Locomotive boiler and Scotch Marine Boiler.</a:t>
            </a:r>
          </a:p>
          <a:p>
            <a:pPr marL="527050" marR="44254" indent="-514350">
              <a:lnSpc>
                <a:spcPts val="2760"/>
              </a:lnSpc>
            </a:pPr>
            <a:endParaRPr lang="en-GB" sz="2600" dirty="0" smtClean="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Classification on the basis of Principle of Working</a:t>
            </a:r>
            <a:endParaRPr sz="4000">
              <a:latin typeface="Calibri"/>
              <a:cs typeface="Calibri"/>
            </a:endParaRPr>
          </a:p>
        </p:txBody>
      </p:sp>
      <p:sp>
        <p:nvSpPr>
          <p:cNvPr id="3" name="object 3"/>
          <p:cNvSpPr txBox="1"/>
          <p:nvPr/>
        </p:nvSpPr>
        <p:spPr>
          <a:xfrm>
            <a:off x="685800" y="2133600"/>
            <a:ext cx="8001000" cy="4419600"/>
          </a:xfrm>
          <a:prstGeom prst="rect">
            <a:avLst/>
          </a:prstGeom>
        </p:spPr>
        <p:txBody>
          <a:bodyPr wrap="square" lIns="0" tIns="17526" rIns="0" bIns="0" rtlCol="0">
            <a:noAutofit/>
          </a:bodyPr>
          <a:lstStyle/>
          <a:p>
            <a:pPr marL="527050" marR="44254" indent="-514350">
              <a:lnSpc>
                <a:spcPts val="2760"/>
              </a:lnSpc>
            </a:pPr>
            <a:endParaRPr lang="en-GB" sz="2600" dirty="0" smtClean="0">
              <a:latin typeface="Times New Roman"/>
              <a:cs typeface="Times New Roman"/>
            </a:endParaRPr>
          </a:p>
          <a:p>
            <a:pPr marL="527050" marR="44254" indent="-514350">
              <a:lnSpc>
                <a:spcPts val="2760"/>
              </a:lnSpc>
            </a:pPr>
            <a:r>
              <a:rPr lang="en-GB" sz="2600" b="1" dirty="0" smtClean="0">
                <a:latin typeface="Times New Roman"/>
                <a:cs typeface="Times New Roman"/>
              </a:rPr>
              <a:t>2) Water Tube Boilers:</a:t>
            </a:r>
          </a:p>
          <a:p>
            <a:pPr marL="527050" marR="44254" indent="-514350">
              <a:lnSpc>
                <a:spcPts val="2760"/>
              </a:lnSpc>
              <a:buFont typeface="Arial" pitchFamily="34" charset="0"/>
              <a:buChar char="•"/>
            </a:pPr>
            <a:r>
              <a:rPr lang="en-GB" sz="2600" dirty="0" smtClean="0">
                <a:latin typeface="Times New Roman"/>
                <a:cs typeface="Times New Roman"/>
              </a:rPr>
              <a:t>Water circulates inside the tubes while the hot gases produced by the combustion of fuels pass over them externally</a:t>
            </a:r>
          </a:p>
          <a:p>
            <a:pPr marL="527050" marR="44254" indent="-514350">
              <a:lnSpc>
                <a:spcPts val="2760"/>
              </a:lnSpc>
              <a:buFont typeface="Arial" pitchFamily="34" charset="0"/>
              <a:buChar char="•"/>
            </a:pPr>
            <a:r>
              <a:rPr lang="en-GB" sz="2600" dirty="0" smtClean="0">
                <a:latin typeface="Times New Roman"/>
                <a:cs typeface="Times New Roman"/>
              </a:rPr>
              <a:t>More suitable for generation of steam at very high pressures.</a:t>
            </a:r>
          </a:p>
          <a:p>
            <a:pPr marL="527050" marR="44254" indent="-514350">
              <a:lnSpc>
                <a:spcPts val="2760"/>
              </a:lnSpc>
              <a:buFont typeface="Arial" pitchFamily="34" charset="0"/>
              <a:buChar char="•"/>
            </a:pPr>
            <a:r>
              <a:rPr lang="en-GB" sz="2600" dirty="0" smtClean="0">
                <a:latin typeface="Times New Roman"/>
                <a:cs typeface="Times New Roman"/>
              </a:rPr>
              <a:t>Examples are Babcock and </a:t>
            </a:r>
            <a:r>
              <a:rPr lang="en-GB" sz="2600" dirty="0" err="1" smtClean="0">
                <a:latin typeface="Times New Roman"/>
                <a:cs typeface="Times New Roman"/>
              </a:rPr>
              <a:t>Wilcocx</a:t>
            </a:r>
            <a:r>
              <a:rPr lang="en-GB" sz="2600" dirty="0" smtClean="0">
                <a:latin typeface="Times New Roman"/>
                <a:cs typeface="Times New Roman"/>
              </a:rPr>
              <a:t> Boiler, Stirling Boiler </a:t>
            </a:r>
          </a:p>
          <a:p>
            <a:pPr marL="527050" marR="44254" indent="-514350">
              <a:lnSpc>
                <a:spcPts val="2760"/>
              </a:lnSpc>
            </a:pPr>
            <a:endParaRPr lang="en-GB" sz="2600" dirty="0" smtClean="0">
              <a:latin typeface="Times New Roman"/>
              <a:cs typeface="Times New Roman"/>
            </a:endParaRPr>
          </a:p>
          <a:p>
            <a:pPr marL="527050" marR="44254" indent="-514350">
              <a:lnSpc>
                <a:spcPts val="2760"/>
              </a:lnSpc>
            </a:pPr>
            <a:r>
              <a:rPr lang="en-GB" sz="2600" dirty="0" smtClean="0">
                <a:latin typeface="Times New Roman"/>
                <a:cs typeface="Times New Roman"/>
              </a:rPr>
              <a:t>	</a:t>
            </a:r>
          </a:p>
          <a:p>
            <a:pPr marL="527050" marR="44254" indent="-514350">
              <a:lnSpc>
                <a:spcPts val="2760"/>
              </a:lnSpc>
            </a:pPr>
            <a:endParaRPr sz="260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Cochran Boiler</a:t>
            </a:r>
            <a:endParaRPr sz="4000">
              <a:latin typeface="Calibri"/>
              <a:cs typeface="Calibri"/>
            </a:endParaRPr>
          </a:p>
        </p:txBody>
      </p:sp>
      <p:sp>
        <p:nvSpPr>
          <p:cNvPr id="3" name="object 3"/>
          <p:cNvSpPr txBox="1"/>
          <p:nvPr/>
        </p:nvSpPr>
        <p:spPr>
          <a:xfrm>
            <a:off x="304800" y="1295400"/>
            <a:ext cx="8534400" cy="5410200"/>
          </a:xfrm>
          <a:prstGeom prst="rect">
            <a:avLst/>
          </a:prstGeom>
        </p:spPr>
        <p:txBody>
          <a:bodyPr wrap="square" lIns="0" tIns="17526" rIns="0" bIns="0" rtlCol="0">
            <a:noAutofit/>
          </a:bodyPr>
          <a:lstStyle/>
          <a:p>
            <a:pPr marL="527050" marR="44254" indent="-514350">
              <a:lnSpc>
                <a:spcPts val="2760"/>
              </a:lnSpc>
            </a:pPr>
            <a:r>
              <a:rPr lang="en-GB" sz="2600" dirty="0" smtClean="0">
                <a:latin typeface="Times New Roman"/>
                <a:cs typeface="Times New Roman"/>
              </a:rPr>
              <a:t>	A type of vertical, multi-tubular, internally fired, natural circulation, fire tube boiler.</a:t>
            </a:r>
          </a:p>
          <a:p>
            <a:pPr marL="527050" marR="44254" indent="-514350">
              <a:lnSpc>
                <a:spcPts val="2760"/>
              </a:lnSpc>
            </a:pPr>
            <a:r>
              <a:rPr lang="en-GB" sz="2600" dirty="0" smtClean="0">
                <a:latin typeface="Times New Roman"/>
                <a:cs typeface="Times New Roman"/>
              </a:rPr>
              <a:t> </a:t>
            </a:r>
          </a:p>
          <a:p>
            <a:pPr marL="527050" marR="44254" indent="-514350">
              <a:lnSpc>
                <a:spcPts val="2760"/>
              </a:lnSpc>
              <a:buFont typeface="Arial" pitchFamily="34" charset="0"/>
              <a:buChar char="•"/>
            </a:pPr>
            <a:endParaRPr sz="260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0" name="Picture 9" descr="IMG_20181030_115647.jpg"/>
          <p:cNvPicPr>
            <a:picLocks noChangeAspect="1"/>
          </p:cNvPicPr>
          <p:nvPr/>
        </p:nvPicPr>
        <p:blipFill>
          <a:blip r:embed="rId7" cstate="print"/>
          <a:stretch>
            <a:fillRect/>
          </a:stretch>
        </p:blipFill>
        <p:spPr>
          <a:xfrm>
            <a:off x="1447800" y="1981200"/>
            <a:ext cx="6248400" cy="46863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Construction of Cochran Boiler</a:t>
            </a:r>
            <a:endParaRPr sz="40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400" dirty="0" smtClean="0">
                <a:latin typeface="Times New Roman"/>
                <a:cs typeface="Times New Roman"/>
              </a:rPr>
              <a:t>This boiler consists of a vertical cylindrical shell, fitted with a hemispherical crown at its top which forms the steam space, and a hemispherical dome which forms the fire box.</a:t>
            </a:r>
          </a:p>
          <a:p>
            <a:pPr marL="527050" marR="44254" indent="-514350">
              <a:lnSpc>
                <a:spcPts val="2760"/>
              </a:lnSpc>
              <a:buFont typeface="Arial" pitchFamily="34" charset="0"/>
              <a:buChar char="•"/>
            </a:pPr>
            <a:r>
              <a:rPr lang="en-GB" sz="2400" dirty="0" smtClean="0">
                <a:latin typeface="Times New Roman"/>
                <a:cs typeface="Times New Roman"/>
              </a:rPr>
              <a:t>The platform over which the fuel burns is called fire gate. Beneath it is the ash pit which facilitates collection of ashes.</a:t>
            </a:r>
          </a:p>
          <a:p>
            <a:pPr marL="527050" marR="44254" indent="-514350">
              <a:lnSpc>
                <a:spcPts val="2760"/>
              </a:lnSpc>
              <a:buFont typeface="Arial" pitchFamily="34" charset="0"/>
              <a:buChar char="•"/>
            </a:pPr>
            <a:r>
              <a:rPr lang="en-GB" sz="2400" dirty="0" smtClean="0">
                <a:latin typeface="Times New Roman"/>
                <a:cs typeface="Times New Roman"/>
              </a:rPr>
              <a:t>Fuel is charged through the fire door. The combustion chamber is lined with fire bricks which prevents over heating of the combustion chamber plate. </a:t>
            </a:r>
          </a:p>
          <a:p>
            <a:pPr marL="527050" marR="44254" indent="-514350">
              <a:lnSpc>
                <a:spcPts val="2760"/>
              </a:lnSpc>
              <a:buFont typeface="Arial" pitchFamily="34" charset="0"/>
              <a:buChar char="•"/>
            </a:pPr>
            <a:r>
              <a:rPr lang="en-GB" sz="2400" dirty="0" smtClean="0">
                <a:latin typeface="Times New Roman"/>
                <a:cs typeface="Times New Roman"/>
              </a:rPr>
              <a:t>Number of flue tubes connect the combustion chamber and the smoke box. The chimney serves for the escape of gases.</a:t>
            </a:r>
          </a:p>
          <a:p>
            <a:pPr marL="527050" marR="44254" indent="-514350">
              <a:lnSpc>
                <a:spcPts val="2760"/>
              </a:lnSpc>
              <a:buFont typeface="Arial" pitchFamily="34" charset="0"/>
              <a:buChar char="•"/>
            </a:pPr>
            <a:r>
              <a:rPr lang="en-GB" sz="2400" dirty="0" smtClean="0">
                <a:latin typeface="Times New Roman"/>
                <a:cs typeface="Times New Roman"/>
              </a:rPr>
              <a:t>The man hole facilitates inspection and repair of the interior of the boiler.</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Working of Cochran Boiler</a:t>
            </a:r>
            <a:endParaRPr sz="40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200" dirty="0" smtClean="0">
                <a:latin typeface="Times New Roman"/>
                <a:cs typeface="Times New Roman"/>
              </a:rPr>
              <a:t>The boiler is filled with water to the specified level and maintained by charging with makeup water using a feed water pump. The flue tubes and the entire surface of the furnace except the openings are completely submerged under water.</a:t>
            </a:r>
          </a:p>
          <a:p>
            <a:pPr marL="527050" marR="44254" indent="-514350">
              <a:lnSpc>
                <a:spcPts val="2760"/>
              </a:lnSpc>
              <a:buFont typeface="Arial" pitchFamily="34" charset="0"/>
              <a:buChar char="•"/>
            </a:pPr>
            <a:r>
              <a:rPr lang="en-GB" sz="2200" dirty="0" smtClean="0">
                <a:latin typeface="Times New Roman"/>
                <a:cs typeface="Times New Roman"/>
              </a:rPr>
              <a:t> The hot gases from the furnace along with </a:t>
            </a:r>
            <a:r>
              <a:rPr lang="en-GB" sz="2200" dirty="0" err="1" smtClean="0">
                <a:latin typeface="Times New Roman"/>
                <a:cs typeface="Times New Roman"/>
              </a:rPr>
              <a:t>unburnt</a:t>
            </a:r>
            <a:r>
              <a:rPr lang="en-GB" sz="2200" dirty="0" smtClean="0">
                <a:latin typeface="Times New Roman"/>
                <a:cs typeface="Times New Roman"/>
              </a:rPr>
              <a:t> volatile matter pass to the combustion chamber through the elliptical flue tube for complete combustion. They then pass through the horizontal flue tubes to the smoke box and escape to the atmosphere through the chimney.</a:t>
            </a:r>
          </a:p>
          <a:p>
            <a:pPr marL="527050" marR="44254" indent="-514350">
              <a:lnSpc>
                <a:spcPts val="2760"/>
              </a:lnSpc>
              <a:buFont typeface="Arial" pitchFamily="34" charset="0"/>
              <a:buChar char="•"/>
            </a:pPr>
            <a:r>
              <a:rPr lang="en-GB" sz="2200" dirty="0" smtClean="0">
                <a:latin typeface="Times New Roman"/>
                <a:cs typeface="Times New Roman"/>
              </a:rPr>
              <a:t>The hot gasses while passing through the flue tubes transfer their heat to the water which is also heated in the furnace directly. The steam generated gets accumulated in the steam space.</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3200" b="1" spc="-12" dirty="0" smtClean="0">
                <a:solidFill>
                  <a:srgbClr val="04607A"/>
                </a:solidFill>
                <a:latin typeface="Calibri"/>
                <a:cs typeface="Calibri"/>
              </a:rPr>
              <a:t>Advantages and Disadvantages of Cochran Boiler</a:t>
            </a:r>
            <a:endParaRPr sz="32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pPr>
            <a:r>
              <a:rPr lang="en-GB" sz="2800" b="1" dirty="0" smtClean="0">
                <a:latin typeface="Times New Roman"/>
                <a:cs typeface="Times New Roman"/>
              </a:rPr>
              <a:t>Advantages:</a:t>
            </a:r>
          </a:p>
          <a:p>
            <a:pPr marL="527050" marR="44254" indent="-514350">
              <a:lnSpc>
                <a:spcPts val="2760"/>
              </a:lnSpc>
              <a:buFont typeface="Arial" pitchFamily="34" charset="0"/>
              <a:buChar char="•"/>
            </a:pPr>
            <a:r>
              <a:rPr lang="en-GB" sz="2400" dirty="0" smtClean="0">
                <a:latin typeface="Times New Roman"/>
                <a:cs typeface="Times New Roman"/>
              </a:rPr>
              <a:t>Occupies less floor space.</a:t>
            </a:r>
          </a:p>
          <a:p>
            <a:pPr marL="527050" marR="44254" indent="-514350">
              <a:lnSpc>
                <a:spcPts val="2760"/>
              </a:lnSpc>
              <a:buFont typeface="Arial" pitchFamily="34" charset="0"/>
              <a:buChar char="•"/>
            </a:pPr>
            <a:r>
              <a:rPr lang="en-GB" sz="2400" dirty="0" smtClean="0">
                <a:latin typeface="Times New Roman"/>
                <a:cs typeface="Times New Roman"/>
              </a:rPr>
              <a:t>Cost of construction is low.</a:t>
            </a:r>
          </a:p>
          <a:p>
            <a:pPr marL="527050" marR="44254" indent="-514350">
              <a:lnSpc>
                <a:spcPts val="2760"/>
              </a:lnSpc>
              <a:buFont typeface="Arial" pitchFamily="34" charset="0"/>
              <a:buChar char="•"/>
            </a:pPr>
            <a:r>
              <a:rPr lang="en-GB" sz="2400" dirty="0" smtClean="0">
                <a:latin typeface="Times New Roman"/>
                <a:cs typeface="Times New Roman"/>
              </a:rPr>
              <a:t>It is semi portable and hence easy to install and transport.</a:t>
            </a:r>
          </a:p>
          <a:p>
            <a:pPr marL="527050" marR="44254" indent="-514350">
              <a:lnSpc>
                <a:spcPts val="2760"/>
              </a:lnSpc>
              <a:buFont typeface="Arial" pitchFamily="34" charset="0"/>
              <a:buChar char="•"/>
            </a:pPr>
            <a:r>
              <a:rPr lang="en-GB" sz="2400" dirty="0" smtClean="0">
                <a:latin typeface="Times New Roman"/>
                <a:cs typeface="Times New Roman"/>
              </a:rPr>
              <a:t>Because of self contained furnace no brick work is necessary.</a:t>
            </a:r>
          </a:p>
          <a:p>
            <a:pPr marL="527050" marR="44254" indent="-514350">
              <a:lnSpc>
                <a:spcPts val="2760"/>
              </a:lnSpc>
              <a:buFont typeface="Arial" pitchFamily="34" charset="0"/>
              <a:buChar char="•"/>
            </a:pPr>
            <a:endParaRPr lang="en-GB" sz="2400" dirty="0" smtClean="0">
              <a:latin typeface="Times New Roman"/>
              <a:cs typeface="Times New Roman"/>
            </a:endParaRPr>
          </a:p>
          <a:p>
            <a:pPr marL="527050" marR="44254" indent="-514350">
              <a:lnSpc>
                <a:spcPts val="2760"/>
              </a:lnSpc>
            </a:pPr>
            <a:r>
              <a:rPr lang="en-GB" sz="2800" b="1" dirty="0" smtClean="0">
                <a:latin typeface="Times New Roman"/>
                <a:cs typeface="Times New Roman"/>
              </a:rPr>
              <a:t>Disadvantages:</a:t>
            </a:r>
          </a:p>
          <a:p>
            <a:pPr marL="527050" marR="44254" indent="-514350">
              <a:lnSpc>
                <a:spcPts val="2760"/>
              </a:lnSpc>
              <a:buFont typeface="Arial" pitchFamily="34" charset="0"/>
              <a:buChar char="•"/>
            </a:pPr>
            <a:r>
              <a:rPr lang="en-GB" sz="2400" dirty="0" smtClean="0">
                <a:latin typeface="Times New Roman"/>
                <a:cs typeface="Times New Roman"/>
              </a:rPr>
              <a:t>The capacity of boiler is less because of vertical design.</a:t>
            </a:r>
          </a:p>
          <a:p>
            <a:pPr marL="527050" marR="44254" indent="-514350">
              <a:lnSpc>
                <a:spcPts val="2760"/>
              </a:lnSpc>
              <a:buFont typeface="Arial" pitchFamily="34" charset="0"/>
              <a:buChar char="•"/>
            </a:pPr>
            <a:r>
              <a:rPr lang="en-GB" sz="2400" dirty="0" smtClean="0">
                <a:latin typeface="Times New Roman"/>
                <a:cs typeface="Times New Roman"/>
              </a:rPr>
              <a:t>It requires high head room space.</a:t>
            </a:r>
          </a:p>
          <a:p>
            <a:pPr marL="527050" marR="44254" indent="-514350">
              <a:lnSpc>
                <a:spcPts val="2760"/>
              </a:lnSpc>
              <a:buFont typeface="Arial" pitchFamily="34" charset="0"/>
              <a:buChar char="•"/>
            </a:pPr>
            <a:r>
              <a:rPr lang="en-GB" sz="2400" dirty="0" smtClean="0">
                <a:latin typeface="Times New Roman"/>
                <a:cs typeface="Times New Roman"/>
              </a:rPr>
              <a:t>Difficult to clean and inspect because of vertical design.</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Babcock and Wilcox Boiler</a:t>
            </a:r>
            <a:endParaRPr sz="4000">
              <a:latin typeface="Calibri"/>
              <a:cs typeface="Calibri"/>
            </a:endParaRPr>
          </a:p>
        </p:txBody>
      </p:sp>
      <p:sp>
        <p:nvSpPr>
          <p:cNvPr id="3" name="object 3"/>
          <p:cNvSpPr txBox="1"/>
          <p:nvPr/>
        </p:nvSpPr>
        <p:spPr>
          <a:xfrm>
            <a:off x="304800" y="1143000"/>
            <a:ext cx="8534400" cy="5410200"/>
          </a:xfrm>
          <a:prstGeom prst="rect">
            <a:avLst/>
          </a:prstGeom>
        </p:spPr>
        <p:txBody>
          <a:bodyPr wrap="square" lIns="0" tIns="17526" rIns="0" bIns="0" rtlCol="0">
            <a:noAutofit/>
          </a:bodyPr>
          <a:lstStyle/>
          <a:p>
            <a:pPr marL="527050" marR="44254" indent="-514350">
              <a:lnSpc>
                <a:spcPts val="2760"/>
              </a:lnSpc>
            </a:pPr>
            <a:r>
              <a:rPr lang="en-GB" sz="2600" dirty="0" smtClean="0">
                <a:latin typeface="Times New Roman"/>
                <a:cs typeface="Times New Roman"/>
              </a:rPr>
              <a:t>	A type of horizontal, externally fired, natural circulation, stationary, water tube boiler.</a:t>
            </a:r>
          </a:p>
          <a:p>
            <a:pPr marL="527050" marR="44254" indent="-514350">
              <a:lnSpc>
                <a:spcPts val="2760"/>
              </a:lnSpc>
            </a:pPr>
            <a:r>
              <a:rPr lang="en-GB" sz="2600" dirty="0" smtClean="0">
                <a:latin typeface="Times New Roman"/>
                <a:cs typeface="Times New Roman"/>
              </a:rPr>
              <a:t> </a:t>
            </a:r>
          </a:p>
          <a:p>
            <a:pPr marL="527050" marR="44254" indent="-514350">
              <a:lnSpc>
                <a:spcPts val="2760"/>
              </a:lnSpc>
              <a:buFont typeface="Arial" pitchFamily="34" charset="0"/>
              <a:buChar char="•"/>
            </a:pPr>
            <a:endParaRPr sz="260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1" name="Picture 10" descr="IMG_20181030_115741.jpg"/>
          <p:cNvPicPr>
            <a:picLocks noChangeAspect="1"/>
          </p:cNvPicPr>
          <p:nvPr/>
        </p:nvPicPr>
        <p:blipFill>
          <a:blip r:embed="rId7" cstate="print"/>
          <a:stretch>
            <a:fillRect/>
          </a:stretch>
        </p:blipFill>
        <p:spPr>
          <a:xfrm>
            <a:off x="1981200" y="1905000"/>
            <a:ext cx="5138865" cy="477400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3600" b="1" spc="-12" dirty="0" smtClean="0">
                <a:solidFill>
                  <a:srgbClr val="04607A"/>
                </a:solidFill>
                <a:latin typeface="Calibri"/>
                <a:cs typeface="Calibri"/>
              </a:rPr>
              <a:t>Construction of Babcock and Wilcox Boiler</a:t>
            </a:r>
            <a:endParaRPr sz="3600">
              <a:latin typeface="Calibri"/>
              <a:cs typeface="Calibri"/>
            </a:endParaRPr>
          </a:p>
        </p:txBody>
      </p:sp>
      <p:sp>
        <p:nvSpPr>
          <p:cNvPr id="3" name="object 3"/>
          <p:cNvSpPr txBox="1"/>
          <p:nvPr/>
        </p:nvSpPr>
        <p:spPr>
          <a:xfrm>
            <a:off x="609600" y="1219200"/>
            <a:ext cx="8001000" cy="53340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200" dirty="0" smtClean="0">
                <a:latin typeface="Times New Roman"/>
                <a:cs typeface="Times New Roman"/>
              </a:rPr>
              <a:t>The water and steam drum is suspended from iron girders resting on iron columns preventing unequal expansion.</a:t>
            </a:r>
          </a:p>
          <a:p>
            <a:pPr marL="527050" marR="44254" indent="-514350">
              <a:lnSpc>
                <a:spcPts val="2760"/>
              </a:lnSpc>
              <a:buFont typeface="Arial" pitchFamily="34" charset="0"/>
              <a:buChar char="•"/>
            </a:pPr>
            <a:r>
              <a:rPr lang="en-GB" sz="2200" dirty="0" smtClean="0">
                <a:latin typeface="Times New Roman"/>
                <a:cs typeface="Times New Roman"/>
              </a:rPr>
              <a:t>A number of inclined water tubes are connected at right angles to the end boxes called headers. The water tubes are arranged in vertical rows of 4 to 5 one below the other in serpentine form. Each row is connected to two headers.</a:t>
            </a:r>
          </a:p>
          <a:p>
            <a:pPr marL="527050" marR="44254" indent="-514350">
              <a:lnSpc>
                <a:spcPts val="2760"/>
              </a:lnSpc>
              <a:buFont typeface="Arial" pitchFamily="34" charset="0"/>
              <a:buChar char="•"/>
            </a:pPr>
            <a:r>
              <a:rPr lang="en-GB" sz="2200" dirty="0" smtClean="0">
                <a:latin typeface="Times New Roman"/>
                <a:cs typeface="Times New Roman"/>
              </a:rPr>
              <a:t>Each set of headers are connected to the boiler drum by one set of two tubes, one at the uptake and the other at the </a:t>
            </a:r>
            <a:r>
              <a:rPr lang="en-GB" sz="2200" dirty="0" err="1" smtClean="0">
                <a:latin typeface="Times New Roman"/>
                <a:cs typeface="Times New Roman"/>
              </a:rPr>
              <a:t>downtake</a:t>
            </a:r>
            <a:r>
              <a:rPr lang="en-GB" sz="2200" dirty="0" smtClean="0">
                <a:latin typeface="Times New Roman"/>
                <a:cs typeface="Times New Roman"/>
              </a:rPr>
              <a:t> end.</a:t>
            </a:r>
          </a:p>
          <a:p>
            <a:pPr marL="527050" marR="44254" indent="-514350">
              <a:lnSpc>
                <a:spcPts val="2760"/>
              </a:lnSpc>
              <a:buFont typeface="Arial" pitchFamily="34" charset="0"/>
              <a:buChar char="•"/>
            </a:pPr>
            <a:r>
              <a:rPr lang="en-GB" sz="2200" dirty="0" smtClean="0">
                <a:latin typeface="Times New Roman"/>
                <a:cs typeface="Times New Roman"/>
              </a:rPr>
              <a:t>A </a:t>
            </a:r>
            <a:r>
              <a:rPr lang="en-GB" sz="2200" dirty="0" err="1" smtClean="0">
                <a:latin typeface="Times New Roman"/>
                <a:cs typeface="Times New Roman"/>
              </a:rPr>
              <a:t>mudbox</a:t>
            </a:r>
            <a:r>
              <a:rPr lang="en-GB" sz="2200" dirty="0" smtClean="0">
                <a:latin typeface="Times New Roman"/>
                <a:cs typeface="Times New Roman"/>
              </a:rPr>
              <a:t> is provided for collection of sediments.</a:t>
            </a:r>
          </a:p>
          <a:p>
            <a:pPr marL="527050" marR="44254" indent="-514350">
              <a:lnSpc>
                <a:spcPts val="2760"/>
              </a:lnSpc>
              <a:buFont typeface="Arial" pitchFamily="34" charset="0"/>
              <a:buChar char="•"/>
            </a:pPr>
            <a:r>
              <a:rPr lang="en-GB" sz="2200" dirty="0" smtClean="0">
                <a:latin typeface="Times New Roman"/>
                <a:cs typeface="Times New Roman"/>
              </a:rPr>
              <a:t>The grate is provided at the front end. The coal fed on at the front end of the grate is burnt on the moving grate in the furnace.</a:t>
            </a:r>
          </a:p>
          <a:p>
            <a:pPr marL="527050" marR="44254" indent="-514350">
              <a:lnSpc>
                <a:spcPts val="2760"/>
              </a:lnSpc>
              <a:buFont typeface="Arial" pitchFamily="34" charset="0"/>
              <a:buChar char="•"/>
            </a:pPr>
            <a:r>
              <a:rPr lang="en-GB" sz="2200" dirty="0" smtClean="0">
                <a:latin typeface="Times New Roman"/>
                <a:cs typeface="Times New Roman"/>
              </a:rPr>
              <a:t>The boiler is fitted with a </a:t>
            </a:r>
            <a:r>
              <a:rPr lang="en-GB" sz="2200" dirty="0" err="1" smtClean="0">
                <a:latin typeface="Times New Roman"/>
                <a:cs typeface="Times New Roman"/>
              </a:rPr>
              <a:t>superheater</a:t>
            </a:r>
            <a:r>
              <a:rPr lang="en-GB" sz="2200" dirty="0" smtClean="0">
                <a:latin typeface="Times New Roman"/>
                <a:cs typeface="Times New Roman"/>
              </a:rPr>
              <a:t>. It consists of a number of U – tubes secured at each end and placed below the boiler drum. The upper box is connected to a T-tube, the lower box is connected to the steam stop valve.</a:t>
            </a:r>
          </a:p>
          <a:p>
            <a:pPr marL="527050" marR="44254" indent="-514350">
              <a:lnSpc>
                <a:spcPts val="2760"/>
              </a:lnSpc>
              <a:buFont typeface="Arial" pitchFamily="34" charset="0"/>
              <a:buChar char="•"/>
            </a:pPr>
            <a:endParaRPr lang="en-GB" sz="2200" dirty="0" smtClean="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Working of Babcock and Wilcox Boiler</a:t>
            </a:r>
            <a:endParaRPr sz="40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200" dirty="0" smtClean="0">
                <a:latin typeface="Times New Roman"/>
                <a:cs typeface="Times New Roman"/>
              </a:rPr>
              <a:t>The water is introduced into the boiler drum through feed valve. A constant water level is maintained. Water descends into the rear end of the </a:t>
            </a:r>
            <a:r>
              <a:rPr lang="en-GB" sz="2200" dirty="0" err="1" smtClean="0">
                <a:latin typeface="Times New Roman"/>
                <a:cs typeface="Times New Roman"/>
              </a:rPr>
              <a:t>downtake</a:t>
            </a:r>
            <a:r>
              <a:rPr lang="en-GB" sz="2200" dirty="0" smtClean="0">
                <a:latin typeface="Times New Roman"/>
                <a:cs typeface="Times New Roman"/>
              </a:rPr>
              <a:t> headers and passes up in the inclined water tubes, uptake headers and connecting tubes.  </a:t>
            </a:r>
          </a:p>
          <a:p>
            <a:pPr marL="527050" marR="44254" indent="-514350">
              <a:lnSpc>
                <a:spcPts val="2760"/>
              </a:lnSpc>
              <a:buFont typeface="Arial" pitchFamily="34" charset="0"/>
              <a:buChar char="•"/>
            </a:pPr>
            <a:r>
              <a:rPr lang="en-GB" sz="2200" dirty="0" smtClean="0">
                <a:latin typeface="Times New Roman"/>
                <a:cs typeface="Times New Roman"/>
              </a:rPr>
              <a:t>Hot gases from the furnace grate are compelled by the baffle plate to pass upward around the water tubes lying in between the combustion chamber and under the water drum, the downwards around the water tubes in between the baffle plates, the once again upwards and then finally passes out through the exit door and chimney. </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Boiler Mounting and Accessories</a:t>
            </a:r>
            <a:endParaRPr sz="40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pPr>
            <a:endParaRPr lang="en-GB" sz="2400" b="1" dirty="0" smtClean="0">
              <a:latin typeface="Times New Roman"/>
              <a:cs typeface="Times New Roman"/>
            </a:endParaRPr>
          </a:p>
          <a:p>
            <a:pPr marL="527050" marR="44254" indent="-514350">
              <a:lnSpc>
                <a:spcPts val="2760"/>
              </a:lnSpc>
            </a:pPr>
            <a:r>
              <a:rPr lang="en-GB" sz="2400" b="1" dirty="0" smtClean="0">
                <a:latin typeface="Times New Roman"/>
                <a:cs typeface="Times New Roman"/>
              </a:rPr>
              <a:t>Essential Boiler Mountings:</a:t>
            </a:r>
          </a:p>
          <a:p>
            <a:pPr marL="527050" marR="44254" indent="-514350">
              <a:lnSpc>
                <a:spcPts val="2760"/>
              </a:lnSpc>
            </a:pPr>
            <a:endParaRPr lang="en-GB" sz="2400" dirty="0" smtClean="0">
              <a:latin typeface="Times New Roman"/>
              <a:cs typeface="Times New Roman"/>
            </a:endParaRPr>
          </a:p>
          <a:p>
            <a:pPr marL="527050" marR="44254" indent="-514350">
              <a:lnSpc>
                <a:spcPts val="2760"/>
              </a:lnSpc>
              <a:buFont typeface="+mj-lt"/>
              <a:buAutoNum type="arabicPeriod"/>
            </a:pPr>
            <a:r>
              <a:rPr lang="en-GB" sz="2400" dirty="0" smtClean="0">
                <a:latin typeface="Times New Roman"/>
                <a:cs typeface="Times New Roman"/>
              </a:rPr>
              <a:t>Two water level indicators</a:t>
            </a:r>
          </a:p>
          <a:p>
            <a:pPr marL="527050" marR="44254" indent="-514350">
              <a:lnSpc>
                <a:spcPts val="2760"/>
              </a:lnSpc>
              <a:buFont typeface="+mj-lt"/>
              <a:buAutoNum type="arabicPeriod"/>
            </a:pPr>
            <a:r>
              <a:rPr lang="en-GB" sz="2400" dirty="0" smtClean="0">
                <a:latin typeface="Times New Roman"/>
                <a:cs typeface="Times New Roman"/>
              </a:rPr>
              <a:t>Pressure Gauge</a:t>
            </a:r>
          </a:p>
          <a:p>
            <a:pPr marL="527050" marR="44254" indent="-514350">
              <a:lnSpc>
                <a:spcPts val="2760"/>
              </a:lnSpc>
              <a:buFont typeface="+mj-lt"/>
              <a:buAutoNum type="arabicPeriod"/>
            </a:pPr>
            <a:r>
              <a:rPr lang="en-GB" sz="2400" dirty="0" smtClean="0">
                <a:latin typeface="Times New Roman"/>
                <a:cs typeface="Times New Roman"/>
              </a:rPr>
              <a:t>Two safety valves</a:t>
            </a:r>
          </a:p>
          <a:p>
            <a:pPr marL="527050" marR="44254" indent="-514350">
              <a:lnSpc>
                <a:spcPts val="2760"/>
              </a:lnSpc>
              <a:buFont typeface="+mj-lt"/>
              <a:buAutoNum type="arabicPeriod"/>
            </a:pPr>
            <a:r>
              <a:rPr lang="en-GB" sz="2400" dirty="0" smtClean="0">
                <a:latin typeface="Times New Roman"/>
                <a:cs typeface="Times New Roman"/>
              </a:rPr>
              <a:t>Steam stop valve</a:t>
            </a:r>
          </a:p>
          <a:p>
            <a:pPr marL="527050" marR="44254" indent="-514350">
              <a:lnSpc>
                <a:spcPts val="2760"/>
              </a:lnSpc>
              <a:buFont typeface="+mj-lt"/>
              <a:buAutoNum type="arabicPeriod"/>
            </a:pPr>
            <a:r>
              <a:rPr lang="en-GB" sz="2400" dirty="0" smtClean="0">
                <a:latin typeface="Times New Roman"/>
                <a:cs typeface="Times New Roman"/>
              </a:rPr>
              <a:t>Blow off cock</a:t>
            </a:r>
          </a:p>
          <a:p>
            <a:pPr marL="527050" marR="44254" indent="-514350">
              <a:lnSpc>
                <a:spcPts val="2760"/>
              </a:lnSpc>
              <a:buFont typeface="+mj-lt"/>
              <a:buAutoNum type="arabicPeriod"/>
            </a:pPr>
            <a:r>
              <a:rPr lang="en-GB" sz="2400" dirty="0" smtClean="0">
                <a:latin typeface="Times New Roman"/>
                <a:cs typeface="Times New Roman"/>
              </a:rPr>
              <a:t>Feed Check valve</a:t>
            </a:r>
          </a:p>
          <a:p>
            <a:pPr marL="527050" marR="44254" indent="-514350">
              <a:lnSpc>
                <a:spcPts val="2760"/>
              </a:lnSpc>
              <a:buFont typeface="+mj-lt"/>
              <a:buAutoNum type="arabicPeriod"/>
            </a:pPr>
            <a:r>
              <a:rPr lang="en-GB" sz="2400" dirty="0" smtClean="0">
                <a:latin typeface="Times New Roman"/>
                <a:cs typeface="Times New Roman"/>
              </a:rPr>
              <a:t>Fusible plug</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Boiler Mounting and Accessories</a:t>
            </a:r>
            <a:endParaRPr sz="4000">
              <a:latin typeface="Calibri"/>
              <a:cs typeface="Calibri"/>
            </a:endParaRPr>
          </a:p>
        </p:txBody>
      </p:sp>
      <p:sp>
        <p:nvSpPr>
          <p:cNvPr id="3" name="object 3"/>
          <p:cNvSpPr txBox="1"/>
          <p:nvPr/>
        </p:nvSpPr>
        <p:spPr>
          <a:xfrm>
            <a:off x="609600" y="1447800"/>
            <a:ext cx="8001000" cy="4419600"/>
          </a:xfrm>
          <a:prstGeom prst="rect">
            <a:avLst/>
          </a:prstGeom>
        </p:spPr>
        <p:txBody>
          <a:bodyPr wrap="square" lIns="0" tIns="17526" rIns="0" bIns="0" rtlCol="0">
            <a:noAutofit/>
          </a:bodyPr>
          <a:lstStyle/>
          <a:p>
            <a:pPr marL="527050" marR="44254" indent="-514350">
              <a:lnSpc>
                <a:spcPts val="2760"/>
              </a:lnSpc>
            </a:pPr>
            <a:endParaRPr lang="en-GB" sz="2400" b="1" dirty="0" smtClean="0">
              <a:latin typeface="Times New Roman"/>
              <a:cs typeface="Times New Roman"/>
            </a:endParaRPr>
          </a:p>
          <a:p>
            <a:pPr marL="527050" marR="44254" indent="-514350">
              <a:lnSpc>
                <a:spcPts val="2760"/>
              </a:lnSpc>
            </a:pPr>
            <a:r>
              <a:rPr lang="en-GB" sz="2400" b="1" dirty="0" smtClean="0">
                <a:latin typeface="Times New Roman"/>
                <a:cs typeface="Times New Roman"/>
              </a:rPr>
              <a:t>Essential Boiler Accessories:</a:t>
            </a:r>
          </a:p>
          <a:p>
            <a:pPr marL="527050" marR="44254" indent="-514350">
              <a:lnSpc>
                <a:spcPts val="2760"/>
              </a:lnSpc>
            </a:pPr>
            <a:endParaRPr lang="en-GB" sz="2400" dirty="0" smtClean="0">
              <a:latin typeface="Times New Roman"/>
              <a:cs typeface="Times New Roman"/>
            </a:endParaRPr>
          </a:p>
          <a:p>
            <a:pPr marL="527050" marR="44254" indent="-514350">
              <a:lnSpc>
                <a:spcPts val="2760"/>
              </a:lnSpc>
              <a:buFont typeface="+mj-lt"/>
              <a:buAutoNum type="arabicPeriod"/>
            </a:pPr>
            <a:r>
              <a:rPr lang="en-GB" sz="2400" dirty="0" smtClean="0">
                <a:latin typeface="Times New Roman"/>
                <a:cs typeface="Times New Roman"/>
              </a:rPr>
              <a:t>Economiser</a:t>
            </a:r>
          </a:p>
          <a:p>
            <a:pPr marL="527050" marR="44254" indent="-514350">
              <a:lnSpc>
                <a:spcPts val="2760"/>
              </a:lnSpc>
              <a:buFont typeface="+mj-lt"/>
              <a:buAutoNum type="arabicPeriod"/>
            </a:pPr>
            <a:r>
              <a:rPr lang="en-GB" sz="2400" dirty="0" smtClean="0">
                <a:latin typeface="Times New Roman"/>
                <a:cs typeface="Times New Roman"/>
              </a:rPr>
              <a:t>Air </a:t>
            </a:r>
            <a:r>
              <a:rPr lang="en-GB" sz="2400" dirty="0" err="1" smtClean="0">
                <a:latin typeface="Times New Roman"/>
                <a:cs typeface="Times New Roman"/>
              </a:rPr>
              <a:t>preheater</a:t>
            </a:r>
            <a:endParaRPr lang="en-GB" sz="2400" dirty="0" smtClean="0">
              <a:latin typeface="Times New Roman"/>
              <a:cs typeface="Times New Roman"/>
            </a:endParaRPr>
          </a:p>
          <a:p>
            <a:pPr marL="527050" marR="44254" indent="-514350">
              <a:lnSpc>
                <a:spcPts val="2760"/>
              </a:lnSpc>
              <a:buFont typeface="+mj-lt"/>
              <a:buAutoNum type="arabicPeriod"/>
            </a:pPr>
            <a:r>
              <a:rPr lang="en-GB" sz="2400" dirty="0" err="1" smtClean="0">
                <a:latin typeface="Times New Roman"/>
                <a:cs typeface="Times New Roman"/>
              </a:rPr>
              <a:t>Superheater</a:t>
            </a:r>
            <a:endParaRPr lang="en-GB" sz="2400" dirty="0" smtClean="0">
              <a:latin typeface="Times New Roman"/>
              <a:cs typeface="Times New Roman"/>
            </a:endParaRPr>
          </a:p>
          <a:p>
            <a:pPr marL="527050" marR="44254" indent="-514350">
              <a:lnSpc>
                <a:spcPts val="2760"/>
              </a:lnSpc>
              <a:buFont typeface="+mj-lt"/>
              <a:buAutoNum type="arabicPeriod"/>
            </a:pPr>
            <a:r>
              <a:rPr lang="en-GB" sz="2400" dirty="0" smtClean="0">
                <a:latin typeface="Times New Roman"/>
                <a:cs typeface="Times New Roman"/>
              </a:rPr>
              <a:t>Feed pump</a:t>
            </a:r>
          </a:p>
          <a:p>
            <a:pPr marL="527050" marR="44254" indent="-514350">
              <a:lnSpc>
                <a:spcPts val="2760"/>
              </a:lnSpc>
              <a:buFont typeface="+mj-lt"/>
              <a:buAutoNum type="arabicPeriod"/>
            </a:pPr>
            <a:r>
              <a:rPr lang="en-GB" sz="2400" dirty="0" smtClean="0">
                <a:latin typeface="Times New Roman"/>
                <a:cs typeface="Times New Roman"/>
              </a:rPr>
              <a:t>Steam Separator</a:t>
            </a:r>
          </a:p>
          <a:p>
            <a:pPr marL="527050" marR="44254" indent="-514350">
              <a:lnSpc>
                <a:spcPts val="2760"/>
              </a:lnSpc>
              <a:buFont typeface="+mj-lt"/>
              <a:buAutoNum type="arabicPeriod"/>
            </a:pPr>
            <a:r>
              <a:rPr lang="en-GB" sz="2400" dirty="0" smtClean="0">
                <a:latin typeface="Times New Roman"/>
                <a:cs typeface="Times New Roman"/>
              </a:rPr>
              <a:t>Steam trap</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Water Level Indicator</a:t>
            </a:r>
            <a:endParaRPr sz="4000">
              <a:latin typeface="Calibri"/>
              <a:cs typeface="Calibri"/>
            </a:endParaRPr>
          </a:p>
        </p:txBody>
      </p:sp>
      <p:sp>
        <p:nvSpPr>
          <p:cNvPr id="3" name="object 3"/>
          <p:cNvSpPr txBox="1"/>
          <p:nvPr/>
        </p:nvSpPr>
        <p:spPr>
          <a:xfrm>
            <a:off x="609600" y="1447800"/>
            <a:ext cx="4572000" cy="50292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400" dirty="0" smtClean="0">
                <a:latin typeface="Times New Roman"/>
                <a:cs typeface="Times New Roman"/>
              </a:rPr>
              <a:t>Indicates the level of water in boiler drum</a:t>
            </a:r>
          </a:p>
          <a:p>
            <a:pPr marL="527050" marR="44254" indent="-514350">
              <a:lnSpc>
                <a:spcPts val="2760"/>
              </a:lnSpc>
              <a:buFont typeface="Arial" pitchFamily="34" charset="0"/>
              <a:buChar char="•"/>
            </a:pPr>
            <a:endParaRPr lang="en-GB" sz="2400" dirty="0" smtClean="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0" name="Picture 9" descr="IMG_20181030_115820.jpg"/>
          <p:cNvPicPr>
            <a:picLocks noChangeAspect="1"/>
          </p:cNvPicPr>
          <p:nvPr/>
        </p:nvPicPr>
        <p:blipFill>
          <a:blip r:embed="rId7" cstate="print"/>
          <a:stretch>
            <a:fillRect/>
          </a:stretch>
        </p:blipFill>
        <p:spPr>
          <a:xfrm>
            <a:off x="5369884" y="1600200"/>
            <a:ext cx="3533459" cy="487069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Pressure Gauge</a:t>
            </a:r>
            <a:endParaRPr sz="4000">
              <a:latin typeface="Calibri"/>
              <a:cs typeface="Calibri"/>
            </a:endParaRPr>
          </a:p>
        </p:txBody>
      </p:sp>
      <p:sp>
        <p:nvSpPr>
          <p:cNvPr id="3" name="object 3"/>
          <p:cNvSpPr txBox="1"/>
          <p:nvPr/>
        </p:nvSpPr>
        <p:spPr>
          <a:xfrm>
            <a:off x="609600" y="1447800"/>
            <a:ext cx="4038600" cy="50292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400" dirty="0" smtClean="0">
                <a:latin typeface="Times New Roman"/>
                <a:cs typeface="Times New Roman"/>
              </a:rPr>
              <a:t>Indicates the pressure of the steam in the boiler in bar or k Pa gauge</a:t>
            </a:r>
          </a:p>
          <a:p>
            <a:pPr marL="527050" marR="44254" indent="-514350">
              <a:lnSpc>
                <a:spcPts val="2760"/>
              </a:lnSpc>
              <a:buFont typeface="Arial" pitchFamily="34" charset="0"/>
              <a:buChar char="•"/>
            </a:pPr>
            <a:endParaRPr lang="en-GB" sz="2400" dirty="0" smtClean="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1" name="Picture 10" descr="IMG_20181030_115824.jpg"/>
          <p:cNvPicPr>
            <a:picLocks noChangeAspect="1"/>
          </p:cNvPicPr>
          <p:nvPr/>
        </p:nvPicPr>
        <p:blipFill>
          <a:blip r:embed="rId7" cstate="print"/>
          <a:stretch>
            <a:fillRect/>
          </a:stretch>
        </p:blipFill>
        <p:spPr>
          <a:xfrm>
            <a:off x="4800600" y="1752600"/>
            <a:ext cx="4178911" cy="43434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Economiser</a:t>
            </a:r>
            <a:endParaRPr sz="4000">
              <a:latin typeface="Calibri"/>
              <a:cs typeface="Calibri"/>
            </a:endParaRPr>
          </a:p>
        </p:txBody>
      </p:sp>
      <p:sp>
        <p:nvSpPr>
          <p:cNvPr id="3" name="object 3"/>
          <p:cNvSpPr txBox="1"/>
          <p:nvPr/>
        </p:nvSpPr>
        <p:spPr>
          <a:xfrm>
            <a:off x="609600" y="1447800"/>
            <a:ext cx="7772400" cy="11430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400" dirty="0" smtClean="0">
                <a:latin typeface="Times New Roman"/>
                <a:cs typeface="Times New Roman"/>
              </a:rPr>
              <a:t>The gases coming out from the boiler contain a large quantity of heat. The recovery of heat in the flue gas done by heating the feed water in economisers.</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2" name="Picture 11" descr="IMG_20181030_115910.jpg"/>
          <p:cNvPicPr>
            <a:picLocks noChangeAspect="1"/>
          </p:cNvPicPr>
          <p:nvPr/>
        </p:nvPicPr>
        <p:blipFill>
          <a:blip r:embed="rId7" cstate="print"/>
          <a:stretch>
            <a:fillRect/>
          </a:stretch>
        </p:blipFill>
        <p:spPr>
          <a:xfrm>
            <a:off x="2133600" y="2819400"/>
            <a:ext cx="5029200" cy="379537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304800" y="457200"/>
            <a:ext cx="8229600" cy="762000"/>
          </a:xfrm>
          <a:prstGeom prst="rect">
            <a:avLst/>
          </a:prstGeom>
        </p:spPr>
        <p:txBody>
          <a:bodyPr wrap="square" lIns="0" tIns="29210" rIns="0" bIns="0" rtlCol="0">
            <a:noAutofit/>
          </a:bodyPr>
          <a:lstStyle/>
          <a:p>
            <a:pPr marL="12700" algn="ctr">
              <a:lnSpc>
                <a:spcPts val="4600"/>
              </a:lnSpc>
            </a:pPr>
            <a:r>
              <a:rPr lang="en-GB" sz="4000" b="1" spc="-12" dirty="0" smtClean="0">
                <a:solidFill>
                  <a:srgbClr val="04607A"/>
                </a:solidFill>
                <a:latin typeface="Calibri"/>
                <a:cs typeface="Calibri"/>
              </a:rPr>
              <a:t>Air </a:t>
            </a:r>
            <a:r>
              <a:rPr lang="en-GB" sz="4000" b="1" spc="-12" dirty="0" err="1" smtClean="0">
                <a:solidFill>
                  <a:srgbClr val="04607A"/>
                </a:solidFill>
                <a:latin typeface="Calibri"/>
                <a:cs typeface="Calibri"/>
              </a:rPr>
              <a:t>Preheater</a:t>
            </a:r>
            <a:endParaRPr sz="4000">
              <a:latin typeface="Calibri"/>
              <a:cs typeface="Calibri"/>
            </a:endParaRPr>
          </a:p>
        </p:txBody>
      </p:sp>
      <p:sp>
        <p:nvSpPr>
          <p:cNvPr id="3" name="object 3"/>
          <p:cNvSpPr txBox="1"/>
          <p:nvPr/>
        </p:nvSpPr>
        <p:spPr>
          <a:xfrm>
            <a:off x="609600" y="1447800"/>
            <a:ext cx="3733800" cy="4648200"/>
          </a:xfrm>
          <a:prstGeom prst="rect">
            <a:avLst/>
          </a:prstGeom>
        </p:spPr>
        <p:txBody>
          <a:bodyPr wrap="square" lIns="0" tIns="17526" rIns="0" bIns="0" rtlCol="0">
            <a:noAutofit/>
          </a:bodyPr>
          <a:lstStyle/>
          <a:p>
            <a:pPr marL="527050" marR="44254" indent="-514350">
              <a:lnSpc>
                <a:spcPts val="2760"/>
              </a:lnSpc>
              <a:buFont typeface="Arial" pitchFamily="34" charset="0"/>
              <a:buChar char="•"/>
            </a:pPr>
            <a:r>
              <a:rPr lang="en-GB" sz="2400" dirty="0" smtClean="0">
                <a:latin typeface="Times New Roman"/>
                <a:cs typeface="Times New Roman"/>
              </a:rPr>
              <a:t>It is installed between economiser and chimney.</a:t>
            </a: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endParaRPr sz="2450">
              <a:latin typeface="Wingdings"/>
              <a:cs typeface="Wingdings"/>
            </a:endParaRPr>
          </a:p>
        </p:txBody>
      </p:sp>
      <p:pic>
        <p:nvPicPr>
          <p:cNvPr id="11" name="Picture 10" descr="IMG_20181030_115914.jpg"/>
          <p:cNvPicPr>
            <a:picLocks noChangeAspect="1"/>
          </p:cNvPicPr>
          <p:nvPr/>
        </p:nvPicPr>
        <p:blipFill>
          <a:blip r:embed="rId7" cstate="print"/>
          <a:stretch>
            <a:fillRect/>
          </a:stretch>
        </p:blipFill>
        <p:spPr>
          <a:xfrm>
            <a:off x="4495800" y="1600200"/>
            <a:ext cx="4406750" cy="442332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4" name="object 4"/>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6" name="object 6"/>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7" name="object 7"/>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8" name="object 8"/>
          <p:cNvSpPr/>
          <p:nvPr/>
        </p:nvSpPr>
        <p:spPr>
          <a:xfrm>
            <a:off x="181356" y="606551"/>
            <a:ext cx="3781044" cy="1354836"/>
          </a:xfrm>
          <a:prstGeom prst="rect">
            <a:avLst/>
          </a:prstGeom>
          <a:blipFill>
            <a:blip r:embed="rId7" cstate="print"/>
            <a:stretch>
              <a:fillRect/>
            </a:stretch>
          </a:blipFill>
        </p:spPr>
        <p:txBody>
          <a:bodyPr wrap="square" lIns="0" tIns="0" rIns="0" bIns="0" rtlCol="0">
            <a:noAutofit/>
          </a:bodyPr>
          <a:lstStyle/>
          <a:p>
            <a:endParaRPr/>
          </a:p>
        </p:txBody>
      </p:sp>
      <p:sp>
        <p:nvSpPr>
          <p:cNvPr id="9" name="object 9"/>
          <p:cNvSpPr/>
          <p:nvPr/>
        </p:nvSpPr>
        <p:spPr>
          <a:xfrm>
            <a:off x="970788" y="2075688"/>
            <a:ext cx="2763012" cy="1670304"/>
          </a:xfrm>
          <a:prstGeom prst="rect">
            <a:avLst/>
          </a:prstGeom>
          <a:blipFill>
            <a:blip r:embed="rId8" cstate="print"/>
            <a:stretch>
              <a:fillRect/>
            </a:stretch>
          </a:blipFill>
        </p:spPr>
        <p:txBody>
          <a:bodyPr wrap="square" lIns="0" tIns="0" rIns="0" bIns="0" rtlCol="0">
            <a:noAutofit/>
          </a:bodyPr>
          <a:lstStyle/>
          <a:p>
            <a:endParaRPr/>
          </a:p>
        </p:txBody>
      </p:sp>
      <p:sp>
        <p:nvSpPr>
          <p:cNvPr id="10" name="object 10"/>
          <p:cNvSpPr/>
          <p:nvPr/>
        </p:nvSpPr>
        <p:spPr>
          <a:xfrm>
            <a:off x="3427476" y="2514598"/>
            <a:ext cx="5716524" cy="4343400"/>
          </a:xfrm>
          <a:prstGeom prst="rect">
            <a:avLst/>
          </a:prstGeom>
          <a:blipFill>
            <a:blip r:embed="rId9" cstate="print"/>
            <a:stretch>
              <a:fillRect/>
            </a:stretch>
          </a:blipFill>
        </p:spPr>
        <p:txBody>
          <a:bodyPr wrap="square" lIns="0" tIns="0" rIns="0" bIns="0" rtlCol="0">
            <a:noAutofit/>
          </a:bodyPr>
          <a:lstStyle/>
          <a:p>
            <a:endParaRPr/>
          </a:p>
        </p:txBody>
      </p:sp>
      <p:sp>
        <p:nvSpPr>
          <p:cNvPr id="2" name="object 2"/>
          <p:cNvSpPr txBox="1"/>
          <p:nvPr/>
        </p:nvSpPr>
        <p:spPr>
          <a:xfrm>
            <a:off x="1427734" y="2427345"/>
            <a:ext cx="1917446" cy="787400"/>
          </a:xfrm>
          <a:prstGeom prst="rect">
            <a:avLst/>
          </a:prstGeom>
        </p:spPr>
        <p:txBody>
          <a:bodyPr wrap="square" lIns="0" tIns="39370" rIns="0" bIns="0" rtlCol="0">
            <a:noAutofit/>
          </a:bodyPr>
          <a:lstStyle/>
          <a:p>
            <a:pPr marL="12700">
              <a:lnSpc>
                <a:spcPts val="6200"/>
              </a:lnSpc>
            </a:pPr>
            <a:r>
              <a:rPr sz="6000" dirty="0" smtClean="0">
                <a:solidFill>
                  <a:srgbClr val="0FCF9B"/>
                </a:solidFill>
                <a:latin typeface="Times New Roman"/>
                <a:cs typeface="Times New Roman"/>
              </a:rPr>
              <a:t>boiler</a:t>
            </a:r>
            <a:endParaRPr sz="6000">
              <a:latin typeface="Times New Roman"/>
              <a:cs typeface="Times New Roman"/>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11" name="object 11"/>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2" name="object 12"/>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3" name="object 13"/>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4" name="object 14"/>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9" name="object 9"/>
          <p:cNvSpPr txBox="1"/>
          <p:nvPr/>
        </p:nvSpPr>
        <p:spPr>
          <a:xfrm>
            <a:off x="444500" y="1173668"/>
            <a:ext cx="1639728" cy="661212"/>
          </a:xfrm>
          <a:prstGeom prst="rect">
            <a:avLst/>
          </a:prstGeom>
        </p:spPr>
        <p:txBody>
          <a:bodyPr wrap="square" lIns="0" tIns="33051" rIns="0" bIns="0" rtlCol="0">
            <a:noAutofit/>
          </a:bodyPr>
          <a:lstStyle/>
          <a:p>
            <a:pPr marL="12700">
              <a:lnSpc>
                <a:spcPts val="5205"/>
              </a:lnSpc>
            </a:pPr>
            <a:r>
              <a:rPr sz="5000" b="1" dirty="0" smtClean="0">
                <a:solidFill>
                  <a:srgbClr val="04607A"/>
                </a:solidFill>
                <a:latin typeface="Times New Roman"/>
                <a:cs typeface="Times New Roman"/>
              </a:rPr>
              <a:t>What</a:t>
            </a:r>
            <a:endParaRPr sz="5000">
              <a:latin typeface="Times New Roman"/>
              <a:cs typeface="Times New Roman"/>
            </a:endParaRPr>
          </a:p>
        </p:txBody>
      </p:sp>
      <p:sp>
        <p:nvSpPr>
          <p:cNvPr id="8" name="object 8"/>
          <p:cNvSpPr txBox="1"/>
          <p:nvPr/>
        </p:nvSpPr>
        <p:spPr>
          <a:xfrm>
            <a:off x="2119866" y="1173668"/>
            <a:ext cx="544859" cy="661212"/>
          </a:xfrm>
          <a:prstGeom prst="rect">
            <a:avLst/>
          </a:prstGeom>
        </p:spPr>
        <p:txBody>
          <a:bodyPr wrap="square" lIns="0" tIns="33051" rIns="0" bIns="0" rtlCol="0">
            <a:noAutofit/>
          </a:bodyPr>
          <a:lstStyle/>
          <a:p>
            <a:pPr marL="12700">
              <a:lnSpc>
                <a:spcPts val="5205"/>
              </a:lnSpc>
            </a:pPr>
            <a:r>
              <a:rPr sz="5000" b="1" dirty="0" smtClean="0">
                <a:solidFill>
                  <a:srgbClr val="04607A"/>
                </a:solidFill>
                <a:latin typeface="Times New Roman"/>
                <a:cs typeface="Times New Roman"/>
              </a:rPr>
              <a:t>is</a:t>
            </a:r>
            <a:endParaRPr sz="5000">
              <a:latin typeface="Times New Roman"/>
              <a:cs typeface="Times New Roman"/>
            </a:endParaRPr>
          </a:p>
        </p:txBody>
      </p:sp>
      <p:sp>
        <p:nvSpPr>
          <p:cNvPr id="7" name="object 7"/>
          <p:cNvSpPr txBox="1"/>
          <p:nvPr/>
        </p:nvSpPr>
        <p:spPr>
          <a:xfrm>
            <a:off x="2702907" y="1173668"/>
            <a:ext cx="438678" cy="661212"/>
          </a:xfrm>
          <a:prstGeom prst="rect">
            <a:avLst/>
          </a:prstGeom>
        </p:spPr>
        <p:txBody>
          <a:bodyPr wrap="square" lIns="0" tIns="33051" rIns="0" bIns="0" rtlCol="0">
            <a:noAutofit/>
          </a:bodyPr>
          <a:lstStyle/>
          <a:p>
            <a:pPr marL="12700">
              <a:lnSpc>
                <a:spcPts val="5205"/>
              </a:lnSpc>
            </a:pPr>
            <a:r>
              <a:rPr sz="5000" b="1" dirty="0" smtClean="0">
                <a:solidFill>
                  <a:srgbClr val="04607A"/>
                </a:solidFill>
                <a:latin typeface="Times New Roman"/>
                <a:cs typeface="Times New Roman"/>
              </a:rPr>
              <a:t>a</a:t>
            </a:r>
            <a:endParaRPr sz="5000">
              <a:latin typeface="Times New Roman"/>
              <a:cs typeface="Times New Roman"/>
            </a:endParaRPr>
          </a:p>
        </p:txBody>
      </p:sp>
      <p:sp>
        <p:nvSpPr>
          <p:cNvPr id="6" name="object 6"/>
          <p:cNvSpPr txBox="1"/>
          <p:nvPr/>
        </p:nvSpPr>
        <p:spPr>
          <a:xfrm>
            <a:off x="3179766" y="1173668"/>
            <a:ext cx="2028210" cy="661212"/>
          </a:xfrm>
          <a:prstGeom prst="rect">
            <a:avLst/>
          </a:prstGeom>
        </p:spPr>
        <p:txBody>
          <a:bodyPr wrap="square" lIns="0" tIns="33051" rIns="0" bIns="0" rtlCol="0">
            <a:noAutofit/>
          </a:bodyPr>
          <a:lstStyle/>
          <a:p>
            <a:pPr marL="12700">
              <a:lnSpc>
                <a:spcPts val="5205"/>
              </a:lnSpc>
            </a:pPr>
            <a:r>
              <a:rPr sz="5000" b="1" dirty="0" smtClean="0">
                <a:solidFill>
                  <a:srgbClr val="04607A"/>
                </a:solidFill>
                <a:latin typeface="Times New Roman"/>
                <a:cs typeface="Times New Roman"/>
              </a:rPr>
              <a:t>boiler?</a:t>
            </a:r>
            <a:endParaRPr sz="5000">
              <a:latin typeface="Times New Roman"/>
              <a:cs typeface="Times New Roman"/>
            </a:endParaRPr>
          </a:p>
        </p:txBody>
      </p:sp>
      <p:sp>
        <p:nvSpPr>
          <p:cNvPr id="5" name="object 5"/>
          <p:cNvSpPr txBox="1"/>
          <p:nvPr/>
        </p:nvSpPr>
        <p:spPr>
          <a:xfrm>
            <a:off x="535940" y="2026301"/>
            <a:ext cx="8055185" cy="380492"/>
          </a:xfrm>
          <a:prstGeom prst="rect">
            <a:avLst/>
          </a:prstGeom>
        </p:spPr>
        <p:txBody>
          <a:bodyPr wrap="square" lIns="0" tIns="18764" rIns="0" bIns="0" rtlCol="0">
            <a:noAutofit/>
          </a:bodyPr>
          <a:lstStyle/>
          <a:p>
            <a:pPr marL="12700">
              <a:lnSpc>
                <a:spcPts val="2955"/>
              </a:lnSpc>
            </a:pPr>
            <a:r>
              <a:rPr sz="2800" i="1" spc="-8" dirty="0" smtClean="0">
                <a:latin typeface="Times New Roman"/>
                <a:cs typeface="Times New Roman"/>
              </a:rPr>
              <a:t>Boiler is an apparatus to produce steam. </a:t>
            </a:r>
            <a:r>
              <a:rPr sz="2600" i="1" spc="-8" dirty="0" smtClean="0">
                <a:latin typeface="Times New Roman"/>
                <a:cs typeface="Times New Roman"/>
              </a:rPr>
              <a:t>Thermal energy</a:t>
            </a:r>
            <a:endParaRPr sz="2600">
              <a:latin typeface="Times New Roman"/>
              <a:cs typeface="Times New Roman"/>
            </a:endParaRPr>
          </a:p>
        </p:txBody>
      </p:sp>
      <p:sp>
        <p:nvSpPr>
          <p:cNvPr id="4" name="object 4"/>
          <p:cNvSpPr txBox="1"/>
          <p:nvPr/>
        </p:nvSpPr>
        <p:spPr>
          <a:xfrm>
            <a:off x="535940" y="2448258"/>
            <a:ext cx="6482306" cy="1227895"/>
          </a:xfrm>
          <a:prstGeom prst="rect">
            <a:avLst/>
          </a:prstGeom>
        </p:spPr>
        <p:txBody>
          <a:bodyPr wrap="square" lIns="0" tIns="17526" rIns="0" bIns="0" rtlCol="0">
            <a:noAutofit/>
          </a:bodyPr>
          <a:lstStyle/>
          <a:p>
            <a:pPr marL="287019">
              <a:lnSpc>
                <a:spcPts val="2760"/>
              </a:lnSpc>
            </a:pPr>
            <a:r>
              <a:rPr sz="2600" i="1" spc="-3" dirty="0" smtClean="0">
                <a:latin typeface="Times New Roman"/>
                <a:cs typeface="Times New Roman"/>
              </a:rPr>
              <a:t>released by combustion of fuel is used to make</a:t>
            </a:r>
            <a:endParaRPr sz="2600">
              <a:latin typeface="Times New Roman"/>
              <a:cs typeface="Times New Roman"/>
            </a:endParaRPr>
          </a:p>
          <a:p>
            <a:pPr marL="287019" marR="49606">
              <a:lnSpc>
                <a:spcPct val="95825"/>
              </a:lnSpc>
            </a:pPr>
            <a:r>
              <a:rPr sz="2600" i="1" spc="-12" dirty="0" smtClean="0">
                <a:latin typeface="Times New Roman"/>
                <a:cs typeface="Times New Roman"/>
              </a:rPr>
              <a:t>the desired temperature and pressure.</a:t>
            </a:r>
            <a:endParaRPr sz="2600">
              <a:latin typeface="Times New Roman"/>
              <a:cs typeface="Times New Roman"/>
            </a:endParaRPr>
          </a:p>
          <a:p>
            <a:pPr marL="12700" marR="49606">
              <a:lnSpc>
                <a:spcPct val="95825"/>
              </a:lnSpc>
              <a:spcBef>
                <a:spcPts val="754"/>
              </a:spcBef>
            </a:pPr>
            <a:r>
              <a:rPr sz="2600" spc="-2" dirty="0" smtClean="0">
                <a:latin typeface="Times New Roman"/>
                <a:cs typeface="Times New Roman"/>
              </a:rPr>
              <a:t>The steam produced is used for:</a:t>
            </a:r>
            <a:endParaRPr sz="2600">
              <a:latin typeface="Times New Roman"/>
              <a:cs typeface="Times New Roman"/>
            </a:endParaRPr>
          </a:p>
        </p:txBody>
      </p:sp>
      <p:sp>
        <p:nvSpPr>
          <p:cNvPr id="3" name="object 3"/>
          <p:cNvSpPr txBox="1"/>
          <p:nvPr/>
        </p:nvSpPr>
        <p:spPr>
          <a:xfrm>
            <a:off x="7104956" y="2448258"/>
            <a:ext cx="1184200" cy="356107"/>
          </a:xfrm>
          <a:prstGeom prst="rect">
            <a:avLst/>
          </a:prstGeom>
        </p:spPr>
        <p:txBody>
          <a:bodyPr wrap="square" lIns="0" tIns="17526" rIns="0" bIns="0" rtlCol="0">
            <a:noAutofit/>
          </a:bodyPr>
          <a:lstStyle/>
          <a:p>
            <a:pPr marL="12700">
              <a:lnSpc>
                <a:spcPts val="2760"/>
              </a:lnSpc>
            </a:pPr>
            <a:r>
              <a:rPr sz="2600" i="1" spc="-2" dirty="0" smtClean="0">
                <a:latin typeface="Times New Roman"/>
                <a:cs typeface="Times New Roman"/>
              </a:rPr>
              <a:t>steam at</a:t>
            </a:r>
            <a:endParaRPr sz="2600">
              <a:latin typeface="Times New Roman"/>
              <a:cs typeface="Times New Roman"/>
            </a:endParaRPr>
          </a:p>
        </p:txBody>
      </p:sp>
      <p:sp>
        <p:nvSpPr>
          <p:cNvPr id="2" name="object 2"/>
          <p:cNvSpPr txBox="1"/>
          <p:nvPr/>
        </p:nvSpPr>
        <p:spPr>
          <a:xfrm>
            <a:off x="535940" y="3795728"/>
            <a:ext cx="7779083" cy="2099894"/>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4" dirty="0" smtClean="0">
                <a:latin typeface="Times New Roman"/>
                <a:cs typeface="Times New Roman"/>
              </a:rPr>
              <a:t>(</a:t>
            </a:r>
            <a:r>
              <a:rPr sz="2600" i="1" spc="0" dirty="0" smtClean="0">
                <a:latin typeface="Times New Roman"/>
                <a:cs typeface="Times New Roman"/>
              </a:rPr>
              <a:t>i)</a:t>
            </a:r>
            <a:r>
              <a:rPr sz="2600" i="1" spc="-9" dirty="0" smtClean="0">
                <a:latin typeface="Times New Roman"/>
                <a:cs typeface="Times New Roman"/>
              </a:rPr>
              <a:t> </a:t>
            </a:r>
            <a:r>
              <a:rPr sz="2600" i="1" spc="0" dirty="0" smtClean="0">
                <a:latin typeface="Times New Roman"/>
                <a:cs typeface="Times New Roman"/>
              </a:rPr>
              <a:t>P</a:t>
            </a:r>
            <a:r>
              <a:rPr sz="2600" i="1" spc="-94" dirty="0" smtClean="0">
                <a:latin typeface="Times New Roman"/>
                <a:cs typeface="Times New Roman"/>
              </a:rPr>
              <a:t>r</a:t>
            </a:r>
            <a:r>
              <a:rPr sz="2600" i="1" spc="0" dirty="0" smtClean="0">
                <a:latin typeface="Times New Roman"/>
                <a:cs typeface="Times New Roman"/>
              </a:rPr>
              <a:t>o</a:t>
            </a:r>
            <a:r>
              <a:rPr sz="2600" i="1" spc="9" dirty="0" smtClean="0">
                <a:latin typeface="Times New Roman"/>
                <a:cs typeface="Times New Roman"/>
              </a:rPr>
              <a:t>d</a:t>
            </a:r>
            <a:r>
              <a:rPr sz="2600" i="1" spc="0" dirty="0" smtClean="0">
                <a:latin typeface="Times New Roman"/>
                <a:cs typeface="Times New Roman"/>
              </a:rPr>
              <a:t>ucing</a:t>
            </a:r>
            <a:r>
              <a:rPr sz="2600" i="1" spc="-29" dirty="0" smtClean="0">
                <a:latin typeface="Times New Roman"/>
                <a:cs typeface="Times New Roman"/>
              </a:rPr>
              <a:t> </a:t>
            </a:r>
            <a:r>
              <a:rPr sz="2600" i="1" spc="0" dirty="0" smtClean="0">
                <a:latin typeface="Times New Roman"/>
                <a:cs typeface="Times New Roman"/>
              </a:rPr>
              <a:t>mecha</a:t>
            </a:r>
            <a:r>
              <a:rPr sz="2600" i="1" spc="9" dirty="0" smtClean="0">
                <a:latin typeface="Times New Roman"/>
                <a:cs typeface="Times New Roman"/>
              </a:rPr>
              <a:t>n</a:t>
            </a:r>
            <a:r>
              <a:rPr sz="2600" i="1" spc="0" dirty="0" smtClean="0">
                <a:latin typeface="Times New Roman"/>
                <a:cs typeface="Times New Roman"/>
              </a:rPr>
              <a:t>i</a:t>
            </a:r>
            <a:r>
              <a:rPr sz="2600" i="1" spc="-9" dirty="0" smtClean="0">
                <a:latin typeface="Times New Roman"/>
                <a:cs typeface="Times New Roman"/>
              </a:rPr>
              <a:t>c</a:t>
            </a:r>
            <a:r>
              <a:rPr sz="2600" i="1" spc="0" dirty="0" smtClean="0">
                <a:latin typeface="Times New Roman"/>
                <a:cs typeface="Times New Roman"/>
              </a:rPr>
              <a:t>al</a:t>
            </a:r>
            <a:r>
              <a:rPr sz="2600" i="1" spc="-34" dirty="0" smtClean="0">
                <a:latin typeface="Times New Roman"/>
                <a:cs typeface="Times New Roman"/>
              </a:rPr>
              <a:t> </a:t>
            </a:r>
            <a:r>
              <a:rPr sz="2600" i="1" spc="0" dirty="0" smtClean="0">
                <a:latin typeface="Times New Roman"/>
                <a:cs typeface="Times New Roman"/>
              </a:rPr>
              <a:t>w</a:t>
            </a:r>
            <a:r>
              <a:rPr sz="2600" i="1" spc="9" dirty="0" smtClean="0">
                <a:latin typeface="Times New Roman"/>
                <a:cs typeface="Times New Roman"/>
              </a:rPr>
              <a:t>o</a:t>
            </a:r>
            <a:r>
              <a:rPr sz="2600" i="1" spc="0" dirty="0" smtClean="0">
                <a:latin typeface="Times New Roman"/>
                <a:cs typeface="Times New Roman"/>
              </a:rPr>
              <a:t>rk</a:t>
            </a:r>
            <a:r>
              <a:rPr sz="2600" i="1" spc="-9" dirty="0" smtClean="0">
                <a:latin typeface="Times New Roman"/>
                <a:cs typeface="Times New Roman"/>
              </a:rPr>
              <a:t> </a:t>
            </a:r>
            <a:r>
              <a:rPr sz="2600" i="1" spc="0" dirty="0" smtClean="0">
                <a:latin typeface="Times New Roman"/>
                <a:cs typeface="Times New Roman"/>
              </a:rPr>
              <a:t>by</a:t>
            </a:r>
            <a:r>
              <a:rPr sz="2600" i="1" spc="-14" dirty="0" smtClean="0">
                <a:latin typeface="Times New Roman"/>
                <a:cs typeface="Times New Roman"/>
              </a:rPr>
              <a:t> </a:t>
            </a:r>
            <a:r>
              <a:rPr sz="2600" i="1" spc="0" dirty="0" smtClean="0">
                <a:latin typeface="Times New Roman"/>
                <a:cs typeface="Times New Roman"/>
              </a:rPr>
              <a:t>e</a:t>
            </a:r>
            <a:r>
              <a:rPr sz="2600" i="1" spc="-9" dirty="0" smtClean="0">
                <a:latin typeface="Times New Roman"/>
                <a:cs typeface="Times New Roman"/>
              </a:rPr>
              <a:t>x</a:t>
            </a:r>
            <a:r>
              <a:rPr sz="2600" i="1" spc="0" dirty="0" smtClean="0">
                <a:latin typeface="Times New Roman"/>
                <a:cs typeface="Times New Roman"/>
              </a:rPr>
              <a:t>p</a:t>
            </a:r>
            <a:r>
              <a:rPr sz="2600" i="1" spc="9" dirty="0" smtClean="0">
                <a:latin typeface="Times New Roman"/>
                <a:cs typeface="Times New Roman"/>
              </a:rPr>
              <a:t>a</a:t>
            </a:r>
            <a:r>
              <a:rPr sz="2600" i="1" spc="0" dirty="0" smtClean="0">
                <a:latin typeface="Times New Roman"/>
                <a:cs typeface="Times New Roman"/>
              </a:rPr>
              <a:t>n</a:t>
            </a:r>
            <a:r>
              <a:rPr sz="2600" i="1" spc="9" dirty="0" smtClean="0">
                <a:latin typeface="Times New Roman"/>
                <a:cs typeface="Times New Roman"/>
              </a:rPr>
              <a:t>d</a:t>
            </a:r>
            <a:r>
              <a:rPr sz="2600" i="1" spc="0" dirty="0" smtClean="0">
                <a:latin typeface="Times New Roman"/>
                <a:cs typeface="Times New Roman"/>
              </a:rPr>
              <a:t>ing</a:t>
            </a:r>
            <a:r>
              <a:rPr sz="2600" i="1" spc="-39" dirty="0" smtClean="0">
                <a:latin typeface="Times New Roman"/>
                <a:cs typeface="Times New Roman"/>
              </a:rPr>
              <a:t> </a:t>
            </a:r>
            <a:r>
              <a:rPr sz="2600" i="1" spc="0" dirty="0" smtClean="0">
                <a:latin typeface="Times New Roman"/>
                <a:cs typeface="Times New Roman"/>
              </a:rPr>
              <a:t>it in s</a:t>
            </a:r>
            <a:r>
              <a:rPr sz="2600" i="1" spc="-9" dirty="0" smtClean="0">
                <a:latin typeface="Times New Roman"/>
                <a:cs typeface="Times New Roman"/>
              </a:rPr>
              <a:t>t</a:t>
            </a:r>
            <a:r>
              <a:rPr sz="2600" i="1" spc="0" dirty="0" smtClean="0">
                <a:latin typeface="Times New Roman"/>
                <a:cs typeface="Times New Roman"/>
              </a:rPr>
              <a:t>eam</a:t>
            </a:r>
            <a:endParaRPr sz="2600">
              <a:latin typeface="Times New Roman"/>
              <a:cs typeface="Times New Roman"/>
            </a:endParaRPr>
          </a:p>
          <a:p>
            <a:pPr marL="287019" marR="49606">
              <a:lnSpc>
                <a:spcPct val="95825"/>
              </a:lnSpc>
            </a:pPr>
            <a:r>
              <a:rPr sz="2600" i="1" spc="-1" dirty="0" smtClean="0">
                <a:latin typeface="Times New Roman"/>
                <a:cs typeface="Times New Roman"/>
              </a:rPr>
              <a:t>engine or steam turbine.</a:t>
            </a:r>
            <a:endParaRPr sz="2600">
              <a:latin typeface="Times New Roman"/>
              <a:cs typeface="Times New Roman"/>
            </a:endParaRPr>
          </a:p>
          <a:p>
            <a:pPr marL="12700" marR="49606">
              <a:lnSpc>
                <a:spcPct val="95825"/>
              </a:lnSpc>
              <a:spcBef>
                <a:spcPts val="754"/>
              </a:spcBef>
            </a:pPr>
            <a:r>
              <a:rPr sz="2450" dirty="0" smtClean="0">
                <a:solidFill>
                  <a:srgbClr val="0AD0D9"/>
                </a:solidFill>
                <a:latin typeface="Wingdings"/>
                <a:cs typeface="Wingdings"/>
              </a:rPr>
              <a:t></a:t>
            </a:r>
            <a:r>
              <a:rPr sz="2450" spc="2" dirty="0" smtClean="0">
                <a:solidFill>
                  <a:srgbClr val="0AD0D9"/>
                </a:solidFill>
                <a:latin typeface="Times New Roman"/>
                <a:cs typeface="Times New Roman"/>
              </a:rPr>
              <a:t> </a:t>
            </a:r>
            <a:r>
              <a:rPr sz="2600" spc="2" dirty="0" smtClean="0">
                <a:latin typeface="Times New Roman"/>
                <a:cs typeface="Times New Roman"/>
              </a:rPr>
              <a:t>(</a:t>
            </a:r>
            <a:r>
              <a:rPr sz="2600" i="1" spc="2" dirty="0" smtClean="0">
                <a:latin typeface="Times New Roman"/>
                <a:cs typeface="Times New Roman"/>
              </a:rPr>
              <a:t>ii) Heating the residential and industrial buildings</a:t>
            </a:r>
            <a:endParaRPr sz="2600">
              <a:latin typeface="Times New Roman"/>
              <a:cs typeface="Times New Roman"/>
            </a:endParaRPr>
          </a:p>
          <a:p>
            <a:pPr marL="287019" marR="485016" indent="-274319">
              <a:lnSpc>
                <a:spcPct val="99945"/>
              </a:lnSpc>
              <a:spcBef>
                <a:spcPts val="757"/>
              </a:spcBef>
            </a:pPr>
            <a:r>
              <a:rPr sz="2450" dirty="0" smtClean="0">
                <a:solidFill>
                  <a:srgbClr val="0AD0D9"/>
                </a:solidFill>
                <a:latin typeface="Wingdings"/>
                <a:cs typeface="Wingdings"/>
              </a:rPr>
              <a:t></a:t>
            </a:r>
            <a:r>
              <a:rPr sz="2450" spc="0" dirty="0" smtClean="0">
                <a:solidFill>
                  <a:srgbClr val="0AD0D9"/>
                </a:solidFill>
                <a:latin typeface="Times New Roman"/>
                <a:cs typeface="Times New Roman"/>
              </a:rPr>
              <a:t> </a:t>
            </a:r>
            <a:r>
              <a:rPr sz="2600" spc="0" dirty="0" smtClean="0">
                <a:latin typeface="Times New Roman"/>
                <a:cs typeface="Times New Roman"/>
              </a:rPr>
              <a:t>(</a:t>
            </a:r>
            <a:r>
              <a:rPr sz="2600" i="1" spc="0" dirty="0" smtClean="0">
                <a:latin typeface="Times New Roman"/>
                <a:cs typeface="Times New Roman"/>
              </a:rPr>
              <a:t>iii) Performing certain processes in the sugar mills, chemical and textile industries.</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object 145"/>
          <p:cNvSpPr txBox="1"/>
          <p:nvPr/>
        </p:nvSpPr>
        <p:spPr>
          <a:xfrm>
            <a:off x="4788299" y="3177540"/>
            <a:ext cx="190608" cy="234696"/>
          </a:xfrm>
          <a:prstGeom prst="rect">
            <a:avLst/>
          </a:prstGeom>
        </p:spPr>
        <p:txBody>
          <a:bodyPr wrap="square" lIns="0" tIns="39370" rIns="0" bIns="0" rtlCol="0">
            <a:noAutofit/>
          </a:bodyPr>
          <a:lstStyle/>
          <a:p>
            <a:pPr>
              <a:lnSpc>
                <a:spcPct val="95825"/>
              </a:lnSpc>
            </a:pPr>
            <a:r>
              <a:rPr sz="800" b="1" dirty="0" smtClean="0">
                <a:solidFill>
                  <a:srgbClr val="000066"/>
                </a:solidFill>
                <a:latin typeface="Arial"/>
                <a:cs typeface="Arial"/>
              </a:rPr>
              <a:t>O</a:t>
            </a:r>
            <a:endParaRPr sz="800">
              <a:latin typeface="Arial"/>
              <a:cs typeface="Arial"/>
            </a:endParaRPr>
          </a:p>
        </p:txBody>
      </p:sp>
      <p:sp>
        <p:nvSpPr>
          <p:cNvPr id="144" name="object 144"/>
          <p:cNvSpPr txBox="1"/>
          <p:nvPr/>
        </p:nvSpPr>
        <p:spPr>
          <a:xfrm>
            <a:off x="4695401" y="3299459"/>
            <a:ext cx="306366" cy="234696"/>
          </a:xfrm>
          <a:prstGeom prst="rect">
            <a:avLst/>
          </a:prstGeom>
        </p:spPr>
        <p:txBody>
          <a:bodyPr wrap="square" lIns="0" tIns="39370" rIns="0" bIns="0" rtlCol="0">
            <a:noAutofit/>
          </a:bodyPr>
          <a:lstStyle/>
          <a:p>
            <a:pPr>
              <a:lnSpc>
                <a:spcPct val="95825"/>
              </a:lnSpc>
            </a:pPr>
            <a:r>
              <a:rPr sz="800" b="1" spc="3" dirty="0" smtClean="0">
                <a:solidFill>
                  <a:srgbClr val="000066"/>
                </a:solidFill>
                <a:latin typeface="Arial"/>
                <a:cs typeface="Arial"/>
              </a:rPr>
              <a:t>OMI</a:t>
            </a:r>
            <a:endParaRPr sz="800">
              <a:latin typeface="Arial"/>
              <a:cs typeface="Arial"/>
            </a:endParaRPr>
          </a:p>
        </p:txBody>
      </p:sp>
      <p:sp>
        <p:nvSpPr>
          <p:cNvPr id="34" name="object 34"/>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35" name="object 35"/>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36" name="object 36"/>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37" name="object 37"/>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38" name="object 38"/>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39" name="object 39"/>
          <p:cNvSpPr/>
          <p:nvPr/>
        </p:nvSpPr>
        <p:spPr>
          <a:xfrm>
            <a:off x="0" y="0"/>
            <a:ext cx="1490472" cy="6857998"/>
          </a:xfrm>
          <a:custGeom>
            <a:avLst/>
            <a:gdLst/>
            <a:ahLst/>
            <a:cxnLst/>
            <a:rect l="l" t="t" r="r" b="b"/>
            <a:pathLst>
              <a:path w="1490472" h="6857998">
                <a:moveTo>
                  <a:pt x="1490472" y="6857998"/>
                </a:moveTo>
                <a:lnTo>
                  <a:pt x="1490472" y="0"/>
                </a:lnTo>
                <a:lnTo>
                  <a:pt x="0" y="0"/>
                </a:lnTo>
                <a:lnTo>
                  <a:pt x="0" y="6857998"/>
                </a:lnTo>
                <a:lnTo>
                  <a:pt x="1490472" y="6857998"/>
                </a:lnTo>
                <a:close/>
              </a:path>
            </a:pathLst>
          </a:custGeom>
          <a:solidFill>
            <a:srgbClr val="FFFFFF"/>
          </a:solidFill>
        </p:spPr>
        <p:txBody>
          <a:bodyPr wrap="square" lIns="0" tIns="0" rIns="0" bIns="0" rtlCol="0">
            <a:noAutofit/>
          </a:bodyPr>
          <a:lstStyle/>
          <a:p>
            <a:endParaRPr/>
          </a:p>
        </p:txBody>
      </p:sp>
      <p:sp>
        <p:nvSpPr>
          <p:cNvPr id="40" name="object 40"/>
          <p:cNvSpPr/>
          <p:nvPr/>
        </p:nvSpPr>
        <p:spPr>
          <a:xfrm>
            <a:off x="0" y="0"/>
            <a:ext cx="1490472" cy="6857998"/>
          </a:xfrm>
          <a:custGeom>
            <a:avLst/>
            <a:gdLst/>
            <a:ahLst/>
            <a:cxnLst/>
            <a:rect l="l" t="t" r="r" b="b"/>
            <a:pathLst>
              <a:path w="1490472" h="6857998">
                <a:moveTo>
                  <a:pt x="1490472" y="6857998"/>
                </a:moveTo>
                <a:lnTo>
                  <a:pt x="0" y="6857998"/>
                </a:lnTo>
                <a:lnTo>
                  <a:pt x="0" y="0"/>
                </a:lnTo>
                <a:lnTo>
                  <a:pt x="1490472" y="0"/>
                </a:lnTo>
                <a:lnTo>
                  <a:pt x="1490472" y="6857998"/>
                </a:lnTo>
                <a:close/>
              </a:path>
            </a:pathLst>
          </a:custGeom>
          <a:ln w="9144">
            <a:solidFill>
              <a:srgbClr val="000000"/>
            </a:solidFill>
          </a:ln>
        </p:spPr>
        <p:txBody>
          <a:bodyPr wrap="square" lIns="0" tIns="0" rIns="0" bIns="0" rtlCol="0">
            <a:noAutofit/>
          </a:bodyPr>
          <a:lstStyle/>
          <a:p>
            <a:endParaRPr/>
          </a:p>
        </p:txBody>
      </p:sp>
      <p:sp>
        <p:nvSpPr>
          <p:cNvPr id="41" name="object 41"/>
          <p:cNvSpPr/>
          <p:nvPr/>
        </p:nvSpPr>
        <p:spPr>
          <a:xfrm>
            <a:off x="1503426" y="761"/>
            <a:ext cx="1" cy="6857235"/>
          </a:xfrm>
          <a:custGeom>
            <a:avLst/>
            <a:gdLst/>
            <a:ahLst/>
            <a:cxnLst/>
            <a:rect l="l" t="t" r="r" b="b"/>
            <a:pathLst>
              <a:path w="1" h="6857235">
                <a:moveTo>
                  <a:pt x="0" y="6857235"/>
                </a:moveTo>
                <a:lnTo>
                  <a:pt x="0" y="0"/>
                </a:lnTo>
              </a:path>
            </a:pathLst>
          </a:custGeom>
          <a:ln w="38100">
            <a:solidFill>
              <a:srgbClr val="000080"/>
            </a:solidFill>
          </a:ln>
        </p:spPr>
        <p:txBody>
          <a:bodyPr wrap="square" lIns="0" tIns="0" rIns="0" bIns="0" rtlCol="0">
            <a:noAutofit/>
          </a:bodyPr>
          <a:lstStyle/>
          <a:p>
            <a:endParaRPr/>
          </a:p>
        </p:txBody>
      </p:sp>
      <p:sp>
        <p:nvSpPr>
          <p:cNvPr id="42" name="object 42"/>
          <p:cNvSpPr/>
          <p:nvPr/>
        </p:nvSpPr>
        <p:spPr>
          <a:xfrm>
            <a:off x="762" y="1381505"/>
            <a:ext cx="9144000" cy="0"/>
          </a:xfrm>
          <a:custGeom>
            <a:avLst/>
            <a:gdLst/>
            <a:ahLst/>
            <a:cxnLst/>
            <a:rect l="l" t="t" r="r" b="b"/>
            <a:pathLst>
              <a:path w="9144000">
                <a:moveTo>
                  <a:pt x="9143238" y="0"/>
                </a:moveTo>
                <a:lnTo>
                  <a:pt x="0" y="0"/>
                </a:lnTo>
              </a:path>
              <a:path w="9144000">
                <a:moveTo>
                  <a:pt x="0" y="1"/>
                </a:moveTo>
                <a:lnTo>
                  <a:pt x="9143238" y="0"/>
                </a:lnTo>
              </a:path>
            </a:pathLst>
          </a:custGeom>
          <a:ln w="38100">
            <a:solidFill>
              <a:srgbClr val="000080"/>
            </a:solidFill>
          </a:ln>
        </p:spPr>
        <p:txBody>
          <a:bodyPr wrap="square" lIns="0" tIns="0" rIns="0" bIns="0" rtlCol="0">
            <a:noAutofit/>
          </a:bodyPr>
          <a:lstStyle/>
          <a:p>
            <a:endParaRPr/>
          </a:p>
        </p:txBody>
      </p:sp>
      <p:sp>
        <p:nvSpPr>
          <p:cNvPr id="43" name="object 43"/>
          <p:cNvSpPr/>
          <p:nvPr/>
        </p:nvSpPr>
        <p:spPr>
          <a:xfrm>
            <a:off x="1708404" y="361188"/>
            <a:ext cx="2906268" cy="902208"/>
          </a:xfrm>
          <a:prstGeom prst="rect">
            <a:avLst/>
          </a:prstGeom>
          <a:blipFill>
            <a:blip r:embed="rId7" cstate="print"/>
            <a:stretch>
              <a:fillRect/>
            </a:stretch>
          </a:blipFill>
        </p:spPr>
        <p:txBody>
          <a:bodyPr wrap="square" lIns="0" tIns="0" rIns="0" bIns="0" rtlCol="0">
            <a:noAutofit/>
          </a:bodyPr>
          <a:lstStyle/>
          <a:p>
            <a:endParaRPr/>
          </a:p>
        </p:txBody>
      </p:sp>
      <p:sp>
        <p:nvSpPr>
          <p:cNvPr id="44" name="object 44"/>
          <p:cNvSpPr/>
          <p:nvPr/>
        </p:nvSpPr>
        <p:spPr>
          <a:xfrm>
            <a:off x="3596640" y="1970532"/>
            <a:ext cx="228600" cy="2334767"/>
          </a:xfrm>
          <a:custGeom>
            <a:avLst/>
            <a:gdLst/>
            <a:ahLst/>
            <a:cxnLst/>
            <a:rect l="l" t="t" r="r" b="b"/>
            <a:pathLst>
              <a:path w="228600" h="2334767">
                <a:moveTo>
                  <a:pt x="76200" y="2334767"/>
                </a:moveTo>
                <a:lnTo>
                  <a:pt x="152400" y="2334767"/>
                </a:lnTo>
                <a:lnTo>
                  <a:pt x="152400" y="190500"/>
                </a:lnTo>
                <a:lnTo>
                  <a:pt x="228600" y="228600"/>
                </a:lnTo>
                <a:lnTo>
                  <a:pt x="114300" y="0"/>
                </a:lnTo>
                <a:lnTo>
                  <a:pt x="76200" y="190500"/>
                </a:lnTo>
                <a:lnTo>
                  <a:pt x="76200" y="2334767"/>
                </a:lnTo>
                <a:close/>
              </a:path>
              <a:path w="228600" h="2334767">
                <a:moveTo>
                  <a:pt x="76200" y="190500"/>
                </a:moveTo>
                <a:lnTo>
                  <a:pt x="114300" y="0"/>
                </a:lnTo>
                <a:lnTo>
                  <a:pt x="0" y="228600"/>
                </a:lnTo>
                <a:lnTo>
                  <a:pt x="76200" y="228599"/>
                </a:lnTo>
                <a:lnTo>
                  <a:pt x="76200" y="190500"/>
                </a:lnTo>
                <a:close/>
              </a:path>
              <a:path w="228600" h="2334767">
                <a:moveTo>
                  <a:pt x="228600" y="228600"/>
                </a:moveTo>
                <a:lnTo>
                  <a:pt x="152400" y="190500"/>
                </a:lnTo>
                <a:lnTo>
                  <a:pt x="152399" y="228600"/>
                </a:lnTo>
                <a:lnTo>
                  <a:pt x="228600" y="228600"/>
                </a:lnTo>
                <a:close/>
              </a:path>
            </a:pathLst>
          </a:custGeom>
          <a:solidFill>
            <a:srgbClr val="000066"/>
          </a:solidFill>
        </p:spPr>
        <p:txBody>
          <a:bodyPr wrap="square" lIns="0" tIns="0" rIns="0" bIns="0" rtlCol="0">
            <a:noAutofit/>
          </a:bodyPr>
          <a:lstStyle/>
          <a:p>
            <a:endParaRPr/>
          </a:p>
        </p:txBody>
      </p:sp>
      <p:sp>
        <p:nvSpPr>
          <p:cNvPr id="45" name="object 45"/>
          <p:cNvSpPr/>
          <p:nvPr/>
        </p:nvSpPr>
        <p:spPr>
          <a:xfrm>
            <a:off x="4831080" y="2476500"/>
            <a:ext cx="86867" cy="492251"/>
          </a:xfrm>
          <a:custGeom>
            <a:avLst/>
            <a:gdLst/>
            <a:ahLst/>
            <a:cxnLst/>
            <a:rect l="l" t="t" r="r" b="b"/>
            <a:pathLst>
              <a:path w="86867" h="492251">
                <a:moveTo>
                  <a:pt x="0" y="492251"/>
                </a:moveTo>
                <a:lnTo>
                  <a:pt x="86867" y="492251"/>
                </a:lnTo>
                <a:lnTo>
                  <a:pt x="86867" y="0"/>
                </a:lnTo>
                <a:lnTo>
                  <a:pt x="0" y="0"/>
                </a:lnTo>
                <a:lnTo>
                  <a:pt x="0" y="492251"/>
                </a:lnTo>
                <a:close/>
              </a:path>
            </a:pathLst>
          </a:custGeom>
          <a:solidFill>
            <a:srgbClr val="6666FF"/>
          </a:solidFill>
        </p:spPr>
        <p:txBody>
          <a:bodyPr wrap="square" lIns="0" tIns="0" rIns="0" bIns="0" rtlCol="0">
            <a:noAutofit/>
          </a:bodyPr>
          <a:lstStyle/>
          <a:p>
            <a:endParaRPr/>
          </a:p>
        </p:txBody>
      </p:sp>
      <p:sp>
        <p:nvSpPr>
          <p:cNvPr id="46" name="object 46"/>
          <p:cNvSpPr/>
          <p:nvPr/>
        </p:nvSpPr>
        <p:spPr>
          <a:xfrm>
            <a:off x="4831080" y="2476500"/>
            <a:ext cx="86867" cy="545591"/>
          </a:xfrm>
          <a:custGeom>
            <a:avLst/>
            <a:gdLst/>
            <a:ahLst/>
            <a:cxnLst/>
            <a:rect l="l" t="t" r="r" b="b"/>
            <a:pathLst>
              <a:path w="86867" h="545591">
                <a:moveTo>
                  <a:pt x="0" y="545591"/>
                </a:moveTo>
                <a:lnTo>
                  <a:pt x="86867" y="545591"/>
                </a:lnTo>
                <a:lnTo>
                  <a:pt x="86867" y="0"/>
                </a:lnTo>
                <a:lnTo>
                  <a:pt x="0" y="0"/>
                </a:lnTo>
                <a:lnTo>
                  <a:pt x="0" y="545591"/>
                </a:lnTo>
                <a:close/>
              </a:path>
            </a:pathLst>
          </a:custGeom>
          <a:ln w="9144">
            <a:solidFill>
              <a:srgbClr val="000000"/>
            </a:solidFill>
          </a:ln>
        </p:spPr>
        <p:txBody>
          <a:bodyPr wrap="square" lIns="0" tIns="0" rIns="0" bIns="0" rtlCol="0">
            <a:noAutofit/>
          </a:bodyPr>
          <a:lstStyle/>
          <a:p>
            <a:endParaRPr/>
          </a:p>
        </p:txBody>
      </p:sp>
      <p:sp>
        <p:nvSpPr>
          <p:cNvPr id="47" name="object 47"/>
          <p:cNvSpPr/>
          <p:nvPr/>
        </p:nvSpPr>
        <p:spPr>
          <a:xfrm>
            <a:off x="5073396" y="4756404"/>
            <a:ext cx="781812" cy="323088"/>
          </a:xfrm>
          <a:custGeom>
            <a:avLst/>
            <a:gdLst/>
            <a:ahLst/>
            <a:cxnLst/>
            <a:rect l="l" t="t" r="r" b="b"/>
            <a:pathLst>
              <a:path w="781812" h="323088">
                <a:moveTo>
                  <a:pt x="0" y="323088"/>
                </a:moveTo>
                <a:lnTo>
                  <a:pt x="781812" y="323088"/>
                </a:lnTo>
                <a:lnTo>
                  <a:pt x="781812" y="0"/>
                </a:lnTo>
                <a:lnTo>
                  <a:pt x="0" y="0"/>
                </a:lnTo>
                <a:lnTo>
                  <a:pt x="0" y="323088"/>
                </a:lnTo>
                <a:close/>
              </a:path>
            </a:pathLst>
          </a:custGeom>
          <a:solidFill>
            <a:srgbClr val="FFFF99"/>
          </a:solidFill>
        </p:spPr>
        <p:txBody>
          <a:bodyPr wrap="square" lIns="0" tIns="0" rIns="0" bIns="0" rtlCol="0">
            <a:noAutofit/>
          </a:bodyPr>
          <a:lstStyle/>
          <a:p>
            <a:endParaRPr/>
          </a:p>
        </p:txBody>
      </p:sp>
      <p:sp>
        <p:nvSpPr>
          <p:cNvPr id="48" name="object 48"/>
          <p:cNvSpPr/>
          <p:nvPr/>
        </p:nvSpPr>
        <p:spPr>
          <a:xfrm>
            <a:off x="5073396" y="4756404"/>
            <a:ext cx="781812" cy="323088"/>
          </a:xfrm>
          <a:custGeom>
            <a:avLst/>
            <a:gdLst/>
            <a:ahLst/>
            <a:cxnLst/>
            <a:rect l="l" t="t" r="r" b="b"/>
            <a:pathLst>
              <a:path w="781812" h="323088">
                <a:moveTo>
                  <a:pt x="0" y="323088"/>
                </a:moveTo>
                <a:lnTo>
                  <a:pt x="781812" y="323088"/>
                </a:lnTo>
                <a:lnTo>
                  <a:pt x="781812" y="0"/>
                </a:lnTo>
                <a:lnTo>
                  <a:pt x="0" y="0"/>
                </a:lnTo>
                <a:lnTo>
                  <a:pt x="0" y="323088"/>
                </a:lnTo>
                <a:close/>
              </a:path>
            </a:pathLst>
          </a:custGeom>
          <a:ln w="9144">
            <a:solidFill>
              <a:srgbClr val="000000"/>
            </a:solidFill>
          </a:ln>
        </p:spPr>
        <p:txBody>
          <a:bodyPr wrap="square" lIns="0" tIns="0" rIns="0" bIns="0" rtlCol="0">
            <a:noAutofit/>
          </a:bodyPr>
          <a:lstStyle/>
          <a:p>
            <a:endParaRPr/>
          </a:p>
        </p:txBody>
      </p:sp>
      <p:sp>
        <p:nvSpPr>
          <p:cNvPr id="49" name="object 49"/>
          <p:cNvSpPr/>
          <p:nvPr/>
        </p:nvSpPr>
        <p:spPr>
          <a:xfrm>
            <a:off x="5111496" y="4757928"/>
            <a:ext cx="717803" cy="291084"/>
          </a:xfrm>
          <a:prstGeom prst="rect">
            <a:avLst/>
          </a:prstGeom>
          <a:blipFill>
            <a:blip r:embed="rId8" cstate="print"/>
            <a:stretch>
              <a:fillRect/>
            </a:stretch>
          </a:blipFill>
        </p:spPr>
        <p:txBody>
          <a:bodyPr wrap="square" lIns="0" tIns="0" rIns="0" bIns="0" rtlCol="0">
            <a:noAutofit/>
          </a:bodyPr>
          <a:lstStyle/>
          <a:p>
            <a:endParaRPr/>
          </a:p>
        </p:txBody>
      </p:sp>
      <p:sp>
        <p:nvSpPr>
          <p:cNvPr id="50" name="object 50"/>
          <p:cNvSpPr/>
          <p:nvPr/>
        </p:nvSpPr>
        <p:spPr>
          <a:xfrm>
            <a:off x="7196328" y="2407920"/>
            <a:ext cx="239268" cy="352043"/>
          </a:xfrm>
          <a:custGeom>
            <a:avLst/>
            <a:gdLst/>
            <a:ahLst/>
            <a:cxnLst/>
            <a:rect l="l" t="t" r="r" b="b"/>
            <a:pathLst>
              <a:path w="239268" h="352043">
                <a:moveTo>
                  <a:pt x="0" y="0"/>
                </a:moveTo>
                <a:lnTo>
                  <a:pt x="0" y="352043"/>
                </a:lnTo>
                <a:lnTo>
                  <a:pt x="119633" y="352043"/>
                </a:lnTo>
                <a:lnTo>
                  <a:pt x="139961" y="349509"/>
                </a:lnTo>
                <a:lnTo>
                  <a:pt x="161722" y="340828"/>
                </a:lnTo>
                <a:lnTo>
                  <a:pt x="171934" y="334356"/>
                </a:lnTo>
                <a:lnTo>
                  <a:pt x="181631" y="326567"/>
                </a:lnTo>
                <a:lnTo>
                  <a:pt x="190759" y="317538"/>
                </a:lnTo>
                <a:lnTo>
                  <a:pt x="199268" y="307346"/>
                </a:lnTo>
                <a:lnTo>
                  <a:pt x="207103" y="296067"/>
                </a:lnTo>
                <a:lnTo>
                  <a:pt x="214213" y="283781"/>
                </a:lnTo>
                <a:lnTo>
                  <a:pt x="220546" y="270563"/>
                </a:lnTo>
                <a:lnTo>
                  <a:pt x="226048" y="256491"/>
                </a:lnTo>
                <a:lnTo>
                  <a:pt x="230667" y="241642"/>
                </a:lnTo>
                <a:lnTo>
                  <a:pt x="234351" y="226093"/>
                </a:lnTo>
                <a:lnTo>
                  <a:pt x="237047" y="209922"/>
                </a:lnTo>
                <a:lnTo>
                  <a:pt x="238704" y="193206"/>
                </a:lnTo>
                <a:lnTo>
                  <a:pt x="239268" y="176021"/>
                </a:lnTo>
                <a:lnTo>
                  <a:pt x="238942" y="162953"/>
                </a:lnTo>
                <a:lnTo>
                  <a:pt x="237545" y="146117"/>
                </a:lnTo>
                <a:lnTo>
                  <a:pt x="235096" y="129807"/>
                </a:lnTo>
                <a:lnTo>
                  <a:pt x="231646" y="114100"/>
                </a:lnTo>
                <a:lnTo>
                  <a:pt x="227248" y="99075"/>
                </a:lnTo>
                <a:lnTo>
                  <a:pt x="221954" y="84808"/>
                </a:lnTo>
                <a:lnTo>
                  <a:pt x="215818" y="71376"/>
                </a:lnTo>
                <a:lnTo>
                  <a:pt x="208891" y="58857"/>
                </a:lnTo>
                <a:lnTo>
                  <a:pt x="201226" y="47328"/>
                </a:lnTo>
                <a:lnTo>
                  <a:pt x="192876" y="36866"/>
                </a:lnTo>
                <a:lnTo>
                  <a:pt x="183892" y="27549"/>
                </a:lnTo>
                <a:lnTo>
                  <a:pt x="174328" y="19453"/>
                </a:lnTo>
                <a:lnTo>
                  <a:pt x="164236" y="12656"/>
                </a:lnTo>
                <a:lnTo>
                  <a:pt x="153668" y="7234"/>
                </a:lnTo>
                <a:lnTo>
                  <a:pt x="131314" y="829"/>
                </a:lnTo>
                <a:lnTo>
                  <a:pt x="119633" y="0"/>
                </a:lnTo>
                <a:lnTo>
                  <a:pt x="0" y="0"/>
                </a:lnTo>
                <a:close/>
              </a:path>
            </a:pathLst>
          </a:custGeom>
          <a:solidFill>
            <a:srgbClr val="6666FF"/>
          </a:solidFill>
        </p:spPr>
        <p:txBody>
          <a:bodyPr wrap="square" lIns="0" tIns="0" rIns="0" bIns="0" rtlCol="0">
            <a:noAutofit/>
          </a:bodyPr>
          <a:lstStyle/>
          <a:p>
            <a:endParaRPr/>
          </a:p>
        </p:txBody>
      </p:sp>
      <p:sp>
        <p:nvSpPr>
          <p:cNvPr id="51" name="object 51"/>
          <p:cNvSpPr/>
          <p:nvPr/>
        </p:nvSpPr>
        <p:spPr>
          <a:xfrm>
            <a:off x="7196328" y="2407920"/>
            <a:ext cx="239268" cy="352043"/>
          </a:xfrm>
          <a:custGeom>
            <a:avLst/>
            <a:gdLst/>
            <a:ahLst/>
            <a:cxnLst/>
            <a:rect l="l" t="t" r="r" b="b"/>
            <a:pathLst>
              <a:path w="239268" h="352043">
                <a:moveTo>
                  <a:pt x="0" y="0"/>
                </a:moveTo>
                <a:lnTo>
                  <a:pt x="119633" y="0"/>
                </a:lnTo>
                <a:lnTo>
                  <a:pt x="131314" y="829"/>
                </a:lnTo>
                <a:lnTo>
                  <a:pt x="153668" y="7234"/>
                </a:lnTo>
                <a:lnTo>
                  <a:pt x="164236" y="12656"/>
                </a:lnTo>
                <a:lnTo>
                  <a:pt x="174328" y="19453"/>
                </a:lnTo>
                <a:lnTo>
                  <a:pt x="183892" y="27549"/>
                </a:lnTo>
                <a:lnTo>
                  <a:pt x="192876" y="36866"/>
                </a:lnTo>
                <a:lnTo>
                  <a:pt x="201226" y="47328"/>
                </a:lnTo>
                <a:lnTo>
                  <a:pt x="208891" y="58857"/>
                </a:lnTo>
                <a:lnTo>
                  <a:pt x="215818" y="71376"/>
                </a:lnTo>
                <a:lnTo>
                  <a:pt x="221954" y="84808"/>
                </a:lnTo>
                <a:lnTo>
                  <a:pt x="227248" y="99075"/>
                </a:lnTo>
                <a:lnTo>
                  <a:pt x="231646" y="114100"/>
                </a:lnTo>
                <a:lnTo>
                  <a:pt x="235096" y="129807"/>
                </a:lnTo>
                <a:lnTo>
                  <a:pt x="237545" y="146117"/>
                </a:lnTo>
                <a:lnTo>
                  <a:pt x="238942" y="162953"/>
                </a:lnTo>
                <a:lnTo>
                  <a:pt x="239268" y="176021"/>
                </a:lnTo>
                <a:lnTo>
                  <a:pt x="238704" y="193206"/>
                </a:lnTo>
                <a:lnTo>
                  <a:pt x="237047" y="209922"/>
                </a:lnTo>
                <a:lnTo>
                  <a:pt x="234351" y="226093"/>
                </a:lnTo>
                <a:lnTo>
                  <a:pt x="230667" y="241642"/>
                </a:lnTo>
                <a:lnTo>
                  <a:pt x="226048" y="256491"/>
                </a:lnTo>
                <a:lnTo>
                  <a:pt x="220546" y="270563"/>
                </a:lnTo>
                <a:lnTo>
                  <a:pt x="214213" y="283781"/>
                </a:lnTo>
                <a:lnTo>
                  <a:pt x="207103" y="296067"/>
                </a:lnTo>
                <a:lnTo>
                  <a:pt x="199268" y="307346"/>
                </a:lnTo>
                <a:lnTo>
                  <a:pt x="190759" y="317538"/>
                </a:lnTo>
                <a:lnTo>
                  <a:pt x="181631" y="326567"/>
                </a:lnTo>
                <a:lnTo>
                  <a:pt x="171934" y="334356"/>
                </a:lnTo>
                <a:lnTo>
                  <a:pt x="161722" y="340828"/>
                </a:lnTo>
                <a:lnTo>
                  <a:pt x="151046" y="345904"/>
                </a:lnTo>
                <a:lnTo>
                  <a:pt x="128516" y="351565"/>
                </a:lnTo>
                <a:lnTo>
                  <a:pt x="119633" y="352043"/>
                </a:lnTo>
                <a:lnTo>
                  <a:pt x="0" y="352043"/>
                </a:lnTo>
                <a:lnTo>
                  <a:pt x="0" y="0"/>
                </a:lnTo>
                <a:close/>
              </a:path>
            </a:pathLst>
          </a:custGeom>
          <a:ln w="9144">
            <a:solidFill>
              <a:srgbClr val="000000"/>
            </a:solidFill>
          </a:ln>
        </p:spPr>
        <p:txBody>
          <a:bodyPr wrap="square" lIns="0" tIns="0" rIns="0" bIns="0" rtlCol="0">
            <a:noAutofit/>
          </a:bodyPr>
          <a:lstStyle/>
          <a:p>
            <a:endParaRPr/>
          </a:p>
        </p:txBody>
      </p:sp>
      <p:sp>
        <p:nvSpPr>
          <p:cNvPr id="52" name="object 52"/>
          <p:cNvSpPr/>
          <p:nvPr/>
        </p:nvSpPr>
        <p:spPr>
          <a:xfrm>
            <a:off x="6222492" y="2407920"/>
            <a:ext cx="240792" cy="352043"/>
          </a:xfrm>
          <a:custGeom>
            <a:avLst/>
            <a:gdLst/>
            <a:ahLst/>
            <a:cxnLst/>
            <a:rect l="l" t="t" r="r" b="b"/>
            <a:pathLst>
              <a:path w="240792" h="352043">
                <a:moveTo>
                  <a:pt x="240792" y="0"/>
                </a:moveTo>
                <a:lnTo>
                  <a:pt x="120396" y="0"/>
                </a:lnTo>
                <a:lnTo>
                  <a:pt x="108650" y="826"/>
                </a:lnTo>
                <a:lnTo>
                  <a:pt x="86178" y="7206"/>
                </a:lnTo>
                <a:lnTo>
                  <a:pt x="75557" y="12606"/>
                </a:lnTo>
                <a:lnTo>
                  <a:pt x="65414" y="19378"/>
                </a:lnTo>
                <a:lnTo>
                  <a:pt x="55801" y="27444"/>
                </a:lnTo>
                <a:lnTo>
                  <a:pt x="46772" y="36727"/>
                </a:lnTo>
                <a:lnTo>
                  <a:pt x="38379" y="47151"/>
                </a:lnTo>
                <a:lnTo>
                  <a:pt x="30672" y="58640"/>
                </a:lnTo>
                <a:lnTo>
                  <a:pt x="23705" y="71115"/>
                </a:lnTo>
                <a:lnTo>
                  <a:pt x="17530" y="84501"/>
                </a:lnTo>
                <a:lnTo>
                  <a:pt x="12199" y="98721"/>
                </a:lnTo>
                <a:lnTo>
                  <a:pt x="7764" y="113698"/>
                </a:lnTo>
                <a:lnTo>
                  <a:pt x="4276" y="129355"/>
                </a:lnTo>
                <a:lnTo>
                  <a:pt x="1789" y="145616"/>
                </a:lnTo>
                <a:lnTo>
                  <a:pt x="355" y="162403"/>
                </a:lnTo>
                <a:lnTo>
                  <a:pt x="0" y="176021"/>
                </a:lnTo>
                <a:lnTo>
                  <a:pt x="564" y="193172"/>
                </a:lnTo>
                <a:lnTo>
                  <a:pt x="2222" y="209856"/>
                </a:lnTo>
                <a:lnTo>
                  <a:pt x="4921" y="225997"/>
                </a:lnTo>
                <a:lnTo>
                  <a:pt x="8610" y="241519"/>
                </a:lnTo>
                <a:lnTo>
                  <a:pt x="13236" y="256345"/>
                </a:lnTo>
                <a:lnTo>
                  <a:pt x="18747" y="270398"/>
                </a:lnTo>
                <a:lnTo>
                  <a:pt x="25091" y="283601"/>
                </a:lnTo>
                <a:lnTo>
                  <a:pt x="32216" y="295877"/>
                </a:lnTo>
                <a:lnTo>
                  <a:pt x="40070" y="307151"/>
                </a:lnTo>
                <a:lnTo>
                  <a:pt x="48600" y="317344"/>
                </a:lnTo>
                <a:lnTo>
                  <a:pt x="57755" y="326380"/>
                </a:lnTo>
                <a:lnTo>
                  <a:pt x="67482" y="334183"/>
                </a:lnTo>
                <a:lnTo>
                  <a:pt x="77729" y="340676"/>
                </a:lnTo>
                <a:lnTo>
                  <a:pt x="88444" y="345781"/>
                </a:lnTo>
                <a:lnTo>
                  <a:pt x="111069" y="351524"/>
                </a:lnTo>
                <a:lnTo>
                  <a:pt x="120396" y="352043"/>
                </a:lnTo>
                <a:lnTo>
                  <a:pt x="240792" y="352043"/>
                </a:lnTo>
                <a:lnTo>
                  <a:pt x="240792" y="0"/>
                </a:lnTo>
                <a:close/>
              </a:path>
            </a:pathLst>
          </a:custGeom>
          <a:solidFill>
            <a:srgbClr val="6666FF"/>
          </a:solidFill>
        </p:spPr>
        <p:txBody>
          <a:bodyPr wrap="square" lIns="0" tIns="0" rIns="0" bIns="0" rtlCol="0">
            <a:noAutofit/>
          </a:bodyPr>
          <a:lstStyle/>
          <a:p>
            <a:endParaRPr/>
          </a:p>
        </p:txBody>
      </p:sp>
      <p:sp>
        <p:nvSpPr>
          <p:cNvPr id="53" name="object 53"/>
          <p:cNvSpPr/>
          <p:nvPr/>
        </p:nvSpPr>
        <p:spPr>
          <a:xfrm>
            <a:off x="6222492" y="2407920"/>
            <a:ext cx="240792" cy="352043"/>
          </a:xfrm>
          <a:custGeom>
            <a:avLst/>
            <a:gdLst/>
            <a:ahLst/>
            <a:cxnLst/>
            <a:rect l="l" t="t" r="r" b="b"/>
            <a:pathLst>
              <a:path w="240792" h="352043">
                <a:moveTo>
                  <a:pt x="240792" y="0"/>
                </a:moveTo>
                <a:lnTo>
                  <a:pt x="120396" y="0"/>
                </a:lnTo>
                <a:lnTo>
                  <a:pt x="108650" y="826"/>
                </a:lnTo>
                <a:lnTo>
                  <a:pt x="86178" y="7206"/>
                </a:lnTo>
                <a:lnTo>
                  <a:pt x="75557" y="12606"/>
                </a:lnTo>
                <a:lnTo>
                  <a:pt x="65414" y="19378"/>
                </a:lnTo>
                <a:lnTo>
                  <a:pt x="55801" y="27444"/>
                </a:lnTo>
                <a:lnTo>
                  <a:pt x="46772" y="36727"/>
                </a:lnTo>
                <a:lnTo>
                  <a:pt x="38379" y="47151"/>
                </a:lnTo>
                <a:lnTo>
                  <a:pt x="30672" y="58640"/>
                </a:lnTo>
                <a:lnTo>
                  <a:pt x="23705" y="71115"/>
                </a:lnTo>
                <a:lnTo>
                  <a:pt x="17530" y="84501"/>
                </a:lnTo>
                <a:lnTo>
                  <a:pt x="12199" y="98721"/>
                </a:lnTo>
                <a:lnTo>
                  <a:pt x="7764" y="113698"/>
                </a:lnTo>
                <a:lnTo>
                  <a:pt x="4276" y="129355"/>
                </a:lnTo>
                <a:lnTo>
                  <a:pt x="1789" y="145616"/>
                </a:lnTo>
                <a:lnTo>
                  <a:pt x="355" y="162403"/>
                </a:lnTo>
                <a:lnTo>
                  <a:pt x="0" y="176021"/>
                </a:lnTo>
                <a:lnTo>
                  <a:pt x="564" y="193172"/>
                </a:lnTo>
                <a:lnTo>
                  <a:pt x="2222" y="209856"/>
                </a:lnTo>
                <a:lnTo>
                  <a:pt x="4921" y="225997"/>
                </a:lnTo>
                <a:lnTo>
                  <a:pt x="8610" y="241519"/>
                </a:lnTo>
                <a:lnTo>
                  <a:pt x="13236" y="256345"/>
                </a:lnTo>
                <a:lnTo>
                  <a:pt x="18747" y="270398"/>
                </a:lnTo>
                <a:lnTo>
                  <a:pt x="25091" y="283601"/>
                </a:lnTo>
                <a:lnTo>
                  <a:pt x="32216" y="295877"/>
                </a:lnTo>
                <a:lnTo>
                  <a:pt x="40070" y="307151"/>
                </a:lnTo>
                <a:lnTo>
                  <a:pt x="48600" y="317344"/>
                </a:lnTo>
                <a:lnTo>
                  <a:pt x="57755" y="326380"/>
                </a:lnTo>
                <a:lnTo>
                  <a:pt x="67482" y="334183"/>
                </a:lnTo>
                <a:lnTo>
                  <a:pt x="77729" y="340676"/>
                </a:lnTo>
                <a:lnTo>
                  <a:pt x="88444" y="345781"/>
                </a:lnTo>
                <a:lnTo>
                  <a:pt x="111069" y="351524"/>
                </a:lnTo>
                <a:lnTo>
                  <a:pt x="120396" y="352043"/>
                </a:lnTo>
                <a:lnTo>
                  <a:pt x="240792" y="352043"/>
                </a:lnTo>
                <a:lnTo>
                  <a:pt x="240792" y="0"/>
                </a:lnTo>
                <a:close/>
              </a:path>
            </a:pathLst>
          </a:custGeom>
          <a:ln w="9144">
            <a:solidFill>
              <a:srgbClr val="000000"/>
            </a:solidFill>
          </a:ln>
        </p:spPr>
        <p:txBody>
          <a:bodyPr wrap="square" lIns="0" tIns="0" rIns="0" bIns="0" rtlCol="0">
            <a:noAutofit/>
          </a:bodyPr>
          <a:lstStyle/>
          <a:p>
            <a:endParaRPr/>
          </a:p>
        </p:txBody>
      </p:sp>
      <p:sp>
        <p:nvSpPr>
          <p:cNvPr id="54" name="object 54"/>
          <p:cNvSpPr/>
          <p:nvPr/>
        </p:nvSpPr>
        <p:spPr>
          <a:xfrm>
            <a:off x="6463284" y="2407920"/>
            <a:ext cx="733043" cy="352043"/>
          </a:xfrm>
          <a:custGeom>
            <a:avLst/>
            <a:gdLst/>
            <a:ahLst/>
            <a:cxnLst/>
            <a:rect l="l" t="t" r="r" b="b"/>
            <a:pathLst>
              <a:path w="733043" h="352043">
                <a:moveTo>
                  <a:pt x="0" y="352043"/>
                </a:moveTo>
                <a:lnTo>
                  <a:pt x="733043" y="352043"/>
                </a:lnTo>
                <a:lnTo>
                  <a:pt x="733043" y="0"/>
                </a:lnTo>
                <a:lnTo>
                  <a:pt x="0" y="0"/>
                </a:lnTo>
                <a:lnTo>
                  <a:pt x="0" y="352043"/>
                </a:lnTo>
                <a:close/>
              </a:path>
            </a:pathLst>
          </a:custGeom>
          <a:solidFill>
            <a:srgbClr val="6666FF"/>
          </a:solidFill>
        </p:spPr>
        <p:txBody>
          <a:bodyPr wrap="square" lIns="0" tIns="0" rIns="0" bIns="0" rtlCol="0">
            <a:noAutofit/>
          </a:bodyPr>
          <a:lstStyle/>
          <a:p>
            <a:endParaRPr/>
          </a:p>
        </p:txBody>
      </p:sp>
      <p:sp>
        <p:nvSpPr>
          <p:cNvPr id="55" name="object 55"/>
          <p:cNvSpPr/>
          <p:nvPr/>
        </p:nvSpPr>
        <p:spPr>
          <a:xfrm>
            <a:off x="6463284" y="2407920"/>
            <a:ext cx="733043" cy="352043"/>
          </a:xfrm>
          <a:custGeom>
            <a:avLst/>
            <a:gdLst/>
            <a:ahLst/>
            <a:cxnLst/>
            <a:rect l="l" t="t" r="r" b="b"/>
            <a:pathLst>
              <a:path w="733043" h="352043">
                <a:moveTo>
                  <a:pt x="0" y="352043"/>
                </a:moveTo>
                <a:lnTo>
                  <a:pt x="733043" y="352043"/>
                </a:lnTo>
                <a:lnTo>
                  <a:pt x="733043" y="0"/>
                </a:lnTo>
                <a:lnTo>
                  <a:pt x="0" y="0"/>
                </a:lnTo>
                <a:lnTo>
                  <a:pt x="0" y="352043"/>
                </a:lnTo>
                <a:close/>
              </a:path>
            </a:pathLst>
          </a:custGeom>
          <a:ln w="9143">
            <a:solidFill>
              <a:srgbClr val="000000"/>
            </a:solidFill>
          </a:ln>
        </p:spPr>
        <p:txBody>
          <a:bodyPr wrap="square" lIns="0" tIns="0" rIns="0" bIns="0" rtlCol="0">
            <a:noAutofit/>
          </a:bodyPr>
          <a:lstStyle/>
          <a:p>
            <a:endParaRPr/>
          </a:p>
        </p:txBody>
      </p:sp>
      <p:sp>
        <p:nvSpPr>
          <p:cNvPr id="56" name="object 56"/>
          <p:cNvSpPr/>
          <p:nvPr/>
        </p:nvSpPr>
        <p:spPr>
          <a:xfrm>
            <a:off x="6467856" y="2758440"/>
            <a:ext cx="728472" cy="545591"/>
          </a:xfrm>
          <a:custGeom>
            <a:avLst/>
            <a:gdLst/>
            <a:ahLst/>
            <a:cxnLst/>
            <a:rect l="l" t="t" r="r" b="b"/>
            <a:pathLst>
              <a:path w="728472" h="545591">
                <a:moveTo>
                  <a:pt x="0" y="545591"/>
                </a:moveTo>
                <a:lnTo>
                  <a:pt x="728472" y="545591"/>
                </a:lnTo>
                <a:lnTo>
                  <a:pt x="728472" y="0"/>
                </a:lnTo>
                <a:lnTo>
                  <a:pt x="0" y="0"/>
                </a:lnTo>
                <a:lnTo>
                  <a:pt x="0" y="545591"/>
                </a:lnTo>
                <a:close/>
              </a:path>
            </a:pathLst>
          </a:custGeom>
          <a:solidFill>
            <a:srgbClr val="6666FF"/>
          </a:solidFill>
        </p:spPr>
        <p:txBody>
          <a:bodyPr wrap="square" lIns="0" tIns="0" rIns="0" bIns="0" rtlCol="0">
            <a:noAutofit/>
          </a:bodyPr>
          <a:lstStyle/>
          <a:p>
            <a:endParaRPr/>
          </a:p>
        </p:txBody>
      </p:sp>
      <p:sp>
        <p:nvSpPr>
          <p:cNvPr id="57" name="object 57"/>
          <p:cNvSpPr/>
          <p:nvPr/>
        </p:nvSpPr>
        <p:spPr>
          <a:xfrm>
            <a:off x="6467856" y="2758440"/>
            <a:ext cx="728472" cy="545591"/>
          </a:xfrm>
          <a:custGeom>
            <a:avLst/>
            <a:gdLst/>
            <a:ahLst/>
            <a:cxnLst/>
            <a:rect l="l" t="t" r="r" b="b"/>
            <a:pathLst>
              <a:path w="728472" h="545591">
                <a:moveTo>
                  <a:pt x="0" y="545591"/>
                </a:moveTo>
                <a:lnTo>
                  <a:pt x="728472" y="545591"/>
                </a:lnTo>
                <a:lnTo>
                  <a:pt x="728472" y="0"/>
                </a:lnTo>
                <a:lnTo>
                  <a:pt x="0" y="0"/>
                </a:lnTo>
                <a:lnTo>
                  <a:pt x="0" y="545591"/>
                </a:lnTo>
                <a:close/>
              </a:path>
            </a:pathLst>
          </a:custGeom>
          <a:ln w="9143">
            <a:solidFill>
              <a:srgbClr val="000000"/>
            </a:solidFill>
          </a:ln>
        </p:spPr>
        <p:txBody>
          <a:bodyPr wrap="square" lIns="0" tIns="0" rIns="0" bIns="0" rtlCol="0">
            <a:noAutofit/>
          </a:bodyPr>
          <a:lstStyle/>
          <a:p>
            <a:endParaRPr/>
          </a:p>
        </p:txBody>
      </p:sp>
      <p:sp>
        <p:nvSpPr>
          <p:cNvPr id="58" name="object 58"/>
          <p:cNvSpPr/>
          <p:nvPr/>
        </p:nvSpPr>
        <p:spPr>
          <a:xfrm>
            <a:off x="3711702" y="2287524"/>
            <a:ext cx="3299459" cy="86867"/>
          </a:xfrm>
          <a:custGeom>
            <a:avLst/>
            <a:gdLst/>
            <a:ahLst/>
            <a:cxnLst/>
            <a:rect l="l" t="t" r="r" b="b"/>
            <a:pathLst>
              <a:path w="3299459" h="86867">
                <a:moveTo>
                  <a:pt x="3227070" y="57912"/>
                </a:moveTo>
                <a:lnTo>
                  <a:pt x="3212592" y="57911"/>
                </a:lnTo>
                <a:lnTo>
                  <a:pt x="3212592" y="86867"/>
                </a:lnTo>
                <a:lnTo>
                  <a:pt x="3299459" y="43434"/>
                </a:lnTo>
                <a:lnTo>
                  <a:pt x="3227070" y="57912"/>
                </a:lnTo>
                <a:close/>
              </a:path>
              <a:path w="3299459" h="86867">
                <a:moveTo>
                  <a:pt x="3227070" y="28955"/>
                </a:moveTo>
                <a:lnTo>
                  <a:pt x="3212592" y="0"/>
                </a:lnTo>
                <a:lnTo>
                  <a:pt x="3212591" y="28956"/>
                </a:lnTo>
                <a:lnTo>
                  <a:pt x="3227070" y="28955"/>
                </a:lnTo>
                <a:close/>
              </a:path>
              <a:path w="3299459" h="86867">
                <a:moveTo>
                  <a:pt x="0" y="28955"/>
                </a:moveTo>
                <a:lnTo>
                  <a:pt x="0" y="57912"/>
                </a:lnTo>
                <a:lnTo>
                  <a:pt x="3227070" y="57912"/>
                </a:lnTo>
                <a:lnTo>
                  <a:pt x="3299459" y="43434"/>
                </a:lnTo>
                <a:lnTo>
                  <a:pt x="3212592" y="0"/>
                </a:lnTo>
                <a:lnTo>
                  <a:pt x="3227070" y="28955"/>
                </a:lnTo>
                <a:lnTo>
                  <a:pt x="0" y="28955"/>
                </a:lnTo>
                <a:close/>
              </a:path>
            </a:pathLst>
          </a:custGeom>
          <a:solidFill>
            <a:srgbClr val="000066"/>
          </a:solidFill>
        </p:spPr>
        <p:txBody>
          <a:bodyPr wrap="square" lIns="0" tIns="0" rIns="0" bIns="0" rtlCol="0">
            <a:noAutofit/>
          </a:bodyPr>
          <a:lstStyle/>
          <a:p>
            <a:endParaRPr/>
          </a:p>
        </p:txBody>
      </p:sp>
      <p:sp>
        <p:nvSpPr>
          <p:cNvPr id="59" name="object 59"/>
          <p:cNvSpPr/>
          <p:nvPr/>
        </p:nvSpPr>
        <p:spPr>
          <a:xfrm>
            <a:off x="6527292" y="3105912"/>
            <a:ext cx="210311" cy="201167"/>
          </a:xfrm>
          <a:custGeom>
            <a:avLst/>
            <a:gdLst/>
            <a:ahLst/>
            <a:cxnLst/>
            <a:rect l="l" t="t" r="r" b="b"/>
            <a:pathLst>
              <a:path w="210311" h="201167">
                <a:moveTo>
                  <a:pt x="0" y="100584"/>
                </a:moveTo>
                <a:lnTo>
                  <a:pt x="223" y="107186"/>
                </a:lnTo>
                <a:lnTo>
                  <a:pt x="2214" y="121192"/>
                </a:lnTo>
                <a:lnTo>
                  <a:pt x="6147" y="134520"/>
                </a:lnTo>
                <a:lnTo>
                  <a:pt x="11879" y="147033"/>
                </a:lnTo>
                <a:lnTo>
                  <a:pt x="19265" y="158591"/>
                </a:lnTo>
                <a:lnTo>
                  <a:pt x="28161" y="169057"/>
                </a:lnTo>
                <a:lnTo>
                  <a:pt x="38422" y="178293"/>
                </a:lnTo>
                <a:lnTo>
                  <a:pt x="49904" y="186159"/>
                </a:lnTo>
                <a:lnTo>
                  <a:pt x="62463" y="192518"/>
                </a:lnTo>
                <a:lnTo>
                  <a:pt x="75954" y="197231"/>
                </a:lnTo>
                <a:lnTo>
                  <a:pt x="90233" y="200160"/>
                </a:lnTo>
                <a:lnTo>
                  <a:pt x="105155" y="201167"/>
                </a:lnTo>
                <a:lnTo>
                  <a:pt x="112060" y="200954"/>
                </a:lnTo>
                <a:lnTo>
                  <a:pt x="126706" y="199049"/>
                </a:lnTo>
                <a:lnTo>
                  <a:pt x="140642" y="195286"/>
                </a:lnTo>
                <a:lnTo>
                  <a:pt x="153724" y="189801"/>
                </a:lnTo>
                <a:lnTo>
                  <a:pt x="165808" y="182735"/>
                </a:lnTo>
                <a:lnTo>
                  <a:pt x="176749" y="174225"/>
                </a:lnTo>
                <a:lnTo>
                  <a:pt x="186402" y="164409"/>
                </a:lnTo>
                <a:lnTo>
                  <a:pt x="194625" y="153425"/>
                </a:lnTo>
                <a:lnTo>
                  <a:pt x="201271" y="141413"/>
                </a:lnTo>
                <a:lnTo>
                  <a:pt x="206197" y="128509"/>
                </a:lnTo>
                <a:lnTo>
                  <a:pt x="209259" y="114854"/>
                </a:lnTo>
                <a:lnTo>
                  <a:pt x="210311" y="100584"/>
                </a:lnTo>
                <a:lnTo>
                  <a:pt x="210088" y="93981"/>
                </a:lnTo>
                <a:lnTo>
                  <a:pt x="208097" y="79975"/>
                </a:lnTo>
                <a:lnTo>
                  <a:pt x="204164" y="66647"/>
                </a:lnTo>
                <a:lnTo>
                  <a:pt x="198432" y="54134"/>
                </a:lnTo>
                <a:lnTo>
                  <a:pt x="191046" y="42576"/>
                </a:lnTo>
                <a:lnTo>
                  <a:pt x="182150" y="32110"/>
                </a:lnTo>
                <a:lnTo>
                  <a:pt x="171889" y="22874"/>
                </a:lnTo>
                <a:lnTo>
                  <a:pt x="160407" y="15008"/>
                </a:lnTo>
                <a:lnTo>
                  <a:pt x="147848" y="8649"/>
                </a:lnTo>
                <a:lnTo>
                  <a:pt x="134357" y="3936"/>
                </a:lnTo>
                <a:lnTo>
                  <a:pt x="120078" y="1007"/>
                </a:lnTo>
                <a:lnTo>
                  <a:pt x="105155" y="0"/>
                </a:lnTo>
                <a:lnTo>
                  <a:pt x="98251" y="213"/>
                </a:lnTo>
                <a:lnTo>
                  <a:pt x="83605" y="2118"/>
                </a:lnTo>
                <a:lnTo>
                  <a:pt x="69669" y="5881"/>
                </a:lnTo>
                <a:lnTo>
                  <a:pt x="56587" y="11366"/>
                </a:lnTo>
                <a:lnTo>
                  <a:pt x="44503" y="18432"/>
                </a:lnTo>
                <a:lnTo>
                  <a:pt x="33562" y="26942"/>
                </a:lnTo>
                <a:lnTo>
                  <a:pt x="23909" y="36758"/>
                </a:lnTo>
                <a:lnTo>
                  <a:pt x="15686" y="47742"/>
                </a:lnTo>
                <a:lnTo>
                  <a:pt x="9040" y="59754"/>
                </a:lnTo>
                <a:lnTo>
                  <a:pt x="4114" y="72658"/>
                </a:lnTo>
                <a:lnTo>
                  <a:pt x="1052" y="86313"/>
                </a:lnTo>
                <a:lnTo>
                  <a:pt x="0" y="100584"/>
                </a:lnTo>
                <a:close/>
              </a:path>
            </a:pathLst>
          </a:custGeom>
          <a:solidFill>
            <a:srgbClr val="6666FF"/>
          </a:solidFill>
        </p:spPr>
        <p:txBody>
          <a:bodyPr wrap="square" lIns="0" tIns="0" rIns="0" bIns="0" rtlCol="0">
            <a:noAutofit/>
          </a:bodyPr>
          <a:lstStyle/>
          <a:p>
            <a:endParaRPr/>
          </a:p>
        </p:txBody>
      </p:sp>
      <p:sp>
        <p:nvSpPr>
          <p:cNvPr id="60" name="object 60"/>
          <p:cNvSpPr/>
          <p:nvPr/>
        </p:nvSpPr>
        <p:spPr>
          <a:xfrm>
            <a:off x="6527292" y="3105912"/>
            <a:ext cx="210311" cy="201167"/>
          </a:xfrm>
          <a:custGeom>
            <a:avLst/>
            <a:gdLst/>
            <a:ahLst/>
            <a:cxnLst/>
            <a:rect l="l" t="t" r="r" b="b"/>
            <a:pathLst>
              <a:path w="210311" h="201167">
                <a:moveTo>
                  <a:pt x="0" y="100584"/>
                </a:moveTo>
                <a:lnTo>
                  <a:pt x="1052" y="86313"/>
                </a:lnTo>
                <a:lnTo>
                  <a:pt x="4114" y="72658"/>
                </a:lnTo>
                <a:lnTo>
                  <a:pt x="9040" y="59754"/>
                </a:lnTo>
                <a:lnTo>
                  <a:pt x="15686" y="47742"/>
                </a:lnTo>
                <a:lnTo>
                  <a:pt x="23909" y="36758"/>
                </a:lnTo>
                <a:lnTo>
                  <a:pt x="33562" y="26942"/>
                </a:lnTo>
                <a:lnTo>
                  <a:pt x="44503" y="18432"/>
                </a:lnTo>
                <a:lnTo>
                  <a:pt x="56587" y="11366"/>
                </a:lnTo>
                <a:lnTo>
                  <a:pt x="69669" y="5881"/>
                </a:lnTo>
                <a:lnTo>
                  <a:pt x="83605" y="2118"/>
                </a:lnTo>
                <a:lnTo>
                  <a:pt x="98251" y="213"/>
                </a:lnTo>
                <a:lnTo>
                  <a:pt x="105155" y="0"/>
                </a:lnTo>
                <a:lnTo>
                  <a:pt x="120078" y="1007"/>
                </a:lnTo>
                <a:lnTo>
                  <a:pt x="134357" y="3936"/>
                </a:lnTo>
                <a:lnTo>
                  <a:pt x="147848" y="8649"/>
                </a:lnTo>
                <a:lnTo>
                  <a:pt x="160407" y="15008"/>
                </a:lnTo>
                <a:lnTo>
                  <a:pt x="171889" y="22874"/>
                </a:lnTo>
                <a:lnTo>
                  <a:pt x="182150" y="32110"/>
                </a:lnTo>
                <a:lnTo>
                  <a:pt x="191046" y="42576"/>
                </a:lnTo>
                <a:lnTo>
                  <a:pt x="198432" y="54134"/>
                </a:lnTo>
                <a:lnTo>
                  <a:pt x="204164" y="66647"/>
                </a:lnTo>
                <a:lnTo>
                  <a:pt x="208097" y="79975"/>
                </a:lnTo>
                <a:lnTo>
                  <a:pt x="210088" y="93981"/>
                </a:lnTo>
                <a:lnTo>
                  <a:pt x="210311" y="100584"/>
                </a:lnTo>
                <a:lnTo>
                  <a:pt x="209259" y="114854"/>
                </a:lnTo>
                <a:lnTo>
                  <a:pt x="206197" y="128509"/>
                </a:lnTo>
                <a:lnTo>
                  <a:pt x="201271" y="141413"/>
                </a:lnTo>
                <a:lnTo>
                  <a:pt x="194625" y="153425"/>
                </a:lnTo>
                <a:lnTo>
                  <a:pt x="186402" y="164409"/>
                </a:lnTo>
                <a:lnTo>
                  <a:pt x="176749" y="174225"/>
                </a:lnTo>
                <a:lnTo>
                  <a:pt x="165808" y="182735"/>
                </a:lnTo>
                <a:lnTo>
                  <a:pt x="153724" y="189801"/>
                </a:lnTo>
                <a:lnTo>
                  <a:pt x="140642" y="195286"/>
                </a:lnTo>
                <a:lnTo>
                  <a:pt x="126706" y="199049"/>
                </a:lnTo>
                <a:lnTo>
                  <a:pt x="112060" y="200954"/>
                </a:lnTo>
                <a:lnTo>
                  <a:pt x="105155" y="201167"/>
                </a:lnTo>
                <a:lnTo>
                  <a:pt x="90233" y="200160"/>
                </a:lnTo>
                <a:lnTo>
                  <a:pt x="75954" y="197231"/>
                </a:lnTo>
                <a:lnTo>
                  <a:pt x="62463" y="192518"/>
                </a:lnTo>
                <a:lnTo>
                  <a:pt x="49904" y="186159"/>
                </a:lnTo>
                <a:lnTo>
                  <a:pt x="38422" y="178293"/>
                </a:lnTo>
                <a:lnTo>
                  <a:pt x="28161" y="169057"/>
                </a:lnTo>
                <a:lnTo>
                  <a:pt x="19265" y="158591"/>
                </a:lnTo>
                <a:lnTo>
                  <a:pt x="11879" y="147033"/>
                </a:lnTo>
                <a:lnTo>
                  <a:pt x="6147" y="134520"/>
                </a:lnTo>
                <a:lnTo>
                  <a:pt x="2214" y="121192"/>
                </a:lnTo>
                <a:lnTo>
                  <a:pt x="223" y="107186"/>
                </a:lnTo>
                <a:lnTo>
                  <a:pt x="0" y="100584"/>
                </a:lnTo>
                <a:close/>
              </a:path>
            </a:pathLst>
          </a:custGeom>
          <a:ln w="9144">
            <a:solidFill>
              <a:srgbClr val="000000"/>
            </a:solidFill>
          </a:ln>
        </p:spPr>
        <p:txBody>
          <a:bodyPr wrap="square" lIns="0" tIns="0" rIns="0" bIns="0" rtlCol="0">
            <a:noAutofit/>
          </a:bodyPr>
          <a:lstStyle/>
          <a:p>
            <a:endParaRPr/>
          </a:p>
        </p:txBody>
      </p:sp>
      <p:sp>
        <p:nvSpPr>
          <p:cNvPr id="61" name="object 61"/>
          <p:cNvSpPr/>
          <p:nvPr/>
        </p:nvSpPr>
        <p:spPr>
          <a:xfrm>
            <a:off x="6920483" y="3095244"/>
            <a:ext cx="208788" cy="204215"/>
          </a:xfrm>
          <a:custGeom>
            <a:avLst/>
            <a:gdLst/>
            <a:ahLst/>
            <a:cxnLst/>
            <a:rect l="l" t="t" r="r" b="b"/>
            <a:pathLst>
              <a:path w="208788" h="204215">
                <a:moveTo>
                  <a:pt x="0" y="102107"/>
                </a:moveTo>
                <a:lnTo>
                  <a:pt x="260" y="109375"/>
                </a:lnTo>
                <a:lnTo>
                  <a:pt x="2301" y="123529"/>
                </a:lnTo>
                <a:lnTo>
                  <a:pt x="6251" y="136992"/>
                </a:lnTo>
                <a:lnTo>
                  <a:pt x="11969" y="149625"/>
                </a:lnTo>
                <a:lnTo>
                  <a:pt x="19314" y="161290"/>
                </a:lnTo>
                <a:lnTo>
                  <a:pt x="28143" y="171848"/>
                </a:lnTo>
                <a:lnTo>
                  <a:pt x="38317" y="181162"/>
                </a:lnTo>
                <a:lnTo>
                  <a:pt x="49693" y="189092"/>
                </a:lnTo>
                <a:lnTo>
                  <a:pt x="62130" y="195501"/>
                </a:lnTo>
                <a:lnTo>
                  <a:pt x="75486" y="200250"/>
                </a:lnTo>
                <a:lnTo>
                  <a:pt x="89621" y="203201"/>
                </a:lnTo>
                <a:lnTo>
                  <a:pt x="104394" y="204215"/>
                </a:lnTo>
                <a:lnTo>
                  <a:pt x="111825" y="203961"/>
                </a:lnTo>
                <a:lnTo>
                  <a:pt x="126297" y="201964"/>
                </a:lnTo>
                <a:lnTo>
                  <a:pt x="140062" y="198100"/>
                </a:lnTo>
                <a:lnTo>
                  <a:pt x="152978" y="192507"/>
                </a:lnTo>
                <a:lnTo>
                  <a:pt x="164904" y="185322"/>
                </a:lnTo>
                <a:lnTo>
                  <a:pt x="175698" y="176685"/>
                </a:lnTo>
                <a:lnTo>
                  <a:pt x="185220" y="166734"/>
                </a:lnTo>
                <a:lnTo>
                  <a:pt x="193327" y="155607"/>
                </a:lnTo>
                <a:lnTo>
                  <a:pt x="199879" y="143443"/>
                </a:lnTo>
                <a:lnTo>
                  <a:pt x="204734" y="130379"/>
                </a:lnTo>
                <a:lnTo>
                  <a:pt x="207751" y="116555"/>
                </a:lnTo>
                <a:lnTo>
                  <a:pt x="208788" y="102107"/>
                </a:lnTo>
                <a:lnTo>
                  <a:pt x="208527" y="94840"/>
                </a:lnTo>
                <a:lnTo>
                  <a:pt x="206486" y="80686"/>
                </a:lnTo>
                <a:lnTo>
                  <a:pt x="202536" y="67223"/>
                </a:lnTo>
                <a:lnTo>
                  <a:pt x="196818" y="54590"/>
                </a:lnTo>
                <a:lnTo>
                  <a:pt x="189473" y="42925"/>
                </a:lnTo>
                <a:lnTo>
                  <a:pt x="180644" y="32367"/>
                </a:lnTo>
                <a:lnTo>
                  <a:pt x="170470" y="23053"/>
                </a:lnTo>
                <a:lnTo>
                  <a:pt x="159094" y="15123"/>
                </a:lnTo>
                <a:lnTo>
                  <a:pt x="146657" y="8714"/>
                </a:lnTo>
                <a:lnTo>
                  <a:pt x="133301" y="3965"/>
                </a:lnTo>
                <a:lnTo>
                  <a:pt x="119166" y="1014"/>
                </a:lnTo>
                <a:lnTo>
                  <a:pt x="104394" y="0"/>
                </a:lnTo>
                <a:lnTo>
                  <a:pt x="96962" y="254"/>
                </a:lnTo>
                <a:lnTo>
                  <a:pt x="82490" y="2251"/>
                </a:lnTo>
                <a:lnTo>
                  <a:pt x="68725" y="6115"/>
                </a:lnTo>
                <a:lnTo>
                  <a:pt x="55809" y="11708"/>
                </a:lnTo>
                <a:lnTo>
                  <a:pt x="43883" y="18893"/>
                </a:lnTo>
                <a:lnTo>
                  <a:pt x="33089" y="27530"/>
                </a:lnTo>
                <a:lnTo>
                  <a:pt x="23567" y="37481"/>
                </a:lnTo>
                <a:lnTo>
                  <a:pt x="15460" y="48608"/>
                </a:lnTo>
                <a:lnTo>
                  <a:pt x="8908" y="60772"/>
                </a:lnTo>
                <a:lnTo>
                  <a:pt x="4053" y="73836"/>
                </a:lnTo>
                <a:lnTo>
                  <a:pt x="1036" y="87660"/>
                </a:lnTo>
                <a:lnTo>
                  <a:pt x="0" y="102107"/>
                </a:lnTo>
                <a:close/>
              </a:path>
            </a:pathLst>
          </a:custGeom>
          <a:solidFill>
            <a:srgbClr val="6666FF"/>
          </a:solidFill>
        </p:spPr>
        <p:txBody>
          <a:bodyPr wrap="square" lIns="0" tIns="0" rIns="0" bIns="0" rtlCol="0">
            <a:noAutofit/>
          </a:bodyPr>
          <a:lstStyle/>
          <a:p>
            <a:endParaRPr/>
          </a:p>
        </p:txBody>
      </p:sp>
      <p:sp>
        <p:nvSpPr>
          <p:cNvPr id="62" name="object 62"/>
          <p:cNvSpPr/>
          <p:nvPr/>
        </p:nvSpPr>
        <p:spPr>
          <a:xfrm>
            <a:off x="6920483" y="3095244"/>
            <a:ext cx="208788" cy="204215"/>
          </a:xfrm>
          <a:custGeom>
            <a:avLst/>
            <a:gdLst/>
            <a:ahLst/>
            <a:cxnLst/>
            <a:rect l="l" t="t" r="r" b="b"/>
            <a:pathLst>
              <a:path w="208788" h="204215">
                <a:moveTo>
                  <a:pt x="0" y="102107"/>
                </a:moveTo>
                <a:lnTo>
                  <a:pt x="1036" y="87660"/>
                </a:lnTo>
                <a:lnTo>
                  <a:pt x="4053" y="73836"/>
                </a:lnTo>
                <a:lnTo>
                  <a:pt x="8908" y="60772"/>
                </a:lnTo>
                <a:lnTo>
                  <a:pt x="15460" y="48608"/>
                </a:lnTo>
                <a:lnTo>
                  <a:pt x="23567" y="37481"/>
                </a:lnTo>
                <a:lnTo>
                  <a:pt x="33089" y="27530"/>
                </a:lnTo>
                <a:lnTo>
                  <a:pt x="43883" y="18893"/>
                </a:lnTo>
                <a:lnTo>
                  <a:pt x="55809" y="11708"/>
                </a:lnTo>
                <a:lnTo>
                  <a:pt x="68725" y="6115"/>
                </a:lnTo>
                <a:lnTo>
                  <a:pt x="82490" y="2251"/>
                </a:lnTo>
                <a:lnTo>
                  <a:pt x="96962" y="254"/>
                </a:lnTo>
                <a:lnTo>
                  <a:pt x="104394" y="0"/>
                </a:lnTo>
                <a:lnTo>
                  <a:pt x="119166" y="1014"/>
                </a:lnTo>
                <a:lnTo>
                  <a:pt x="133301" y="3965"/>
                </a:lnTo>
                <a:lnTo>
                  <a:pt x="146657" y="8714"/>
                </a:lnTo>
                <a:lnTo>
                  <a:pt x="159094" y="15123"/>
                </a:lnTo>
                <a:lnTo>
                  <a:pt x="170470" y="23053"/>
                </a:lnTo>
                <a:lnTo>
                  <a:pt x="180644" y="32367"/>
                </a:lnTo>
                <a:lnTo>
                  <a:pt x="189473" y="42925"/>
                </a:lnTo>
                <a:lnTo>
                  <a:pt x="196818" y="54590"/>
                </a:lnTo>
                <a:lnTo>
                  <a:pt x="202536" y="67223"/>
                </a:lnTo>
                <a:lnTo>
                  <a:pt x="206486" y="80686"/>
                </a:lnTo>
                <a:lnTo>
                  <a:pt x="208527" y="94840"/>
                </a:lnTo>
                <a:lnTo>
                  <a:pt x="208788" y="102107"/>
                </a:lnTo>
                <a:lnTo>
                  <a:pt x="207751" y="116555"/>
                </a:lnTo>
                <a:lnTo>
                  <a:pt x="204734" y="130379"/>
                </a:lnTo>
                <a:lnTo>
                  <a:pt x="199879" y="143443"/>
                </a:lnTo>
                <a:lnTo>
                  <a:pt x="193327" y="155607"/>
                </a:lnTo>
                <a:lnTo>
                  <a:pt x="185220" y="166734"/>
                </a:lnTo>
                <a:lnTo>
                  <a:pt x="175698" y="176685"/>
                </a:lnTo>
                <a:lnTo>
                  <a:pt x="164904" y="185322"/>
                </a:lnTo>
                <a:lnTo>
                  <a:pt x="152978" y="192507"/>
                </a:lnTo>
                <a:lnTo>
                  <a:pt x="140062" y="198100"/>
                </a:lnTo>
                <a:lnTo>
                  <a:pt x="126297" y="201964"/>
                </a:lnTo>
                <a:lnTo>
                  <a:pt x="111825" y="203961"/>
                </a:lnTo>
                <a:lnTo>
                  <a:pt x="104394" y="204215"/>
                </a:lnTo>
                <a:lnTo>
                  <a:pt x="89621" y="203201"/>
                </a:lnTo>
                <a:lnTo>
                  <a:pt x="75486" y="200250"/>
                </a:lnTo>
                <a:lnTo>
                  <a:pt x="62130" y="195501"/>
                </a:lnTo>
                <a:lnTo>
                  <a:pt x="49693" y="189092"/>
                </a:lnTo>
                <a:lnTo>
                  <a:pt x="38317" y="181162"/>
                </a:lnTo>
                <a:lnTo>
                  <a:pt x="28143" y="171848"/>
                </a:lnTo>
                <a:lnTo>
                  <a:pt x="19314" y="161290"/>
                </a:lnTo>
                <a:lnTo>
                  <a:pt x="11969" y="149625"/>
                </a:lnTo>
                <a:lnTo>
                  <a:pt x="6251" y="136992"/>
                </a:lnTo>
                <a:lnTo>
                  <a:pt x="2301" y="123529"/>
                </a:lnTo>
                <a:lnTo>
                  <a:pt x="260" y="109375"/>
                </a:lnTo>
                <a:lnTo>
                  <a:pt x="0" y="102107"/>
                </a:lnTo>
                <a:close/>
              </a:path>
            </a:pathLst>
          </a:custGeom>
          <a:ln w="9144">
            <a:solidFill>
              <a:srgbClr val="000000"/>
            </a:solidFill>
          </a:ln>
        </p:spPr>
        <p:txBody>
          <a:bodyPr wrap="square" lIns="0" tIns="0" rIns="0" bIns="0" rtlCol="0">
            <a:noAutofit/>
          </a:bodyPr>
          <a:lstStyle/>
          <a:p>
            <a:endParaRPr/>
          </a:p>
        </p:txBody>
      </p:sp>
      <p:sp>
        <p:nvSpPr>
          <p:cNvPr id="63" name="object 63"/>
          <p:cNvSpPr/>
          <p:nvPr/>
        </p:nvSpPr>
        <p:spPr>
          <a:xfrm>
            <a:off x="4759452" y="5894832"/>
            <a:ext cx="345948" cy="307848"/>
          </a:xfrm>
          <a:custGeom>
            <a:avLst/>
            <a:gdLst/>
            <a:ahLst/>
            <a:cxnLst/>
            <a:rect l="l" t="t" r="r" b="b"/>
            <a:pathLst>
              <a:path w="345948" h="307848">
                <a:moveTo>
                  <a:pt x="0" y="153924"/>
                </a:moveTo>
                <a:lnTo>
                  <a:pt x="1042" y="170918"/>
                </a:lnTo>
                <a:lnTo>
                  <a:pt x="3373" y="184323"/>
                </a:lnTo>
                <a:lnTo>
                  <a:pt x="6971" y="197321"/>
                </a:lnTo>
                <a:lnTo>
                  <a:pt x="11777" y="209858"/>
                </a:lnTo>
                <a:lnTo>
                  <a:pt x="17733" y="221884"/>
                </a:lnTo>
                <a:lnTo>
                  <a:pt x="24779" y="233346"/>
                </a:lnTo>
                <a:lnTo>
                  <a:pt x="32857" y="244191"/>
                </a:lnTo>
                <a:lnTo>
                  <a:pt x="41908" y="254368"/>
                </a:lnTo>
                <a:lnTo>
                  <a:pt x="51872" y="263823"/>
                </a:lnTo>
                <a:lnTo>
                  <a:pt x="62692" y="272505"/>
                </a:lnTo>
                <a:lnTo>
                  <a:pt x="74308" y="280361"/>
                </a:lnTo>
                <a:lnTo>
                  <a:pt x="86662" y="287340"/>
                </a:lnTo>
                <a:lnTo>
                  <a:pt x="99694" y="293388"/>
                </a:lnTo>
                <a:lnTo>
                  <a:pt x="113346" y="298454"/>
                </a:lnTo>
                <a:lnTo>
                  <a:pt x="127558" y="302485"/>
                </a:lnTo>
                <a:lnTo>
                  <a:pt x="142273" y="305429"/>
                </a:lnTo>
                <a:lnTo>
                  <a:pt x="157431" y="307234"/>
                </a:lnTo>
                <a:lnTo>
                  <a:pt x="172974" y="307848"/>
                </a:lnTo>
                <a:lnTo>
                  <a:pt x="176607" y="307814"/>
                </a:lnTo>
                <a:lnTo>
                  <a:pt x="192066" y="306920"/>
                </a:lnTo>
                <a:lnTo>
                  <a:pt x="207127" y="304847"/>
                </a:lnTo>
                <a:lnTo>
                  <a:pt x="221730" y="301646"/>
                </a:lnTo>
                <a:lnTo>
                  <a:pt x="235818" y="297370"/>
                </a:lnTo>
                <a:lnTo>
                  <a:pt x="249332" y="292072"/>
                </a:lnTo>
                <a:lnTo>
                  <a:pt x="262212" y="285803"/>
                </a:lnTo>
                <a:lnTo>
                  <a:pt x="274399" y="278617"/>
                </a:lnTo>
                <a:lnTo>
                  <a:pt x="285836" y="270564"/>
                </a:lnTo>
                <a:lnTo>
                  <a:pt x="296463" y="261698"/>
                </a:lnTo>
                <a:lnTo>
                  <a:pt x="306221" y="252071"/>
                </a:lnTo>
                <a:lnTo>
                  <a:pt x="315051" y="241735"/>
                </a:lnTo>
                <a:lnTo>
                  <a:pt x="322895" y="230742"/>
                </a:lnTo>
                <a:lnTo>
                  <a:pt x="329694" y="219145"/>
                </a:lnTo>
                <a:lnTo>
                  <a:pt x="335388" y="206996"/>
                </a:lnTo>
                <a:lnTo>
                  <a:pt x="339920" y="194347"/>
                </a:lnTo>
                <a:lnTo>
                  <a:pt x="343229" y="181250"/>
                </a:lnTo>
                <a:lnTo>
                  <a:pt x="345258" y="167758"/>
                </a:lnTo>
                <a:lnTo>
                  <a:pt x="345948" y="153924"/>
                </a:lnTo>
                <a:lnTo>
                  <a:pt x="345910" y="150689"/>
                </a:lnTo>
                <a:lnTo>
                  <a:pt x="344905" y="136929"/>
                </a:lnTo>
                <a:lnTo>
                  <a:pt x="342574" y="123524"/>
                </a:lnTo>
                <a:lnTo>
                  <a:pt x="338976" y="110526"/>
                </a:lnTo>
                <a:lnTo>
                  <a:pt x="334170" y="97989"/>
                </a:lnTo>
                <a:lnTo>
                  <a:pt x="328214" y="85963"/>
                </a:lnTo>
                <a:lnTo>
                  <a:pt x="321168" y="74501"/>
                </a:lnTo>
                <a:lnTo>
                  <a:pt x="313090" y="63656"/>
                </a:lnTo>
                <a:lnTo>
                  <a:pt x="304039" y="53479"/>
                </a:lnTo>
                <a:lnTo>
                  <a:pt x="294075" y="44024"/>
                </a:lnTo>
                <a:lnTo>
                  <a:pt x="283255" y="35342"/>
                </a:lnTo>
                <a:lnTo>
                  <a:pt x="271639" y="27486"/>
                </a:lnTo>
                <a:lnTo>
                  <a:pt x="259285" y="20507"/>
                </a:lnTo>
                <a:lnTo>
                  <a:pt x="246253" y="14459"/>
                </a:lnTo>
                <a:lnTo>
                  <a:pt x="232601" y="9393"/>
                </a:lnTo>
                <a:lnTo>
                  <a:pt x="218389" y="5362"/>
                </a:lnTo>
                <a:lnTo>
                  <a:pt x="203674" y="2418"/>
                </a:lnTo>
                <a:lnTo>
                  <a:pt x="188516" y="613"/>
                </a:lnTo>
                <a:lnTo>
                  <a:pt x="172974" y="0"/>
                </a:lnTo>
                <a:lnTo>
                  <a:pt x="169340" y="33"/>
                </a:lnTo>
                <a:lnTo>
                  <a:pt x="153881" y="927"/>
                </a:lnTo>
                <a:lnTo>
                  <a:pt x="138820" y="3000"/>
                </a:lnTo>
                <a:lnTo>
                  <a:pt x="124217" y="6201"/>
                </a:lnTo>
                <a:lnTo>
                  <a:pt x="110129" y="10477"/>
                </a:lnTo>
                <a:lnTo>
                  <a:pt x="96615" y="15775"/>
                </a:lnTo>
                <a:lnTo>
                  <a:pt x="83735" y="22044"/>
                </a:lnTo>
                <a:lnTo>
                  <a:pt x="71548" y="29230"/>
                </a:lnTo>
                <a:lnTo>
                  <a:pt x="60111" y="37283"/>
                </a:lnTo>
                <a:lnTo>
                  <a:pt x="49484" y="46149"/>
                </a:lnTo>
                <a:lnTo>
                  <a:pt x="39726" y="55776"/>
                </a:lnTo>
                <a:lnTo>
                  <a:pt x="30896" y="66112"/>
                </a:lnTo>
                <a:lnTo>
                  <a:pt x="23052" y="77105"/>
                </a:lnTo>
                <a:lnTo>
                  <a:pt x="16253" y="88702"/>
                </a:lnTo>
                <a:lnTo>
                  <a:pt x="10559" y="100851"/>
                </a:lnTo>
                <a:lnTo>
                  <a:pt x="6027" y="113500"/>
                </a:lnTo>
                <a:lnTo>
                  <a:pt x="2718" y="126597"/>
                </a:lnTo>
                <a:lnTo>
                  <a:pt x="689" y="140089"/>
                </a:lnTo>
                <a:lnTo>
                  <a:pt x="0" y="153924"/>
                </a:lnTo>
                <a:close/>
              </a:path>
            </a:pathLst>
          </a:custGeom>
          <a:solidFill>
            <a:srgbClr val="3366FF"/>
          </a:solidFill>
        </p:spPr>
        <p:txBody>
          <a:bodyPr wrap="square" lIns="0" tIns="0" rIns="0" bIns="0" rtlCol="0">
            <a:noAutofit/>
          </a:bodyPr>
          <a:lstStyle/>
          <a:p>
            <a:endParaRPr/>
          </a:p>
        </p:txBody>
      </p:sp>
      <p:sp>
        <p:nvSpPr>
          <p:cNvPr id="64" name="object 64"/>
          <p:cNvSpPr/>
          <p:nvPr/>
        </p:nvSpPr>
        <p:spPr>
          <a:xfrm>
            <a:off x="4759452" y="5894832"/>
            <a:ext cx="345948" cy="307848"/>
          </a:xfrm>
          <a:custGeom>
            <a:avLst/>
            <a:gdLst/>
            <a:ahLst/>
            <a:cxnLst/>
            <a:rect l="l" t="t" r="r" b="b"/>
            <a:pathLst>
              <a:path w="345948" h="307848">
                <a:moveTo>
                  <a:pt x="0" y="153924"/>
                </a:moveTo>
                <a:lnTo>
                  <a:pt x="689" y="140089"/>
                </a:lnTo>
                <a:lnTo>
                  <a:pt x="2718" y="126597"/>
                </a:lnTo>
                <a:lnTo>
                  <a:pt x="6027" y="113500"/>
                </a:lnTo>
                <a:lnTo>
                  <a:pt x="10559" y="100851"/>
                </a:lnTo>
                <a:lnTo>
                  <a:pt x="16253" y="88702"/>
                </a:lnTo>
                <a:lnTo>
                  <a:pt x="23052" y="77105"/>
                </a:lnTo>
                <a:lnTo>
                  <a:pt x="30896" y="66112"/>
                </a:lnTo>
                <a:lnTo>
                  <a:pt x="39726" y="55776"/>
                </a:lnTo>
                <a:lnTo>
                  <a:pt x="49484" y="46149"/>
                </a:lnTo>
                <a:lnTo>
                  <a:pt x="60111" y="37283"/>
                </a:lnTo>
                <a:lnTo>
                  <a:pt x="71548" y="29230"/>
                </a:lnTo>
                <a:lnTo>
                  <a:pt x="83735" y="22044"/>
                </a:lnTo>
                <a:lnTo>
                  <a:pt x="96615" y="15775"/>
                </a:lnTo>
                <a:lnTo>
                  <a:pt x="110129" y="10477"/>
                </a:lnTo>
                <a:lnTo>
                  <a:pt x="124217" y="6201"/>
                </a:lnTo>
                <a:lnTo>
                  <a:pt x="138820" y="3000"/>
                </a:lnTo>
                <a:lnTo>
                  <a:pt x="153881" y="927"/>
                </a:lnTo>
                <a:lnTo>
                  <a:pt x="169340" y="33"/>
                </a:lnTo>
                <a:lnTo>
                  <a:pt x="172974" y="0"/>
                </a:lnTo>
                <a:lnTo>
                  <a:pt x="188516" y="613"/>
                </a:lnTo>
                <a:lnTo>
                  <a:pt x="203674" y="2418"/>
                </a:lnTo>
                <a:lnTo>
                  <a:pt x="218389" y="5362"/>
                </a:lnTo>
                <a:lnTo>
                  <a:pt x="232601" y="9393"/>
                </a:lnTo>
                <a:lnTo>
                  <a:pt x="246253" y="14459"/>
                </a:lnTo>
                <a:lnTo>
                  <a:pt x="259285" y="20507"/>
                </a:lnTo>
                <a:lnTo>
                  <a:pt x="271639" y="27486"/>
                </a:lnTo>
                <a:lnTo>
                  <a:pt x="283255" y="35342"/>
                </a:lnTo>
                <a:lnTo>
                  <a:pt x="294075" y="44024"/>
                </a:lnTo>
                <a:lnTo>
                  <a:pt x="304039" y="53479"/>
                </a:lnTo>
                <a:lnTo>
                  <a:pt x="313090" y="63656"/>
                </a:lnTo>
                <a:lnTo>
                  <a:pt x="321168" y="74501"/>
                </a:lnTo>
                <a:lnTo>
                  <a:pt x="328214" y="85963"/>
                </a:lnTo>
                <a:lnTo>
                  <a:pt x="334170" y="97989"/>
                </a:lnTo>
                <a:lnTo>
                  <a:pt x="338976" y="110526"/>
                </a:lnTo>
                <a:lnTo>
                  <a:pt x="342574" y="123524"/>
                </a:lnTo>
                <a:lnTo>
                  <a:pt x="344905" y="136929"/>
                </a:lnTo>
                <a:lnTo>
                  <a:pt x="345910" y="150689"/>
                </a:lnTo>
                <a:lnTo>
                  <a:pt x="345948" y="153924"/>
                </a:lnTo>
                <a:lnTo>
                  <a:pt x="345258" y="167758"/>
                </a:lnTo>
                <a:lnTo>
                  <a:pt x="343229" y="181250"/>
                </a:lnTo>
                <a:lnTo>
                  <a:pt x="339920" y="194347"/>
                </a:lnTo>
                <a:lnTo>
                  <a:pt x="335388" y="206996"/>
                </a:lnTo>
                <a:lnTo>
                  <a:pt x="329694" y="219145"/>
                </a:lnTo>
                <a:lnTo>
                  <a:pt x="322895" y="230742"/>
                </a:lnTo>
                <a:lnTo>
                  <a:pt x="315051" y="241735"/>
                </a:lnTo>
                <a:lnTo>
                  <a:pt x="306221" y="252071"/>
                </a:lnTo>
                <a:lnTo>
                  <a:pt x="296463" y="261698"/>
                </a:lnTo>
                <a:lnTo>
                  <a:pt x="285836" y="270564"/>
                </a:lnTo>
                <a:lnTo>
                  <a:pt x="274399" y="278617"/>
                </a:lnTo>
                <a:lnTo>
                  <a:pt x="262212" y="285803"/>
                </a:lnTo>
                <a:lnTo>
                  <a:pt x="249332" y="292072"/>
                </a:lnTo>
                <a:lnTo>
                  <a:pt x="235818" y="297370"/>
                </a:lnTo>
                <a:lnTo>
                  <a:pt x="221730" y="301646"/>
                </a:lnTo>
                <a:lnTo>
                  <a:pt x="207127" y="304847"/>
                </a:lnTo>
                <a:lnTo>
                  <a:pt x="192066" y="306920"/>
                </a:lnTo>
                <a:lnTo>
                  <a:pt x="176607" y="307814"/>
                </a:lnTo>
                <a:lnTo>
                  <a:pt x="172974" y="307848"/>
                </a:lnTo>
                <a:lnTo>
                  <a:pt x="157431" y="307234"/>
                </a:lnTo>
                <a:lnTo>
                  <a:pt x="142273" y="305429"/>
                </a:lnTo>
                <a:lnTo>
                  <a:pt x="127558" y="302485"/>
                </a:lnTo>
                <a:lnTo>
                  <a:pt x="113346" y="298454"/>
                </a:lnTo>
                <a:lnTo>
                  <a:pt x="99694" y="293388"/>
                </a:lnTo>
                <a:lnTo>
                  <a:pt x="86662" y="287340"/>
                </a:lnTo>
                <a:lnTo>
                  <a:pt x="74308" y="280361"/>
                </a:lnTo>
                <a:lnTo>
                  <a:pt x="62692" y="272505"/>
                </a:lnTo>
                <a:lnTo>
                  <a:pt x="51872" y="263823"/>
                </a:lnTo>
                <a:lnTo>
                  <a:pt x="41908" y="254368"/>
                </a:lnTo>
                <a:lnTo>
                  <a:pt x="32857" y="244191"/>
                </a:lnTo>
                <a:lnTo>
                  <a:pt x="24779" y="233346"/>
                </a:lnTo>
                <a:lnTo>
                  <a:pt x="17733" y="221884"/>
                </a:lnTo>
                <a:lnTo>
                  <a:pt x="11777" y="209858"/>
                </a:lnTo>
                <a:lnTo>
                  <a:pt x="6971" y="197321"/>
                </a:lnTo>
                <a:lnTo>
                  <a:pt x="3373" y="184323"/>
                </a:lnTo>
                <a:lnTo>
                  <a:pt x="1042" y="170918"/>
                </a:lnTo>
                <a:lnTo>
                  <a:pt x="37" y="157158"/>
                </a:lnTo>
                <a:lnTo>
                  <a:pt x="0" y="153924"/>
                </a:lnTo>
                <a:close/>
              </a:path>
            </a:pathLst>
          </a:custGeom>
          <a:ln w="9143">
            <a:solidFill>
              <a:srgbClr val="000000"/>
            </a:solidFill>
          </a:ln>
        </p:spPr>
        <p:txBody>
          <a:bodyPr wrap="square" lIns="0" tIns="0" rIns="0" bIns="0" rtlCol="0">
            <a:noAutofit/>
          </a:bodyPr>
          <a:lstStyle/>
          <a:p>
            <a:endParaRPr/>
          </a:p>
        </p:txBody>
      </p:sp>
      <p:sp>
        <p:nvSpPr>
          <p:cNvPr id="65" name="object 65"/>
          <p:cNvSpPr/>
          <p:nvPr/>
        </p:nvSpPr>
        <p:spPr>
          <a:xfrm>
            <a:off x="4213860" y="5859780"/>
            <a:ext cx="345948" cy="307847"/>
          </a:xfrm>
          <a:custGeom>
            <a:avLst/>
            <a:gdLst/>
            <a:ahLst/>
            <a:cxnLst/>
            <a:rect l="l" t="t" r="r" b="b"/>
            <a:pathLst>
              <a:path w="345948" h="307848">
                <a:moveTo>
                  <a:pt x="0" y="153924"/>
                </a:moveTo>
                <a:lnTo>
                  <a:pt x="1042" y="170918"/>
                </a:lnTo>
                <a:lnTo>
                  <a:pt x="3373" y="184323"/>
                </a:lnTo>
                <a:lnTo>
                  <a:pt x="6971" y="197321"/>
                </a:lnTo>
                <a:lnTo>
                  <a:pt x="11777" y="209858"/>
                </a:lnTo>
                <a:lnTo>
                  <a:pt x="17733" y="221884"/>
                </a:lnTo>
                <a:lnTo>
                  <a:pt x="24779" y="233346"/>
                </a:lnTo>
                <a:lnTo>
                  <a:pt x="32857" y="244191"/>
                </a:lnTo>
                <a:lnTo>
                  <a:pt x="41908" y="254368"/>
                </a:lnTo>
                <a:lnTo>
                  <a:pt x="51872" y="263823"/>
                </a:lnTo>
                <a:lnTo>
                  <a:pt x="62692" y="272505"/>
                </a:lnTo>
                <a:lnTo>
                  <a:pt x="74308" y="280361"/>
                </a:lnTo>
                <a:lnTo>
                  <a:pt x="86662" y="287340"/>
                </a:lnTo>
                <a:lnTo>
                  <a:pt x="99694" y="293388"/>
                </a:lnTo>
                <a:lnTo>
                  <a:pt x="113346" y="298454"/>
                </a:lnTo>
                <a:lnTo>
                  <a:pt x="127558" y="302485"/>
                </a:lnTo>
                <a:lnTo>
                  <a:pt x="142273" y="305429"/>
                </a:lnTo>
                <a:lnTo>
                  <a:pt x="157431" y="307234"/>
                </a:lnTo>
                <a:lnTo>
                  <a:pt x="172974" y="307848"/>
                </a:lnTo>
                <a:lnTo>
                  <a:pt x="176607" y="307814"/>
                </a:lnTo>
                <a:lnTo>
                  <a:pt x="192066" y="306920"/>
                </a:lnTo>
                <a:lnTo>
                  <a:pt x="207127" y="304847"/>
                </a:lnTo>
                <a:lnTo>
                  <a:pt x="221730" y="301646"/>
                </a:lnTo>
                <a:lnTo>
                  <a:pt x="235818" y="297370"/>
                </a:lnTo>
                <a:lnTo>
                  <a:pt x="249332" y="292072"/>
                </a:lnTo>
                <a:lnTo>
                  <a:pt x="262212" y="285803"/>
                </a:lnTo>
                <a:lnTo>
                  <a:pt x="274399" y="278617"/>
                </a:lnTo>
                <a:lnTo>
                  <a:pt x="285836" y="270564"/>
                </a:lnTo>
                <a:lnTo>
                  <a:pt x="296463" y="261698"/>
                </a:lnTo>
                <a:lnTo>
                  <a:pt x="306221" y="252071"/>
                </a:lnTo>
                <a:lnTo>
                  <a:pt x="315051" y="241735"/>
                </a:lnTo>
                <a:lnTo>
                  <a:pt x="322895" y="230742"/>
                </a:lnTo>
                <a:lnTo>
                  <a:pt x="329694" y="219145"/>
                </a:lnTo>
                <a:lnTo>
                  <a:pt x="335388" y="206996"/>
                </a:lnTo>
                <a:lnTo>
                  <a:pt x="339920" y="194347"/>
                </a:lnTo>
                <a:lnTo>
                  <a:pt x="343229" y="181250"/>
                </a:lnTo>
                <a:lnTo>
                  <a:pt x="345258" y="167758"/>
                </a:lnTo>
                <a:lnTo>
                  <a:pt x="345948" y="153924"/>
                </a:lnTo>
                <a:lnTo>
                  <a:pt x="345910" y="150689"/>
                </a:lnTo>
                <a:lnTo>
                  <a:pt x="344905" y="136929"/>
                </a:lnTo>
                <a:lnTo>
                  <a:pt x="342574" y="123524"/>
                </a:lnTo>
                <a:lnTo>
                  <a:pt x="338976" y="110526"/>
                </a:lnTo>
                <a:lnTo>
                  <a:pt x="334170" y="97989"/>
                </a:lnTo>
                <a:lnTo>
                  <a:pt x="328214" y="85963"/>
                </a:lnTo>
                <a:lnTo>
                  <a:pt x="321168" y="74501"/>
                </a:lnTo>
                <a:lnTo>
                  <a:pt x="313090" y="63656"/>
                </a:lnTo>
                <a:lnTo>
                  <a:pt x="304039" y="53479"/>
                </a:lnTo>
                <a:lnTo>
                  <a:pt x="294075" y="44024"/>
                </a:lnTo>
                <a:lnTo>
                  <a:pt x="283255" y="35342"/>
                </a:lnTo>
                <a:lnTo>
                  <a:pt x="271639" y="27486"/>
                </a:lnTo>
                <a:lnTo>
                  <a:pt x="259285" y="20507"/>
                </a:lnTo>
                <a:lnTo>
                  <a:pt x="246253" y="14459"/>
                </a:lnTo>
                <a:lnTo>
                  <a:pt x="232601" y="9393"/>
                </a:lnTo>
                <a:lnTo>
                  <a:pt x="218389" y="5362"/>
                </a:lnTo>
                <a:lnTo>
                  <a:pt x="203674" y="2418"/>
                </a:lnTo>
                <a:lnTo>
                  <a:pt x="188516" y="613"/>
                </a:lnTo>
                <a:lnTo>
                  <a:pt x="172974" y="0"/>
                </a:lnTo>
                <a:lnTo>
                  <a:pt x="169340" y="33"/>
                </a:lnTo>
                <a:lnTo>
                  <a:pt x="153881" y="927"/>
                </a:lnTo>
                <a:lnTo>
                  <a:pt x="138820" y="3000"/>
                </a:lnTo>
                <a:lnTo>
                  <a:pt x="124217" y="6201"/>
                </a:lnTo>
                <a:lnTo>
                  <a:pt x="110129" y="10477"/>
                </a:lnTo>
                <a:lnTo>
                  <a:pt x="96615" y="15775"/>
                </a:lnTo>
                <a:lnTo>
                  <a:pt x="83735" y="22044"/>
                </a:lnTo>
                <a:lnTo>
                  <a:pt x="71548" y="29230"/>
                </a:lnTo>
                <a:lnTo>
                  <a:pt x="60111" y="37283"/>
                </a:lnTo>
                <a:lnTo>
                  <a:pt x="49484" y="46149"/>
                </a:lnTo>
                <a:lnTo>
                  <a:pt x="39726" y="55776"/>
                </a:lnTo>
                <a:lnTo>
                  <a:pt x="30896" y="66112"/>
                </a:lnTo>
                <a:lnTo>
                  <a:pt x="23052" y="77105"/>
                </a:lnTo>
                <a:lnTo>
                  <a:pt x="16253" y="88702"/>
                </a:lnTo>
                <a:lnTo>
                  <a:pt x="10559" y="100851"/>
                </a:lnTo>
                <a:lnTo>
                  <a:pt x="6027" y="113500"/>
                </a:lnTo>
                <a:lnTo>
                  <a:pt x="2718" y="126597"/>
                </a:lnTo>
                <a:lnTo>
                  <a:pt x="689" y="140089"/>
                </a:lnTo>
                <a:lnTo>
                  <a:pt x="0" y="153924"/>
                </a:lnTo>
                <a:close/>
              </a:path>
            </a:pathLst>
          </a:custGeom>
          <a:solidFill>
            <a:srgbClr val="3366FF"/>
          </a:solidFill>
        </p:spPr>
        <p:txBody>
          <a:bodyPr wrap="square" lIns="0" tIns="0" rIns="0" bIns="0" rtlCol="0">
            <a:noAutofit/>
          </a:bodyPr>
          <a:lstStyle/>
          <a:p>
            <a:endParaRPr/>
          </a:p>
        </p:txBody>
      </p:sp>
      <p:sp>
        <p:nvSpPr>
          <p:cNvPr id="66" name="object 66"/>
          <p:cNvSpPr/>
          <p:nvPr/>
        </p:nvSpPr>
        <p:spPr>
          <a:xfrm>
            <a:off x="4213860" y="5859780"/>
            <a:ext cx="345948" cy="307847"/>
          </a:xfrm>
          <a:custGeom>
            <a:avLst/>
            <a:gdLst/>
            <a:ahLst/>
            <a:cxnLst/>
            <a:rect l="l" t="t" r="r" b="b"/>
            <a:pathLst>
              <a:path w="345948" h="307848">
                <a:moveTo>
                  <a:pt x="0" y="153924"/>
                </a:moveTo>
                <a:lnTo>
                  <a:pt x="689" y="140089"/>
                </a:lnTo>
                <a:lnTo>
                  <a:pt x="2718" y="126597"/>
                </a:lnTo>
                <a:lnTo>
                  <a:pt x="6027" y="113500"/>
                </a:lnTo>
                <a:lnTo>
                  <a:pt x="10559" y="100851"/>
                </a:lnTo>
                <a:lnTo>
                  <a:pt x="16253" y="88702"/>
                </a:lnTo>
                <a:lnTo>
                  <a:pt x="23052" y="77105"/>
                </a:lnTo>
                <a:lnTo>
                  <a:pt x="30896" y="66112"/>
                </a:lnTo>
                <a:lnTo>
                  <a:pt x="39726" y="55776"/>
                </a:lnTo>
                <a:lnTo>
                  <a:pt x="49484" y="46149"/>
                </a:lnTo>
                <a:lnTo>
                  <a:pt x="60111" y="37283"/>
                </a:lnTo>
                <a:lnTo>
                  <a:pt x="71548" y="29230"/>
                </a:lnTo>
                <a:lnTo>
                  <a:pt x="83735" y="22044"/>
                </a:lnTo>
                <a:lnTo>
                  <a:pt x="96615" y="15775"/>
                </a:lnTo>
                <a:lnTo>
                  <a:pt x="110129" y="10477"/>
                </a:lnTo>
                <a:lnTo>
                  <a:pt x="124217" y="6201"/>
                </a:lnTo>
                <a:lnTo>
                  <a:pt x="138820" y="3000"/>
                </a:lnTo>
                <a:lnTo>
                  <a:pt x="153881" y="927"/>
                </a:lnTo>
                <a:lnTo>
                  <a:pt x="169340" y="33"/>
                </a:lnTo>
                <a:lnTo>
                  <a:pt x="172974" y="0"/>
                </a:lnTo>
                <a:lnTo>
                  <a:pt x="188516" y="613"/>
                </a:lnTo>
                <a:lnTo>
                  <a:pt x="203674" y="2418"/>
                </a:lnTo>
                <a:lnTo>
                  <a:pt x="218389" y="5362"/>
                </a:lnTo>
                <a:lnTo>
                  <a:pt x="232601" y="9393"/>
                </a:lnTo>
                <a:lnTo>
                  <a:pt x="246253" y="14459"/>
                </a:lnTo>
                <a:lnTo>
                  <a:pt x="259285" y="20507"/>
                </a:lnTo>
                <a:lnTo>
                  <a:pt x="271639" y="27486"/>
                </a:lnTo>
                <a:lnTo>
                  <a:pt x="283255" y="35342"/>
                </a:lnTo>
                <a:lnTo>
                  <a:pt x="294075" y="44024"/>
                </a:lnTo>
                <a:lnTo>
                  <a:pt x="304039" y="53479"/>
                </a:lnTo>
                <a:lnTo>
                  <a:pt x="313090" y="63656"/>
                </a:lnTo>
                <a:lnTo>
                  <a:pt x="321168" y="74501"/>
                </a:lnTo>
                <a:lnTo>
                  <a:pt x="328214" y="85963"/>
                </a:lnTo>
                <a:lnTo>
                  <a:pt x="334170" y="97989"/>
                </a:lnTo>
                <a:lnTo>
                  <a:pt x="338976" y="110526"/>
                </a:lnTo>
                <a:lnTo>
                  <a:pt x="342574" y="123524"/>
                </a:lnTo>
                <a:lnTo>
                  <a:pt x="344905" y="136929"/>
                </a:lnTo>
                <a:lnTo>
                  <a:pt x="345910" y="150689"/>
                </a:lnTo>
                <a:lnTo>
                  <a:pt x="345948" y="153924"/>
                </a:lnTo>
                <a:lnTo>
                  <a:pt x="345258" y="167758"/>
                </a:lnTo>
                <a:lnTo>
                  <a:pt x="343229" y="181250"/>
                </a:lnTo>
                <a:lnTo>
                  <a:pt x="339920" y="194347"/>
                </a:lnTo>
                <a:lnTo>
                  <a:pt x="335388" y="206996"/>
                </a:lnTo>
                <a:lnTo>
                  <a:pt x="329694" y="219145"/>
                </a:lnTo>
                <a:lnTo>
                  <a:pt x="322895" y="230742"/>
                </a:lnTo>
                <a:lnTo>
                  <a:pt x="315051" y="241735"/>
                </a:lnTo>
                <a:lnTo>
                  <a:pt x="306221" y="252071"/>
                </a:lnTo>
                <a:lnTo>
                  <a:pt x="296463" y="261698"/>
                </a:lnTo>
                <a:lnTo>
                  <a:pt x="285836" y="270564"/>
                </a:lnTo>
                <a:lnTo>
                  <a:pt x="274399" y="278617"/>
                </a:lnTo>
                <a:lnTo>
                  <a:pt x="262212" y="285803"/>
                </a:lnTo>
                <a:lnTo>
                  <a:pt x="249332" y="292072"/>
                </a:lnTo>
                <a:lnTo>
                  <a:pt x="235818" y="297370"/>
                </a:lnTo>
                <a:lnTo>
                  <a:pt x="221730" y="301646"/>
                </a:lnTo>
                <a:lnTo>
                  <a:pt x="207127" y="304847"/>
                </a:lnTo>
                <a:lnTo>
                  <a:pt x="192066" y="306920"/>
                </a:lnTo>
                <a:lnTo>
                  <a:pt x="176607" y="307814"/>
                </a:lnTo>
                <a:lnTo>
                  <a:pt x="172974" y="307848"/>
                </a:lnTo>
                <a:lnTo>
                  <a:pt x="157431" y="307234"/>
                </a:lnTo>
                <a:lnTo>
                  <a:pt x="142273" y="305429"/>
                </a:lnTo>
                <a:lnTo>
                  <a:pt x="127558" y="302485"/>
                </a:lnTo>
                <a:lnTo>
                  <a:pt x="113346" y="298454"/>
                </a:lnTo>
                <a:lnTo>
                  <a:pt x="99694" y="293388"/>
                </a:lnTo>
                <a:lnTo>
                  <a:pt x="86662" y="287340"/>
                </a:lnTo>
                <a:lnTo>
                  <a:pt x="74308" y="280361"/>
                </a:lnTo>
                <a:lnTo>
                  <a:pt x="62692" y="272505"/>
                </a:lnTo>
                <a:lnTo>
                  <a:pt x="51872" y="263823"/>
                </a:lnTo>
                <a:lnTo>
                  <a:pt x="41908" y="254368"/>
                </a:lnTo>
                <a:lnTo>
                  <a:pt x="32857" y="244191"/>
                </a:lnTo>
                <a:lnTo>
                  <a:pt x="24779" y="233346"/>
                </a:lnTo>
                <a:lnTo>
                  <a:pt x="17733" y="221884"/>
                </a:lnTo>
                <a:lnTo>
                  <a:pt x="11777" y="209858"/>
                </a:lnTo>
                <a:lnTo>
                  <a:pt x="6971" y="197321"/>
                </a:lnTo>
                <a:lnTo>
                  <a:pt x="3373" y="184323"/>
                </a:lnTo>
                <a:lnTo>
                  <a:pt x="1042" y="170918"/>
                </a:lnTo>
                <a:lnTo>
                  <a:pt x="37" y="157158"/>
                </a:lnTo>
                <a:lnTo>
                  <a:pt x="0" y="153924"/>
                </a:lnTo>
                <a:close/>
              </a:path>
            </a:pathLst>
          </a:custGeom>
          <a:ln w="9144">
            <a:solidFill>
              <a:srgbClr val="000000"/>
            </a:solidFill>
          </a:ln>
        </p:spPr>
        <p:txBody>
          <a:bodyPr wrap="square" lIns="0" tIns="0" rIns="0" bIns="0" rtlCol="0">
            <a:noAutofit/>
          </a:bodyPr>
          <a:lstStyle/>
          <a:p>
            <a:endParaRPr/>
          </a:p>
        </p:txBody>
      </p:sp>
      <p:sp>
        <p:nvSpPr>
          <p:cNvPr id="67" name="object 67"/>
          <p:cNvSpPr/>
          <p:nvPr/>
        </p:nvSpPr>
        <p:spPr>
          <a:xfrm>
            <a:off x="6118860" y="5727192"/>
            <a:ext cx="370331" cy="118872"/>
          </a:xfrm>
          <a:custGeom>
            <a:avLst/>
            <a:gdLst/>
            <a:ahLst/>
            <a:cxnLst/>
            <a:rect l="l" t="t" r="r" b="b"/>
            <a:pathLst>
              <a:path w="370331" h="118872">
                <a:moveTo>
                  <a:pt x="204930" y="334"/>
                </a:moveTo>
                <a:lnTo>
                  <a:pt x="185165" y="0"/>
                </a:lnTo>
                <a:lnTo>
                  <a:pt x="178927" y="33"/>
                </a:lnTo>
                <a:lnTo>
                  <a:pt x="159339" y="573"/>
                </a:lnTo>
                <a:lnTo>
                  <a:pt x="140384" y="1750"/>
                </a:lnTo>
                <a:lnTo>
                  <a:pt x="122169" y="3529"/>
                </a:lnTo>
                <a:lnTo>
                  <a:pt x="104800" y="5876"/>
                </a:lnTo>
                <a:lnTo>
                  <a:pt x="88383" y="8756"/>
                </a:lnTo>
                <a:lnTo>
                  <a:pt x="73026" y="12137"/>
                </a:lnTo>
                <a:lnTo>
                  <a:pt x="58833" y="15983"/>
                </a:lnTo>
                <a:lnTo>
                  <a:pt x="45913" y="20261"/>
                </a:lnTo>
                <a:lnTo>
                  <a:pt x="34369" y="24937"/>
                </a:lnTo>
                <a:lnTo>
                  <a:pt x="15842" y="35345"/>
                </a:lnTo>
                <a:lnTo>
                  <a:pt x="4102" y="46936"/>
                </a:lnTo>
                <a:lnTo>
                  <a:pt x="0" y="59436"/>
                </a:lnTo>
                <a:lnTo>
                  <a:pt x="0" y="118872"/>
                </a:lnTo>
                <a:lnTo>
                  <a:pt x="370331" y="118872"/>
                </a:lnTo>
                <a:lnTo>
                  <a:pt x="370228" y="57432"/>
                </a:lnTo>
                <a:lnTo>
                  <a:pt x="364876" y="45057"/>
                </a:lnTo>
                <a:lnTo>
                  <a:pt x="352018" y="33633"/>
                </a:lnTo>
                <a:lnTo>
                  <a:pt x="332506" y="23434"/>
                </a:lnTo>
                <a:lnTo>
                  <a:pt x="320521" y="18879"/>
                </a:lnTo>
                <a:lnTo>
                  <a:pt x="307191" y="14732"/>
                </a:lnTo>
                <a:lnTo>
                  <a:pt x="292623" y="11028"/>
                </a:lnTo>
                <a:lnTo>
                  <a:pt x="276923" y="7800"/>
                </a:lnTo>
                <a:lnTo>
                  <a:pt x="260197" y="5083"/>
                </a:lnTo>
                <a:lnTo>
                  <a:pt x="242553" y="2910"/>
                </a:lnTo>
                <a:lnTo>
                  <a:pt x="224095" y="1316"/>
                </a:lnTo>
                <a:lnTo>
                  <a:pt x="204930" y="334"/>
                </a:lnTo>
                <a:close/>
              </a:path>
            </a:pathLst>
          </a:custGeom>
          <a:solidFill>
            <a:srgbClr val="3366FF"/>
          </a:solidFill>
        </p:spPr>
        <p:txBody>
          <a:bodyPr wrap="square" lIns="0" tIns="0" rIns="0" bIns="0" rtlCol="0">
            <a:noAutofit/>
          </a:bodyPr>
          <a:lstStyle/>
          <a:p>
            <a:endParaRPr/>
          </a:p>
        </p:txBody>
      </p:sp>
      <p:sp>
        <p:nvSpPr>
          <p:cNvPr id="68" name="object 68"/>
          <p:cNvSpPr/>
          <p:nvPr/>
        </p:nvSpPr>
        <p:spPr>
          <a:xfrm>
            <a:off x="6118860" y="5727192"/>
            <a:ext cx="370331" cy="118872"/>
          </a:xfrm>
          <a:custGeom>
            <a:avLst/>
            <a:gdLst/>
            <a:ahLst/>
            <a:cxnLst/>
            <a:rect l="l" t="t" r="r" b="b"/>
            <a:pathLst>
              <a:path w="370331" h="118872">
                <a:moveTo>
                  <a:pt x="204930" y="334"/>
                </a:moveTo>
                <a:lnTo>
                  <a:pt x="224095" y="1316"/>
                </a:lnTo>
                <a:lnTo>
                  <a:pt x="242553" y="2910"/>
                </a:lnTo>
                <a:lnTo>
                  <a:pt x="260197" y="5083"/>
                </a:lnTo>
                <a:lnTo>
                  <a:pt x="276923" y="7800"/>
                </a:lnTo>
                <a:lnTo>
                  <a:pt x="292623" y="11028"/>
                </a:lnTo>
                <a:lnTo>
                  <a:pt x="307191" y="14732"/>
                </a:lnTo>
                <a:lnTo>
                  <a:pt x="320521" y="18879"/>
                </a:lnTo>
                <a:lnTo>
                  <a:pt x="332506" y="23434"/>
                </a:lnTo>
                <a:lnTo>
                  <a:pt x="352018" y="33633"/>
                </a:lnTo>
                <a:lnTo>
                  <a:pt x="364876" y="45057"/>
                </a:lnTo>
                <a:lnTo>
                  <a:pt x="370228" y="57432"/>
                </a:lnTo>
                <a:lnTo>
                  <a:pt x="370331" y="59436"/>
                </a:lnTo>
                <a:lnTo>
                  <a:pt x="370331" y="118872"/>
                </a:lnTo>
                <a:lnTo>
                  <a:pt x="0" y="118872"/>
                </a:lnTo>
                <a:lnTo>
                  <a:pt x="0" y="59436"/>
                </a:lnTo>
                <a:lnTo>
                  <a:pt x="4102" y="46936"/>
                </a:lnTo>
                <a:lnTo>
                  <a:pt x="15842" y="35345"/>
                </a:lnTo>
                <a:lnTo>
                  <a:pt x="34369" y="24937"/>
                </a:lnTo>
                <a:lnTo>
                  <a:pt x="45913" y="20261"/>
                </a:lnTo>
                <a:lnTo>
                  <a:pt x="58833" y="15983"/>
                </a:lnTo>
                <a:lnTo>
                  <a:pt x="73026" y="12137"/>
                </a:lnTo>
                <a:lnTo>
                  <a:pt x="88383" y="8756"/>
                </a:lnTo>
                <a:lnTo>
                  <a:pt x="104800" y="5876"/>
                </a:lnTo>
                <a:lnTo>
                  <a:pt x="122169" y="3529"/>
                </a:lnTo>
                <a:lnTo>
                  <a:pt x="140384" y="1750"/>
                </a:lnTo>
                <a:lnTo>
                  <a:pt x="159339" y="573"/>
                </a:lnTo>
                <a:lnTo>
                  <a:pt x="178927" y="33"/>
                </a:lnTo>
                <a:lnTo>
                  <a:pt x="185165" y="0"/>
                </a:lnTo>
                <a:lnTo>
                  <a:pt x="204930" y="334"/>
                </a:lnTo>
                <a:close/>
              </a:path>
            </a:pathLst>
          </a:custGeom>
          <a:ln w="9144">
            <a:solidFill>
              <a:srgbClr val="000000"/>
            </a:solidFill>
          </a:ln>
        </p:spPr>
        <p:txBody>
          <a:bodyPr wrap="square" lIns="0" tIns="0" rIns="0" bIns="0" rtlCol="0">
            <a:noAutofit/>
          </a:bodyPr>
          <a:lstStyle/>
          <a:p>
            <a:endParaRPr/>
          </a:p>
        </p:txBody>
      </p:sp>
      <p:sp>
        <p:nvSpPr>
          <p:cNvPr id="69" name="object 69"/>
          <p:cNvSpPr/>
          <p:nvPr/>
        </p:nvSpPr>
        <p:spPr>
          <a:xfrm>
            <a:off x="6118860" y="5844540"/>
            <a:ext cx="370332" cy="344423"/>
          </a:xfrm>
          <a:custGeom>
            <a:avLst/>
            <a:gdLst/>
            <a:ahLst/>
            <a:cxnLst/>
            <a:rect l="l" t="t" r="r" b="b"/>
            <a:pathLst>
              <a:path w="370332" h="344424">
                <a:moveTo>
                  <a:pt x="0" y="344424"/>
                </a:moveTo>
                <a:lnTo>
                  <a:pt x="370332" y="344424"/>
                </a:lnTo>
                <a:lnTo>
                  <a:pt x="370332" y="0"/>
                </a:lnTo>
                <a:lnTo>
                  <a:pt x="0" y="0"/>
                </a:lnTo>
                <a:lnTo>
                  <a:pt x="0" y="344424"/>
                </a:lnTo>
                <a:close/>
              </a:path>
            </a:pathLst>
          </a:custGeom>
          <a:solidFill>
            <a:srgbClr val="3366FF"/>
          </a:solidFill>
        </p:spPr>
        <p:txBody>
          <a:bodyPr wrap="square" lIns="0" tIns="0" rIns="0" bIns="0" rtlCol="0">
            <a:noAutofit/>
          </a:bodyPr>
          <a:lstStyle/>
          <a:p>
            <a:endParaRPr/>
          </a:p>
        </p:txBody>
      </p:sp>
      <p:sp>
        <p:nvSpPr>
          <p:cNvPr id="70" name="object 70"/>
          <p:cNvSpPr/>
          <p:nvPr/>
        </p:nvSpPr>
        <p:spPr>
          <a:xfrm>
            <a:off x="6118860" y="5844540"/>
            <a:ext cx="370332" cy="344423"/>
          </a:xfrm>
          <a:custGeom>
            <a:avLst/>
            <a:gdLst/>
            <a:ahLst/>
            <a:cxnLst/>
            <a:rect l="l" t="t" r="r" b="b"/>
            <a:pathLst>
              <a:path w="370332" h="344424">
                <a:moveTo>
                  <a:pt x="0" y="344424"/>
                </a:moveTo>
                <a:lnTo>
                  <a:pt x="370332" y="344424"/>
                </a:lnTo>
                <a:lnTo>
                  <a:pt x="370332" y="0"/>
                </a:lnTo>
                <a:lnTo>
                  <a:pt x="0" y="0"/>
                </a:lnTo>
                <a:lnTo>
                  <a:pt x="0" y="344424"/>
                </a:lnTo>
                <a:close/>
              </a:path>
            </a:pathLst>
          </a:custGeom>
          <a:ln w="9144">
            <a:solidFill>
              <a:srgbClr val="000000"/>
            </a:solidFill>
          </a:ln>
        </p:spPr>
        <p:txBody>
          <a:bodyPr wrap="square" lIns="0" tIns="0" rIns="0" bIns="0" rtlCol="0">
            <a:noAutofit/>
          </a:bodyPr>
          <a:lstStyle/>
          <a:p>
            <a:endParaRPr/>
          </a:p>
        </p:txBody>
      </p:sp>
      <p:sp>
        <p:nvSpPr>
          <p:cNvPr id="71" name="object 71"/>
          <p:cNvSpPr/>
          <p:nvPr/>
        </p:nvSpPr>
        <p:spPr>
          <a:xfrm>
            <a:off x="6118860" y="6179820"/>
            <a:ext cx="370331" cy="118872"/>
          </a:xfrm>
          <a:custGeom>
            <a:avLst/>
            <a:gdLst/>
            <a:ahLst/>
            <a:cxnLst/>
            <a:rect l="l" t="t" r="r" b="b"/>
            <a:pathLst>
              <a:path w="370331" h="118872">
                <a:moveTo>
                  <a:pt x="370331" y="0"/>
                </a:moveTo>
                <a:lnTo>
                  <a:pt x="0" y="0"/>
                </a:lnTo>
                <a:lnTo>
                  <a:pt x="103" y="61439"/>
                </a:lnTo>
                <a:lnTo>
                  <a:pt x="5455" y="73814"/>
                </a:lnTo>
                <a:lnTo>
                  <a:pt x="18313" y="85238"/>
                </a:lnTo>
                <a:lnTo>
                  <a:pt x="37825" y="95437"/>
                </a:lnTo>
                <a:lnTo>
                  <a:pt x="49810" y="99992"/>
                </a:lnTo>
                <a:lnTo>
                  <a:pt x="63140" y="104139"/>
                </a:lnTo>
                <a:lnTo>
                  <a:pt x="77708" y="107843"/>
                </a:lnTo>
                <a:lnTo>
                  <a:pt x="93408" y="111071"/>
                </a:lnTo>
                <a:lnTo>
                  <a:pt x="110134" y="113788"/>
                </a:lnTo>
                <a:lnTo>
                  <a:pt x="127778" y="115961"/>
                </a:lnTo>
                <a:lnTo>
                  <a:pt x="146236" y="117555"/>
                </a:lnTo>
                <a:lnTo>
                  <a:pt x="165401" y="118537"/>
                </a:lnTo>
                <a:lnTo>
                  <a:pt x="185165" y="118871"/>
                </a:lnTo>
                <a:lnTo>
                  <a:pt x="191404" y="118838"/>
                </a:lnTo>
                <a:lnTo>
                  <a:pt x="210992" y="118298"/>
                </a:lnTo>
                <a:lnTo>
                  <a:pt x="229947" y="117121"/>
                </a:lnTo>
                <a:lnTo>
                  <a:pt x="248162" y="115342"/>
                </a:lnTo>
                <a:lnTo>
                  <a:pt x="265531" y="112995"/>
                </a:lnTo>
                <a:lnTo>
                  <a:pt x="281948" y="110115"/>
                </a:lnTo>
                <a:lnTo>
                  <a:pt x="297305" y="106734"/>
                </a:lnTo>
                <a:lnTo>
                  <a:pt x="311498" y="102888"/>
                </a:lnTo>
                <a:lnTo>
                  <a:pt x="324418" y="98610"/>
                </a:lnTo>
                <a:lnTo>
                  <a:pt x="335962" y="93934"/>
                </a:lnTo>
                <a:lnTo>
                  <a:pt x="354489" y="83526"/>
                </a:lnTo>
                <a:lnTo>
                  <a:pt x="366229" y="71935"/>
                </a:lnTo>
                <a:lnTo>
                  <a:pt x="370331" y="59435"/>
                </a:lnTo>
                <a:lnTo>
                  <a:pt x="370331" y="0"/>
                </a:lnTo>
                <a:close/>
              </a:path>
            </a:pathLst>
          </a:custGeom>
          <a:solidFill>
            <a:srgbClr val="3366FF"/>
          </a:solidFill>
        </p:spPr>
        <p:txBody>
          <a:bodyPr wrap="square" lIns="0" tIns="0" rIns="0" bIns="0" rtlCol="0">
            <a:noAutofit/>
          </a:bodyPr>
          <a:lstStyle/>
          <a:p>
            <a:endParaRPr/>
          </a:p>
        </p:txBody>
      </p:sp>
      <p:sp>
        <p:nvSpPr>
          <p:cNvPr id="72" name="object 72"/>
          <p:cNvSpPr/>
          <p:nvPr/>
        </p:nvSpPr>
        <p:spPr>
          <a:xfrm>
            <a:off x="6118860" y="6179820"/>
            <a:ext cx="370331" cy="118872"/>
          </a:xfrm>
          <a:custGeom>
            <a:avLst/>
            <a:gdLst/>
            <a:ahLst/>
            <a:cxnLst/>
            <a:rect l="l" t="t" r="r" b="b"/>
            <a:pathLst>
              <a:path w="370331" h="118872">
                <a:moveTo>
                  <a:pt x="370331" y="0"/>
                </a:moveTo>
                <a:lnTo>
                  <a:pt x="370331" y="59435"/>
                </a:lnTo>
                <a:lnTo>
                  <a:pt x="369288" y="65782"/>
                </a:lnTo>
                <a:lnTo>
                  <a:pt x="361261" y="77861"/>
                </a:lnTo>
                <a:lnTo>
                  <a:pt x="346020" y="88894"/>
                </a:lnTo>
                <a:lnTo>
                  <a:pt x="324418" y="98610"/>
                </a:lnTo>
                <a:lnTo>
                  <a:pt x="311498" y="102888"/>
                </a:lnTo>
                <a:lnTo>
                  <a:pt x="297305" y="106734"/>
                </a:lnTo>
                <a:lnTo>
                  <a:pt x="281948" y="110115"/>
                </a:lnTo>
                <a:lnTo>
                  <a:pt x="265531" y="112995"/>
                </a:lnTo>
                <a:lnTo>
                  <a:pt x="248162" y="115342"/>
                </a:lnTo>
                <a:lnTo>
                  <a:pt x="229947" y="117121"/>
                </a:lnTo>
                <a:lnTo>
                  <a:pt x="210992" y="118298"/>
                </a:lnTo>
                <a:lnTo>
                  <a:pt x="191404" y="118838"/>
                </a:lnTo>
                <a:lnTo>
                  <a:pt x="185165" y="118871"/>
                </a:lnTo>
                <a:lnTo>
                  <a:pt x="165401" y="118537"/>
                </a:lnTo>
                <a:lnTo>
                  <a:pt x="146236" y="117555"/>
                </a:lnTo>
                <a:lnTo>
                  <a:pt x="127778" y="115961"/>
                </a:lnTo>
                <a:lnTo>
                  <a:pt x="110134" y="113788"/>
                </a:lnTo>
                <a:lnTo>
                  <a:pt x="93408" y="111071"/>
                </a:lnTo>
                <a:lnTo>
                  <a:pt x="77708" y="107843"/>
                </a:lnTo>
                <a:lnTo>
                  <a:pt x="63140" y="104139"/>
                </a:lnTo>
                <a:lnTo>
                  <a:pt x="49810" y="99992"/>
                </a:lnTo>
                <a:lnTo>
                  <a:pt x="37825" y="95437"/>
                </a:lnTo>
                <a:lnTo>
                  <a:pt x="18313" y="85238"/>
                </a:lnTo>
                <a:lnTo>
                  <a:pt x="5455" y="73814"/>
                </a:lnTo>
                <a:lnTo>
                  <a:pt x="103" y="61439"/>
                </a:lnTo>
                <a:lnTo>
                  <a:pt x="0" y="59435"/>
                </a:lnTo>
                <a:lnTo>
                  <a:pt x="0" y="0"/>
                </a:lnTo>
                <a:lnTo>
                  <a:pt x="370331" y="0"/>
                </a:lnTo>
                <a:close/>
              </a:path>
            </a:pathLst>
          </a:custGeom>
          <a:ln w="9144">
            <a:solidFill>
              <a:srgbClr val="000000"/>
            </a:solidFill>
          </a:ln>
        </p:spPr>
        <p:txBody>
          <a:bodyPr wrap="square" lIns="0" tIns="0" rIns="0" bIns="0" rtlCol="0">
            <a:noAutofit/>
          </a:bodyPr>
          <a:lstStyle/>
          <a:p>
            <a:endParaRPr/>
          </a:p>
        </p:txBody>
      </p:sp>
      <p:sp>
        <p:nvSpPr>
          <p:cNvPr id="73" name="object 73"/>
          <p:cNvSpPr/>
          <p:nvPr/>
        </p:nvSpPr>
        <p:spPr>
          <a:xfrm>
            <a:off x="6638544" y="5710428"/>
            <a:ext cx="371855" cy="118872"/>
          </a:xfrm>
          <a:custGeom>
            <a:avLst/>
            <a:gdLst/>
            <a:ahLst/>
            <a:cxnLst/>
            <a:rect l="l" t="t" r="r" b="b"/>
            <a:pathLst>
              <a:path w="371855" h="118872">
                <a:moveTo>
                  <a:pt x="205716" y="332"/>
                </a:moveTo>
                <a:lnTo>
                  <a:pt x="185927" y="0"/>
                </a:lnTo>
                <a:lnTo>
                  <a:pt x="178546" y="45"/>
                </a:lnTo>
                <a:lnTo>
                  <a:pt x="158968" y="619"/>
                </a:lnTo>
                <a:lnTo>
                  <a:pt x="140031" y="1822"/>
                </a:lnTo>
                <a:lnTo>
                  <a:pt x="121839" y="3622"/>
                </a:lnTo>
                <a:lnTo>
                  <a:pt x="104499" y="5983"/>
                </a:lnTo>
                <a:lnTo>
                  <a:pt x="88115" y="8873"/>
                </a:lnTo>
                <a:lnTo>
                  <a:pt x="72793" y="12258"/>
                </a:lnTo>
                <a:lnTo>
                  <a:pt x="58637" y="16104"/>
                </a:lnTo>
                <a:lnTo>
                  <a:pt x="45752" y="20378"/>
                </a:lnTo>
                <a:lnTo>
                  <a:pt x="34245" y="25046"/>
                </a:lnTo>
                <a:lnTo>
                  <a:pt x="15780" y="35428"/>
                </a:lnTo>
                <a:lnTo>
                  <a:pt x="4085" y="46981"/>
                </a:lnTo>
                <a:lnTo>
                  <a:pt x="0" y="59436"/>
                </a:lnTo>
                <a:lnTo>
                  <a:pt x="0" y="118872"/>
                </a:lnTo>
                <a:lnTo>
                  <a:pt x="371855" y="118872"/>
                </a:lnTo>
                <a:lnTo>
                  <a:pt x="371855" y="59436"/>
                </a:lnTo>
                <a:lnTo>
                  <a:pt x="366156" y="44768"/>
                </a:lnTo>
                <a:lnTo>
                  <a:pt x="353145" y="33412"/>
                </a:lnTo>
                <a:lnTo>
                  <a:pt x="333521" y="23276"/>
                </a:lnTo>
                <a:lnTo>
                  <a:pt x="321492" y="18750"/>
                </a:lnTo>
                <a:lnTo>
                  <a:pt x="308125" y="14630"/>
                </a:lnTo>
                <a:lnTo>
                  <a:pt x="293526" y="10951"/>
                </a:lnTo>
                <a:lnTo>
                  <a:pt x="277798" y="7745"/>
                </a:lnTo>
                <a:lnTo>
                  <a:pt x="261049" y="5046"/>
                </a:lnTo>
                <a:lnTo>
                  <a:pt x="243381" y="2889"/>
                </a:lnTo>
                <a:lnTo>
                  <a:pt x="224902" y="1306"/>
                </a:lnTo>
                <a:lnTo>
                  <a:pt x="205716" y="332"/>
                </a:lnTo>
                <a:close/>
              </a:path>
            </a:pathLst>
          </a:custGeom>
          <a:solidFill>
            <a:srgbClr val="3366FF"/>
          </a:solidFill>
        </p:spPr>
        <p:txBody>
          <a:bodyPr wrap="square" lIns="0" tIns="0" rIns="0" bIns="0" rtlCol="0">
            <a:noAutofit/>
          </a:bodyPr>
          <a:lstStyle/>
          <a:p>
            <a:endParaRPr/>
          </a:p>
        </p:txBody>
      </p:sp>
      <p:sp>
        <p:nvSpPr>
          <p:cNvPr id="74" name="object 74"/>
          <p:cNvSpPr/>
          <p:nvPr/>
        </p:nvSpPr>
        <p:spPr>
          <a:xfrm>
            <a:off x="6638544" y="5710428"/>
            <a:ext cx="371855" cy="118872"/>
          </a:xfrm>
          <a:custGeom>
            <a:avLst/>
            <a:gdLst/>
            <a:ahLst/>
            <a:cxnLst/>
            <a:rect l="l" t="t" r="r" b="b"/>
            <a:pathLst>
              <a:path w="371855" h="118872">
                <a:moveTo>
                  <a:pt x="205716" y="332"/>
                </a:moveTo>
                <a:lnTo>
                  <a:pt x="224902" y="1306"/>
                </a:lnTo>
                <a:lnTo>
                  <a:pt x="243381" y="2889"/>
                </a:lnTo>
                <a:lnTo>
                  <a:pt x="261049" y="5046"/>
                </a:lnTo>
                <a:lnTo>
                  <a:pt x="277798" y="7745"/>
                </a:lnTo>
                <a:lnTo>
                  <a:pt x="293526" y="10951"/>
                </a:lnTo>
                <a:lnTo>
                  <a:pt x="308125" y="14630"/>
                </a:lnTo>
                <a:lnTo>
                  <a:pt x="321492" y="18750"/>
                </a:lnTo>
                <a:lnTo>
                  <a:pt x="333521" y="23276"/>
                </a:lnTo>
                <a:lnTo>
                  <a:pt x="353145" y="33412"/>
                </a:lnTo>
                <a:lnTo>
                  <a:pt x="366156" y="44768"/>
                </a:lnTo>
                <a:lnTo>
                  <a:pt x="371712" y="57077"/>
                </a:lnTo>
                <a:lnTo>
                  <a:pt x="371855" y="59436"/>
                </a:lnTo>
                <a:lnTo>
                  <a:pt x="371855" y="118872"/>
                </a:lnTo>
                <a:lnTo>
                  <a:pt x="0" y="118872"/>
                </a:lnTo>
                <a:lnTo>
                  <a:pt x="0" y="59436"/>
                </a:lnTo>
                <a:lnTo>
                  <a:pt x="4085" y="46981"/>
                </a:lnTo>
                <a:lnTo>
                  <a:pt x="15780" y="35428"/>
                </a:lnTo>
                <a:lnTo>
                  <a:pt x="34245" y="25046"/>
                </a:lnTo>
                <a:lnTo>
                  <a:pt x="45752" y="20378"/>
                </a:lnTo>
                <a:lnTo>
                  <a:pt x="58637" y="16104"/>
                </a:lnTo>
                <a:lnTo>
                  <a:pt x="72793" y="12258"/>
                </a:lnTo>
                <a:lnTo>
                  <a:pt x="88115" y="8873"/>
                </a:lnTo>
                <a:lnTo>
                  <a:pt x="104499" y="5983"/>
                </a:lnTo>
                <a:lnTo>
                  <a:pt x="121839" y="3622"/>
                </a:lnTo>
                <a:lnTo>
                  <a:pt x="140031" y="1822"/>
                </a:lnTo>
                <a:lnTo>
                  <a:pt x="158968" y="619"/>
                </a:lnTo>
                <a:lnTo>
                  <a:pt x="178546" y="45"/>
                </a:lnTo>
                <a:lnTo>
                  <a:pt x="185927" y="0"/>
                </a:lnTo>
                <a:lnTo>
                  <a:pt x="205716" y="332"/>
                </a:lnTo>
                <a:close/>
              </a:path>
            </a:pathLst>
          </a:custGeom>
          <a:ln w="9144">
            <a:solidFill>
              <a:srgbClr val="000000"/>
            </a:solidFill>
          </a:ln>
        </p:spPr>
        <p:txBody>
          <a:bodyPr wrap="square" lIns="0" tIns="0" rIns="0" bIns="0" rtlCol="0">
            <a:noAutofit/>
          </a:bodyPr>
          <a:lstStyle/>
          <a:p>
            <a:endParaRPr/>
          </a:p>
        </p:txBody>
      </p:sp>
      <p:sp>
        <p:nvSpPr>
          <p:cNvPr id="75" name="object 75"/>
          <p:cNvSpPr/>
          <p:nvPr/>
        </p:nvSpPr>
        <p:spPr>
          <a:xfrm>
            <a:off x="6637020" y="5827776"/>
            <a:ext cx="373379" cy="342900"/>
          </a:xfrm>
          <a:custGeom>
            <a:avLst/>
            <a:gdLst/>
            <a:ahLst/>
            <a:cxnLst/>
            <a:rect l="l" t="t" r="r" b="b"/>
            <a:pathLst>
              <a:path w="373379" h="342900">
                <a:moveTo>
                  <a:pt x="0" y="342900"/>
                </a:moveTo>
                <a:lnTo>
                  <a:pt x="373379" y="342900"/>
                </a:lnTo>
                <a:lnTo>
                  <a:pt x="373379" y="0"/>
                </a:lnTo>
                <a:lnTo>
                  <a:pt x="0" y="0"/>
                </a:lnTo>
                <a:lnTo>
                  <a:pt x="0" y="342900"/>
                </a:lnTo>
                <a:close/>
              </a:path>
            </a:pathLst>
          </a:custGeom>
          <a:solidFill>
            <a:srgbClr val="3366FF"/>
          </a:solidFill>
        </p:spPr>
        <p:txBody>
          <a:bodyPr wrap="square" lIns="0" tIns="0" rIns="0" bIns="0" rtlCol="0">
            <a:noAutofit/>
          </a:bodyPr>
          <a:lstStyle/>
          <a:p>
            <a:endParaRPr/>
          </a:p>
        </p:txBody>
      </p:sp>
      <p:sp>
        <p:nvSpPr>
          <p:cNvPr id="76" name="object 76"/>
          <p:cNvSpPr/>
          <p:nvPr/>
        </p:nvSpPr>
        <p:spPr>
          <a:xfrm>
            <a:off x="6637020" y="5827776"/>
            <a:ext cx="373379" cy="342900"/>
          </a:xfrm>
          <a:custGeom>
            <a:avLst/>
            <a:gdLst/>
            <a:ahLst/>
            <a:cxnLst/>
            <a:rect l="l" t="t" r="r" b="b"/>
            <a:pathLst>
              <a:path w="373379" h="342900">
                <a:moveTo>
                  <a:pt x="0" y="342900"/>
                </a:moveTo>
                <a:lnTo>
                  <a:pt x="373379" y="342900"/>
                </a:lnTo>
                <a:lnTo>
                  <a:pt x="373379" y="0"/>
                </a:lnTo>
                <a:lnTo>
                  <a:pt x="0" y="0"/>
                </a:lnTo>
                <a:lnTo>
                  <a:pt x="0" y="342900"/>
                </a:lnTo>
                <a:close/>
              </a:path>
            </a:pathLst>
          </a:custGeom>
          <a:ln w="9144">
            <a:solidFill>
              <a:srgbClr val="000000"/>
            </a:solidFill>
          </a:ln>
        </p:spPr>
        <p:txBody>
          <a:bodyPr wrap="square" lIns="0" tIns="0" rIns="0" bIns="0" rtlCol="0">
            <a:noAutofit/>
          </a:bodyPr>
          <a:lstStyle/>
          <a:p>
            <a:endParaRPr/>
          </a:p>
        </p:txBody>
      </p:sp>
      <p:sp>
        <p:nvSpPr>
          <p:cNvPr id="77" name="object 77"/>
          <p:cNvSpPr/>
          <p:nvPr/>
        </p:nvSpPr>
        <p:spPr>
          <a:xfrm>
            <a:off x="6638544" y="6163056"/>
            <a:ext cx="371855" cy="118872"/>
          </a:xfrm>
          <a:custGeom>
            <a:avLst/>
            <a:gdLst/>
            <a:ahLst/>
            <a:cxnLst/>
            <a:rect l="l" t="t" r="r" b="b"/>
            <a:pathLst>
              <a:path w="371855" h="118872">
                <a:moveTo>
                  <a:pt x="371855" y="0"/>
                </a:moveTo>
                <a:lnTo>
                  <a:pt x="0" y="0"/>
                </a:lnTo>
                <a:lnTo>
                  <a:pt x="0" y="59436"/>
                </a:lnTo>
                <a:lnTo>
                  <a:pt x="5699" y="74103"/>
                </a:lnTo>
                <a:lnTo>
                  <a:pt x="18710" y="85459"/>
                </a:lnTo>
                <a:lnTo>
                  <a:pt x="38334" y="95595"/>
                </a:lnTo>
                <a:lnTo>
                  <a:pt x="50363" y="100121"/>
                </a:lnTo>
                <a:lnTo>
                  <a:pt x="63730" y="104241"/>
                </a:lnTo>
                <a:lnTo>
                  <a:pt x="78329" y="107920"/>
                </a:lnTo>
                <a:lnTo>
                  <a:pt x="94057" y="111126"/>
                </a:lnTo>
                <a:lnTo>
                  <a:pt x="110806" y="113825"/>
                </a:lnTo>
                <a:lnTo>
                  <a:pt x="128474" y="115982"/>
                </a:lnTo>
                <a:lnTo>
                  <a:pt x="146953" y="117565"/>
                </a:lnTo>
                <a:lnTo>
                  <a:pt x="166139" y="118539"/>
                </a:lnTo>
                <a:lnTo>
                  <a:pt x="185927" y="118872"/>
                </a:lnTo>
                <a:lnTo>
                  <a:pt x="193309" y="118826"/>
                </a:lnTo>
                <a:lnTo>
                  <a:pt x="212887" y="118252"/>
                </a:lnTo>
                <a:lnTo>
                  <a:pt x="231824" y="117049"/>
                </a:lnTo>
                <a:lnTo>
                  <a:pt x="250016" y="115249"/>
                </a:lnTo>
                <a:lnTo>
                  <a:pt x="267356" y="112888"/>
                </a:lnTo>
                <a:lnTo>
                  <a:pt x="283740" y="109998"/>
                </a:lnTo>
                <a:lnTo>
                  <a:pt x="299062" y="106613"/>
                </a:lnTo>
                <a:lnTo>
                  <a:pt x="313218" y="102767"/>
                </a:lnTo>
                <a:lnTo>
                  <a:pt x="326103" y="98493"/>
                </a:lnTo>
                <a:lnTo>
                  <a:pt x="337610" y="93825"/>
                </a:lnTo>
                <a:lnTo>
                  <a:pt x="356075" y="83443"/>
                </a:lnTo>
                <a:lnTo>
                  <a:pt x="367770" y="71890"/>
                </a:lnTo>
                <a:lnTo>
                  <a:pt x="371855" y="59436"/>
                </a:lnTo>
                <a:lnTo>
                  <a:pt x="371855" y="0"/>
                </a:lnTo>
                <a:close/>
              </a:path>
            </a:pathLst>
          </a:custGeom>
          <a:solidFill>
            <a:srgbClr val="3366FF"/>
          </a:solidFill>
        </p:spPr>
        <p:txBody>
          <a:bodyPr wrap="square" lIns="0" tIns="0" rIns="0" bIns="0" rtlCol="0">
            <a:noAutofit/>
          </a:bodyPr>
          <a:lstStyle/>
          <a:p>
            <a:endParaRPr/>
          </a:p>
        </p:txBody>
      </p:sp>
      <p:sp>
        <p:nvSpPr>
          <p:cNvPr id="78" name="object 78"/>
          <p:cNvSpPr/>
          <p:nvPr/>
        </p:nvSpPr>
        <p:spPr>
          <a:xfrm>
            <a:off x="6638544" y="6163056"/>
            <a:ext cx="371855" cy="118872"/>
          </a:xfrm>
          <a:custGeom>
            <a:avLst/>
            <a:gdLst/>
            <a:ahLst/>
            <a:cxnLst/>
            <a:rect l="l" t="t" r="r" b="b"/>
            <a:pathLst>
              <a:path w="371855" h="118872">
                <a:moveTo>
                  <a:pt x="371855" y="0"/>
                </a:moveTo>
                <a:lnTo>
                  <a:pt x="371855" y="59436"/>
                </a:lnTo>
                <a:lnTo>
                  <a:pt x="370817" y="65759"/>
                </a:lnTo>
                <a:lnTo>
                  <a:pt x="362821" y="77796"/>
                </a:lnTo>
                <a:lnTo>
                  <a:pt x="347636" y="88798"/>
                </a:lnTo>
                <a:lnTo>
                  <a:pt x="326103" y="98493"/>
                </a:lnTo>
                <a:lnTo>
                  <a:pt x="313218" y="102767"/>
                </a:lnTo>
                <a:lnTo>
                  <a:pt x="299062" y="106613"/>
                </a:lnTo>
                <a:lnTo>
                  <a:pt x="283740" y="109998"/>
                </a:lnTo>
                <a:lnTo>
                  <a:pt x="267356" y="112888"/>
                </a:lnTo>
                <a:lnTo>
                  <a:pt x="250016" y="115249"/>
                </a:lnTo>
                <a:lnTo>
                  <a:pt x="231824" y="117049"/>
                </a:lnTo>
                <a:lnTo>
                  <a:pt x="212887" y="118252"/>
                </a:lnTo>
                <a:lnTo>
                  <a:pt x="193309" y="118826"/>
                </a:lnTo>
                <a:lnTo>
                  <a:pt x="185927" y="118872"/>
                </a:lnTo>
                <a:lnTo>
                  <a:pt x="166139" y="118539"/>
                </a:lnTo>
                <a:lnTo>
                  <a:pt x="146953" y="117565"/>
                </a:lnTo>
                <a:lnTo>
                  <a:pt x="128474" y="115982"/>
                </a:lnTo>
                <a:lnTo>
                  <a:pt x="110806" y="113825"/>
                </a:lnTo>
                <a:lnTo>
                  <a:pt x="94057" y="111126"/>
                </a:lnTo>
                <a:lnTo>
                  <a:pt x="78329" y="107920"/>
                </a:lnTo>
                <a:lnTo>
                  <a:pt x="63730" y="104241"/>
                </a:lnTo>
                <a:lnTo>
                  <a:pt x="50363" y="100121"/>
                </a:lnTo>
                <a:lnTo>
                  <a:pt x="38334" y="95595"/>
                </a:lnTo>
                <a:lnTo>
                  <a:pt x="18710" y="85459"/>
                </a:lnTo>
                <a:lnTo>
                  <a:pt x="5699" y="74103"/>
                </a:lnTo>
                <a:lnTo>
                  <a:pt x="143" y="61794"/>
                </a:lnTo>
                <a:lnTo>
                  <a:pt x="0" y="59436"/>
                </a:lnTo>
                <a:lnTo>
                  <a:pt x="0" y="0"/>
                </a:lnTo>
                <a:lnTo>
                  <a:pt x="371855" y="0"/>
                </a:lnTo>
                <a:close/>
              </a:path>
            </a:pathLst>
          </a:custGeom>
          <a:ln w="9144">
            <a:solidFill>
              <a:srgbClr val="000000"/>
            </a:solidFill>
          </a:ln>
        </p:spPr>
        <p:txBody>
          <a:bodyPr wrap="square" lIns="0" tIns="0" rIns="0" bIns="0" rtlCol="0">
            <a:noAutofit/>
          </a:bodyPr>
          <a:lstStyle/>
          <a:p>
            <a:endParaRPr/>
          </a:p>
        </p:txBody>
      </p:sp>
      <p:sp>
        <p:nvSpPr>
          <p:cNvPr id="79" name="object 79"/>
          <p:cNvSpPr/>
          <p:nvPr/>
        </p:nvSpPr>
        <p:spPr>
          <a:xfrm>
            <a:off x="7289292" y="5859780"/>
            <a:ext cx="382524" cy="289559"/>
          </a:xfrm>
          <a:custGeom>
            <a:avLst/>
            <a:gdLst/>
            <a:ahLst/>
            <a:cxnLst/>
            <a:rect l="l" t="t" r="r" b="b"/>
            <a:pathLst>
              <a:path w="382524" h="289560">
                <a:moveTo>
                  <a:pt x="0" y="289560"/>
                </a:moveTo>
                <a:lnTo>
                  <a:pt x="382524" y="289560"/>
                </a:lnTo>
                <a:lnTo>
                  <a:pt x="382524" y="0"/>
                </a:lnTo>
                <a:lnTo>
                  <a:pt x="0" y="0"/>
                </a:lnTo>
                <a:lnTo>
                  <a:pt x="0" y="289560"/>
                </a:lnTo>
                <a:close/>
              </a:path>
            </a:pathLst>
          </a:custGeom>
          <a:solidFill>
            <a:srgbClr val="3366FF"/>
          </a:solidFill>
        </p:spPr>
        <p:txBody>
          <a:bodyPr wrap="square" lIns="0" tIns="0" rIns="0" bIns="0" rtlCol="0">
            <a:noAutofit/>
          </a:bodyPr>
          <a:lstStyle/>
          <a:p>
            <a:endParaRPr/>
          </a:p>
        </p:txBody>
      </p:sp>
      <p:sp>
        <p:nvSpPr>
          <p:cNvPr id="80" name="object 80"/>
          <p:cNvSpPr/>
          <p:nvPr/>
        </p:nvSpPr>
        <p:spPr>
          <a:xfrm>
            <a:off x="7289292" y="5859780"/>
            <a:ext cx="382524" cy="289559"/>
          </a:xfrm>
          <a:custGeom>
            <a:avLst/>
            <a:gdLst/>
            <a:ahLst/>
            <a:cxnLst/>
            <a:rect l="l" t="t" r="r" b="b"/>
            <a:pathLst>
              <a:path w="382524" h="289560">
                <a:moveTo>
                  <a:pt x="0" y="289560"/>
                </a:moveTo>
                <a:lnTo>
                  <a:pt x="382524" y="289560"/>
                </a:lnTo>
                <a:lnTo>
                  <a:pt x="382524" y="0"/>
                </a:lnTo>
                <a:lnTo>
                  <a:pt x="0" y="0"/>
                </a:lnTo>
                <a:lnTo>
                  <a:pt x="0" y="289560"/>
                </a:lnTo>
                <a:close/>
              </a:path>
            </a:pathLst>
          </a:custGeom>
          <a:ln w="9144">
            <a:solidFill>
              <a:srgbClr val="000000"/>
            </a:solidFill>
          </a:ln>
        </p:spPr>
        <p:txBody>
          <a:bodyPr wrap="square" lIns="0" tIns="0" rIns="0" bIns="0" rtlCol="0">
            <a:noAutofit/>
          </a:bodyPr>
          <a:lstStyle/>
          <a:p>
            <a:endParaRPr/>
          </a:p>
        </p:txBody>
      </p:sp>
      <p:sp>
        <p:nvSpPr>
          <p:cNvPr id="81" name="object 81"/>
          <p:cNvSpPr/>
          <p:nvPr/>
        </p:nvSpPr>
        <p:spPr>
          <a:xfrm>
            <a:off x="6946392" y="4860036"/>
            <a:ext cx="1004316" cy="428244"/>
          </a:xfrm>
          <a:custGeom>
            <a:avLst/>
            <a:gdLst/>
            <a:ahLst/>
            <a:cxnLst/>
            <a:rect l="l" t="t" r="r" b="b"/>
            <a:pathLst>
              <a:path w="1004316" h="428243">
                <a:moveTo>
                  <a:pt x="0" y="428244"/>
                </a:moveTo>
                <a:lnTo>
                  <a:pt x="1004316" y="428244"/>
                </a:lnTo>
                <a:lnTo>
                  <a:pt x="1004316" y="0"/>
                </a:lnTo>
                <a:lnTo>
                  <a:pt x="0" y="0"/>
                </a:lnTo>
                <a:lnTo>
                  <a:pt x="0" y="428244"/>
                </a:lnTo>
                <a:close/>
              </a:path>
            </a:pathLst>
          </a:custGeom>
          <a:solidFill>
            <a:srgbClr val="3366FF"/>
          </a:solidFill>
        </p:spPr>
        <p:txBody>
          <a:bodyPr wrap="square" lIns="0" tIns="0" rIns="0" bIns="0" rtlCol="0">
            <a:noAutofit/>
          </a:bodyPr>
          <a:lstStyle/>
          <a:p>
            <a:endParaRPr/>
          </a:p>
        </p:txBody>
      </p:sp>
      <p:sp>
        <p:nvSpPr>
          <p:cNvPr id="82" name="object 82"/>
          <p:cNvSpPr/>
          <p:nvPr/>
        </p:nvSpPr>
        <p:spPr>
          <a:xfrm>
            <a:off x="6946392" y="4860036"/>
            <a:ext cx="1004316" cy="428244"/>
          </a:xfrm>
          <a:custGeom>
            <a:avLst/>
            <a:gdLst/>
            <a:ahLst/>
            <a:cxnLst/>
            <a:rect l="l" t="t" r="r" b="b"/>
            <a:pathLst>
              <a:path w="1004316" h="428243">
                <a:moveTo>
                  <a:pt x="0" y="428244"/>
                </a:moveTo>
                <a:lnTo>
                  <a:pt x="1004316" y="428244"/>
                </a:lnTo>
                <a:lnTo>
                  <a:pt x="1004316" y="0"/>
                </a:lnTo>
                <a:lnTo>
                  <a:pt x="0" y="0"/>
                </a:lnTo>
                <a:lnTo>
                  <a:pt x="0" y="428244"/>
                </a:lnTo>
                <a:close/>
              </a:path>
            </a:pathLst>
          </a:custGeom>
          <a:ln w="9144">
            <a:solidFill>
              <a:srgbClr val="000066"/>
            </a:solidFill>
          </a:ln>
        </p:spPr>
        <p:txBody>
          <a:bodyPr wrap="square" lIns="0" tIns="0" rIns="0" bIns="0" rtlCol="0">
            <a:noAutofit/>
          </a:bodyPr>
          <a:lstStyle/>
          <a:p>
            <a:endParaRPr/>
          </a:p>
        </p:txBody>
      </p:sp>
      <p:sp>
        <p:nvSpPr>
          <p:cNvPr id="83" name="object 83"/>
          <p:cNvSpPr/>
          <p:nvPr/>
        </p:nvSpPr>
        <p:spPr>
          <a:xfrm>
            <a:off x="7135368" y="4861560"/>
            <a:ext cx="678179" cy="291083"/>
          </a:xfrm>
          <a:prstGeom prst="rect">
            <a:avLst/>
          </a:prstGeom>
          <a:blipFill>
            <a:blip r:embed="rId9" cstate="print"/>
            <a:stretch>
              <a:fillRect/>
            </a:stretch>
          </a:blipFill>
        </p:spPr>
        <p:txBody>
          <a:bodyPr wrap="square" lIns="0" tIns="0" rIns="0" bIns="0" rtlCol="0">
            <a:noAutofit/>
          </a:bodyPr>
          <a:lstStyle/>
          <a:p>
            <a:endParaRPr/>
          </a:p>
        </p:txBody>
      </p:sp>
      <p:sp>
        <p:nvSpPr>
          <p:cNvPr id="84" name="object 84"/>
          <p:cNvSpPr/>
          <p:nvPr/>
        </p:nvSpPr>
        <p:spPr>
          <a:xfrm>
            <a:off x="7095744" y="5013960"/>
            <a:ext cx="717803" cy="291083"/>
          </a:xfrm>
          <a:prstGeom prst="rect">
            <a:avLst/>
          </a:prstGeom>
          <a:blipFill>
            <a:blip r:embed="rId10" cstate="print"/>
            <a:stretch>
              <a:fillRect/>
            </a:stretch>
          </a:blipFill>
        </p:spPr>
        <p:txBody>
          <a:bodyPr wrap="square" lIns="0" tIns="0" rIns="0" bIns="0" rtlCol="0">
            <a:noAutofit/>
          </a:bodyPr>
          <a:lstStyle/>
          <a:p>
            <a:endParaRPr/>
          </a:p>
        </p:txBody>
      </p:sp>
      <p:sp>
        <p:nvSpPr>
          <p:cNvPr id="85" name="object 85"/>
          <p:cNvSpPr/>
          <p:nvPr/>
        </p:nvSpPr>
        <p:spPr>
          <a:xfrm>
            <a:off x="6297930" y="5542026"/>
            <a:ext cx="1097279" cy="0"/>
          </a:xfrm>
          <a:custGeom>
            <a:avLst/>
            <a:gdLst/>
            <a:ahLst/>
            <a:cxnLst/>
            <a:rect l="l" t="t" r="r" b="b"/>
            <a:pathLst>
              <a:path w="1097279">
                <a:moveTo>
                  <a:pt x="0" y="0"/>
                </a:moveTo>
                <a:lnTo>
                  <a:pt x="1097279" y="0"/>
                </a:lnTo>
              </a:path>
            </a:pathLst>
          </a:custGeom>
          <a:ln w="28956">
            <a:solidFill>
              <a:srgbClr val="000066"/>
            </a:solidFill>
          </a:ln>
        </p:spPr>
        <p:txBody>
          <a:bodyPr wrap="square" lIns="0" tIns="0" rIns="0" bIns="0" rtlCol="0">
            <a:noAutofit/>
          </a:bodyPr>
          <a:lstStyle/>
          <a:p>
            <a:endParaRPr/>
          </a:p>
        </p:txBody>
      </p:sp>
      <p:sp>
        <p:nvSpPr>
          <p:cNvPr id="86" name="object 86"/>
          <p:cNvSpPr/>
          <p:nvPr/>
        </p:nvSpPr>
        <p:spPr>
          <a:xfrm>
            <a:off x="6266688" y="5542026"/>
            <a:ext cx="86867" cy="195072"/>
          </a:xfrm>
          <a:custGeom>
            <a:avLst/>
            <a:gdLst/>
            <a:ahLst/>
            <a:cxnLst/>
            <a:rect l="l" t="t" r="r" b="b"/>
            <a:pathLst>
              <a:path w="86867" h="195072">
                <a:moveTo>
                  <a:pt x="28956" y="108203"/>
                </a:moveTo>
                <a:lnTo>
                  <a:pt x="0" y="108204"/>
                </a:lnTo>
                <a:lnTo>
                  <a:pt x="43434" y="195072"/>
                </a:lnTo>
                <a:lnTo>
                  <a:pt x="86867" y="108204"/>
                </a:lnTo>
                <a:lnTo>
                  <a:pt x="57911" y="108204"/>
                </a:lnTo>
                <a:lnTo>
                  <a:pt x="57912" y="122682"/>
                </a:lnTo>
                <a:lnTo>
                  <a:pt x="28956" y="122682"/>
                </a:lnTo>
                <a:lnTo>
                  <a:pt x="28956" y="108203"/>
                </a:lnTo>
                <a:close/>
              </a:path>
              <a:path w="86867" h="195072">
                <a:moveTo>
                  <a:pt x="28956" y="122682"/>
                </a:moveTo>
                <a:lnTo>
                  <a:pt x="57912" y="122682"/>
                </a:lnTo>
                <a:lnTo>
                  <a:pt x="57912" y="0"/>
                </a:lnTo>
                <a:lnTo>
                  <a:pt x="28956" y="0"/>
                </a:lnTo>
                <a:lnTo>
                  <a:pt x="28956" y="122682"/>
                </a:lnTo>
                <a:close/>
              </a:path>
            </a:pathLst>
          </a:custGeom>
          <a:solidFill>
            <a:srgbClr val="000066"/>
          </a:solidFill>
        </p:spPr>
        <p:txBody>
          <a:bodyPr wrap="square" lIns="0" tIns="0" rIns="0" bIns="0" rtlCol="0">
            <a:noAutofit/>
          </a:bodyPr>
          <a:lstStyle/>
          <a:p>
            <a:endParaRPr/>
          </a:p>
        </p:txBody>
      </p:sp>
      <p:sp>
        <p:nvSpPr>
          <p:cNvPr id="87" name="object 87"/>
          <p:cNvSpPr/>
          <p:nvPr/>
        </p:nvSpPr>
        <p:spPr>
          <a:xfrm>
            <a:off x="6768083" y="5542026"/>
            <a:ext cx="86868" cy="195072"/>
          </a:xfrm>
          <a:custGeom>
            <a:avLst/>
            <a:gdLst/>
            <a:ahLst/>
            <a:cxnLst/>
            <a:rect l="l" t="t" r="r" b="b"/>
            <a:pathLst>
              <a:path w="86868" h="195072">
                <a:moveTo>
                  <a:pt x="28956" y="108203"/>
                </a:moveTo>
                <a:lnTo>
                  <a:pt x="0" y="108204"/>
                </a:lnTo>
                <a:lnTo>
                  <a:pt x="43434" y="195072"/>
                </a:lnTo>
                <a:lnTo>
                  <a:pt x="86868" y="108204"/>
                </a:lnTo>
                <a:lnTo>
                  <a:pt x="57911" y="108204"/>
                </a:lnTo>
                <a:lnTo>
                  <a:pt x="57912" y="122682"/>
                </a:lnTo>
                <a:lnTo>
                  <a:pt x="28956" y="122682"/>
                </a:lnTo>
                <a:lnTo>
                  <a:pt x="28956" y="108203"/>
                </a:lnTo>
                <a:close/>
              </a:path>
              <a:path w="86868" h="195072">
                <a:moveTo>
                  <a:pt x="28956" y="122682"/>
                </a:moveTo>
                <a:lnTo>
                  <a:pt x="57912" y="122682"/>
                </a:lnTo>
                <a:lnTo>
                  <a:pt x="57912" y="0"/>
                </a:lnTo>
                <a:lnTo>
                  <a:pt x="28956" y="0"/>
                </a:lnTo>
                <a:lnTo>
                  <a:pt x="28956" y="122682"/>
                </a:lnTo>
                <a:close/>
              </a:path>
            </a:pathLst>
          </a:custGeom>
          <a:solidFill>
            <a:srgbClr val="000066"/>
          </a:solidFill>
        </p:spPr>
        <p:txBody>
          <a:bodyPr wrap="square" lIns="0" tIns="0" rIns="0" bIns="0" rtlCol="0">
            <a:noAutofit/>
          </a:bodyPr>
          <a:lstStyle/>
          <a:p>
            <a:endParaRPr/>
          </a:p>
        </p:txBody>
      </p:sp>
      <p:sp>
        <p:nvSpPr>
          <p:cNvPr id="88" name="object 88"/>
          <p:cNvSpPr/>
          <p:nvPr/>
        </p:nvSpPr>
        <p:spPr>
          <a:xfrm>
            <a:off x="7333488" y="5542026"/>
            <a:ext cx="86867" cy="327660"/>
          </a:xfrm>
          <a:custGeom>
            <a:avLst/>
            <a:gdLst/>
            <a:ahLst/>
            <a:cxnLst/>
            <a:rect l="l" t="t" r="r" b="b"/>
            <a:pathLst>
              <a:path w="86867" h="327660">
                <a:moveTo>
                  <a:pt x="28956" y="240791"/>
                </a:moveTo>
                <a:lnTo>
                  <a:pt x="0" y="240792"/>
                </a:lnTo>
                <a:lnTo>
                  <a:pt x="43433" y="327660"/>
                </a:lnTo>
                <a:lnTo>
                  <a:pt x="86867" y="240792"/>
                </a:lnTo>
                <a:lnTo>
                  <a:pt x="57911" y="240792"/>
                </a:lnTo>
                <a:lnTo>
                  <a:pt x="57911" y="255270"/>
                </a:lnTo>
                <a:lnTo>
                  <a:pt x="28955" y="255270"/>
                </a:lnTo>
                <a:lnTo>
                  <a:pt x="28956" y="240791"/>
                </a:lnTo>
                <a:close/>
              </a:path>
              <a:path w="86867" h="327660">
                <a:moveTo>
                  <a:pt x="28955" y="255270"/>
                </a:moveTo>
                <a:lnTo>
                  <a:pt x="57911" y="255270"/>
                </a:lnTo>
                <a:lnTo>
                  <a:pt x="57911" y="0"/>
                </a:lnTo>
                <a:lnTo>
                  <a:pt x="28955" y="0"/>
                </a:lnTo>
                <a:lnTo>
                  <a:pt x="28955" y="255270"/>
                </a:lnTo>
                <a:close/>
              </a:path>
            </a:pathLst>
          </a:custGeom>
          <a:solidFill>
            <a:srgbClr val="000066"/>
          </a:solidFill>
        </p:spPr>
        <p:txBody>
          <a:bodyPr wrap="square" lIns="0" tIns="0" rIns="0" bIns="0" rtlCol="0">
            <a:noAutofit/>
          </a:bodyPr>
          <a:lstStyle/>
          <a:p>
            <a:endParaRPr/>
          </a:p>
        </p:txBody>
      </p:sp>
      <p:sp>
        <p:nvSpPr>
          <p:cNvPr id="89" name="object 89"/>
          <p:cNvSpPr/>
          <p:nvPr/>
        </p:nvSpPr>
        <p:spPr>
          <a:xfrm>
            <a:off x="7040880" y="5289042"/>
            <a:ext cx="86868" cy="252984"/>
          </a:xfrm>
          <a:custGeom>
            <a:avLst/>
            <a:gdLst/>
            <a:ahLst/>
            <a:cxnLst/>
            <a:rect l="l" t="t" r="r" b="b"/>
            <a:pathLst>
              <a:path w="86868" h="252984">
                <a:moveTo>
                  <a:pt x="28956" y="166115"/>
                </a:moveTo>
                <a:lnTo>
                  <a:pt x="0" y="166116"/>
                </a:lnTo>
                <a:lnTo>
                  <a:pt x="43434" y="252984"/>
                </a:lnTo>
                <a:lnTo>
                  <a:pt x="86868" y="166116"/>
                </a:lnTo>
                <a:lnTo>
                  <a:pt x="57911" y="166116"/>
                </a:lnTo>
                <a:lnTo>
                  <a:pt x="57912" y="180594"/>
                </a:lnTo>
                <a:lnTo>
                  <a:pt x="28955" y="180594"/>
                </a:lnTo>
                <a:lnTo>
                  <a:pt x="28956" y="166115"/>
                </a:lnTo>
                <a:close/>
              </a:path>
              <a:path w="86868" h="252984">
                <a:moveTo>
                  <a:pt x="28955" y="180594"/>
                </a:moveTo>
                <a:lnTo>
                  <a:pt x="57912" y="180594"/>
                </a:lnTo>
                <a:lnTo>
                  <a:pt x="57912" y="0"/>
                </a:lnTo>
                <a:lnTo>
                  <a:pt x="28955" y="0"/>
                </a:lnTo>
                <a:lnTo>
                  <a:pt x="28955" y="180594"/>
                </a:lnTo>
                <a:close/>
              </a:path>
            </a:pathLst>
          </a:custGeom>
          <a:solidFill>
            <a:srgbClr val="000066"/>
          </a:solidFill>
        </p:spPr>
        <p:txBody>
          <a:bodyPr wrap="square" lIns="0" tIns="0" rIns="0" bIns="0" rtlCol="0">
            <a:noAutofit/>
          </a:bodyPr>
          <a:lstStyle/>
          <a:p>
            <a:endParaRPr/>
          </a:p>
        </p:txBody>
      </p:sp>
      <p:sp>
        <p:nvSpPr>
          <p:cNvPr id="90" name="object 90"/>
          <p:cNvSpPr/>
          <p:nvPr/>
        </p:nvSpPr>
        <p:spPr>
          <a:xfrm>
            <a:off x="7523988" y="5289042"/>
            <a:ext cx="86867" cy="562356"/>
          </a:xfrm>
          <a:custGeom>
            <a:avLst/>
            <a:gdLst/>
            <a:ahLst/>
            <a:cxnLst/>
            <a:rect l="l" t="t" r="r" b="b"/>
            <a:pathLst>
              <a:path w="86867" h="562356">
                <a:moveTo>
                  <a:pt x="28956" y="475487"/>
                </a:moveTo>
                <a:lnTo>
                  <a:pt x="0" y="475488"/>
                </a:lnTo>
                <a:lnTo>
                  <a:pt x="43433" y="562356"/>
                </a:lnTo>
                <a:lnTo>
                  <a:pt x="86867" y="475488"/>
                </a:lnTo>
                <a:lnTo>
                  <a:pt x="57911" y="475488"/>
                </a:lnTo>
                <a:lnTo>
                  <a:pt x="57911" y="489966"/>
                </a:lnTo>
                <a:lnTo>
                  <a:pt x="28955" y="489966"/>
                </a:lnTo>
                <a:lnTo>
                  <a:pt x="28956" y="475487"/>
                </a:lnTo>
                <a:close/>
              </a:path>
              <a:path w="86867" h="562356">
                <a:moveTo>
                  <a:pt x="28955" y="489966"/>
                </a:moveTo>
                <a:lnTo>
                  <a:pt x="57911" y="489966"/>
                </a:lnTo>
                <a:lnTo>
                  <a:pt x="57911" y="0"/>
                </a:lnTo>
                <a:lnTo>
                  <a:pt x="28955" y="0"/>
                </a:lnTo>
                <a:lnTo>
                  <a:pt x="28955" y="489966"/>
                </a:lnTo>
                <a:close/>
              </a:path>
            </a:pathLst>
          </a:custGeom>
          <a:solidFill>
            <a:srgbClr val="000066"/>
          </a:solidFill>
        </p:spPr>
        <p:txBody>
          <a:bodyPr wrap="square" lIns="0" tIns="0" rIns="0" bIns="0" rtlCol="0">
            <a:noAutofit/>
          </a:bodyPr>
          <a:lstStyle/>
          <a:p>
            <a:endParaRPr/>
          </a:p>
        </p:txBody>
      </p:sp>
      <p:sp>
        <p:nvSpPr>
          <p:cNvPr id="91" name="object 91"/>
          <p:cNvSpPr/>
          <p:nvPr/>
        </p:nvSpPr>
        <p:spPr>
          <a:xfrm>
            <a:off x="5097018" y="6030468"/>
            <a:ext cx="1022604" cy="57911"/>
          </a:xfrm>
          <a:custGeom>
            <a:avLst/>
            <a:gdLst/>
            <a:ahLst/>
            <a:cxnLst/>
            <a:rect l="l" t="t" r="r" b="b"/>
            <a:pathLst>
              <a:path w="1022604" h="57912">
                <a:moveTo>
                  <a:pt x="86868" y="28955"/>
                </a:moveTo>
                <a:lnTo>
                  <a:pt x="1022604" y="28955"/>
                </a:lnTo>
                <a:lnTo>
                  <a:pt x="1022604" y="0"/>
                </a:lnTo>
                <a:lnTo>
                  <a:pt x="72390" y="0"/>
                </a:lnTo>
                <a:lnTo>
                  <a:pt x="72390" y="28955"/>
                </a:lnTo>
                <a:lnTo>
                  <a:pt x="86868" y="28955"/>
                </a:lnTo>
                <a:close/>
              </a:path>
              <a:path w="1022604" h="57912">
                <a:moveTo>
                  <a:pt x="86868" y="0"/>
                </a:moveTo>
                <a:lnTo>
                  <a:pt x="86868" y="-28956"/>
                </a:lnTo>
                <a:lnTo>
                  <a:pt x="0" y="14477"/>
                </a:lnTo>
                <a:lnTo>
                  <a:pt x="86868" y="57911"/>
                </a:lnTo>
                <a:lnTo>
                  <a:pt x="86868" y="28955"/>
                </a:lnTo>
                <a:lnTo>
                  <a:pt x="72390" y="28955"/>
                </a:lnTo>
                <a:lnTo>
                  <a:pt x="72390" y="0"/>
                </a:lnTo>
                <a:lnTo>
                  <a:pt x="86868" y="0"/>
                </a:lnTo>
                <a:close/>
              </a:path>
            </a:pathLst>
          </a:custGeom>
          <a:solidFill>
            <a:srgbClr val="000066"/>
          </a:solidFill>
        </p:spPr>
        <p:txBody>
          <a:bodyPr wrap="square" lIns="0" tIns="0" rIns="0" bIns="0" rtlCol="0">
            <a:noAutofit/>
          </a:bodyPr>
          <a:lstStyle/>
          <a:p>
            <a:endParaRPr/>
          </a:p>
        </p:txBody>
      </p:sp>
      <p:sp>
        <p:nvSpPr>
          <p:cNvPr id="92" name="object 92"/>
          <p:cNvSpPr/>
          <p:nvPr/>
        </p:nvSpPr>
        <p:spPr>
          <a:xfrm>
            <a:off x="4549902" y="6012180"/>
            <a:ext cx="210312" cy="57912"/>
          </a:xfrm>
          <a:custGeom>
            <a:avLst/>
            <a:gdLst/>
            <a:ahLst/>
            <a:cxnLst/>
            <a:rect l="l" t="t" r="r" b="b"/>
            <a:pathLst>
              <a:path w="210312" h="57912">
                <a:moveTo>
                  <a:pt x="86868" y="28955"/>
                </a:moveTo>
                <a:lnTo>
                  <a:pt x="210312" y="28956"/>
                </a:lnTo>
                <a:lnTo>
                  <a:pt x="210312" y="0"/>
                </a:lnTo>
                <a:lnTo>
                  <a:pt x="72389" y="0"/>
                </a:lnTo>
                <a:lnTo>
                  <a:pt x="72389" y="28956"/>
                </a:lnTo>
                <a:lnTo>
                  <a:pt x="86868" y="28955"/>
                </a:lnTo>
                <a:close/>
              </a:path>
              <a:path w="210312" h="57912">
                <a:moveTo>
                  <a:pt x="86868" y="0"/>
                </a:moveTo>
                <a:lnTo>
                  <a:pt x="86868" y="-28955"/>
                </a:lnTo>
                <a:lnTo>
                  <a:pt x="0" y="14478"/>
                </a:lnTo>
                <a:lnTo>
                  <a:pt x="86868" y="57912"/>
                </a:lnTo>
                <a:lnTo>
                  <a:pt x="86868" y="28955"/>
                </a:lnTo>
                <a:lnTo>
                  <a:pt x="72389" y="28956"/>
                </a:lnTo>
                <a:lnTo>
                  <a:pt x="72389" y="0"/>
                </a:lnTo>
                <a:lnTo>
                  <a:pt x="86868" y="0"/>
                </a:lnTo>
                <a:close/>
              </a:path>
            </a:pathLst>
          </a:custGeom>
          <a:solidFill>
            <a:srgbClr val="000066"/>
          </a:solidFill>
        </p:spPr>
        <p:txBody>
          <a:bodyPr wrap="square" lIns="0" tIns="0" rIns="0" bIns="0" rtlCol="0">
            <a:noAutofit/>
          </a:bodyPr>
          <a:lstStyle/>
          <a:p>
            <a:endParaRPr/>
          </a:p>
        </p:txBody>
      </p:sp>
      <p:sp>
        <p:nvSpPr>
          <p:cNvPr id="93" name="object 93"/>
          <p:cNvSpPr/>
          <p:nvPr/>
        </p:nvSpPr>
        <p:spPr>
          <a:xfrm>
            <a:off x="4341876" y="5191506"/>
            <a:ext cx="86868" cy="659891"/>
          </a:xfrm>
          <a:custGeom>
            <a:avLst/>
            <a:gdLst/>
            <a:ahLst/>
            <a:cxnLst/>
            <a:rect l="l" t="t" r="r" b="b"/>
            <a:pathLst>
              <a:path w="86868" h="659891">
                <a:moveTo>
                  <a:pt x="28956" y="659892"/>
                </a:moveTo>
                <a:lnTo>
                  <a:pt x="57912" y="659892"/>
                </a:lnTo>
                <a:lnTo>
                  <a:pt x="57912" y="72390"/>
                </a:lnTo>
                <a:lnTo>
                  <a:pt x="86868" y="86868"/>
                </a:lnTo>
                <a:lnTo>
                  <a:pt x="43434" y="0"/>
                </a:lnTo>
                <a:lnTo>
                  <a:pt x="28956" y="72390"/>
                </a:lnTo>
                <a:lnTo>
                  <a:pt x="28956" y="659892"/>
                </a:lnTo>
                <a:close/>
              </a:path>
              <a:path w="86868" h="659891">
                <a:moveTo>
                  <a:pt x="28956" y="72390"/>
                </a:moveTo>
                <a:lnTo>
                  <a:pt x="43434" y="0"/>
                </a:lnTo>
                <a:lnTo>
                  <a:pt x="0" y="86868"/>
                </a:lnTo>
                <a:lnTo>
                  <a:pt x="28956" y="86867"/>
                </a:lnTo>
                <a:lnTo>
                  <a:pt x="28956" y="72390"/>
                </a:lnTo>
                <a:close/>
              </a:path>
              <a:path w="86868" h="659891">
                <a:moveTo>
                  <a:pt x="86868" y="86868"/>
                </a:moveTo>
                <a:lnTo>
                  <a:pt x="57912" y="72390"/>
                </a:lnTo>
                <a:lnTo>
                  <a:pt x="57912" y="86867"/>
                </a:lnTo>
                <a:lnTo>
                  <a:pt x="86868" y="86868"/>
                </a:lnTo>
                <a:close/>
              </a:path>
            </a:pathLst>
          </a:custGeom>
          <a:solidFill>
            <a:srgbClr val="000066"/>
          </a:solidFill>
        </p:spPr>
        <p:txBody>
          <a:bodyPr wrap="square" lIns="0" tIns="0" rIns="0" bIns="0" rtlCol="0">
            <a:noAutofit/>
          </a:bodyPr>
          <a:lstStyle/>
          <a:p>
            <a:endParaRPr/>
          </a:p>
        </p:txBody>
      </p:sp>
      <p:sp>
        <p:nvSpPr>
          <p:cNvPr id="94" name="object 94"/>
          <p:cNvSpPr/>
          <p:nvPr/>
        </p:nvSpPr>
        <p:spPr>
          <a:xfrm>
            <a:off x="5355336" y="5084826"/>
            <a:ext cx="86867" cy="342900"/>
          </a:xfrm>
          <a:custGeom>
            <a:avLst/>
            <a:gdLst/>
            <a:ahLst/>
            <a:cxnLst/>
            <a:rect l="l" t="t" r="r" b="b"/>
            <a:pathLst>
              <a:path w="86867" h="342900">
                <a:moveTo>
                  <a:pt x="28955" y="342900"/>
                </a:moveTo>
                <a:lnTo>
                  <a:pt x="57912" y="342900"/>
                </a:lnTo>
                <a:lnTo>
                  <a:pt x="57912" y="72390"/>
                </a:lnTo>
                <a:lnTo>
                  <a:pt x="86867" y="86868"/>
                </a:lnTo>
                <a:lnTo>
                  <a:pt x="43434" y="0"/>
                </a:lnTo>
                <a:lnTo>
                  <a:pt x="28955" y="72390"/>
                </a:lnTo>
                <a:lnTo>
                  <a:pt x="28955" y="342900"/>
                </a:lnTo>
                <a:close/>
              </a:path>
              <a:path w="86867" h="342900">
                <a:moveTo>
                  <a:pt x="28955" y="72390"/>
                </a:moveTo>
                <a:lnTo>
                  <a:pt x="43434" y="0"/>
                </a:lnTo>
                <a:lnTo>
                  <a:pt x="0" y="86868"/>
                </a:lnTo>
                <a:lnTo>
                  <a:pt x="28955" y="86868"/>
                </a:lnTo>
                <a:lnTo>
                  <a:pt x="28955" y="72390"/>
                </a:lnTo>
                <a:close/>
              </a:path>
              <a:path w="86867" h="342900">
                <a:moveTo>
                  <a:pt x="86867" y="86868"/>
                </a:moveTo>
                <a:lnTo>
                  <a:pt x="57912" y="72390"/>
                </a:lnTo>
                <a:lnTo>
                  <a:pt x="57911" y="86868"/>
                </a:lnTo>
                <a:lnTo>
                  <a:pt x="86867" y="86868"/>
                </a:lnTo>
                <a:close/>
              </a:path>
            </a:pathLst>
          </a:custGeom>
          <a:solidFill>
            <a:srgbClr val="000066"/>
          </a:solidFill>
        </p:spPr>
        <p:txBody>
          <a:bodyPr wrap="square" lIns="0" tIns="0" rIns="0" bIns="0" rtlCol="0">
            <a:noAutofit/>
          </a:bodyPr>
          <a:lstStyle/>
          <a:p>
            <a:endParaRPr/>
          </a:p>
        </p:txBody>
      </p:sp>
      <p:sp>
        <p:nvSpPr>
          <p:cNvPr id="95" name="object 95"/>
          <p:cNvSpPr/>
          <p:nvPr/>
        </p:nvSpPr>
        <p:spPr>
          <a:xfrm>
            <a:off x="2308860" y="4945380"/>
            <a:ext cx="153923" cy="68580"/>
          </a:xfrm>
          <a:custGeom>
            <a:avLst/>
            <a:gdLst/>
            <a:ahLst/>
            <a:cxnLst/>
            <a:rect l="l" t="t" r="r" b="b"/>
            <a:pathLst>
              <a:path w="153923" h="68579">
                <a:moveTo>
                  <a:pt x="95556" y="1006"/>
                </a:moveTo>
                <a:lnTo>
                  <a:pt x="76962" y="0"/>
                </a:lnTo>
                <a:lnTo>
                  <a:pt x="65005" y="411"/>
                </a:lnTo>
                <a:lnTo>
                  <a:pt x="47393" y="2620"/>
                </a:lnTo>
                <a:lnTo>
                  <a:pt x="31772" y="6529"/>
                </a:lnTo>
                <a:lnTo>
                  <a:pt x="18682" y="11892"/>
                </a:lnTo>
                <a:lnTo>
                  <a:pt x="8663" y="18469"/>
                </a:lnTo>
                <a:lnTo>
                  <a:pt x="2255" y="26015"/>
                </a:lnTo>
                <a:lnTo>
                  <a:pt x="0" y="34290"/>
                </a:lnTo>
                <a:lnTo>
                  <a:pt x="0" y="68580"/>
                </a:lnTo>
                <a:lnTo>
                  <a:pt x="153923" y="68580"/>
                </a:lnTo>
                <a:lnTo>
                  <a:pt x="153923" y="34290"/>
                </a:lnTo>
                <a:lnTo>
                  <a:pt x="153003" y="28970"/>
                </a:lnTo>
                <a:lnTo>
                  <a:pt x="148051" y="21129"/>
                </a:lnTo>
                <a:lnTo>
                  <a:pt x="139290" y="14170"/>
                </a:lnTo>
                <a:lnTo>
                  <a:pt x="127261" y="8334"/>
                </a:lnTo>
                <a:lnTo>
                  <a:pt x="112503" y="3866"/>
                </a:lnTo>
                <a:lnTo>
                  <a:pt x="95556" y="1006"/>
                </a:lnTo>
                <a:close/>
              </a:path>
            </a:pathLst>
          </a:custGeom>
          <a:solidFill>
            <a:srgbClr val="6666FF"/>
          </a:solidFill>
        </p:spPr>
        <p:txBody>
          <a:bodyPr wrap="square" lIns="0" tIns="0" rIns="0" bIns="0" rtlCol="0">
            <a:noAutofit/>
          </a:bodyPr>
          <a:lstStyle/>
          <a:p>
            <a:endParaRPr/>
          </a:p>
        </p:txBody>
      </p:sp>
      <p:sp>
        <p:nvSpPr>
          <p:cNvPr id="96" name="object 96"/>
          <p:cNvSpPr/>
          <p:nvPr/>
        </p:nvSpPr>
        <p:spPr>
          <a:xfrm>
            <a:off x="2308860" y="4945380"/>
            <a:ext cx="153923" cy="68580"/>
          </a:xfrm>
          <a:custGeom>
            <a:avLst/>
            <a:gdLst/>
            <a:ahLst/>
            <a:cxnLst/>
            <a:rect l="l" t="t" r="r" b="b"/>
            <a:pathLst>
              <a:path w="153923" h="68579">
                <a:moveTo>
                  <a:pt x="95556" y="1006"/>
                </a:moveTo>
                <a:lnTo>
                  <a:pt x="112503" y="3866"/>
                </a:lnTo>
                <a:lnTo>
                  <a:pt x="127261" y="8334"/>
                </a:lnTo>
                <a:lnTo>
                  <a:pt x="139290" y="14170"/>
                </a:lnTo>
                <a:lnTo>
                  <a:pt x="148051" y="21129"/>
                </a:lnTo>
                <a:lnTo>
                  <a:pt x="153003" y="28970"/>
                </a:lnTo>
                <a:lnTo>
                  <a:pt x="153923" y="34290"/>
                </a:lnTo>
                <a:lnTo>
                  <a:pt x="153923" y="68580"/>
                </a:lnTo>
                <a:lnTo>
                  <a:pt x="0" y="68580"/>
                </a:lnTo>
                <a:lnTo>
                  <a:pt x="0" y="34290"/>
                </a:lnTo>
                <a:lnTo>
                  <a:pt x="2255" y="26015"/>
                </a:lnTo>
                <a:lnTo>
                  <a:pt x="8663" y="18469"/>
                </a:lnTo>
                <a:lnTo>
                  <a:pt x="18682" y="11892"/>
                </a:lnTo>
                <a:lnTo>
                  <a:pt x="31772" y="6529"/>
                </a:lnTo>
                <a:lnTo>
                  <a:pt x="47393" y="2620"/>
                </a:lnTo>
                <a:lnTo>
                  <a:pt x="65005" y="411"/>
                </a:lnTo>
                <a:lnTo>
                  <a:pt x="76962" y="0"/>
                </a:lnTo>
                <a:lnTo>
                  <a:pt x="95556" y="1006"/>
                </a:lnTo>
                <a:close/>
              </a:path>
            </a:pathLst>
          </a:custGeom>
          <a:ln w="9144">
            <a:solidFill>
              <a:srgbClr val="000000"/>
            </a:solidFill>
          </a:ln>
        </p:spPr>
        <p:txBody>
          <a:bodyPr wrap="square" lIns="0" tIns="0" rIns="0" bIns="0" rtlCol="0">
            <a:noAutofit/>
          </a:bodyPr>
          <a:lstStyle/>
          <a:p>
            <a:endParaRPr/>
          </a:p>
        </p:txBody>
      </p:sp>
      <p:sp>
        <p:nvSpPr>
          <p:cNvPr id="97" name="object 97"/>
          <p:cNvSpPr/>
          <p:nvPr/>
        </p:nvSpPr>
        <p:spPr>
          <a:xfrm>
            <a:off x="2308860" y="5013960"/>
            <a:ext cx="152400" cy="199644"/>
          </a:xfrm>
          <a:custGeom>
            <a:avLst/>
            <a:gdLst/>
            <a:ahLst/>
            <a:cxnLst/>
            <a:rect l="l" t="t" r="r" b="b"/>
            <a:pathLst>
              <a:path w="152400" h="199643">
                <a:moveTo>
                  <a:pt x="0" y="199644"/>
                </a:moveTo>
                <a:lnTo>
                  <a:pt x="152400" y="199644"/>
                </a:lnTo>
                <a:lnTo>
                  <a:pt x="152400" y="0"/>
                </a:lnTo>
                <a:lnTo>
                  <a:pt x="0" y="0"/>
                </a:lnTo>
                <a:lnTo>
                  <a:pt x="0" y="199644"/>
                </a:lnTo>
                <a:close/>
              </a:path>
            </a:pathLst>
          </a:custGeom>
          <a:solidFill>
            <a:srgbClr val="6666FF"/>
          </a:solidFill>
        </p:spPr>
        <p:txBody>
          <a:bodyPr wrap="square" lIns="0" tIns="0" rIns="0" bIns="0" rtlCol="0">
            <a:noAutofit/>
          </a:bodyPr>
          <a:lstStyle/>
          <a:p>
            <a:endParaRPr/>
          </a:p>
        </p:txBody>
      </p:sp>
      <p:sp>
        <p:nvSpPr>
          <p:cNvPr id="98" name="object 98"/>
          <p:cNvSpPr/>
          <p:nvPr/>
        </p:nvSpPr>
        <p:spPr>
          <a:xfrm>
            <a:off x="2308860" y="5013960"/>
            <a:ext cx="152400" cy="199644"/>
          </a:xfrm>
          <a:custGeom>
            <a:avLst/>
            <a:gdLst/>
            <a:ahLst/>
            <a:cxnLst/>
            <a:rect l="l" t="t" r="r" b="b"/>
            <a:pathLst>
              <a:path w="152400" h="199643">
                <a:moveTo>
                  <a:pt x="0" y="199644"/>
                </a:moveTo>
                <a:lnTo>
                  <a:pt x="152400" y="199644"/>
                </a:lnTo>
                <a:lnTo>
                  <a:pt x="152400" y="0"/>
                </a:lnTo>
                <a:lnTo>
                  <a:pt x="0" y="0"/>
                </a:lnTo>
                <a:lnTo>
                  <a:pt x="0" y="199644"/>
                </a:lnTo>
                <a:close/>
              </a:path>
            </a:pathLst>
          </a:custGeom>
          <a:ln w="9144">
            <a:solidFill>
              <a:srgbClr val="000000"/>
            </a:solidFill>
          </a:ln>
        </p:spPr>
        <p:txBody>
          <a:bodyPr wrap="square" lIns="0" tIns="0" rIns="0" bIns="0" rtlCol="0">
            <a:noAutofit/>
          </a:bodyPr>
          <a:lstStyle/>
          <a:p>
            <a:endParaRPr/>
          </a:p>
        </p:txBody>
      </p:sp>
      <p:sp>
        <p:nvSpPr>
          <p:cNvPr id="99" name="object 99"/>
          <p:cNvSpPr/>
          <p:nvPr/>
        </p:nvSpPr>
        <p:spPr>
          <a:xfrm>
            <a:off x="2308860" y="5209032"/>
            <a:ext cx="153923" cy="70104"/>
          </a:xfrm>
          <a:custGeom>
            <a:avLst/>
            <a:gdLst/>
            <a:ahLst/>
            <a:cxnLst/>
            <a:rect l="l" t="t" r="r" b="b"/>
            <a:pathLst>
              <a:path w="153923" h="70103">
                <a:moveTo>
                  <a:pt x="153923" y="0"/>
                </a:moveTo>
                <a:lnTo>
                  <a:pt x="0" y="0"/>
                </a:lnTo>
                <a:lnTo>
                  <a:pt x="0" y="35052"/>
                </a:lnTo>
                <a:lnTo>
                  <a:pt x="985" y="40666"/>
                </a:lnTo>
                <a:lnTo>
                  <a:pt x="6001" y="48628"/>
                </a:lnTo>
                <a:lnTo>
                  <a:pt x="14788" y="55699"/>
                </a:lnTo>
                <a:lnTo>
                  <a:pt x="26812" y="61629"/>
                </a:lnTo>
                <a:lnTo>
                  <a:pt x="41538" y="66172"/>
                </a:lnTo>
                <a:lnTo>
                  <a:pt x="58433" y="69079"/>
                </a:lnTo>
                <a:lnTo>
                  <a:pt x="76962" y="70104"/>
                </a:lnTo>
                <a:lnTo>
                  <a:pt x="89327" y="69653"/>
                </a:lnTo>
                <a:lnTo>
                  <a:pt x="106839" y="67360"/>
                </a:lnTo>
                <a:lnTo>
                  <a:pt x="122365" y="63347"/>
                </a:lnTo>
                <a:lnTo>
                  <a:pt x="135370" y="57862"/>
                </a:lnTo>
                <a:lnTo>
                  <a:pt x="145322" y="51153"/>
                </a:lnTo>
                <a:lnTo>
                  <a:pt x="151684" y="43467"/>
                </a:lnTo>
                <a:lnTo>
                  <a:pt x="153923" y="35052"/>
                </a:lnTo>
                <a:lnTo>
                  <a:pt x="153923" y="0"/>
                </a:lnTo>
                <a:close/>
              </a:path>
            </a:pathLst>
          </a:custGeom>
          <a:solidFill>
            <a:srgbClr val="6666FF"/>
          </a:solidFill>
        </p:spPr>
        <p:txBody>
          <a:bodyPr wrap="square" lIns="0" tIns="0" rIns="0" bIns="0" rtlCol="0">
            <a:noAutofit/>
          </a:bodyPr>
          <a:lstStyle/>
          <a:p>
            <a:endParaRPr/>
          </a:p>
        </p:txBody>
      </p:sp>
      <p:sp>
        <p:nvSpPr>
          <p:cNvPr id="100" name="object 100"/>
          <p:cNvSpPr/>
          <p:nvPr/>
        </p:nvSpPr>
        <p:spPr>
          <a:xfrm>
            <a:off x="2308860" y="5209032"/>
            <a:ext cx="153923" cy="70104"/>
          </a:xfrm>
          <a:custGeom>
            <a:avLst/>
            <a:gdLst/>
            <a:ahLst/>
            <a:cxnLst/>
            <a:rect l="l" t="t" r="r" b="b"/>
            <a:pathLst>
              <a:path w="153923" h="70103">
                <a:moveTo>
                  <a:pt x="153923" y="0"/>
                </a:moveTo>
                <a:lnTo>
                  <a:pt x="153923" y="35052"/>
                </a:lnTo>
                <a:lnTo>
                  <a:pt x="151684" y="43467"/>
                </a:lnTo>
                <a:lnTo>
                  <a:pt x="145322" y="51153"/>
                </a:lnTo>
                <a:lnTo>
                  <a:pt x="135370" y="57862"/>
                </a:lnTo>
                <a:lnTo>
                  <a:pt x="122365" y="63347"/>
                </a:lnTo>
                <a:lnTo>
                  <a:pt x="106839" y="67360"/>
                </a:lnTo>
                <a:lnTo>
                  <a:pt x="89327" y="69653"/>
                </a:lnTo>
                <a:lnTo>
                  <a:pt x="76962" y="70104"/>
                </a:lnTo>
                <a:lnTo>
                  <a:pt x="58433" y="69079"/>
                </a:lnTo>
                <a:lnTo>
                  <a:pt x="41538" y="66172"/>
                </a:lnTo>
                <a:lnTo>
                  <a:pt x="26812" y="61629"/>
                </a:lnTo>
                <a:lnTo>
                  <a:pt x="14788" y="55699"/>
                </a:lnTo>
                <a:lnTo>
                  <a:pt x="6001" y="48628"/>
                </a:lnTo>
                <a:lnTo>
                  <a:pt x="985" y="40666"/>
                </a:lnTo>
                <a:lnTo>
                  <a:pt x="0" y="35052"/>
                </a:lnTo>
                <a:lnTo>
                  <a:pt x="0" y="0"/>
                </a:lnTo>
                <a:lnTo>
                  <a:pt x="153923" y="0"/>
                </a:lnTo>
                <a:close/>
              </a:path>
            </a:pathLst>
          </a:custGeom>
          <a:ln w="9143">
            <a:solidFill>
              <a:srgbClr val="000000"/>
            </a:solidFill>
          </a:ln>
        </p:spPr>
        <p:txBody>
          <a:bodyPr wrap="square" lIns="0" tIns="0" rIns="0" bIns="0" rtlCol="0">
            <a:noAutofit/>
          </a:bodyPr>
          <a:lstStyle/>
          <a:p>
            <a:endParaRPr/>
          </a:p>
        </p:txBody>
      </p:sp>
      <p:sp>
        <p:nvSpPr>
          <p:cNvPr id="101" name="object 101"/>
          <p:cNvSpPr/>
          <p:nvPr/>
        </p:nvSpPr>
        <p:spPr>
          <a:xfrm>
            <a:off x="2454402" y="5116068"/>
            <a:ext cx="637032" cy="57912"/>
          </a:xfrm>
          <a:custGeom>
            <a:avLst/>
            <a:gdLst/>
            <a:ahLst/>
            <a:cxnLst/>
            <a:rect l="l" t="t" r="r" b="b"/>
            <a:pathLst>
              <a:path w="637032" h="57912">
                <a:moveTo>
                  <a:pt x="86868" y="28955"/>
                </a:moveTo>
                <a:lnTo>
                  <a:pt x="637032" y="28955"/>
                </a:lnTo>
                <a:lnTo>
                  <a:pt x="637032" y="0"/>
                </a:lnTo>
                <a:lnTo>
                  <a:pt x="72390" y="0"/>
                </a:lnTo>
                <a:lnTo>
                  <a:pt x="72390" y="28955"/>
                </a:lnTo>
                <a:lnTo>
                  <a:pt x="86868" y="28955"/>
                </a:lnTo>
                <a:close/>
              </a:path>
              <a:path w="637032" h="57912">
                <a:moveTo>
                  <a:pt x="86868" y="0"/>
                </a:moveTo>
                <a:lnTo>
                  <a:pt x="86868" y="-28956"/>
                </a:lnTo>
                <a:lnTo>
                  <a:pt x="0" y="14477"/>
                </a:lnTo>
                <a:lnTo>
                  <a:pt x="86868" y="57911"/>
                </a:lnTo>
                <a:lnTo>
                  <a:pt x="86868" y="28955"/>
                </a:lnTo>
                <a:lnTo>
                  <a:pt x="72390" y="28955"/>
                </a:lnTo>
                <a:lnTo>
                  <a:pt x="72390" y="0"/>
                </a:lnTo>
                <a:lnTo>
                  <a:pt x="86868" y="0"/>
                </a:lnTo>
                <a:close/>
              </a:path>
            </a:pathLst>
          </a:custGeom>
          <a:solidFill>
            <a:srgbClr val="000066"/>
          </a:solidFill>
        </p:spPr>
        <p:txBody>
          <a:bodyPr wrap="square" lIns="0" tIns="0" rIns="0" bIns="0" rtlCol="0">
            <a:noAutofit/>
          </a:bodyPr>
          <a:lstStyle/>
          <a:p>
            <a:endParaRPr/>
          </a:p>
        </p:txBody>
      </p:sp>
      <p:sp>
        <p:nvSpPr>
          <p:cNvPr id="102" name="object 102"/>
          <p:cNvSpPr/>
          <p:nvPr/>
        </p:nvSpPr>
        <p:spPr>
          <a:xfrm>
            <a:off x="2350008" y="4601718"/>
            <a:ext cx="86868" cy="344424"/>
          </a:xfrm>
          <a:custGeom>
            <a:avLst/>
            <a:gdLst/>
            <a:ahLst/>
            <a:cxnLst/>
            <a:rect l="l" t="t" r="r" b="b"/>
            <a:pathLst>
              <a:path w="86868" h="344424">
                <a:moveTo>
                  <a:pt x="28956" y="344423"/>
                </a:moveTo>
                <a:lnTo>
                  <a:pt x="57912" y="344423"/>
                </a:lnTo>
                <a:lnTo>
                  <a:pt x="57912" y="72389"/>
                </a:lnTo>
                <a:lnTo>
                  <a:pt x="86868" y="86867"/>
                </a:lnTo>
                <a:lnTo>
                  <a:pt x="43434" y="0"/>
                </a:lnTo>
                <a:lnTo>
                  <a:pt x="28956" y="72389"/>
                </a:lnTo>
                <a:lnTo>
                  <a:pt x="28956" y="344423"/>
                </a:lnTo>
                <a:close/>
              </a:path>
              <a:path w="86868" h="344424">
                <a:moveTo>
                  <a:pt x="28956" y="72389"/>
                </a:moveTo>
                <a:lnTo>
                  <a:pt x="43434" y="0"/>
                </a:lnTo>
                <a:lnTo>
                  <a:pt x="0" y="86867"/>
                </a:lnTo>
                <a:lnTo>
                  <a:pt x="28956" y="86867"/>
                </a:lnTo>
                <a:lnTo>
                  <a:pt x="28956" y="72389"/>
                </a:lnTo>
                <a:close/>
              </a:path>
              <a:path w="86868" h="344424">
                <a:moveTo>
                  <a:pt x="86868" y="86867"/>
                </a:moveTo>
                <a:lnTo>
                  <a:pt x="57912" y="72389"/>
                </a:lnTo>
                <a:lnTo>
                  <a:pt x="57912" y="86867"/>
                </a:lnTo>
                <a:lnTo>
                  <a:pt x="86868" y="86867"/>
                </a:lnTo>
                <a:close/>
              </a:path>
            </a:pathLst>
          </a:custGeom>
          <a:solidFill>
            <a:srgbClr val="000066"/>
          </a:solidFill>
        </p:spPr>
        <p:txBody>
          <a:bodyPr wrap="square" lIns="0" tIns="0" rIns="0" bIns="0" rtlCol="0">
            <a:noAutofit/>
          </a:bodyPr>
          <a:lstStyle/>
          <a:p>
            <a:endParaRPr/>
          </a:p>
        </p:txBody>
      </p:sp>
      <p:sp>
        <p:nvSpPr>
          <p:cNvPr id="103" name="object 103"/>
          <p:cNvSpPr/>
          <p:nvPr/>
        </p:nvSpPr>
        <p:spPr>
          <a:xfrm>
            <a:off x="7239000" y="5896356"/>
            <a:ext cx="510540" cy="265175"/>
          </a:xfrm>
          <a:prstGeom prst="rect">
            <a:avLst/>
          </a:prstGeom>
          <a:blipFill>
            <a:blip r:embed="rId11" cstate="print"/>
            <a:stretch>
              <a:fillRect/>
            </a:stretch>
          </a:blipFill>
        </p:spPr>
        <p:txBody>
          <a:bodyPr wrap="square" lIns="0" tIns="0" rIns="0" bIns="0" rtlCol="0">
            <a:noAutofit/>
          </a:bodyPr>
          <a:lstStyle/>
          <a:p>
            <a:endParaRPr/>
          </a:p>
        </p:txBody>
      </p:sp>
      <p:sp>
        <p:nvSpPr>
          <p:cNvPr id="104" name="object 104"/>
          <p:cNvSpPr/>
          <p:nvPr/>
        </p:nvSpPr>
        <p:spPr>
          <a:xfrm>
            <a:off x="6140196" y="6315456"/>
            <a:ext cx="858011" cy="265176"/>
          </a:xfrm>
          <a:prstGeom prst="rect">
            <a:avLst/>
          </a:prstGeom>
          <a:blipFill>
            <a:blip r:embed="rId12" cstate="print"/>
            <a:stretch>
              <a:fillRect/>
            </a:stretch>
          </a:blipFill>
        </p:spPr>
        <p:txBody>
          <a:bodyPr wrap="square" lIns="0" tIns="0" rIns="0" bIns="0" rtlCol="0">
            <a:noAutofit/>
          </a:bodyPr>
          <a:lstStyle/>
          <a:p>
            <a:endParaRPr/>
          </a:p>
        </p:txBody>
      </p:sp>
      <p:sp>
        <p:nvSpPr>
          <p:cNvPr id="105" name="object 105"/>
          <p:cNvSpPr/>
          <p:nvPr/>
        </p:nvSpPr>
        <p:spPr>
          <a:xfrm>
            <a:off x="4158996" y="6187440"/>
            <a:ext cx="1088136" cy="265175"/>
          </a:xfrm>
          <a:prstGeom prst="rect">
            <a:avLst/>
          </a:prstGeom>
          <a:blipFill>
            <a:blip r:embed="rId13" cstate="print"/>
            <a:stretch>
              <a:fillRect/>
            </a:stretch>
          </a:blipFill>
        </p:spPr>
        <p:txBody>
          <a:bodyPr wrap="square" lIns="0" tIns="0" rIns="0" bIns="0" rtlCol="0">
            <a:noAutofit/>
          </a:bodyPr>
          <a:lstStyle/>
          <a:p>
            <a:endParaRPr/>
          </a:p>
        </p:txBody>
      </p:sp>
      <p:sp>
        <p:nvSpPr>
          <p:cNvPr id="106" name="object 106"/>
          <p:cNvSpPr/>
          <p:nvPr/>
        </p:nvSpPr>
        <p:spPr>
          <a:xfrm>
            <a:off x="5129784" y="5381244"/>
            <a:ext cx="600456" cy="347472"/>
          </a:xfrm>
          <a:prstGeom prst="rect">
            <a:avLst/>
          </a:prstGeom>
          <a:blipFill>
            <a:blip r:embed="rId14" cstate="print"/>
            <a:stretch>
              <a:fillRect/>
            </a:stretch>
          </a:blipFill>
        </p:spPr>
        <p:txBody>
          <a:bodyPr wrap="square" lIns="0" tIns="0" rIns="0" bIns="0" rtlCol="0">
            <a:noAutofit/>
          </a:bodyPr>
          <a:lstStyle/>
          <a:p>
            <a:endParaRPr/>
          </a:p>
        </p:txBody>
      </p:sp>
      <p:sp>
        <p:nvSpPr>
          <p:cNvPr id="107" name="object 107"/>
          <p:cNvSpPr/>
          <p:nvPr/>
        </p:nvSpPr>
        <p:spPr>
          <a:xfrm>
            <a:off x="1964436" y="5274564"/>
            <a:ext cx="923544" cy="265175"/>
          </a:xfrm>
          <a:prstGeom prst="rect">
            <a:avLst/>
          </a:prstGeom>
          <a:blipFill>
            <a:blip r:embed="rId15" cstate="print"/>
            <a:stretch>
              <a:fillRect/>
            </a:stretch>
          </a:blipFill>
        </p:spPr>
        <p:txBody>
          <a:bodyPr wrap="square" lIns="0" tIns="0" rIns="0" bIns="0" rtlCol="0">
            <a:noAutofit/>
          </a:bodyPr>
          <a:lstStyle/>
          <a:p>
            <a:endParaRPr/>
          </a:p>
        </p:txBody>
      </p:sp>
      <p:sp>
        <p:nvSpPr>
          <p:cNvPr id="108" name="object 108"/>
          <p:cNvSpPr/>
          <p:nvPr/>
        </p:nvSpPr>
        <p:spPr>
          <a:xfrm>
            <a:off x="1981200" y="5411724"/>
            <a:ext cx="864108" cy="265175"/>
          </a:xfrm>
          <a:prstGeom prst="rect">
            <a:avLst/>
          </a:prstGeom>
          <a:blipFill>
            <a:blip r:embed="rId16" cstate="print"/>
            <a:stretch>
              <a:fillRect/>
            </a:stretch>
          </a:blipFill>
        </p:spPr>
        <p:txBody>
          <a:bodyPr wrap="square" lIns="0" tIns="0" rIns="0" bIns="0" rtlCol="0">
            <a:noAutofit/>
          </a:bodyPr>
          <a:lstStyle/>
          <a:p>
            <a:endParaRPr/>
          </a:p>
        </p:txBody>
      </p:sp>
      <p:sp>
        <p:nvSpPr>
          <p:cNvPr id="109" name="object 109"/>
          <p:cNvSpPr/>
          <p:nvPr/>
        </p:nvSpPr>
        <p:spPr>
          <a:xfrm>
            <a:off x="2133600" y="4387596"/>
            <a:ext cx="515112" cy="291083"/>
          </a:xfrm>
          <a:prstGeom prst="rect">
            <a:avLst/>
          </a:prstGeom>
          <a:blipFill>
            <a:blip r:embed="rId17" cstate="print"/>
            <a:stretch>
              <a:fillRect/>
            </a:stretch>
          </a:blipFill>
        </p:spPr>
        <p:txBody>
          <a:bodyPr wrap="square" lIns="0" tIns="0" rIns="0" bIns="0" rtlCol="0">
            <a:noAutofit/>
          </a:bodyPr>
          <a:lstStyle/>
          <a:p>
            <a:endParaRPr/>
          </a:p>
        </p:txBody>
      </p:sp>
      <p:sp>
        <p:nvSpPr>
          <p:cNvPr id="110" name="object 110"/>
          <p:cNvSpPr/>
          <p:nvPr/>
        </p:nvSpPr>
        <p:spPr>
          <a:xfrm>
            <a:off x="6792468" y="1661160"/>
            <a:ext cx="515112" cy="291084"/>
          </a:xfrm>
          <a:prstGeom prst="rect">
            <a:avLst/>
          </a:prstGeom>
          <a:blipFill>
            <a:blip r:embed="rId18" cstate="print"/>
            <a:stretch>
              <a:fillRect/>
            </a:stretch>
          </a:blipFill>
        </p:spPr>
        <p:txBody>
          <a:bodyPr wrap="square" lIns="0" tIns="0" rIns="0" bIns="0" rtlCol="0">
            <a:noAutofit/>
          </a:bodyPr>
          <a:lstStyle/>
          <a:p>
            <a:endParaRPr/>
          </a:p>
        </p:txBody>
      </p:sp>
      <p:sp>
        <p:nvSpPr>
          <p:cNvPr id="111" name="object 111"/>
          <p:cNvSpPr/>
          <p:nvPr/>
        </p:nvSpPr>
        <p:spPr>
          <a:xfrm>
            <a:off x="4835652" y="1971294"/>
            <a:ext cx="86868" cy="501395"/>
          </a:xfrm>
          <a:custGeom>
            <a:avLst/>
            <a:gdLst/>
            <a:ahLst/>
            <a:cxnLst/>
            <a:rect l="l" t="t" r="r" b="b"/>
            <a:pathLst>
              <a:path w="86868" h="501395">
                <a:moveTo>
                  <a:pt x="28956" y="501395"/>
                </a:moveTo>
                <a:lnTo>
                  <a:pt x="57912" y="501395"/>
                </a:lnTo>
                <a:lnTo>
                  <a:pt x="57912" y="72389"/>
                </a:lnTo>
                <a:lnTo>
                  <a:pt x="86868" y="86867"/>
                </a:lnTo>
                <a:lnTo>
                  <a:pt x="43434" y="0"/>
                </a:lnTo>
                <a:lnTo>
                  <a:pt x="28956" y="72389"/>
                </a:lnTo>
                <a:lnTo>
                  <a:pt x="28956" y="501395"/>
                </a:lnTo>
                <a:close/>
              </a:path>
              <a:path w="86868" h="501395">
                <a:moveTo>
                  <a:pt x="28956" y="72389"/>
                </a:moveTo>
                <a:lnTo>
                  <a:pt x="43434" y="0"/>
                </a:lnTo>
                <a:lnTo>
                  <a:pt x="0" y="86867"/>
                </a:lnTo>
                <a:lnTo>
                  <a:pt x="28956" y="86867"/>
                </a:lnTo>
                <a:lnTo>
                  <a:pt x="28956" y="72389"/>
                </a:lnTo>
                <a:close/>
              </a:path>
              <a:path w="86868" h="501395">
                <a:moveTo>
                  <a:pt x="86868" y="86867"/>
                </a:moveTo>
                <a:lnTo>
                  <a:pt x="57912" y="72389"/>
                </a:lnTo>
                <a:lnTo>
                  <a:pt x="57911" y="86868"/>
                </a:lnTo>
                <a:lnTo>
                  <a:pt x="86868" y="86867"/>
                </a:lnTo>
                <a:close/>
              </a:path>
            </a:pathLst>
          </a:custGeom>
          <a:solidFill>
            <a:srgbClr val="000066"/>
          </a:solidFill>
        </p:spPr>
        <p:txBody>
          <a:bodyPr wrap="square" lIns="0" tIns="0" rIns="0" bIns="0" rtlCol="0">
            <a:noAutofit/>
          </a:bodyPr>
          <a:lstStyle/>
          <a:p>
            <a:endParaRPr/>
          </a:p>
        </p:txBody>
      </p:sp>
      <p:sp>
        <p:nvSpPr>
          <p:cNvPr id="112" name="object 112"/>
          <p:cNvSpPr/>
          <p:nvPr/>
        </p:nvSpPr>
        <p:spPr>
          <a:xfrm>
            <a:off x="4430268" y="1664207"/>
            <a:ext cx="1088136" cy="291084"/>
          </a:xfrm>
          <a:prstGeom prst="rect">
            <a:avLst/>
          </a:prstGeom>
          <a:blipFill>
            <a:blip r:embed="rId19" cstate="print"/>
            <a:stretch>
              <a:fillRect/>
            </a:stretch>
          </a:blipFill>
        </p:spPr>
        <p:txBody>
          <a:bodyPr wrap="square" lIns="0" tIns="0" rIns="0" bIns="0" rtlCol="0">
            <a:noAutofit/>
          </a:bodyPr>
          <a:lstStyle/>
          <a:p>
            <a:endParaRPr/>
          </a:p>
        </p:txBody>
      </p:sp>
      <p:sp>
        <p:nvSpPr>
          <p:cNvPr id="113" name="object 113"/>
          <p:cNvSpPr/>
          <p:nvPr/>
        </p:nvSpPr>
        <p:spPr>
          <a:xfrm>
            <a:off x="3142488" y="1485900"/>
            <a:ext cx="1207008" cy="403860"/>
          </a:xfrm>
          <a:prstGeom prst="rect">
            <a:avLst/>
          </a:prstGeom>
          <a:blipFill>
            <a:blip r:embed="rId20" cstate="print"/>
            <a:stretch>
              <a:fillRect/>
            </a:stretch>
          </a:blipFill>
        </p:spPr>
        <p:txBody>
          <a:bodyPr wrap="square" lIns="0" tIns="0" rIns="0" bIns="0" rtlCol="0">
            <a:noAutofit/>
          </a:bodyPr>
          <a:lstStyle/>
          <a:p>
            <a:endParaRPr/>
          </a:p>
        </p:txBody>
      </p:sp>
      <p:sp>
        <p:nvSpPr>
          <p:cNvPr id="114" name="object 114"/>
          <p:cNvSpPr/>
          <p:nvPr/>
        </p:nvSpPr>
        <p:spPr>
          <a:xfrm>
            <a:off x="3165348" y="1699260"/>
            <a:ext cx="1114044" cy="403860"/>
          </a:xfrm>
          <a:prstGeom prst="rect">
            <a:avLst/>
          </a:prstGeom>
          <a:blipFill>
            <a:blip r:embed="rId21" cstate="print"/>
            <a:stretch>
              <a:fillRect/>
            </a:stretch>
          </a:blipFill>
        </p:spPr>
        <p:txBody>
          <a:bodyPr wrap="square" lIns="0" tIns="0" rIns="0" bIns="0" rtlCol="0">
            <a:noAutofit/>
          </a:bodyPr>
          <a:lstStyle/>
          <a:p>
            <a:endParaRPr/>
          </a:p>
        </p:txBody>
      </p:sp>
      <p:sp>
        <p:nvSpPr>
          <p:cNvPr id="115" name="object 115"/>
          <p:cNvSpPr/>
          <p:nvPr/>
        </p:nvSpPr>
        <p:spPr>
          <a:xfrm>
            <a:off x="4907280" y="2491740"/>
            <a:ext cx="541020" cy="265175"/>
          </a:xfrm>
          <a:prstGeom prst="rect">
            <a:avLst/>
          </a:prstGeom>
          <a:blipFill>
            <a:blip r:embed="rId22" cstate="print"/>
            <a:stretch>
              <a:fillRect/>
            </a:stretch>
          </a:blipFill>
        </p:spPr>
        <p:txBody>
          <a:bodyPr wrap="square" lIns="0" tIns="0" rIns="0" bIns="0" rtlCol="0">
            <a:noAutofit/>
          </a:bodyPr>
          <a:lstStyle/>
          <a:p>
            <a:endParaRPr/>
          </a:p>
        </p:txBody>
      </p:sp>
      <p:sp>
        <p:nvSpPr>
          <p:cNvPr id="116" name="object 116"/>
          <p:cNvSpPr/>
          <p:nvPr/>
        </p:nvSpPr>
        <p:spPr>
          <a:xfrm>
            <a:off x="5944362" y="2586990"/>
            <a:ext cx="0" cy="3448812"/>
          </a:xfrm>
          <a:custGeom>
            <a:avLst/>
            <a:gdLst/>
            <a:ahLst/>
            <a:cxnLst/>
            <a:rect l="l" t="t" r="r" b="b"/>
            <a:pathLst>
              <a:path h="3448812">
                <a:moveTo>
                  <a:pt x="0" y="3448812"/>
                </a:moveTo>
                <a:lnTo>
                  <a:pt x="0" y="0"/>
                </a:lnTo>
              </a:path>
            </a:pathLst>
          </a:custGeom>
          <a:ln w="28956">
            <a:solidFill>
              <a:srgbClr val="000066"/>
            </a:solidFill>
          </a:ln>
        </p:spPr>
        <p:txBody>
          <a:bodyPr wrap="square" lIns="0" tIns="0" rIns="0" bIns="0" rtlCol="0">
            <a:noAutofit/>
          </a:bodyPr>
          <a:lstStyle/>
          <a:p>
            <a:endParaRPr/>
          </a:p>
        </p:txBody>
      </p:sp>
      <p:sp>
        <p:nvSpPr>
          <p:cNvPr id="117" name="object 117"/>
          <p:cNvSpPr/>
          <p:nvPr/>
        </p:nvSpPr>
        <p:spPr>
          <a:xfrm>
            <a:off x="5933694" y="2543555"/>
            <a:ext cx="301751" cy="86868"/>
          </a:xfrm>
          <a:custGeom>
            <a:avLst/>
            <a:gdLst/>
            <a:ahLst/>
            <a:cxnLst/>
            <a:rect l="l" t="t" r="r" b="b"/>
            <a:pathLst>
              <a:path w="301751" h="86868">
                <a:moveTo>
                  <a:pt x="229361" y="57912"/>
                </a:moveTo>
                <a:lnTo>
                  <a:pt x="214884" y="57911"/>
                </a:lnTo>
                <a:lnTo>
                  <a:pt x="214883" y="86868"/>
                </a:lnTo>
                <a:lnTo>
                  <a:pt x="301751" y="43434"/>
                </a:lnTo>
                <a:lnTo>
                  <a:pt x="229361" y="57912"/>
                </a:lnTo>
                <a:close/>
              </a:path>
              <a:path w="301751" h="86868">
                <a:moveTo>
                  <a:pt x="229361" y="28956"/>
                </a:moveTo>
                <a:lnTo>
                  <a:pt x="214883" y="0"/>
                </a:lnTo>
                <a:lnTo>
                  <a:pt x="214883" y="28956"/>
                </a:lnTo>
                <a:lnTo>
                  <a:pt x="229361" y="28956"/>
                </a:lnTo>
                <a:close/>
              </a:path>
              <a:path w="301751" h="86868">
                <a:moveTo>
                  <a:pt x="0" y="28956"/>
                </a:moveTo>
                <a:lnTo>
                  <a:pt x="0" y="57912"/>
                </a:lnTo>
                <a:lnTo>
                  <a:pt x="229361" y="57912"/>
                </a:lnTo>
                <a:lnTo>
                  <a:pt x="301751" y="43434"/>
                </a:lnTo>
                <a:lnTo>
                  <a:pt x="214883" y="0"/>
                </a:lnTo>
                <a:lnTo>
                  <a:pt x="229361" y="28956"/>
                </a:lnTo>
                <a:lnTo>
                  <a:pt x="0" y="28956"/>
                </a:lnTo>
                <a:close/>
              </a:path>
            </a:pathLst>
          </a:custGeom>
          <a:solidFill>
            <a:srgbClr val="000066"/>
          </a:solidFill>
        </p:spPr>
        <p:txBody>
          <a:bodyPr wrap="square" lIns="0" tIns="0" rIns="0" bIns="0" rtlCol="0">
            <a:noAutofit/>
          </a:bodyPr>
          <a:lstStyle/>
          <a:p>
            <a:endParaRPr/>
          </a:p>
        </p:txBody>
      </p:sp>
      <p:sp>
        <p:nvSpPr>
          <p:cNvPr id="118" name="object 118"/>
          <p:cNvSpPr/>
          <p:nvPr/>
        </p:nvSpPr>
        <p:spPr>
          <a:xfrm>
            <a:off x="6400800" y="2493264"/>
            <a:ext cx="870203" cy="265175"/>
          </a:xfrm>
          <a:prstGeom prst="rect">
            <a:avLst/>
          </a:prstGeom>
          <a:blipFill>
            <a:blip r:embed="rId23" cstate="print"/>
            <a:stretch>
              <a:fillRect/>
            </a:stretch>
          </a:blipFill>
        </p:spPr>
        <p:txBody>
          <a:bodyPr wrap="square" lIns="0" tIns="0" rIns="0" bIns="0" rtlCol="0">
            <a:noAutofit/>
          </a:bodyPr>
          <a:lstStyle/>
          <a:p>
            <a:endParaRPr/>
          </a:p>
        </p:txBody>
      </p:sp>
      <p:sp>
        <p:nvSpPr>
          <p:cNvPr id="119" name="object 119"/>
          <p:cNvSpPr/>
          <p:nvPr/>
        </p:nvSpPr>
        <p:spPr>
          <a:xfrm>
            <a:off x="6557772" y="2923032"/>
            <a:ext cx="565403" cy="265175"/>
          </a:xfrm>
          <a:prstGeom prst="rect">
            <a:avLst/>
          </a:prstGeom>
          <a:blipFill>
            <a:blip r:embed="rId24" cstate="print"/>
            <a:stretch>
              <a:fillRect/>
            </a:stretch>
          </a:blipFill>
        </p:spPr>
        <p:txBody>
          <a:bodyPr wrap="square" lIns="0" tIns="0" rIns="0" bIns="0" rtlCol="0">
            <a:noAutofit/>
          </a:bodyPr>
          <a:lstStyle/>
          <a:p>
            <a:endParaRPr/>
          </a:p>
        </p:txBody>
      </p:sp>
      <p:sp>
        <p:nvSpPr>
          <p:cNvPr id="120" name="object 120"/>
          <p:cNvSpPr/>
          <p:nvPr/>
        </p:nvSpPr>
        <p:spPr>
          <a:xfrm>
            <a:off x="6998208" y="2217420"/>
            <a:ext cx="99060" cy="192024"/>
          </a:xfrm>
          <a:custGeom>
            <a:avLst/>
            <a:gdLst/>
            <a:ahLst/>
            <a:cxnLst/>
            <a:rect l="l" t="t" r="r" b="b"/>
            <a:pathLst>
              <a:path w="99060" h="192024">
                <a:moveTo>
                  <a:pt x="0" y="16509"/>
                </a:moveTo>
                <a:lnTo>
                  <a:pt x="0" y="184657"/>
                </a:lnTo>
                <a:lnTo>
                  <a:pt x="7366" y="192024"/>
                </a:lnTo>
                <a:lnTo>
                  <a:pt x="91694" y="192024"/>
                </a:lnTo>
                <a:lnTo>
                  <a:pt x="99060" y="184657"/>
                </a:lnTo>
                <a:lnTo>
                  <a:pt x="99060" y="7365"/>
                </a:lnTo>
                <a:lnTo>
                  <a:pt x="91694" y="0"/>
                </a:lnTo>
                <a:lnTo>
                  <a:pt x="7366" y="0"/>
                </a:lnTo>
                <a:lnTo>
                  <a:pt x="0" y="7365"/>
                </a:lnTo>
                <a:lnTo>
                  <a:pt x="0" y="16509"/>
                </a:lnTo>
                <a:close/>
              </a:path>
            </a:pathLst>
          </a:custGeom>
          <a:solidFill>
            <a:srgbClr val="CC99FF"/>
          </a:solidFill>
        </p:spPr>
        <p:txBody>
          <a:bodyPr wrap="square" lIns="0" tIns="0" rIns="0" bIns="0" rtlCol="0">
            <a:noAutofit/>
          </a:bodyPr>
          <a:lstStyle/>
          <a:p>
            <a:endParaRPr/>
          </a:p>
        </p:txBody>
      </p:sp>
      <p:sp>
        <p:nvSpPr>
          <p:cNvPr id="121" name="object 121"/>
          <p:cNvSpPr/>
          <p:nvPr/>
        </p:nvSpPr>
        <p:spPr>
          <a:xfrm>
            <a:off x="6998208" y="2217420"/>
            <a:ext cx="99060" cy="192024"/>
          </a:xfrm>
          <a:custGeom>
            <a:avLst/>
            <a:gdLst/>
            <a:ahLst/>
            <a:cxnLst/>
            <a:rect l="l" t="t" r="r" b="b"/>
            <a:pathLst>
              <a:path w="99060" h="192024">
                <a:moveTo>
                  <a:pt x="0" y="16509"/>
                </a:moveTo>
                <a:lnTo>
                  <a:pt x="0" y="7365"/>
                </a:lnTo>
                <a:lnTo>
                  <a:pt x="7366" y="0"/>
                </a:lnTo>
                <a:lnTo>
                  <a:pt x="16510" y="0"/>
                </a:lnTo>
                <a:lnTo>
                  <a:pt x="82550" y="0"/>
                </a:lnTo>
                <a:lnTo>
                  <a:pt x="91694" y="0"/>
                </a:lnTo>
                <a:lnTo>
                  <a:pt x="99060" y="7365"/>
                </a:lnTo>
                <a:lnTo>
                  <a:pt x="99060" y="16509"/>
                </a:lnTo>
                <a:lnTo>
                  <a:pt x="99060" y="175513"/>
                </a:lnTo>
                <a:lnTo>
                  <a:pt x="99060" y="184657"/>
                </a:lnTo>
                <a:lnTo>
                  <a:pt x="91694" y="192024"/>
                </a:lnTo>
                <a:lnTo>
                  <a:pt x="82550" y="192024"/>
                </a:lnTo>
                <a:lnTo>
                  <a:pt x="16510" y="192024"/>
                </a:lnTo>
                <a:lnTo>
                  <a:pt x="7366" y="192024"/>
                </a:lnTo>
                <a:lnTo>
                  <a:pt x="0" y="184657"/>
                </a:lnTo>
                <a:lnTo>
                  <a:pt x="0" y="175513"/>
                </a:lnTo>
                <a:lnTo>
                  <a:pt x="0" y="16509"/>
                </a:lnTo>
                <a:close/>
              </a:path>
            </a:pathLst>
          </a:custGeom>
          <a:ln w="9143">
            <a:solidFill>
              <a:srgbClr val="000000"/>
            </a:solidFill>
          </a:ln>
        </p:spPr>
        <p:txBody>
          <a:bodyPr wrap="square" lIns="0" tIns="0" rIns="0" bIns="0" rtlCol="0">
            <a:noAutofit/>
          </a:bodyPr>
          <a:lstStyle/>
          <a:p>
            <a:endParaRPr/>
          </a:p>
        </p:txBody>
      </p:sp>
      <p:sp>
        <p:nvSpPr>
          <p:cNvPr id="122" name="object 122"/>
          <p:cNvSpPr/>
          <p:nvPr/>
        </p:nvSpPr>
        <p:spPr>
          <a:xfrm>
            <a:off x="7005828" y="1899665"/>
            <a:ext cx="86868" cy="318516"/>
          </a:xfrm>
          <a:custGeom>
            <a:avLst/>
            <a:gdLst/>
            <a:ahLst/>
            <a:cxnLst/>
            <a:rect l="l" t="t" r="r" b="b"/>
            <a:pathLst>
              <a:path w="86868" h="318516">
                <a:moveTo>
                  <a:pt x="28955" y="318516"/>
                </a:moveTo>
                <a:lnTo>
                  <a:pt x="57912" y="318516"/>
                </a:lnTo>
                <a:lnTo>
                  <a:pt x="57912" y="72389"/>
                </a:lnTo>
                <a:lnTo>
                  <a:pt x="86868" y="86868"/>
                </a:lnTo>
                <a:lnTo>
                  <a:pt x="43433" y="0"/>
                </a:lnTo>
                <a:lnTo>
                  <a:pt x="28955" y="72389"/>
                </a:lnTo>
                <a:lnTo>
                  <a:pt x="28955" y="318516"/>
                </a:lnTo>
                <a:close/>
              </a:path>
              <a:path w="86868" h="318516">
                <a:moveTo>
                  <a:pt x="28955" y="72389"/>
                </a:moveTo>
                <a:lnTo>
                  <a:pt x="43433" y="0"/>
                </a:lnTo>
                <a:lnTo>
                  <a:pt x="0" y="86868"/>
                </a:lnTo>
                <a:lnTo>
                  <a:pt x="28956" y="86867"/>
                </a:lnTo>
                <a:lnTo>
                  <a:pt x="28955" y="72389"/>
                </a:lnTo>
                <a:close/>
              </a:path>
              <a:path w="86868" h="318516">
                <a:moveTo>
                  <a:pt x="86868" y="86868"/>
                </a:moveTo>
                <a:lnTo>
                  <a:pt x="57912" y="72389"/>
                </a:lnTo>
                <a:lnTo>
                  <a:pt x="57912" y="86867"/>
                </a:lnTo>
                <a:lnTo>
                  <a:pt x="86868" y="86868"/>
                </a:lnTo>
                <a:close/>
              </a:path>
            </a:pathLst>
          </a:custGeom>
          <a:solidFill>
            <a:srgbClr val="000066"/>
          </a:solidFill>
        </p:spPr>
        <p:txBody>
          <a:bodyPr wrap="square" lIns="0" tIns="0" rIns="0" bIns="0" rtlCol="0">
            <a:noAutofit/>
          </a:bodyPr>
          <a:lstStyle/>
          <a:p>
            <a:endParaRPr/>
          </a:p>
        </p:txBody>
      </p:sp>
      <p:sp>
        <p:nvSpPr>
          <p:cNvPr id="123" name="object 123"/>
          <p:cNvSpPr/>
          <p:nvPr/>
        </p:nvSpPr>
        <p:spPr>
          <a:xfrm>
            <a:off x="6998208" y="2272284"/>
            <a:ext cx="99060" cy="0"/>
          </a:xfrm>
          <a:custGeom>
            <a:avLst/>
            <a:gdLst/>
            <a:ahLst/>
            <a:cxnLst/>
            <a:rect l="l" t="t" r="r" b="b"/>
            <a:pathLst>
              <a:path w="99060">
                <a:moveTo>
                  <a:pt x="0" y="0"/>
                </a:moveTo>
                <a:lnTo>
                  <a:pt x="99060" y="0"/>
                </a:lnTo>
              </a:path>
            </a:pathLst>
          </a:custGeom>
          <a:ln w="9144">
            <a:solidFill>
              <a:srgbClr val="000000"/>
            </a:solidFill>
          </a:ln>
        </p:spPr>
        <p:txBody>
          <a:bodyPr wrap="square" lIns="0" tIns="0" rIns="0" bIns="0" rtlCol="0">
            <a:noAutofit/>
          </a:bodyPr>
          <a:lstStyle/>
          <a:p>
            <a:endParaRPr/>
          </a:p>
        </p:txBody>
      </p:sp>
      <p:sp>
        <p:nvSpPr>
          <p:cNvPr id="124" name="object 124"/>
          <p:cNvSpPr/>
          <p:nvPr/>
        </p:nvSpPr>
        <p:spPr>
          <a:xfrm>
            <a:off x="4773168" y="3832860"/>
            <a:ext cx="690499" cy="923925"/>
          </a:xfrm>
          <a:custGeom>
            <a:avLst/>
            <a:gdLst/>
            <a:ahLst/>
            <a:cxnLst/>
            <a:rect l="l" t="t" r="r" b="b"/>
            <a:pathLst>
              <a:path w="690499" h="923925">
                <a:moveTo>
                  <a:pt x="147116" y="196850"/>
                </a:moveTo>
                <a:lnTo>
                  <a:pt x="690499" y="196850"/>
                </a:lnTo>
                <a:lnTo>
                  <a:pt x="690499" y="923925"/>
                </a:lnTo>
                <a:lnTo>
                  <a:pt x="147116" y="196850"/>
                </a:lnTo>
                <a:lnTo>
                  <a:pt x="0" y="196850"/>
                </a:lnTo>
                <a:lnTo>
                  <a:pt x="0" y="0"/>
                </a:lnTo>
              </a:path>
            </a:pathLst>
          </a:custGeom>
          <a:ln w="76200">
            <a:solidFill>
              <a:srgbClr val="FFFF99"/>
            </a:solidFill>
          </a:ln>
        </p:spPr>
        <p:txBody>
          <a:bodyPr wrap="square" lIns="0" tIns="0" rIns="0" bIns="0" rtlCol="0">
            <a:noAutofit/>
          </a:bodyPr>
          <a:lstStyle/>
          <a:p>
            <a:endParaRPr/>
          </a:p>
        </p:txBody>
      </p:sp>
      <p:sp>
        <p:nvSpPr>
          <p:cNvPr id="125" name="object 125"/>
          <p:cNvSpPr/>
          <p:nvPr/>
        </p:nvSpPr>
        <p:spPr>
          <a:xfrm>
            <a:off x="5043678" y="3307841"/>
            <a:ext cx="1603502" cy="137033"/>
          </a:xfrm>
          <a:custGeom>
            <a:avLst/>
            <a:gdLst/>
            <a:ahLst/>
            <a:cxnLst/>
            <a:rect l="l" t="t" r="r" b="b"/>
            <a:pathLst>
              <a:path w="1603502" h="137033">
                <a:moveTo>
                  <a:pt x="86867" y="79121"/>
                </a:moveTo>
                <a:lnTo>
                  <a:pt x="86868" y="50165"/>
                </a:lnTo>
                <a:lnTo>
                  <a:pt x="0" y="93599"/>
                </a:lnTo>
                <a:lnTo>
                  <a:pt x="86868" y="137033"/>
                </a:lnTo>
                <a:lnTo>
                  <a:pt x="86868" y="108076"/>
                </a:lnTo>
                <a:lnTo>
                  <a:pt x="72389" y="108077"/>
                </a:lnTo>
                <a:lnTo>
                  <a:pt x="72389" y="79121"/>
                </a:lnTo>
                <a:lnTo>
                  <a:pt x="86867" y="79121"/>
                </a:lnTo>
                <a:close/>
              </a:path>
              <a:path w="1603502" h="137033">
                <a:moveTo>
                  <a:pt x="1574546" y="0"/>
                </a:moveTo>
                <a:lnTo>
                  <a:pt x="1574546" y="93599"/>
                </a:lnTo>
                <a:lnTo>
                  <a:pt x="86867" y="79121"/>
                </a:lnTo>
                <a:lnTo>
                  <a:pt x="72389" y="79121"/>
                </a:lnTo>
                <a:lnTo>
                  <a:pt x="72389" y="108077"/>
                </a:lnTo>
                <a:lnTo>
                  <a:pt x="1603502" y="108077"/>
                </a:lnTo>
                <a:lnTo>
                  <a:pt x="1589024" y="79121"/>
                </a:lnTo>
                <a:lnTo>
                  <a:pt x="1574546" y="0"/>
                </a:lnTo>
                <a:close/>
              </a:path>
              <a:path w="1603502" h="137033">
                <a:moveTo>
                  <a:pt x="1603502" y="0"/>
                </a:moveTo>
                <a:lnTo>
                  <a:pt x="1574546" y="0"/>
                </a:lnTo>
                <a:lnTo>
                  <a:pt x="1589024" y="79121"/>
                </a:lnTo>
                <a:lnTo>
                  <a:pt x="1603502" y="108077"/>
                </a:lnTo>
                <a:lnTo>
                  <a:pt x="1603502" y="0"/>
                </a:lnTo>
                <a:close/>
              </a:path>
              <a:path w="1603502" h="137033">
                <a:moveTo>
                  <a:pt x="1574546" y="79120"/>
                </a:moveTo>
                <a:lnTo>
                  <a:pt x="86867" y="79121"/>
                </a:lnTo>
                <a:lnTo>
                  <a:pt x="1574546" y="93599"/>
                </a:lnTo>
                <a:lnTo>
                  <a:pt x="1574546" y="79120"/>
                </a:lnTo>
                <a:close/>
              </a:path>
            </a:pathLst>
          </a:custGeom>
          <a:solidFill>
            <a:srgbClr val="000066"/>
          </a:solidFill>
        </p:spPr>
        <p:txBody>
          <a:bodyPr wrap="square" lIns="0" tIns="0" rIns="0" bIns="0" rtlCol="0">
            <a:noAutofit/>
          </a:bodyPr>
          <a:lstStyle/>
          <a:p>
            <a:endParaRPr/>
          </a:p>
        </p:txBody>
      </p:sp>
      <p:sp>
        <p:nvSpPr>
          <p:cNvPr id="126" name="object 126"/>
          <p:cNvSpPr/>
          <p:nvPr/>
        </p:nvSpPr>
        <p:spPr>
          <a:xfrm>
            <a:off x="5043678" y="3300222"/>
            <a:ext cx="1995677" cy="145033"/>
          </a:xfrm>
          <a:custGeom>
            <a:avLst/>
            <a:gdLst/>
            <a:ahLst/>
            <a:cxnLst/>
            <a:rect l="l" t="t" r="r" b="b"/>
            <a:pathLst>
              <a:path w="1995677" h="145033">
                <a:moveTo>
                  <a:pt x="86868" y="87121"/>
                </a:moveTo>
                <a:lnTo>
                  <a:pt x="86868" y="58165"/>
                </a:lnTo>
                <a:lnTo>
                  <a:pt x="0" y="101600"/>
                </a:lnTo>
                <a:lnTo>
                  <a:pt x="86868" y="145033"/>
                </a:lnTo>
                <a:lnTo>
                  <a:pt x="86868" y="116077"/>
                </a:lnTo>
                <a:lnTo>
                  <a:pt x="72389" y="116077"/>
                </a:lnTo>
                <a:lnTo>
                  <a:pt x="72389" y="87122"/>
                </a:lnTo>
                <a:lnTo>
                  <a:pt x="86868" y="87121"/>
                </a:lnTo>
                <a:close/>
              </a:path>
              <a:path w="1995677" h="145033">
                <a:moveTo>
                  <a:pt x="1966722" y="0"/>
                </a:moveTo>
                <a:lnTo>
                  <a:pt x="1966722" y="101600"/>
                </a:lnTo>
                <a:lnTo>
                  <a:pt x="86868" y="87121"/>
                </a:lnTo>
                <a:lnTo>
                  <a:pt x="72389" y="87122"/>
                </a:lnTo>
                <a:lnTo>
                  <a:pt x="72389" y="116077"/>
                </a:lnTo>
                <a:lnTo>
                  <a:pt x="1995677" y="116077"/>
                </a:lnTo>
                <a:lnTo>
                  <a:pt x="1981200" y="87122"/>
                </a:lnTo>
                <a:lnTo>
                  <a:pt x="1966722" y="0"/>
                </a:lnTo>
                <a:close/>
              </a:path>
              <a:path w="1995677" h="145033">
                <a:moveTo>
                  <a:pt x="1995677" y="0"/>
                </a:moveTo>
                <a:lnTo>
                  <a:pt x="1966722" y="0"/>
                </a:lnTo>
                <a:lnTo>
                  <a:pt x="1981200" y="87122"/>
                </a:lnTo>
                <a:lnTo>
                  <a:pt x="1995677" y="116077"/>
                </a:lnTo>
                <a:lnTo>
                  <a:pt x="1995677" y="0"/>
                </a:lnTo>
                <a:close/>
              </a:path>
              <a:path w="1995677" h="145033">
                <a:moveTo>
                  <a:pt x="1966722" y="87121"/>
                </a:moveTo>
                <a:lnTo>
                  <a:pt x="86868" y="87121"/>
                </a:lnTo>
                <a:lnTo>
                  <a:pt x="1966722" y="101600"/>
                </a:lnTo>
                <a:lnTo>
                  <a:pt x="1966722" y="87121"/>
                </a:lnTo>
                <a:close/>
              </a:path>
            </a:pathLst>
          </a:custGeom>
          <a:solidFill>
            <a:srgbClr val="000066"/>
          </a:solidFill>
        </p:spPr>
        <p:txBody>
          <a:bodyPr wrap="square" lIns="0" tIns="0" rIns="0" bIns="0" rtlCol="0">
            <a:noAutofit/>
          </a:bodyPr>
          <a:lstStyle/>
          <a:p>
            <a:endParaRPr/>
          </a:p>
        </p:txBody>
      </p:sp>
      <p:sp>
        <p:nvSpPr>
          <p:cNvPr id="127" name="object 127"/>
          <p:cNvSpPr/>
          <p:nvPr/>
        </p:nvSpPr>
        <p:spPr>
          <a:xfrm>
            <a:off x="4648200" y="3832860"/>
            <a:ext cx="0" cy="205739"/>
          </a:xfrm>
          <a:custGeom>
            <a:avLst/>
            <a:gdLst/>
            <a:ahLst/>
            <a:cxnLst/>
            <a:rect l="l" t="t" r="r" b="b"/>
            <a:pathLst>
              <a:path h="205739">
                <a:moveTo>
                  <a:pt x="0" y="0"/>
                </a:moveTo>
                <a:lnTo>
                  <a:pt x="0" y="205739"/>
                </a:lnTo>
              </a:path>
            </a:pathLst>
          </a:custGeom>
          <a:ln w="9144">
            <a:solidFill>
              <a:srgbClr val="000000"/>
            </a:solidFill>
          </a:ln>
        </p:spPr>
        <p:txBody>
          <a:bodyPr wrap="square" lIns="0" tIns="0" rIns="0" bIns="0" rtlCol="0">
            <a:noAutofit/>
          </a:bodyPr>
          <a:lstStyle/>
          <a:p>
            <a:endParaRPr/>
          </a:p>
        </p:txBody>
      </p:sp>
      <p:sp>
        <p:nvSpPr>
          <p:cNvPr id="128" name="object 128"/>
          <p:cNvSpPr/>
          <p:nvPr/>
        </p:nvSpPr>
        <p:spPr>
          <a:xfrm>
            <a:off x="3048000" y="4038600"/>
            <a:ext cx="1984248" cy="1011936"/>
          </a:xfrm>
          <a:custGeom>
            <a:avLst/>
            <a:gdLst/>
            <a:ahLst/>
            <a:cxnLst/>
            <a:rect l="l" t="t" r="r" b="b"/>
            <a:pathLst>
              <a:path w="1984248" h="1011936">
                <a:moveTo>
                  <a:pt x="0" y="1011936"/>
                </a:moveTo>
                <a:lnTo>
                  <a:pt x="1984248" y="1011936"/>
                </a:lnTo>
                <a:lnTo>
                  <a:pt x="1984248" y="0"/>
                </a:lnTo>
                <a:lnTo>
                  <a:pt x="0" y="0"/>
                </a:lnTo>
                <a:lnTo>
                  <a:pt x="0" y="1011936"/>
                </a:lnTo>
                <a:close/>
              </a:path>
            </a:pathLst>
          </a:custGeom>
          <a:solidFill>
            <a:srgbClr val="FFFF99"/>
          </a:solidFill>
        </p:spPr>
        <p:txBody>
          <a:bodyPr wrap="square" lIns="0" tIns="0" rIns="0" bIns="0" rtlCol="0">
            <a:noAutofit/>
          </a:bodyPr>
          <a:lstStyle/>
          <a:p>
            <a:endParaRPr/>
          </a:p>
        </p:txBody>
      </p:sp>
      <p:sp>
        <p:nvSpPr>
          <p:cNvPr id="129" name="object 129"/>
          <p:cNvSpPr/>
          <p:nvPr/>
        </p:nvSpPr>
        <p:spPr>
          <a:xfrm>
            <a:off x="3048000" y="4038600"/>
            <a:ext cx="1984248" cy="1011936"/>
          </a:xfrm>
          <a:custGeom>
            <a:avLst/>
            <a:gdLst/>
            <a:ahLst/>
            <a:cxnLst/>
            <a:rect l="l" t="t" r="r" b="b"/>
            <a:pathLst>
              <a:path w="1984248" h="1011936">
                <a:moveTo>
                  <a:pt x="0" y="1011936"/>
                </a:moveTo>
                <a:lnTo>
                  <a:pt x="1984248" y="1011936"/>
                </a:lnTo>
                <a:lnTo>
                  <a:pt x="1984248" y="0"/>
                </a:lnTo>
                <a:lnTo>
                  <a:pt x="0" y="0"/>
                </a:lnTo>
                <a:lnTo>
                  <a:pt x="0" y="1011936"/>
                </a:lnTo>
                <a:close/>
              </a:path>
            </a:pathLst>
          </a:custGeom>
          <a:ln w="9143">
            <a:solidFill>
              <a:srgbClr val="000000"/>
            </a:solidFill>
          </a:ln>
        </p:spPr>
        <p:txBody>
          <a:bodyPr wrap="square" lIns="0" tIns="0" rIns="0" bIns="0" rtlCol="0">
            <a:noAutofit/>
          </a:bodyPr>
          <a:lstStyle/>
          <a:p>
            <a:endParaRPr/>
          </a:p>
        </p:txBody>
      </p:sp>
      <p:sp>
        <p:nvSpPr>
          <p:cNvPr id="130" name="object 130"/>
          <p:cNvSpPr/>
          <p:nvPr/>
        </p:nvSpPr>
        <p:spPr>
          <a:xfrm>
            <a:off x="3529584" y="4383024"/>
            <a:ext cx="1039367" cy="457200"/>
          </a:xfrm>
          <a:prstGeom prst="rect">
            <a:avLst/>
          </a:prstGeom>
          <a:blipFill>
            <a:blip r:embed="rId25" cstate="print"/>
            <a:stretch>
              <a:fillRect/>
            </a:stretch>
          </a:blipFill>
        </p:spPr>
        <p:txBody>
          <a:bodyPr wrap="square" lIns="0" tIns="0" rIns="0" bIns="0" rtlCol="0">
            <a:noAutofit/>
          </a:bodyPr>
          <a:lstStyle/>
          <a:p>
            <a:endParaRPr/>
          </a:p>
        </p:txBody>
      </p:sp>
      <p:sp>
        <p:nvSpPr>
          <p:cNvPr id="131" name="object 131"/>
          <p:cNvSpPr/>
          <p:nvPr/>
        </p:nvSpPr>
        <p:spPr>
          <a:xfrm>
            <a:off x="4503420" y="2968752"/>
            <a:ext cx="539496" cy="864108"/>
          </a:xfrm>
          <a:custGeom>
            <a:avLst/>
            <a:gdLst/>
            <a:ahLst/>
            <a:cxnLst/>
            <a:rect l="l" t="t" r="r" b="b"/>
            <a:pathLst>
              <a:path w="539496" h="864108">
                <a:moveTo>
                  <a:pt x="0" y="864108"/>
                </a:moveTo>
                <a:lnTo>
                  <a:pt x="539496" y="864108"/>
                </a:lnTo>
                <a:lnTo>
                  <a:pt x="539496" y="0"/>
                </a:lnTo>
                <a:lnTo>
                  <a:pt x="0" y="0"/>
                </a:lnTo>
                <a:lnTo>
                  <a:pt x="0" y="864108"/>
                </a:lnTo>
                <a:close/>
              </a:path>
            </a:pathLst>
          </a:custGeom>
          <a:solidFill>
            <a:srgbClr val="FFFF99"/>
          </a:solidFill>
        </p:spPr>
        <p:txBody>
          <a:bodyPr wrap="square" lIns="0" tIns="0" rIns="0" bIns="0" rtlCol="0">
            <a:noAutofit/>
          </a:bodyPr>
          <a:lstStyle/>
          <a:p>
            <a:endParaRPr/>
          </a:p>
        </p:txBody>
      </p:sp>
      <p:sp>
        <p:nvSpPr>
          <p:cNvPr id="132" name="object 132"/>
          <p:cNvSpPr/>
          <p:nvPr/>
        </p:nvSpPr>
        <p:spPr>
          <a:xfrm>
            <a:off x="4503420" y="2968752"/>
            <a:ext cx="539496" cy="864108"/>
          </a:xfrm>
          <a:custGeom>
            <a:avLst/>
            <a:gdLst/>
            <a:ahLst/>
            <a:cxnLst/>
            <a:rect l="l" t="t" r="r" b="b"/>
            <a:pathLst>
              <a:path w="539496" h="864108">
                <a:moveTo>
                  <a:pt x="0" y="864108"/>
                </a:moveTo>
                <a:lnTo>
                  <a:pt x="539496" y="864108"/>
                </a:lnTo>
                <a:lnTo>
                  <a:pt x="539496" y="0"/>
                </a:lnTo>
                <a:lnTo>
                  <a:pt x="0" y="0"/>
                </a:lnTo>
                <a:lnTo>
                  <a:pt x="0" y="864108"/>
                </a:lnTo>
                <a:close/>
              </a:path>
            </a:pathLst>
          </a:custGeom>
          <a:ln w="9144">
            <a:solidFill>
              <a:srgbClr val="000000"/>
            </a:solidFill>
          </a:ln>
        </p:spPr>
        <p:txBody>
          <a:bodyPr wrap="square" lIns="0" tIns="0" rIns="0" bIns="0" rtlCol="0">
            <a:noAutofit/>
          </a:bodyPr>
          <a:lstStyle/>
          <a:p>
            <a:endParaRPr/>
          </a:p>
        </p:txBody>
      </p:sp>
      <p:sp>
        <p:nvSpPr>
          <p:cNvPr id="133" name="object 133"/>
          <p:cNvSpPr/>
          <p:nvPr/>
        </p:nvSpPr>
        <p:spPr>
          <a:xfrm>
            <a:off x="4581144" y="3177540"/>
            <a:ext cx="364236" cy="234696"/>
          </a:xfrm>
          <a:prstGeom prst="rect">
            <a:avLst/>
          </a:prstGeom>
          <a:blipFill>
            <a:blip r:embed="rId26" cstate="print"/>
            <a:stretch>
              <a:fillRect/>
            </a:stretch>
          </a:blipFill>
        </p:spPr>
        <p:txBody>
          <a:bodyPr wrap="square" lIns="0" tIns="0" rIns="0" bIns="0" rtlCol="0">
            <a:noAutofit/>
          </a:bodyPr>
          <a:lstStyle/>
          <a:p>
            <a:endParaRPr/>
          </a:p>
        </p:txBody>
      </p:sp>
      <p:sp>
        <p:nvSpPr>
          <p:cNvPr id="134" name="object 134"/>
          <p:cNvSpPr/>
          <p:nvPr/>
        </p:nvSpPr>
        <p:spPr>
          <a:xfrm>
            <a:off x="4802124" y="3177540"/>
            <a:ext cx="176784" cy="234696"/>
          </a:xfrm>
          <a:prstGeom prst="rect">
            <a:avLst/>
          </a:prstGeom>
          <a:blipFill>
            <a:blip r:embed="rId27" cstate="print"/>
            <a:stretch>
              <a:fillRect/>
            </a:stretch>
          </a:blipFill>
        </p:spPr>
        <p:txBody>
          <a:bodyPr wrap="square" lIns="0" tIns="0" rIns="0" bIns="0" rtlCol="0">
            <a:noAutofit/>
          </a:bodyPr>
          <a:lstStyle/>
          <a:p>
            <a:endParaRPr/>
          </a:p>
        </p:txBody>
      </p:sp>
      <p:sp>
        <p:nvSpPr>
          <p:cNvPr id="135" name="object 135"/>
          <p:cNvSpPr/>
          <p:nvPr/>
        </p:nvSpPr>
        <p:spPr>
          <a:xfrm>
            <a:off x="4556760" y="3299459"/>
            <a:ext cx="411479" cy="234696"/>
          </a:xfrm>
          <a:prstGeom prst="rect">
            <a:avLst/>
          </a:prstGeom>
          <a:blipFill>
            <a:blip r:embed="rId28" cstate="print"/>
            <a:stretch>
              <a:fillRect/>
            </a:stretch>
          </a:blipFill>
        </p:spPr>
        <p:txBody>
          <a:bodyPr wrap="square" lIns="0" tIns="0" rIns="0" bIns="0" rtlCol="0">
            <a:noAutofit/>
          </a:bodyPr>
          <a:lstStyle/>
          <a:p>
            <a:endParaRPr/>
          </a:p>
        </p:txBody>
      </p:sp>
      <p:sp>
        <p:nvSpPr>
          <p:cNvPr id="136" name="object 136"/>
          <p:cNvSpPr/>
          <p:nvPr/>
        </p:nvSpPr>
        <p:spPr>
          <a:xfrm>
            <a:off x="4824984" y="3299459"/>
            <a:ext cx="176784" cy="234696"/>
          </a:xfrm>
          <a:prstGeom prst="rect">
            <a:avLst/>
          </a:prstGeom>
          <a:blipFill>
            <a:blip r:embed="rId27" cstate="print"/>
            <a:stretch>
              <a:fillRect/>
            </a:stretch>
          </a:blipFill>
        </p:spPr>
        <p:txBody>
          <a:bodyPr wrap="square" lIns="0" tIns="0" rIns="0" bIns="0" rtlCol="0">
            <a:noAutofit/>
          </a:bodyPr>
          <a:lstStyle/>
          <a:p>
            <a:endParaRPr/>
          </a:p>
        </p:txBody>
      </p:sp>
      <p:sp>
        <p:nvSpPr>
          <p:cNvPr id="137" name="object 137"/>
          <p:cNvSpPr/>
          <p:nvPr/>
        </p:nvSpPr>
        <p:spPr>
          <a:xfrm>
            <a:off x="4605528" y="3421379"/>
            <a:ext cx="347472" cy="234696"/>
          </a:xfrm>
          <a:prstGeom prst="rect">
            <a:avLst/>
          </a:prstGeom>
          <a:blipFill>
            <a:blip r:embed="rId29" cstate="print"/>
            <a:stretch>
              <a:fillRect/>
            </a:stretch>
          </a:blipFill>
        </p:spPr>
        <p:txBody>
          <a:bodyPr wrap="square" lIns="0" tIns="0" rIns="0" bIns="0" rtlCol="0">
            <a:noAutofit/>
          </a:bodyPr>
          <a:lstStyle/>
          <a:p>
            <a:endParaRPr/>
          </a:p>
        </p:txBody>
      </p:sp>
      <p:sp>
        <p:nvSpPr>
          <p:cNvPr id="138" name="object 138"/>
          <p:cNvSpPr/>
          <p:nvPr/>
        </p:nvSpPr>
        <p:spPr>
          <a:xfrm>
            <a:off x="4660392" y="3823716"/>
            <a:ext cx="224027" cy="391668"/>
          </a:xfrm>
          <a:custGeom>
            <a:avLst/>
            <a:gdLst/>
            <a:ahLst/>
            <a:cxnLst/>
            <a:rect l="l" t="t" r="r" b="b"/>
            <a:pathLst>
              <a:path w="224027" h="391667">
                <a:moveTo>
                  <a:pt x="0" y="391668"/>
                </a:moveTo>
                <a:lnTo>
                  <a:pt x="224027" y="391668"/>
                </a:lnTo>
                <a:lnTo>
                  <a:pt x="224027" y="0"/>
                </a:lnTo>
                <a:lnTo>
                  <a:pt x="0" y="0"/>
                </a:lnTo>
                <a:lnTo>
                  <a:pt x="0" y="391668"/>
                </a:lnTo>
                <a:close/>
              </a:path>
            </a:pathLst>
          </a:custGeom>
          <a:solidFill>
            <a:srgbClr val="FFFF99"/>
          </a:solidFill>
        </p:spPr>
        <p:txBody>
          <a:bodyPr wrap="square" lIns="0" tIns="0" rIns="0" bIns="0" rtlCol="0">
            <a:noAutofit/>
          </a:bodyPr>
          <a:lstStyle/>
          <a:p>
            <a:endParaRPr/>
          </a:p>
        </p:txBody>
      </p:sp>
      <p:sp>
        <p:nvSpPr>
          <p:cNvPr id="139" name="object 139"/>
          <p:cNvSpPr/>
          <p:nvPr/>
        </p:nvSpPr>
        <p:spPr>
          <a:xfrm>
            <a:off x="4876800" y="3810000"/>
            <a:ext cx="0" cy="365760"/>
          </a:xfrm>
          <a:custGeom>
            <a:avLst/>
            <a:gdLst/>
            <a:ahLst/>
            <a:cxnLst/>
            <a:rect l="l" t="t" r="r" b="b"/>
            <a:pathLst>
              <a:path h="365760">
                <a:moveTo>
                  <a:pt x="0" y="0"/>
                </a:moveTo>
                <a:lnTo>
                  <a:pt x="0" y="365760"/>
                </a:lnTo>
              </a:path>
            </a:pathLst>
          </a:custGeom>
          <a:ln w="9144">
            <a:solidFill>
              <a:srgbClr val="000000"/>
            </a:solidFill>
          </a:ln>
        </p:spPr>
        <p:txBody>
          <a:bodyPr wrap="square" lIns="0" tIns="0" rIns="0" bIns="0" rtlCol="0">
            <a:noAutofit/>
          </a:bodyPr>
          <a:lstStyle/>
          <a:p>
            <a:endParaRPr/>
          </a:p>
        </p:txBody>
      </p:sp>
      <p:sp>
        <p:nvSpPr>
          <p:cNvPr id="140" name="object 140"/>
          <p:cNvSpPr/>
          <p:nvPr/>
        </p:nvSpPr>
        <p:spPr>
          <a:xfrm>
            <a:off x="6630161" y="4648962"/>
            <a:ext cx="1600200" cy="838200"/>
          </a:xfrm>
          <a:custGeom>
            <a:avLst/>
            <a:gdLst/>
            <a:ahLst/>
            <a:cxnLst/>
            <a:rect l="l" t="t" r="r" b="b"/>
            <a:pathLst>
              <a:path w="1600200" h="838200">
                <a:moveTo>
                  <a:pt x="0" y="419100"/>
                </a:moveTo>
                <a:lnTo>
                  <a:pt x="10473" y="351105"/>
                </a:lnTo>
                <a:lnTo>
                  <a:pt x="40794" y="286609"/>
                </a:lnTo>
                <a:lnTo>
                  <a:pt x="89315" y="226473"/>
                </a:lnTo>
                <a:lnTo>
                  <a:pt x="119885" y="198310"/>
                </a:lnTo>
                <a:lnTo>
                  <a:pt x="154387" y="171559"/>
                </a:lnTo>
                <a:lnTo>
                  <a:pt x="192615" y="146330"/>
                </a:lnTo>
                <a:lnTo>
                  <a:pt x="234362" y="122729"/>
                </a:lnTo>
                <a:lnTo>
                  <a:pt x="279423" y="100865"/>
                </a:lnTo>
                <a:lnTo>
                  <a:pt x="327592" y="80845"/>
                </a:lnTo>
                <a:lnTo>
                  <a:pt x="378663" y="62776"/>
                </a:lnTo>
                <a:lnTo>
                  <a:pt x="432430" y="46768"/>
                </a:lnTo>
                <a:lnTo>
                  <a:pt x="488686" y="32926"/>
                </a:lnTo>
                <a:lnTo>
                  <a:pt x="547225" y="21360"/>
                </a:lnTo>
                <a:lnTo>
                  <a:pt x="607842" y="12176"/>
                </a:lnTo>
                <a:lnTo>
                  <a:pt x="670331" y="5483"/>
                </a:lnTo>
                <a:lnTo>
                  <a:pt x="734486" y="1388"/>
                </a:lnTo>
                <a:lnTo>
                  <a:pt x="800100" y="0"/>
                </a:lnTo>
                <a:lnTo>
                  <a:pt x="865713" y="1388"/>
                </a:lnTo>
                <a:lnTo>
                  <a:pt x="929868" y="5483"/>
                </a:lnTo>
                <a:lnTo>
                  <a:pt x="992357" y="12176"/>
                </a:lnTo>
                <a:lnTo>
                  <a:pt x="1052974" y="21360"/>
                </a:lnTo>
                <a:lnTo>
                  <a:pt x="1111513" y="32926"/>
                </a:lnTo>
                <a:lnTo>
                  <a:pt x="1167769" y="46768"/>
                </a:lnTo>
                <a:lnTo>
                  <a:pt x="1221536" y="62776"/>
                </a:lnTo>
                <a:lnTo>
                  <a:pt x="1272607" y="80845"/>
                </a:lnTo>
                <a:lnTo>
                  <a:pt x="1320776" y="100865"/>
                </a:lnTo>
                <a:lnTo>
                  <a:pt x="1365837" y="122729"/>
                </a:lnTo>
                <a:lnTo>
                  <a:pt x="1407584" y="146330"/>
                </a:lnTo>
                <a:lnTo>
                  <a:pt x="1445812" y="171559"/>
                </a:lnTo>
                <a:lnTo>
                  <a:pt x="1480314" y="198310"/>
                </a:lnTo>
                <a:lnTo>
                  <a:pt x="1510884" y="226473"/>
                </a:lnTo>
                <a:lnTo>
                  <a:pt x="1537317" y="255942"/>
                </a:lnTo>
                <a:lnTo>
                  <a:pt x="1576944" y="318366"/>
                </a:lnTo>
                <a:lnTo>
                  <a:pt x="1597547" y="384719"/>
                </a:lnTo>
                <a:lnTo>
                  <a:pt x="1600200" y="419100"/>
                </a:lnTo>
                <a:lnTo>
                  <a:pt x="1597547" y="453480"/>
                </a:lnTo>
                <a:lnTo>
                  <a:pt x="1576944" y="519833"/>
                </a:lnTo>
                <a:lnTo>
                  <a:pt x="1537317" y="582257"/>
                </a:lnTo>
                <a:lnTo>
                  <a:pt x="1510884" y="611726"/>
                </a:lnTo>
                <a:lnTo>
                  <a:pt x="1480314" y="639889"/>
                </a:lnTo>
                <a:lnTo>
                  <a:pt x="1445812" y="666640"/>
                </a:lnTo>
                <a:lnTo>
                  <a:pt x="1407584" y="691869"/>
                </a:lnTo>
                <a:lnTo>
                  <a:pt x="1365837" y="715470"/>
                </a:lnTo>
                <a:lnTo>
                  <a:pt x="1320776" y="737334"/>
                </a:lnTo>
                <a:lnTo>
                  <a:pt x="1272607" y="757354"/>
                </a:lnTo>
                <a:lnTo>
                  <a:pt x="1221536" y="775423"/>
                </a:lnTo>
                <a:lnTo>
                  <a:pt x="1167769" y="791431"/>
                </a:lnTo>
                <a:lnTo>
                  <a:pt x="1111513" y="805273"/>
                </a:lnTo>
                <a:lnTo>
                  <a:pt x="1052974" y="816839"/>
                </a:lnTo>
                <a:lnTo>
                  <a:pt x="992357" y="826023"/>
                </a:lnTo>
                <a:lnTo>
                  <a:pt x="929868" y="832716"/>
                </a:lnTo>
                <a:lnTo>
                  <a:pt x="865713" y="836811"/>
                </a:lnTo>
                <a:lnTo>
                  <a:pt x="800100" y="838200"/>
                </a:lnTo>
                <a:lnTo>
                  <a:pt x="734486" y="836811"/>
                </a:lnTo>
                <a:lnTo>
                  <a:pt x="670331" y="832716"/>
                </a:lnTo>
                <a:lnTo>
                  <a:pt x="607842" y="826023"/>
                </a:lnTo>
                <a:lnTo>
                  <a:pt x="547225" y="816839"/>
                </a:lnTo>
                <a:lnTo>
                  <a:pt x="488686" y="805273"/>
                </a:lnTo>
                <a:lnTo>
                  <a:pt x="432430" y="791431"/>
                </a:lnTo>
                <a:lnTo>
                  <a:pt x="378663" y="775423"/>
                </a:lnTo>
                <a:lnTo>
                  <a:pt x="327592" y="757354"/>
                </a:lnTo>
                <a:lnTo>
                  <a:pt x="279423" y="737334"/>
                </a:lnTo>
                <a:lnTo>
                  <a:pt x="234362" y="715470"/>
                </a:lnTo>
                <a:lnTo>
                  <a:pt x="192615" y="691869"/>
                </a:lnTo>
                <a:lnTo>
                  <a:pt x="154387" y="666640"/>
                </a:lnTo>
                <a:lnTo>
                  <a:pt x="119885" y="639889"/>
                </a:lnTo>
                <a:lnTo>
                  <a:pt x="89315" y="611726"/>
                </a:lnTo>
                <a:lnTo>
                  <a:pt x="62882" y="582257"/>
                </a:lnTo>
                <a:lnTo>
                  <a:pt x="23255" y="519833"/>
                </a:lnTo>
                <a:lnTo>
                  <a:pt x="2652" y="453480"/>
                </a:lnTo>
                <a:lnTo>
                  <a:pt x="0" y="419100"/>
                </a:lnTo>
                <a:close/>
              </a:path>
            </a:pathLst>
          </a:custGeom>
          <a:ln w="28956">
            <a:solidFill>
              <a:srgbClr val="CC3300"/>
            </a:solidFill>
          </a:ln>
        </p:spPr>
        <p:txBody>
          <a:bodyPr wrap="square" lIns="0" tIns="0" rIns="0" bIns="0" rtlCol="0">
            <a:noAutofit/>
          </a:bodyPr>
          <a:lstStyle/>
          <a:p>
            <a:endParaRPr/>
          </a:p>
        </p:txBody>
      </p:sp>
      <p:sp>
        <p:nvSpPr>
          <p:cNvPr id="141" name="object 141"/>
          <p:cNvSpPr/>
          <p:nvPr/>
        </p:nvSpPr>
        <p:spPr>
          <a:xfrm>
            <a:off x="2896362" y="3963162"/>
            <a:ext cx="1905000" cy="1371600"/>
          </a:xfrm>
          <a:custGeom>
            <a:avLst/>
            <a:gdLst/>
            <a:ahLst/>
            <a:cxnLst/>
            <a:rect l="l" t="t" r="r" b="b"/>
            <a:pathLst>
              <a:path w="1905000" h="1371600">
                <a:moveTo>
                  <a:pt x="0" y="685800"/>
                </a:moveTo>
                <a:lnTo>
                  <a:pt x="3157" y="629559"/>
                </a:lnTo>
                <a:lnTo>
                  <a:pt x="12467" y="574570"/>
                </a:lnTo>
                <a:lnTo>
                  <a:pt x="27683" y="521008"/>
                </a:lnTo>
                <a:lnTo>
                  <a:pt x="48560" y="469050"/>
                </a:lnTo>
                <a:lnTo>
                  <a:pt x="74854" y="418873"/>
                </a:lnTo>
                <a:lnTo>
                  <a:pt x="106319" y="370654"/>
                </a:lnTo>
                <a:lnTo>
                  <a:pt x="142710" y="324568"/>
                </a:lnTo>
                <a:lnTo>
                  <a:pt x="183782" y="280793"/>
                </a:lnTo>
                <a:lnTo>
                  <a:pt x="229289" y="239506"/>
                </a:lnTo>
                <a:lnTo>
                  <a:pt x="278987" y="200882"/>
                </a:lnTo>
                <a:lnTo>
                  <a:pt x="332630" y="165098"/>
                </a:lnTo>
                <a:lnTo>
                  <a:pt x="389973" y="132331"/>
                </a:lnTo>
                <a:lnTo>
                  <a:pt x="450771" y="102758"/>
                </a:lnTo>
                <a:lnTo>
                  <a:pt x="514779" y="76555"/>
                </a:lnTo>
                <a:lnTo>
                  <a:pt x="581751" y="53899"/>
                </a:lnTo>
                <a:lnTo>
                  <a:pt x="651442" y="34966"/>
                </a:lnTo>
                <a:lnTo>
                  <a:pt x="723608" y="19933"/>
                </a:lnTo>
                <a:lnTo>
                  <a:pt x="798003" y="8977"/>
                </a:lnTo>
                <a:lnTo>
                  <a:pt x="874382" y="2273"/>
                </a:lnTo>
                <a:lnTo>
                  <a:pt x="952500" y="0"/>
                </a:lnTo>
                <a:lnTo>
                  <a:pt x="1030617" y="2273"/>
                </a:lnTo>
                <a:lnTo>
                  <a:pt x="1106996" y="8977"/>
                </a:lnTo>
                <a:lnTo>
                  <a:pt x="1181391" y="19933"/>
                </a:lnTo>
                <a:lnTo>
                  <a:pt x="1253557" y="34966"/>
                </a:lnTo>
                <a:lnTo>
                  <a:pt x="1323248" y="53899"/>
                </a:lnTo>
                <a:lnTo>
                  <a:pt x="1390220" y="76555"/>
                </a:lnTo>
                <a:lnTo>
                  <a:pt x="1454228" y="102758"/>
                </a:lnTo>
                <a:lnTo>
                  <a:pt x="1515026" y="132331"/>
                </a:lnTo>
                <a:lnTo>
                  <a:pt x="1572369" y="165098"/>
                </a:lnTo>
                <a:lnTo>
                  <a:pt x="1626012" y="200882"/>
                </a:lnTo>
                <a:lnTo>
                  <a:pt x="1675710" y="239506"/>
                </a:lnTo>
                <a:lnTo>
                  <a:pt x="1721217" y="280793"/>
                </a:lnTo>
                <a:lnTo>
                  <a:pt x="1762289" y="324568"/>
                </a:lnTo>
                <a:lnTo>
                  <a:pt x="1798680" y="370654"/>
                </a:lnTo>
                <a:lnTo>
                  <a:pt x="1830145" y="418873"/>
                </a:lnTo>
                <a:lnTo>
                  <a:pt x="1856439" y="469050"/>
                </a:lnTo>
                <a:lnTo>
                  <a:pt x="1877316" y="521008"/>
                </a:lnTo>
                <a:lnTo>
                  <a:pt x="1892532" y="574570"/>
                </a:lnTo>
                <a:lnTo>
                  <a:pt x="1901842" y="629559"/>
                </a:lnTo>
                <a:lnTo>
                  <a:pt x="1905000" y="685800"/>
                </a:lnTo>
                <a:lnTo>
                  <a:pt x="1901842" y="742040"/>
                </a:lnTo>
                <a:lnTo>
                  <a:pt x="1892532" y="797029"/>
                </a:lnTo>
                <a:lnTo>
                  <a:pt x="1877316" y="850591"/>
                </a:lnTo>
                <a:lnTo>
                  <a:pt x="1856439" y="902549"/>
                </a:lnTo>
                <a:lnTo>
                  <a:pt x="1830145" y="952726"/>
                </a:lnTo>
                <a:lnTo>
                  <a:pt x="1798680" y="1000945"/>
                </a:lnTo>
                <a:lnTo>
                  <a:pt x="1762289" y="1047031"/>
                </a:lnTo>
                <a:lnTo>
                  <a:pt x="1721217" y="1090806"/>
                </a:lnTo>
                <a:lnTo>
                  <a:pt x="1675710" y="1132093"/>
                </a:lnTo>
                <a:lnTo>
                  <a:pt x="1626012" y="1170717"/>
                </a:lnTo>
                <a:lnTo>
                  <a:pt x="1572369" y="1206501"/>
                </a:lnTo>
                <a:lnTo>
                  <a:pt x="1515026" y="1239268"/>
                </a:lnTo>
                <a:lnTo>
                  <a:pt x="1454228" y="1268841"/>
                </a:lnTo>
                <a:lnTo>
                  <a:pt x="1390220" y="1295044"/>
                </a:lnTo>
                <a:lnTo>
                  <a:pt x="1323248" y="1317700"/>
                </a:lnTo>
                <a:lnTo>
                  <a:pt x="1253557" y="1336633"/>
                </a:lnTo>
                <a:lnTo>
                  <a:pt x="1181391" y="1351666"/>
                </a:lnTo>
                <a:lnTo>
                  <a:pt x="1106996" y="1362622"/>
                </a:lnTo>
                <a:lnTo>
                  <a:pt x="1030617" y="1369326"/>
                </a:lnTo>
                <a:lnTo>
                  <a:pt x="952500" y="1371600"/>
                </a:lnTo>
                <a:lnTo>
                  <a:pt x="874382" y="1369326"/>
                </a:lnTo>
                <a:lnTo>
                  <a:pt x="798003" y="1362622"/>
                </a:lnTo>
                <a:lnTo>
                  <a:pt x="723608" y="1351666"/>
                </a:lnTo>
                <a:lnTo>
                  <a:pt x="651442" y="1336633"/>
                </a:lnTo>
                <a:lnTo>
                  <a:pt x="581751" y="1317700"/>
                </a:lnTo>
                <a:lnTo>
                  <a:pt x="514779" y="1295044"/>
                </a:lnTo>
                <a:lnTo>
                  <a:pt x="450771" y="1268841"/>
                </a:lnTo>
                <a:lnTo>
                  <a:pt x="389973" y="1239268"/>
                </a:lnTo>
                <a:lnTo>
                  <a:pt x="332630" y="1206501"/>
                </a:lnTo>
                <a:lnTo>
                  <a:pt x="278987" y="1170717"/>
                </a:lnTo>
                <a:lnTo>
                  <a:pt x="229289" y="1132093"/>
                </a:lnTo>
                <a:lnTo>
                  <a:pt x="183782" y="1090806"/>
                </a:lnTo>
                <a:lnTo>
                  <a:pt x="142710" y="1047031"/>
                </a:lnTo>
                <a:lnTo>
                  <a:pt x="106319" y="1000945"/>
                </a:lnTo>
                <a:lnTo>
                  <a:pt x="74854" y="952726"/>
                </a:lnTo>
                <a:lnTo>
                  <a:pt x="48560" y="902549"/>
                </a:lnTo>
                <a:lnTo>
                  <a:pt x="27683" y="850591"/>
                </a:lnTo>
                <a:lnTo>
                  <a:pt x="12467" y="797029"/>
                </a:lnTo>
                <a:lnTo>
                  <a:pt x="3157" y="742040"/>
                </a:lnTo>
                <a:lnTo>
                  <a:pt x="0" y="685800"/>
                </a:lnTo>
                <a:close/>
              </a:path>
            </a:pathLst>
          </a:custGeom>
          <a:ln w="28956">
            <a:solidFill>
              <a:srgbClr val="CC3300"/>
            </a:solidFill>
          </a:ln>
        </p:spPr>
        <p:txBody>
          <a:bodyPr wrap="square" lIns="0" tIns="0" rIns="0" bIns="0" rtlCol="0">
            <a:noAutofit/>
          </a:bodyPr>
          <a:lstStyle/>
          <a:p>
            <a:endParaRPr/>
          </a:p>
        </p:txBody>
      </p:sp>
      <p:sp>
        <p:nvSpPr>
          <p:cNvPr id="142" name="object 142"/>
          <p:cNvSpPr/>
          <p:nvPr/>
        </p:nvSpPr>
        <p:spPr>
          <a:xfrm>
            <a:off x="5029962" y="4572762"/>
            <a:ext cx="838200" cy="1143000"/>
          </a:xfrm>
          <a:custGeom>
            <a:avLst/>
            <a:gdLst/>
            <a:ahLst/>
            <a:cxnLst/>
            <a:rect l="l" t="t" r="r" b="b"/>
            <a:pathLst>
              <a:path w="838200" h="1143000">
                <a:moveTo>
                  <a:pt x="0" y="571500"/>
                </a:moveTo>
                <a:lnTo>
                  <a:pt x="1388" y="524632"/>
                </a:lnTo>
                <a:lnTo>
                  <a:pt x="5483" y="478808"/>
                </a:lnTo>
                <a:lnTo>
                  <a:pt x="12176" y="434173"/>
                </a:lnTo>
                <a:lnTo>
                  <a:pt x="21360" y="390875"/>
                </a:lnTo>
                <a:lnTo>
                  <a:pt x="32926" y="349061"/>
                </a:lnTo>
                <a:lnTo>
                  <a:pt x="46768" y="308878"/>
                </a:lnTo>
                <a:lnTo>
                  <a:pt x="62776" y="270474"/>
                </a:lnTo>
                <a:lnTo>
                  <a:pt x="80845" y="233994"/>
                </a:lnTo>
                <a:lnTo>
                  <a:pt x="100865" y="199588"/>
                </a:lnTo>
                <a:lnTo>
                  <a:pt x="122729" y="167401"/>
                </a:lnTo>
                <a:lnTo>
                  <a:pt x="171559" y="110276"/>
                </a:lnTo>
                <a:lnTo>
                  <a:pt x="226473" y="63796"/>
                </a:lnTo>
                <a:lnTo>
                  <a:pt x="286609" y="29138"/>
                </a:lnTo>
                <a:lnTo>
                  <a:pt x="351105" y="7480"/>
                </a:lnTo>
                <a:lnTo>
                  <a:pt x="419100" y="0"/>
                </a:lnTo>
                <a:lnTo>
                  <a:pt x="453480" y="1894"/>
                </a:lnTo>
                <a:lnTo>
                  <a:pt x="519833" y="16611"/>
                </a:lnTo>
                <a:lnTo>
                  <a:pt x="582257" y="44916"/>
                </a:lnTo>
                <a:lnTo>
                  <a:pt x="639889" y="85632"/>
                </a:lnTo>
                <a:lnTo>
                  <a:pt x="691869" y="137582"/>
                </a:lnTo>
                <a:lnTo>
                  <a:pt x="737334" y="199588"/>
                </a:lnTo>
                <a:lnTo>
                  <a:pt x="757354" y="233994"/>
                </a:lnTo>
                <a:lnTo>
                  <a:pt x="775423" y="270474"/>
                </a:lnTo>
                <a:lnTo>
                  <a:pt x="791431" y="308878"/>
                </a:lnTo>
                <a:lnTo>
                  <a:pt x="805273" y="349061"/>
                </a:lnTo>
                <a:lnTo>
                  <a:pt x="816839" y="390875"/>
                </a:lnTo>
                <a:lnTo>
                  <a:pt x="826023" y="434173"/>
                </a:lnTo>
                <a:lnTo>
                  <a:pt x="832716" y="478808"/>
                </a:lnTo>
                <a:lnTo>
                  <a:pt x="836811" y="524632"/>
                </a:lnTo>
                <a:lnTo>
                  <a:pt x="838200" y="571500"/>
                </a:lnTo>
                <a:lnTo>
                  <a:pt x="836811" y="618367"/>
                </a:lnTo>
                <a:lnTo>
                  <a:pt x="832716" y="664191"/>
                </a:lnTo>
                <a:lnTo>
                  <a:pt x="826023" y="708826"/>
                </a:lnTo>
                <a:lnTo>
                  <a:pt x="816839" y="752124"/>
                </a:lnTo>
                <a:lnTo>
                  <a:pt x="805273" y="793938"/>
                </a:lnTo>
                <a:lnTo>
                  <a:pt x="791431" y="834121"/>
                </a:lnTo>
                <a:lnTo>
                  <a:pt x="775423" y="872525"/>
                </a:lnTo>
                <a:lnTo>
                  <a:pt x="757354" y="909005"/>
                </a:lnTo>
                <a:lnTo>
                  <a:pt x="737334" y="943411"/>
                </a:lnTo>
                <a:lnTo>
                  <a:pt x="715470" y="975598"/>
                </a:lnTo>
                <a:lnTo>
                  <a:pt x="666640" y="1032723"/>
                </a:lnTo>
                <a:lnTo>
                  <a:pt x="611726" y="1079203"/>
                </a:lnTo>
                <a:lnTo>
                  <a:pt x="551590" y="1113861"/>
                </a:lnTo>
                <a:lnTo>
                  <a:pt x="487094" y="1135519"/>
                </a:lnTo>
                <a:lnTo>
                  <a:pt x="419100" y="1143000"/>
                </a:lnTo>
                <a:lnTo>
                  <a:pt x="384719" y="1141105"/>
                </a:lnTo>
                <a:lnTo>
                  <a:pt x="318366" y="1126388"/>
                </a:lnTo>
                <a:lnTo>
                  <a:pt x="255942" y="1098083"/>
                </a:lnTo>
                <a:lnTo>
                  <a:pt x="198310" y="1057367"/>
                </a:lnTo>
                <a:lnTo>
                  <a:pt x="146330" y="1005417"/>
                </a:lnTo>
                <a:lnTo>
                  <a:pt x="100865" y="943411"/>
                </a:lnTo>
                <a:lnTo>
                  <a:pt x="80845" y="909005"/>
                </a:lnTo>
                <a:lnTo>
                  <a:pt x="62776" y="872525"/>
                </a:lnTo>
                <a:lnTo>
                  <a:pt x="46768" y="834121"/>
                </a:lnTo>
                <a:lnTo>
                  <a:pt x="32926" y="793938"/>
                </a:lnTo>
                <a:lnTo>
                  <a:pt x="21360" y="752124"/>
                </a:lnTo>
                <a:lnTo>
                  <a:pt x="12176" y="708826"/>
                </a:lnTo>
                <a:lnTo>
                  <a:pt x="5483" y="664191"/>
                </a:lnTo>
                <a:lnTo>
                  <a:pt x="1388" y="618367"/>
                </a:lnTo>
                <a:lnTo>
                  <a:pt x="0" y="571500"/>
                </a:lnTo>
                <a:close/>
              </a:path>
            </a:pathLst>
          </a:custGeom>
          <a:ln w="28956">
            <a:solidFill>
              <a:srgbClr val="CC3300"/>
            </a:solidFill>
          </a:ln>
        </p:spPr>
        <p:txBody>
          <a:bodyPr wrap="square" lIns="0" tIns="0" rIns="0" bIns="0" rtlCol="0">
            <a:noAutofit/>
          </a:bodyPr>
          <a:lstStyle/>
          <a:p>
            <a:endParaRPr/>
          </a:p>
        </p:txBody>
      </p:sp>
      <p:sp>
        <p:nvSpPr>
          <p:cNvPr id="143" name="object 143"/>
          <p:cNvSpPr/>
          <p:nvPr/>
        </p:nvSpPr>
        <p:spPr>
          <a:xfrm>
            <a:off x="3048762" y="1448562"/>
            <a:ext cx="1295400" cy="609600"/>
          </a:xfrm>
          <a:custGeom>
            <a:avLst/>
            <a:gdLst/>
            <a:ahLst/>
            <a:cxnLst/>
            <a:rect l="l" t="t" r="r" b="b"/>
            <a:pathLst>
              <a:path w="1295400" h="609600">
                <a:moveTo>
                  <a:pt x="0" y="304800"/>
                </a:moveTo>
                <a:lnTo>
                  <a:pt x="8476" y="255374"/>
                </a:lnTo>
                <a:lnTo>
                  <a:pt x="33015" y="208483"/>
                </a:lnTo>
                <a:lnTo>
                  <a:pt x="72286" y="164753"/>
                </a:lnTo>
                <a:lnTo>
                  <a:pt x="124955" y="124815"/>
                </a:lnTo>
                <a:lnTo>
                  <a:pt x="189690" y="89296"/>
                </a:lnTo>
                <a:lnTo>
                  <a:pt x="226165" y="73391"/>
                </a:lnTo>
                <a:lnTo>
                  <a:pt x="265157" y="58826"/>
                </a:lnTo>
                <a:lnTo>
                  <a:pt x="306499" y="45680"/>
                </a:lnTo>
                <a:lnTo>
                  <a:pt x="350025" y="34032"/>
                </a:lnTo>
                <a:lnTo>
                  <a:pt x="395567" y="23961"/>
                </a:lnTo>
                <a:lnTo>
                  <a:pt x="442959" y="15544"/>
                </a:lnTo>
                <a:lnTo>
                  <a:pt x="492035" y="8861"/>
                </a:lnTo>
                <a:lnTo>
                  <a:pt x="542628" y="3990"/>
                </a:lnTo>
                <a:lnTo>
                  <a:pt x="594572" y="1010"/>
                </a:lnTo>
                <a:lnTo>
                  <a:pt x="647700" y="0"/>
                </a:lnTo>
                <a:lnTo>
                  <a:pt x="700827" y="1010"/>
                </a:lnTo>
                <a:lnTo>
                  <a:pt x="752771" y="3990"/>
                </a:lnTo>
                <a:lnTo>
                  <a:pt x="803364" y="8861"/>
                </a:lnTo>
                <a:lnTo>
                  <a:pt x="852440" y="15544"/>
                </a:lnTo>
                <a:lnTo>
                  <a:pt x="899832" y="23961"/>
                </a:lnTo>
                <a:lnTo>
                  <a:pt x="945374" y="34032"/>
                </a:lnTo>
                <a:lnTo>
                  <a:pt x="988900" y="45680"/>
                </a:lnTo>
                <a:lnTo>
                  <a:pt x="1030242" y="58826"/>
                </a:lnTo>
                <a:lnTo>
                  <a:pt x="1069234" y="73391"/>
                </a:lnTo>
                <a:lnTo>
                  <a:pt x="1105709" y="89296"/>
                </a:lnTo>
                <a:lnTo>
                  <a:pt x="1170444" y="124815"/>
                </a:lnTo>
                <a:lnTo>
                  <a:pt x="1223113" y="164753"/>
                </a:lnTo>
                <a:lnTo>
                  <a:pt x="1262384" y="208483"/>
                </a:lnTo>
                <a:lnTo>
                  <a:pt x="1286923" y="255374"/>
                </a:lnTo>
                <a:lnTo>
                  <a:pt x="1295400" y="304800"/>
                </a:lnTo>
                <a:lnTo>
                  <a:pt x="1293253" y="329790"/>
                </a:lnTo>
                <a:lnTo>
                  <a:pt x="1276578" y="378027"/>
                </a:lnTo>
                <a:lnTo>
                  <a:pt x="1244506" y="423416"/>
                </a:lnTo>
                <a:lnTo>
                  <a:pt x="1198370" y="465328"/>
                </a:lnTo>
                <a:lnTo>
                  <a:pt x="1139501" y="503135"/>
                </a:lnTo>
                <a:lnTo>
                  <a:pt x="1069234" y="536208"/>
                </a:lnTo>
                <a:lnTo>
                  <a:pt x="1030242" y="550773"/>
                </a:lnTo>
                <a:lnTo>
                  <a:pt x="988900" y="563919"/>
                </a:lnTo>
                <a:lnTo>
                  <a:pt x="945374" y="575567"/>
                </a:lnTo>
                <a:lnTo>
                  <a:pt x="899832" y="585638"/>
                </a:lnTo>
                <a:lnTo>
                  <a:pt x="852440" y="594055"/>
                </a:lnTo>
                <a:lnTo>
                  <a:pt x="803364" y="600738"/>
                </a:lnTo>
                <a:lnTo>
                  <a:pt x="752771" y="605609"/>
                </a:lnTo>
                <a:lnTo>
                  <a:pt x="700827" y="608589"/>
                </a:lnTo>
                <a:lnTo>
                  <a:pt x="647700" y="609600"/>
                </a:lnTo>
                <a:lnTo>
                  <a:pt x="594572" y="608589"/>
                </a:lnTo>
                <a:lnTo>
                  <a:pt x="542628" y="605609"/>
                </a:lnTo>
                <a:lnTo>
                  <a:pt x="492035" y="600738"/>
                </a:lnTo>
                <a:lnTo>
                  <a:pt x="442959" y="594055"/>
                </a:lnTo>
                <a:lnTo>
                  <a:pt x="395567" y="585638"/>
                </a:lnTo>
                <a:lnTo>
                  <a:pt x="350025" y="575567"/>
                </a:lnTo>
                <a:lnTo>
                  <a:pt x="306499" y="563919"/>
                </a:lnTo>
                <a:lnTo>
                  <a:pt x="265157" y="550773"/>
                </a:lnTo>
                <a:lnTo>
                  <a:pt x="226165" y="536208"/>
                </a:lnTo>
                <a:lnTo>
                  <a:pt x="189690" y="520303"/>
                </a:lnTo>
                <a:lnTo>
                  <a:pt x="124955" y="484784"/>
                </a:lnTo>
                <a:lnTo>
                  <a:pt x="72286" y="444846"/>
                </a:lnTo>
                <a:lnTo>
                  <a:pt x="33015" y="401116"/>
                </a:lnTo>
                <a:lnTo>
                  <a:pt x="8476" y="354225"/>
                </a:lnTo>
                <a:lnTo>
                  <a:pt x="0" y="304800"/>
                </a:lnTo>
                <a:close/>
              </a:path>
            </a:pathLst>
          </a:custGeom>
          <a:ln w="28956">
            <a:solidFill>
              <a:srgbClr val="CC3300"/>
            </a:solidFill>
          </a:ln>
        </p:spPr>
        <p:txBody>
          <a:bodyPr wrap="square" lIns="0" tIns="0" rIns="0" bIns="0" rtlCol="0">
            <a:noAutofit/>
          </a:bodyPr>
          <a:lstStyle/>
          <a:p>
            <a:endParaRPr/>
          </a:p>
        </p:txBody>
      </p:sp>
      <p:sp>
        <p:nvSpPr>
          <p:cNvPr id="33" name="object 33"/>
          <p:cNvSpPr txBox="1"/>
          <p:nvPr/>
        </p:nvSpPr>
        <p:spPr>
          <a:xfrm>
            <a:off x="4499229" y="1716395"/>
            <a:ext cx="956128" cy="151891"/>
          </a:xfrm>
          <a:prstGeom prst="rect">
            <a:avLst/>
          </a:prstGeom>
        </p:spPr>
        <p:txBody>
          <a:bodyPr wrap="square" lIns="0" tIns="7111" rIns="0" bIns="0" rtlCol="0">
            <a:noAutofit/>
          </a:bodyPr>
          <a:lstStyle/>
          <a:p>
            <a:pPr marL="12700">
              <a:lnSpc>
                <a:spcPts val="1120"/>
              </a:lnSpc>
            </a:pPr>
            <a:r>
              <a:rPr sz="1000" b="1" spc="-6" dirty="0" smtClean="0">
                <a:solidFill>
                  <a:srgbClr val="000066"/>
                </a:solidFill>
                <a:latin typeface="Arial"/>
                <a:cs typeface="Arial"/>
              </a:rPr>
              <a:t>EXHAUST GAS</a:t>
            </a:r>
            <a:endParaRPr sz="1000">
              <a:latin typeface="Arial"/>
              <a:cs typeface="Arial"/>
            </a:endParaRPr>
          </a:p>
        </p:txBody>
      </p:sp>
      <p:sp>
        <p:nvSpPr>
          <p:cNvPr id="32" name="object 32"/>
          <p:cNvSpPr txBox="1"/>
          <p:nvPr/>
        </p:nvSpPr>
        <p:spPr>
          <a:xfrm>
            <a:off x="6861809" y="1713347"/>
            <a:ext cx="380716" cy="151891"/>
          </a:xfrm>
          <a:prstGeom prst="rect">
            <a:avLst/>
          </a:prstGeom>
        </p:spPr>
        <p:txBody>
          <a:bodyPr wrap="square" lIns="0" tIns="7111" rIns="0" bIns="0" rtlCol="0">
            <a:noAutofit/>
          </a:bodyPr>
          <a:lstStyle/>
          <a:p>
            <a:pPr marL="12700">
              <a:lnSpc>
                <a:spcPts val="1120"/>
              </a:lnSpc>
            </a:pPr>
            <a:r>
              <a:rPr sz="1000" b="1" spc="-2" dirty="0" smtClean="0">
                <a:solidFill>
                  <a:srgbClr val="000066"/>
                </a:solidFill>
                <a:latin typeface="Arial"/>
                <a:cs typeface="Arial"/>
              </a:rPr>
              <a:t>VENT</a:t>
            </a:r>
            <a:endParaRPr sz="1000">
              <a:latin typeface="Arial"/>
              <a:cs typeface="Arial"/>
            </a:endParaRPr>
          </a:p>
        </p:txBody>
      </p:sp>
      <p:sp>
        <p:nvSpPr>
          <p:cNvPr id="31" name="object 31"/>
          <p:cNvSpPr txBox="1"/>
          <p:nvPr/>
        </p:nvSpPr>
        <p:spPr>
          <a:xfrm>
            <a:off x="3266059" y="1774611"/>
            <a:ext cx="922645" cy="203708"/>
          </a:xfrm>
          <a:prstGeom prst="rect">
            <a:avLst/>
          </a:prstGeom>
        </p:spPr>
        <p:txBody>
          <a:bodyPr wrap="square" lIns="0" tIns="9747" rIns="0" bIns="0" rtlCol="0">
            <a:noAutofit/>
          </a:bodyPr>
          <a:lstStyle/>
          <a:p>
            <a:pPr marL="12700">
              <a:lnSpc>
                <a:spcPts val="1535"/>
              </a:lnSpc>
            </a:pPr>
            <a:r>
              <a:rPr sz="1400" b="1" spc="-1" dirty="0" smtClean="0">
                <a:solidFill>
                  <a:srgbClr val="000066"/>
                </a:solidFill>
                <a:latin typeface="Arial"/>
                <a:cs typeface="Arial"/>
              </a:rPr>
              <a:t>PROCESS</a:t>
            </a:r>
            <a:endParaRPr sz="1400">
              <a:latin typeface="Arial"/>
              <a:cs typeface="Arial"/>
            </a:endParaRPr>
          </a:p>
        </p:txBody>
      </p:sp>
      <p:sp>
        <p:nvSpPr>
          <p:cNvPr id="30" name="object 30"/>
          <p:cNvSpPr txBox="1"/>
          <p:nvPr/>
        </p:nvSpPr>
        <p:spPr>
          <a:xfrm>
            <a:off x="7289292" y="5859780"/>
            <a:ext cx="382524" cy="289559"/>
          </a:xfrm>
          <a:prstGeom prst="rect">
            <a:avLst/>
          </a:prstGeom>
        </p:spPr>
        <p:txBody>
          <a:bodyPr wrap="square" lIns="0" tIns="0" rIns="0" bIns="0" rtlCol="0">
            <a:noAutofit/>
          </a:bodyPr>
          <a:lstStyle/>
          <a:p>
            <a:pPr marL="25400">
              <a:lnSpc>
                <a:spcPts val="1000"/>
              </a:lnSpc>
            </a:pPr>
            <a:endParaRPr sz="1000"/>
          </a:p>
        </p:txBody>
      </p:sp>
      <p:sp>
        <p:nvSpPr>
          <p:cNvPr id="29" name="object 29"/>
          <p:cNvSpPr txBox="1"/>
          <p:nvPr/>
        </p:nvSpPr>
        <p:spPr>
          <a:xfrm>
            <a:off x="6637020" y="5827776"/>
            <a:ext cx="373379" cy="342900"/>
          </a:xfrm>
          <a:prstGeom prst="rect">
            <a:avLst/>
          </a:prstGeom>
        </p:spPr>
        <p:txBody>
          <a:bodyPr wrap="square" lIns="0" tIns="0" rIns="0" bIns="0" rtlCol="0">
            <a:noAutofit/>
          </a:bodyPr>
          <a:lstStyle/>
          <a:p>
            <a:pPr marL="25400">
              <a:lnSpc>
                <a:spcPts val="1000"/>
              </a:lnSpc>
            </a:pPr>
            <a:endParaRPr sz="1000"/>
          </a:p>
        </p:txBody>
      </p:sp>
      <p:sp>
        <p:nvSpPr>
          <p:cNvPr id="28" name="object 28"/>
          <p:cNvSpPr txBox="1"/>
          <p:nvPr/>
        </p:nvSpPr>
        <p:spPr>
          <a:xfrm>
            <a:off x="6118860" y="5844540"/>
            <a:ext cx="370332" cy="344423"/>
          </a:xfrm>
          <a:prstGeom prst="rect">
            <a:avLst/>
          </a:prstGeom>
        </p:spPr>
        <p:txBody>
          <a:bodyPr wrap="square" lIns="0" tIns="0" rIns="0" bIns="0" rtlCol="0">
            <a:noAutofit/>
          </a:bodyPr>
          <a:lstStyle/>
          <a:p>
            <a:pPr marL="25400">
              <a:lnSpc>
                <a:spcPts val="1000"/>
              </a:lnSpc>
            </a:pPr>
            <a:endParaRPr sz="1000"/>
          </a:p>
        </p:txBody>
      </p:sp>
      <p:sp>
        <p:nvSpPr>
          <p:cNvPr id="27" name="object 27"/>
          <p:cNvSpPr txBox="1"/>
          <p:nvPr/>
        </p:nvSpPr>
        <p:spPr>
          <a:xfrm>
            <a:off x="2308860" y="5013960"/>
            <a:ext cx="152400" cy="199644"/>
          </a:xfrm>
          <a:prstGeom prst="rect">
            <a:avLst/>
          </a:prstGeom>
        </p:spPr>
        <p:txBody>
          <a:bodyPr wrap="square" lIns="0" tIns="0" rIns="0" bIns="0" rtlCol="0">
            <a:noAutofit/>
          </a:bodyPr>
          <a:lstStyle/>
          <a:p>
            <a:pPr marL="25400">
              <a:lnSpc>
                <a:spcPts val="1000"/>
              </a:lnSpc>
            </a:pPr>
            <a:endParaRPr sz="1000"/>
          </a:p>
        </p:txBody>
      </p:sp>
      <p:sp>
        <p:nvSpPr>
          <p:cNvPr id="26" name="object 26"/>
          <p:cNvSpPr txBox="1"/>
          <p:nvPr/>
        </p:nvSpPr>
        <p:spPr>
          <a:xfrm>
            <a:off x="6946392" y="4860036"/>
            <a:ext cx="1004316" cy="428244"/>
          </a:xfrm>
          <a:prstGeom prst="rect">
            <a:avLst/>
          </a:prstGeom>
        </p:spPr>
        <p:txBody>
          <a:bodyPr wrap="square" lIns="0" tIns="50165" rIns="0" bIns="0" rtlCol="0">
            <a:noAutofit/>
          </a:bodyPr>
          <a:lstStyle/>
          <a:p>
            <a:pPr marL="271906">
              <a:lnSpc>
                <a:spcPct val="95825"/>
              </a:lnSpc>
            </a:pPr>
            <a:r>
              <a:rPr sz="1000" b="1" spc="-4" dirty="0" smtClean="0">
                <a:solidFill>
                  <a:srgbClr val="000066"/>
                </a:solidFill>
                <a:latin typeface="Arial"/>
                <a:cs typeface="Arial"/>
              </a:rPr>
              <a:t>WATER</a:t>
            </a:r>
            <a:endParaRPr sz="1000">
              <a:latin typeface="Arial"/>
              <a:cs typeface="Arial"/>
            </a:endParaRPr>
          </a:p>
        </p:txBody>
      </p:sp>
      <p:sp>
        <p:nvSpPr>
          <p:cNvPr id="25" name="object 25"/>
          <p:cNvSpPr txBox="1"/>
          <p:nvPr/>
        </p:nvSpPr>
        <p:spPr>
          <a:xfrm>
            <a:off x="3048000" y="2476500"/>
            <a:ext cx="1783079" cy="492251"/>
          </a:xfrm>
          <a:prstGeom prst="rect">
            <a:avLst/>
          </a:prstGeom>
        </p:spPr>
        <p:txBody>
          <a:bodyPr wrap="square" lIns="0" tIns="0" rIns="0" bIns="0" rtlCol="0">
            <a:noAutofit/>
          </a:bodyPr>
          <a:lstStyle/>
          <a:p>
            <a:pPr marL="25400">
              <a:lnSpc>
                <a:spcPts val="1000"/>
              </a:lnSpc>
            </a:pPr>
            <a:endParaRPr sz="1000"/>
          </a:p>
        </p:txBody>
      </p:sp>
      <p:sp>
        <p:nvSpPr>
          <p:cNvPr id="24" name="object 24"/>
          <p:cNvSpPr txBox="1"/>
          <p:nvPr/>
        </p:nvSpPr>
        <p:spPr>
          <a:xfrm>
            <a:off x="4831080" y="2476500"/>
            <a:ext cx="86867" cy="492251"/>
          </a:xfrm>
          <a:prstGeom prst="rect">
            <a:avLst/>
          </a:prstGeom>
        </p:spPr>
        <p:txBody>
          <a:bodyPr wrap="square" lIns="0" tIns="0" rIns="0" bIns="0" rtlCol="0">
            <a:noAutofit/>
          </a:bodyPr>
          <a:lstStyle/>
          <a:p>
            <a:pPr marL="25400">
              <a:lnSpc>
                <a:spcPts val="1000"/>
              </a:lnSpc>
            </a:pPr>
            <a:endParaRPr sz="1000"/>
          </a:p>
        </p:txBody>
      </p:sp>
      <p:sp>
        <p:nvSpPr>
          <p:cNvPr id="23" name="object 23"/>
          <p:cNvSpPr txBox="1"/>
          <p:nvPr/>
        </p:nvSpPr>
        <p:spPr>
          <a:xfrm>
            <a:off x="4917947" y="2476500"/>
            <a:ext cx="937260" cy="492251"/>
          </a:xfrm>
          <a:prstGeom prst="rect">
            <a:avLst/>
          </a:prstGeom>
        </p:spPr>
        <p:txBody>
          <a:bodyPr wrap="square" lIns="0" tIns="0" rIns="0" bIns="0" rtlCol="0">
            <a:noAutofit/>
          </a:bodyPr>
          <a:lstStyle/>
          <a:p>
            <a:pPr marL="25400">
              <a:lnSpc>
                <a:spcPts val="1000"/>
              </a:lnSpc>
            </a:pPr>
            <a:endParaRPr sz="1000"/>
          </a:p>
        </p:txBody>
      </p:sp>
      <p:sp>
        <p:nvSpPr>
          <p:cNvPr id="22" name="object 22"/>
          <p:cNvSpPr txBox="1"/>
          <p:nvPr/>
        </p:nvSpPr>
        <p:spPr>
          <a:xfrm>
            <a:off x="3048000" y="2968752"/>
            <a:ext cx="1455420" cy="864108"/>
          </a:xfrm>
          <a:prstGeom prst="rect">
            <a:avLst/>
          </a:prstGeom>
        </p:spPr>
        <p:txBody>
          <a:bodyPr wrap="square" lIns="0" tIns="0" rIns="0" bIns="0" rtlCol="0">
            <a:noAutofit/>
          </a:bodyPr>
          <a:lstStyle/>
          <a:p>
            <a:pPr marL="25400">
              <a:lnSpc>
                <a:spcPts val="1000"/>
              </a:lnSpc>
            </a:pPr>
            <a:endParaRPr sz="1000"/>
          </a:p>
        </p:txBody>
      </p:sp>
      <p:sp>
        <p:nvSpPr>
          <p:cNvPr id="21" name="object 21"/>
          <p:cNvSpPr txBox="1"/>
          <p:nvPr/>
        </p:nvSpPr>
        <p:spPr>
          <a:xfrm>
            <a:off x="4503420" y="2968752"/>
            <a:ext cx="327659" cy="53339"/>
          </a:xfrm>
          <a:prstGeom prst="rect">
            <a:avLst/>
          </a:prstGeom>
        </p:spPr>
        <p:txBody>
          <a:bodyPr wrap="square" lIns="0" tIns="0" rIns="0" bIns="0" rtlCol="0">
            <a:noAutofit/>
          </a:bodyPr>
          <a:lstStyle/>
          <a:p>
            <a:endParaRPr/>
          </a:p>
        </p:txBody>
      </p:sp>
      <p:sp>
        <p:nvSpPr>
          <p:cNvPr id="20" name="object 20"/>
          <p:cNvSpPr txBox="1"/>
          <p:nvPr/>
        </p:nvSpPr>
        <p:spPr>
          <a:xfrm>
            <a:off x="4831080" y="2968752"/>
            <a:ext cx="86867" cy="53339"/>
          </a:xfrm>
          <a:prstGeom prst="rect">
            <a:avLst/>
          </a:prstGeom>
        </p:spPr>
        <p:txBody>
          <a:bodyPr wrap="square" lIns="0" tIns="0" rIns="0" bIns="0" rtlCol="0">
            <a:noAutofit/>
          </a:bodyPr>
          <a:lstStyle/>
          <a:p>
            <a:endParaRPr/>
          </a:p>
        </p:txBody>
      </p:sp>
      <p:sp>
        <p:nvSpPr>
          <p:cNvPr id="19" name="object 19"/>
          <p:cNvSpPr txBox="1"/>
          <p:nvPr/>
        </p:nvSpPr>
        <p:spPr>
          <a:xfrm>
            <a:off x="4917947" y="2968752"/>
            <a:ext cx="124968" cy="53339"/>
          </a:xfrm>
          <a:prstGeom prst="rect">
            <a:avLst/>
          </a:prstGeom>
        </p:spPr>
        <p:txBody>
          <a:bodyPr wrap="square" lIns="0" tIns="0" rIns="0" bIns="0" rtlCol="0">
            <a:noAutofit/>
          </a:bodyPr>
          <a:lstStyle/>
          <a:p>
            <a:endParaRPr/>
          </a:p>
        </p:txBody>
      </p:sp>
      <p:sp>
        <p:nvSpPr>
          <p:cNvPr id="18" name="object 18"/>
          <p:cNvSpPr txBox="1"/>
          <p:nvPr/>
        </p:nvSpPr>
        <p:spPr>
          <a:xfrm>
            <a:off x="5042916" y="2968752"/>
            <a:ext cx="812291" cy="864108"/>
          </a:xfrm>
          <a:prstGeom prst="rect">
            <a:avLst/>
          </a:prstGeom>
        </p:spPr>
        <p:txBody>
          <a:bodyPr wrap="square" lIns="0" tIns="0" rIns="0" bIns="0" rtlCol="0">
            <a:noAutofit/>
          </a:bodyPr>
          <a:lstStyle/>
          <a:p>
            <a:pPr marL="25400">
              <a:lnSpc>
                <a:spcPts val="1000"/>
              </a:lnSpc>
            </a:pPr>
            <a:endParaRPr sz="1000"/>
          </a:p>
        </p:txBody>
      </p:sp>
      <p:sp>
        <p:nvSpPr>
          <p:cNvPr id="17" name="object 17"/>
          <p:cNvSpPr txBox="1"/>
          <p:nvPr/>
        </p:nvSpPr>
        <p:spPr>
          <a:xfrm>
            <a:off x="4503420" y="3022091"/>
            <a:ext cx="539496" cy="810768"/>
          </a:xfrm>
          <a:prstGeom prst="rect">
            <a:avLst/>
          </a:prstGeom>
        </p:spPr>
        <p:txBody>
          <a:bodyPr wrap="square" lIns="0" tIns="0" rIns="0" bIns="0" rtlCol="0">
            <a:noAutofit/>
          </a:bodyPr>
          <a:lstStyle/>
          <a:p>
            <a:pPr marL="25400">
              <a:lnSpc>
                <a:spcPts val="1000"/>
              </a:lnSpc>
            </a:pPr>
            <a:endParaRPr sz="1000"/>
          </a:p>
        </p:txBody>
      </p:sp>
      <p:sp>
        <p:nvSpPr>
          <p:cNvPr id="16" name="object 16"/>
          <p:cNvSpPr txBox="1"/>
          <p:nvPr/>
        </p:nvSpPr>
        <p:spPr>
          <a:xfrm>
            <a:off x="3048000" y="3832860"/>
            <a:ext cx="1612391" cy="205739"/>
          </a:xfrm>
          <a:prstGeom prst="rect">
            <a:avLst/>
          </a:prstGeom>
        </p:spPr>
        <p:txBody>
          <a:bodyPr wrap="square" lIns="0" tIns="0" rIns="0" bIns="0" rtlCol="0">
            <a:noAutofit/>
          </a:bodyPr>
          <a:lstStyle/>
          <a:p>
            <a:pPr marL="25400">
              <a:lnSpc>
                <a:spcPts val="1000"/>
              </a:lnSpc>
            </a:pPr>
            <a:endParaRPr sz="1000"/>
          </a:p>
        </p:txBody>
      </p:sp>
      <p:sp>
        <p:nvSpPr>
          <p:cNvPr id="15" name="object 15"/>
          <p:cNvSpPr txBox="1"/>
          <p:nvPr/>
        </p:nvSpPr>
        <p:spPr>
          <a:xfrm>
            <a:off x="4660392" y="3832860"/>
            <a:ext cx="217932" cy="205739"/>
          </a:xfrm>
          <a:prstGeom prst="rect">
            <a:avLst/>
          </a:prstGeom>
        </p:spPr>
        <p:txBody>
          <a:bodyPr wrap="square" lIns="0" tIns="0" rIns="0" bIns="0" rtlCol="0">
            <a:noAutofit/>
          </a:bodyPr>
          <a:lstStyle/>
          <a:p>
            <a:pPr marL="25400">
              <a:lnSpc>
                <a:spcPts val="1000"/>
              </a:lnSpc>
            </a:pPr>
            <a:endParaRPr sz="1000"/>
          </a:p>
        </p:txBody>
      </p:sp>
      <p:sp>
        <p:nvSpPr>
          <p:cNvPr id="14" name="object 14"/>
          <p:cNvSpPr txBox="1"/>
          <p:nvPr/>
        </p:nvSpPr>
        <p:spPr>
          <a:xfrm>
            <a:off x="4878324" y="3832860"/>
            <a:ext cx="976884" cy="205739"/>
          </a:xfrm>
          <a:prstGeom prst="rect">
            <a:avLst/>
          </a:prstGeom>
        </p:spPr>
        <p:txBody>
          <a:bodyPr wrap="square" lIns="0" tIns="0" rIns="0" bIns="0" rtlCol="0">
            <a:noAutofit/>
          </a:bodyPr>
          <a:lstStyle/>
          <a:p>
            <a:pPr marL="25400">
              <a:lnSpc>
                <a:spcPts val="1000"/>
              </a:lnSpc>
            </a:pPr>
            <a:endParaRPr sz="1000"/>
          </a:p>
        </p:txBody>
      </p:sp>
      <p:sp>
        <p:nvSpPr>
          <p:cNvPr id="13" name="object 13"/>
          <p:cNvSpPr txBox="1"/>
          <p:nvPr/>
        </p:nvSpPr>
        <p:spPr>
          <a:xfrm>
            <a:off x="3048000" y="4038600"/>
            <a:ext cx="1612391" cy="176784"/>
          </a:xfrm>
          <a:prstGeom prst="rect">
            <a:avLst/>
          </a:prstGeom>
        </p:spPr>
        <p:txBody>
          <a:bodyPr wrap="square" lIns="0" tIns="0" rIns="0" bIns="0" rtlCol="0">
            <a:noAutofit/>
          </a:bodyPr>
          <a:lstStyle/>
          <a:p>
            <a:pPr marL="25400">
              <a:lnSpc>
                <a:spcPts val="1000"/>
              </a:lnSpc>
            </a:pPr>
            <a:endParaRPr sz="1000"/>
          </a:p>
        </p:txBody>
      </p:sp>
      <p:sp>
        <p:nvSpPr>
          <p:cNvPr id="12" name="object 12"/>
          <p:cNvSpPr txBox="1"/>
          <p:nvPr/>
        </p:nvSpPr>
        <p:spPr>
          <a:xfrm>
            <a:off x="4660392" y="4038600"/>
            <a:ext cx="217932" cy="176784"/>
          </a:xfrm>
          <a:prstGeom prst="rect">
            <a:avLst/>
          </a:prstGeom>
        </p:spPr>
        <p:txBody>
          <a:bodyPr wrap="square" lIns="0" tIns="0" rIns="0" bIns="0" rtlCol="0">
            <a:noAutofit/>
          </a:bodyPr>
          <a:lstStyle/>
          <a:p>
            <a:pPr marL="25400">
              <a:lnSpc>
                <a:spcPts val="1000"/>
              </a:lnSpc>
            </a:pPr>
            <a:endParaRPr sz="1000"/>
          </a:p>
        </p:txBody>
      </p:sp>
      <p:sp>
        <p:nvSpPr>
          <p:cNvPr id="11" name="object 11"/>
          <p:cNvSpPr txBox="1"/>
          <p:nvPr/>
        </p:nvSpPr>
        <p:spPr>
          <a:xfrm>
            <a:off x="4878324" y="4038600"/>
            <a:ext cx="153924" cy="176784"/>
          </a:xfrm>
          <a:prstGeom prst="rect">
            <a:avLst/>
          </a:prstGeom>
        </p:spPr>
        <p:txBody>
          <a:bodyPr wrap="square" lIns="0" tIns="0" rIns="0" bIns="0" rtlCol="0">
            <a:noAutofit/>
          </a:bodyPr>
          <a:lstStyle/>
          <a:p>
            <a:pPr marL="25400">
              <a:lnSpc>
                <a:spcPts val="1000"/>
              </a:lnSpc>
            </a:pPr>
            <a:endParaRPr sz="1000"/>
          </a:p>
        </p:txBody>
      </p:sp>
      <p:sp>
        <p:nvSpPr>
          <p:cNvPr id="10" name="object 10"/>
          <p:cNvSpPr txBox="1"/>
          <p:nvPr/>
        </p:nvSpPr>
        <p:spPr>
          <a:xfrm>
            <a:off x="5032248" y="4038600"/>
            <a:ext cx="822960" cy="717804"/>
          </a:xfrm>
          <a:prstGeom prst="rect">
            <a:avLst/>
          </a:prstGeom>
        </p:spPr>
        <p:txBody>
          <a:bodyPr wrap="square" lIns="0" tIns="0" rIns="0" bIns="0" rtlCol="0">
            <a:noAutofit/>
          </a:bodyPr>
          <a:lstStyle/>
          <a:p>
            <a:pPr marL="25400">
              <a:lnSpc>
                <a:spcPts val="1000"/>
              </a:lnSpc>
            </a:pPr>
            <a:endParaRPr sz="1000"/>
          </a:p>
        </p:txBody>
      </p:sp>
      <p:sp>
        <p:nvSpPr>
          <p:cNvPr id="9" name="object 9"/>
          <p:cNvSpPr txBox="1"/>
          <p:nvPr/>
        </p:nvSpPr>
        <p:spPr>
          <a:xfrm>
            <a:off x="3048000" y="4215384"/>
            <a:ext cx="1984248" cy="835151"/>
          </a:xfrm>
          <a:prstGeom prst="rect">
            <a:avLst/>
          </a:prstGeom>
        </p:spPr>
        <p:txBody>
          <a:bodyPr wrap="square" lIns="0" tIns="0" rIns="0" bIns="0" rtlCol="0">
            <a:noAutofit/>
          </a:bodyPr>
          <a:lstStyle/>
          <a:p>
            <a:pPr marL="25400">
              <a:lnSpc>
                <a:spcPts val="1000"/>
              </a:lnSpc>
            </a:pPr>
            <a:endParaRPr sz="1000"/>
          </a:p>
        </p:txBody>
      </p:sp>
      <p:sp>
        <p:nvSpPr>
          <p:cNvPr id="8" name="object 8"/>
          <p:cNvSpPr txBox="1"/>
          <p:nvPr/>
        </p:nvSpPr>
        <p:spPr>
          <a:xfrm>
            <a:off x="5032248" y="4756404"/>
            <a:ext cx="822960" cy="294131"/>
          </a:xfrm>
          <a:prstGeom prst="rect">
            <a:avLst/>
          </a:prstGeom>
        </p:spPr>
        <p:txBody>
          <a:bodyPr wrap="square" lIns="0" tIns="0" rIns="0" bIns="0" rtlCol="0">
            <a:noAutofit/>
          </a:bodyPr>
          <a:lstStyle/>
          <a:p>
            <a:pPr marL="25400">
              <a:lnSpc>
                <a:spcPts val="1000"/>
              </a:lnSpc>
            </a:pPr>
            <a:endParaRPr sz="1000"/>
          </a:p>
        </p:txBody>
      </p:sp>
      <p:sp>
        <p:nvSpPr>
          <p:cNvPr id="7" name="object 7"/>
          <p:cNvSpPr txBox="1"/>
          <p:nvPr/>
        </p:nvSpPr>
        <p:spPr>
          <a:xfrm>
            <a:off x="6467856" y="2407920"/>
            <a:ext cx="728472" cy="351281"/>
          </a:xfrm>
          <a:prstGeom prst="rect">
            <a:avLst/>
          </a:prstGeom>
        </p:spPr>
        <p:txBody>
          <a:bodyPr wrap="square" lIns="0" tIns="0" rIns="0" bIns="0" rtlCol="0">
            <a:noAutofit/>
          </a:bodyPr>
          <a:lstStyle/>
          <a:p>
            <a:pPr marL="25400">
              <a:lnSpc>
                <a:spcPts val="1000"/>
              </a:lnSpc>
            </a:pPr>
            <a:endParaRPr sz="1000"/>
          </a:p>
        </p:txBody>
      </p:sp>
      <p:sp>
        <p:nvSpPr>
          <p:cNvPr id="6" name="object 6"/>
          <p:cNvSpPr txBox="1"/>
          <p:nvPr/>
        </p:nvSpPr>
        <p:spPr>
          <a:xfrm>
            <a:off x="6467856" y="2759202"/>
            <a:ext cx="728472" cy="544830"/>
          </a:xfrm>
          <a:prstGeom prst="rect">
            <a:avLst/>
          </a:prstGeom>
        </p:spPr>
        <p:txBody>
          <a:bodyPr wrap="square" lIns="0" tIns="0" rIns="0" bIns="0" rtlCol="0">
            <a:noAutofit/>
          </a:bodyPr>
          <a:lstStyle/>
          <a:p>
            <a:pPr marL="25400">
              <a:lnSpc>
                <a:spcPts val="1000"/>
              </a:lnSpc>
            </a:pPr>
            <a:endParaRPr sz="1000"/>
          </a:p>
        </p:txBody>
      </p:sp>
      <p:sp>
        <p:nvSpPr>
          <p:cNvPr id="5" name="object 5"/>
          <p:cNvSpPr txBox="1"/>
          <p:nvPr/>
        </p:nvSpPr>
        <p:spPr>
          <a:xfrm>
            <a:off x="0" y="0"/>
            <a:ext cx="1503426" cy="1381505"/>
          </a:xfrm>
          <a:prstGeom prst="rect">
            <a:avLst/>
          </a:prstGeom>
        </p:spPr>
        <p:txBody>
          <a:bodyPr wrap="square" lIns="0" tIns="0" rIns="0" bIns="0" rtlCol="0">
            <a:noAutofit/>
          </a:bodyPr>
          <a:lstStyle/>
          <a:p>
            <a:pPr marL="25400">
              <a:lnSpc>
                <a:spcPts val="1000"/>
              </a:lnSpc>
            </a:pPr>
            <a:endParaRPr sz="1000"/>
          </a:p>
        </p:txBody>
      </p:sp>
      <p:sp>
        <p:nvSpPr>
          <p:cNvPr id="4" name="object 4"/>
          <p:cNvSpPr txBox="1"/>
          <p:nvPr/>
        </p:nvSpPr>
        <p:spPr>
          <a:xfrm>
            <a:off x="1503426" y="0"/>
            <a:ext cx="7640573" cy="1381505"/>
          </a:xfrm>
          <a:prstGeom prst="rect">
            <a:avLst/>
          </a:prstGeom>
        </p:spPr>
        <p:txBody>
          <a:bodyPr wrap="square" lIns="0" tIns="4119" rIns="0" bIns="0" rtlCol="0">
            <a:noAutofit/>
          </a:bodyPr>
          <a:lstStyle/>
          <a:p>
            <a:pPr>
              <a:lnSpc>
                <a:spcPts val="950"/>
              </a:lnSpc>
            </a:pPr>
            <a:endParaRPr sz="950"/>
          </a:p>
          <a:p>
            <a:pPr marL="458215">
              <a:lnSpc>
                <a:spcPct val="95825"/>
              </a:lnSpc>
              <a:spcBef>
                <a:spcPts val="3000"/>
              </a:spcBef>
            </a:pPr>
            <a:r>
              <a:rPr sz="3200" b="1" dirty="0" smtClean="0">
                <a:solidFill>
                  <a:srgbClr val="000066"/>
                </a:solidFill>
                <a:latin typeface="Arial"/>
                <a:cs typeface="Arial"/>
              </a:rPr>
              <a:t>Introduction</a:t>
            </a:r>
            <a:endParaRPr sz="3200">
              <a:latin typeface="Arial"/>
              <a:cs typeface="Arial"/>
            </a:endParaRPr>
          </a:p>
        </p:txBody>
      </p:sp>
      <p:sp>
        <p:nvSpPr>
          <p:cNvPr id="3" name="object 3"/>
          <p:cNvSpPr txBox="1"/>
          <p:nvPr/>
        </p:nvSpPr>
        <p:spPr>
          <a:xfrm>
            <a:off x="0" y="1381505"/>
            <a:ext cx="1503426" cy="5476492"/>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1503426" y="1381505"/>
            <a:ext cx="7640573" cy="5476492"/>
          </a:xfrm>
          <a:prstGeom prst="rect">
            <a:avLst/>
          </a:prstGeom>
        </p:spPr>
        <p:txBody>
          <a:bodyPr wrap="square" lIns="0" tIns="5056" rIns="0" bIns="0" rtlCol="0">
            <a:noAutofit/>
          </a:bodyPr>
          <a:lstStyle/>
          <a:p>
            <a:pPr>
              <a:lnSpc>
                <a:spcPts val="1300"/>
              </a:lnSpc>
            </a:pPr>
            <a:endParaRPr sz="1300"/>
          </a:p>
          <a:p>
            <a:pPr marL="1752472">
              <a:lnSpc>
                <a:spcPct val="95825"/>
              </a:lnSpc>
            </a:pPr>
            <a:r>
              <a:rPr sz="1400" b="1" spc="-4" dirty="0" smtClean="0">
                <a:solidFill>
                  <a:srgbClr val="000066"/>
                </a:solidFill>
                <a:latin typeface="Arial"/>
                <a:cs typeface="Arial"/>
              </a:rPr>
              <a:t>STEAM TO</a:t>
            </a:r>
            <a:endParaRPr sz="1400">
              <a:latin typeface="Arial"/>
              <a:cs typeface="Arial"/>
            </a:endParaRPr>
          </a:p>
          <a:p>
            <a:pPr marL="5130291" marR="1939285" indent="-1651762">
              <a:lnSpc>
                <a:spcPts val="3390"/>
              </a:lnSpc>
              <a:spcBef>
                <a:spcPts val="4456"/>
              </a:spcBef>
            </a:pPr>
            <a:r>
              <a:rPr sz="900" spc="0" dirty="0" smtClean="0">
                <a:solidFill>
                  <a:srgbClr val="000066"/>
                </a:solidFill>
                <a:latin typeface="Arial"/>
                <a:cs typeface="Arial"/>
              </a:rPr>
              <a:t>S</a:t>
            </a:r>
            <a:r>
              <a:rPr sz="900" spc="-9" dirty="0" smtClean="0">
                <a:solidFill>
                  <a:srgbClr val="000066"/>
                </a:solidFill>
                <a:latin typeface="Arial"/>
                <a:cs typeface="Arial"/>
              </a:rPr>
              <a:t>T</a:t>
            </a:r>
            <a:r>
              <a:rPr sz="900" spc="0" dirty="0" smtClean="0">
                <a:solidFill>
                  <a:srgbClr val="000066"/>
                </a:solidFill>
                <a:latin typeface="Arial"/>
                <a:cs typeface="Arial"/>
              </a:rPr>
              <a:t>ACK                                  </a:t>
            </a:r>
            <a:r>
              <a:rPr sz="900" spc="49" dirty="0" smtClean="0">
                <a:solidFill>
                  <a:srgbClr val="000066"/>
                </a:solidFill>
                <a:latin typeface="Arial"/>
                <a:cs typeface="Arial"/>
              </a:rPr>
              <a:t> </a:t>
            </a:r>
            <a:r>
              <a:rPr sz="900" spc="0" dirty="0" smtClean="0">
                <a:solidFill>
                  <a:srgbClr val="000066"/>
                </a:solidFill>
                <a:latin typeface="Arial"/>
                <a:cs typeface="Arial"/>
              </a:rPr>
              <a:t>DEAE</a:t>
            </a:r>
            <a:r>
              <a:rPr sz="900" spc="-4" dirty="0" smtClean="0">
                <a:solidFill>
                  <a:srgbClr val="000066"/>
                </a:solidFill>
                <a:latin typeface="Arial"/>
                <a:cs typeface="Arial"/>
              </a:rPr>
              <a:t>R</a:t>
            </a:r>
            <a:r>
              <a:rPr sz="900" spc="0" dirty="0" smtClean="0">
                <a:solidFill>
                  <a:srgbClr val="000066"/>
                </a:solidFill>
                <a:latin typeface="Arial"/>
                <a:cs typeface="Arial"/>
              </a:rPr>
              <a:t>A</a:t>
            </a:r>
            <a:r>
              <a:rPr sz="900" spc="-9" dirty="0" smtClean="0">
                <a:solidFill>
                  <a:srgbClr val="000066"/>
                </a:solidFill>
                <a:latin typeface="Arial"/>
                <a:cs typeface="Arial"/>
              </a:rPr>
              <a:t>T</a:t>
            </a:r>
            <a:r>
              <a:rPr sz="900" spc="-4" dirty="0" smtClean="0">
                <a:solidFill>
                  <a:srgbClr val="000066"/>
                </a:solidFill>
                <a:latin typeface="Arial"/>
                <a:cs typeface="Arial"/>
              </a:rPr>
              <a:t>O</a:t>
            </a:r>
            <a:r>
              <a:rPr sz="900" spc="0" dirty="0" smtClean="0">
                <a:solidFill>
                  <a:srgbClr val="000066"/>
                </a:solidFill>
                <a:latin typeface="Arial"/>
                <a:cs typeface="Arial"/>
              </a:rPr>
              <a:t>R PU</a:t>
            </a:r>
            <a:r>
              <a:rPr sz="900" spc="-19" dirty="0" smtClean="0">
                <a:solidFill>
                  <a:srgbClr val="000066"/>
                </a:solidFill>
                <a:latin typeface="Arial"/>
                <a:cs typeface="Arial"/>
              </a:rPr>
              <a:t>M</a:t>
            </a:r>
            <a:r>
              <a:rPr sz="900" spc="0" dirty="0" smtClean="0">
                <a:solidFill>
                  <a:srgbClr val="000066"/>
                </a:solidFill>
                <a:latin typeface="Arial"/>
                <a:cs typeface="Arial"/>
              </a:rPr>
              <a:t>PS</a:t>
            </a:r>
            <a:endParaRPr sz="900">
              <a:latin typeface="Arial"/>
              <a:cs typeface="Arial"/>
            </a:endParaRPr>
          </a:p>
          <a:p>
            <a:pPr marL="3110103" marR="4210465" indent="1524" algn="ctr">
              <a:lnSpc>
                <a:spcPct val="100041"/>
              </a:lnSpc>
              <a:spcBef>
                <a:spcPts val="265"/>
              </a:spcBef>
            </a:pPr>
            <a:r>
              <a:rPr sz="800" b="1" spc="4" dirty="0" smtClean="0">
                <a:solidFill>
                  <a:srgbClr val="000066"/>
                </a:solidFill>
                <a:latin typeface="Arial"/>
                <a:cs typeface="Arial"/>
              </a:rPr>
              <a:t>E</a:t>
            </a:r>
            <a:r>
              <a:rPr sz="800" b="1" spc="0" dirty="0" smtClean="0">
                <a:solidFill>
                  <a:srgbClr val="000066"/>
                </a:solidFill>
                <a:latin typeface="Arial"/>
                <a:cs typeface="Arial"/>
              </a:rPr>
              <a:t>C </a:t>
            </a:r>
            <a:r>
              <a:rPr sz="800" b="1" spc="176" dirty="0" smtClean="0">
                <a:solidFill>
                  <a:srgbClr val="000066"/>
                </a:solidFill>
                <a:latin typeface="Arial"/>
                <a:cs typeface="Arial"/>
              </a:rPr>
              <a:t> </a:t>
            </a:r>
            <a:r>
              <a:rPr sz="800" b="1" spc="0" dirty="0" smtClean="0">
                <a:solidFill>
                  <a:srgbClr val="000066"/>
                </a:solidFill>
                <a:latin typeface="Arial"/>
                <a:cs typeface="Arial"/>
              </a:rPr>
              <a:t>- N     </a:t>
            </a:r>
            <a:r>
              <a:rPr sz="800" b="1" spc="201" dirty="0" smtClean="0">
                <a:solidFill>
                  <a:srgbClr val="000066"/>
                </a:solidFill>
                <a:latin typeface="Arial"/>
                <a:cs typeface="Arial"/>
              </a:rPr>
              <a:t> </a:t>
            </a:r>
            <a:r>
              <a:rPr sz="800" b="1" spc="0" dirty="0" smtClean="0">
                <a:solidFill>
                  <a:srgbClr val="000066"/>
                </a:solidFill>
                <a:latin typeface="Arial"/>
                <a:cs typeface="Arial"/>
              </a:rPr>
              <a:t>- Z</a:t>
            </a:r>
            <a:r>
              <a:rPr sz="800" b="1" spc="4" dirty="0" smtClean="0">
                <a:solidFill>
                  <a:srgbClr val="000066"/>
                </a:solidFill>
                <a:latin typeface="Arial"/>
                <a:cs typeface="Arial"/>
              </a:rPr>
              <a:t>E</a:t>
            </a:r>
            <a:r>
              <a:rPr sz="800" b="1" spc="0" dirty="0" smtClean="0">
                <a:solidFill>
                  <a:srgbClr val="000066"/>
                </a:solidFill>
                <a:latin typeface="Arial"/>
                <a:cs typeface="Arial"/>
              </a:rPr>
              <a:t>R</a:t>
            </a:r>
            <a:endParaRPr sz="800">
              <a:latin typeface="Arial"/>
              <a:cs typeface="Arial"/>
            </a:endParaRPr>
          </a:p>
          <a:p>
            <a:pPr marL="712469">
              <a:lnSpc>
                <a:spcPts val="1337"/>
              </a:lnSpc>
              <a:spcBef>
                <a:spcPts val="6709"/>
              </a:spcBef>
            </a:pPr>
            <a:r>
              <a:rPr sz="1500" b="1" spc="-4" baseline="43481" dirty="0" smtClean="0">
                <a:solidFill>
                  <a:srgbClr val="000066"/>
                </a:solidFill>
                <a:latin typeface="Arial"/>
                <a:cs typeface="Arial"/>
              </a:rPr>
              <a:t>VE</a:t>
            </a:r>
            <a:r>
              <a:rPr sz="1500" b="1" spc="0" baseline="43481" dirty="0" smtClean="0">
                <a:solidFill>
                  <a:srgbClr val="000066"/>
                </a:solidFill>
                <a:latin typeface="Arial"/>
                <a:cs typeface="Arial"/>
              </a:rPr>
              <a:t>NT                              </a:t>
            </a:r>
            <a:r>
              <a:rPr sz="1500" b="1" spc="88" baseline="43481" dirty="0" smtClean="0">
                <a:solidFill>
                  <a:srgbClr val="000066"/>
                </a:solidFill>
                <a:latin typeface="Arial"/>
                <a:cs typeface="Arial"/>
              </a:rPr>
              <a:t> </a:t>
            </a:r>
            <a:r>
              <a:rPr sz="1600" b="1" spc="0" dirty="0" smtClean="0">
                <a:solidFill>
                  <a:srgbClr val="000066"/>
                </a:solidFill>
                <a:latin typeface="Arial"/>
                <a:cs typeface="Arial"/>
              </a:rPr>
              <a:t>B</a:t>
            </a:r>
            <a:r>
              <a:rPr sz="1600" b="1" spc="-4" dirty="0" smtClean="0">
                <a:solidFill>
                  <a:srgbClr val="000066"/>
                </a:solidFill>
                <a:latin typeface="Arial"/>
                <a:cs typeface="Arial"/>
              </a:rPr>
              <a:t>O</a:t>
            </a:r>
            <a:r>
              <a:rPr sz="1600" b="1" spc="0" dirty="0" smtClean="0">
                <a:solidFill>
                  <a:srgbClr val="000066"/>
                </a:solidFill>
                <a:latin typeface="Arial"/>
                <a:cs typeface="Arial"/>
              </a:rPr>
              <a:t>ILER</a:t>
            </a:r>
            <a:endParaRPr sz="1600">
              <a:latin typeface="Arial"/>
              <a:cs typeface="Arial"/>
            </a:endParaRPr>
          </a:p>
          <a:p>
            <a:pPr marL="3668432" marR="3386887" algn="ctr">
              <a:lnSpc>
                <a:spcPct val="95825"/>
              </a:lnSpc>
              <a:spcBef>
                <a:spcPts val="1654"/>
              </a:spcBef>
            </a:pPr>
            <a:r>
              <a:rPr sz="1000" b="1" spc="-7" dirty="0" smtClean="0">
                <a:solidFill>
                  <a:srgbClr val="000066"/>
                </a:solidFill>
                <a:latin typeface="Arial"/>
                <a:cs typeface="Arial"/>
              </a:rPr>
              <a:t>BURNER</a:t>
            </a:r>
            <a:endParaRPr sz="1000">
              <a:latin typeface="Arial"/>
              <a:cs typeface="Arial"/>
            </a:endParaRPr>
          </a:p>
          <a:p>
            <a:pPr marR="1424192" algn="r">
              <a:lnSpc>
                <a:spcPct val="95825"/>
              </a:lnSpc>
              <a:spcBef>
                <a:spcPts val="863"/>
              </a:spcBef>
            </a:pPr>
            <a:r>
              <a:rPr sz="1000" b="1" spc="-7" dirty="0" smtClean="0">
                <a:solidFill>
                  <a:srgbClr val="000066"/>
                </a:solidFill>
                <a:latin typeface="Arial"/>
                <a:cs typeface="Arial"/>
              </a:rPr>
              <a:t>SOURCE</a:t>
            </a:r>
            <a:endParaRPr sz="1000">
              <a:latin typeface="Arial"/>
              <a:cs typeface="Arial"/>
            </a:endParaRPr>
          </a:p>
          <a:p>
            <a:pPr marL="536320">
              <a:lnSpc>
                <a:spcPct val="95825"/>
              </a:lnSpc>
              <a:spcBef>
                <a:spcPts val="873"/>
              </a:spcBef>
            </a:pPr>
            <a:r>
              <a:rPr sz="900" spc="4" dirty="0" smtClean="0">
                <a:solidFill>
                  <a:srgbClr val="000066"/>
                </a:solidFill>
                <a:latin typeface="Arial"/>
                <a:cs typeface="Arial"/>
              </a:rPr>
              <a:t>BLOW DOWN</a:t>
            </a:r>
            <a:endParaRPr sz="900">
              <a:latin typeface="Arial"/>
              <a:cs typeface="Arial"/>
            </a:endParaRPr>
          </a:p>
          <a:p>
            <a:pPr marL="553084">
              <a:lnSpc>
                <a:spcPts val="1295"/>
              </a:lnSpc>
              <a:spcBef>
                <a:spcPts val="64"/>
              </a:spcBef>
            </a:pPr>
            <a:r>
              <a:rPr sz="1350" spc="0" baseline="9662" dirty="0" smtClean="0">
                <a:solidFill>
                  <a:srgbClr val="000066"/>
                </a:solidFill>
                <a:latin typeface="Arial"/>
                <a:cs typeface="Arial"/>
              </a:rPr>
              <a:t>SEPA</a:t>
            </a:r>
            <a:r>
              <a:rPr sz="1350" spc="-4" baseline="9662" dirty="0" smtClean="0">
                <a:solidFill>
                  <a:srgbClr val="000066"/>
                </a:solidFill>
                <a:latin typeface="Arial"/>
                <a:cs typeface="Arial"/>
              </a:rPr>
              <a:t>R</a:t>
            </a:r>
            <a:r>
              <a:rPr sz="1350" spc="0" baseline="9662" dirty="0" smtClean="0">
                <a:solidFill>
                  <a:srgbClr val="000066"/>
                </a:solidFill>
                <a:latin typeface="Arial"/>
                <a:cs typeface="Arial"/>
              </a:rPr>
              <a:t>A</a:t>
            </a:r>
            <a:r>
              <a:rPr sz="1350" spc="-9" baseline="9662" dirty="0" smtClean="0">
                <a:solidFill>
                  <a:srgbClr val="000066"/>
                </a:solidFill>
                <a:latin typeface="Arial"/>
                <a:cs typeface="Arial"/>
              </a:rPr>
              <a:t>T</a:t>
            </a:r>
            <a:r>
              <a:rPr sz="1350" spc="-4" baseline="9662" dirty="0" smtClean="0">
                <a:solidFill>
                  <a:srgbClr val="000066"/>
                </a:solidFill>
                <a:latin typeface="Arial"/>
                <a:cs typeface="Arial"/>
              </a:rPr>
              <a:t>O</a:t>
            </a:r>
            <a:r>
              <a:rPr sz="1350" spc="0" baseline="9662" dirty="0" smtClean="0">
                <a:solidFill>
                  <a:srgbClr val="000066"/>
                </a:solidFill>
                <a:latin typeface="Arial"/>
                <a:cs typeface="Arial"/>
              </a:rPr>
              <a:t>R                                                                            </a:t>
            </a:r>
            <a:r>
              <a:rPr sz="1350" spc="239" baseline="9662" dirty="0" smtClean="0">
                <a:solidFill>
                  <a:srgbClr val="000066"/>
                </a:solidFill>
                <a:latin typeface="Arial"/>
                <a:cs typeface="Arial"/>
              </a:rPr>
              <a:t> </a:t>
            </a:r>
            <a:r>
              <a:rPr sz="1200" spc="0" dirty="0" smtClean="0">
                <a:solidFill>
                  <a:srgbClr val="000066"/>
                </a:solidFill>
                <a:latin typeface="Arial"/>
                <a:cs typeface="Arial"/>
              </a:rPr>
              <a:t>F</a:t>
            </a:r>
            <a:r>
              <a:rPr sz="1200" spc="-4" dirty="0" smtClean="0">
                <a:solidFill>
                  <a:srgbClr val="000066"/>
                </a:solidFill>
                <a:latin typeface="Arial"/>
                <a:cs typeface="Arial"/>
              </a:rPr>
              <a:t>U</a:t>
            </a:r>
            <a:r>
              <a:rPr sz="1200" spc="0" dirty="0" smtClean="0">
                <a:solidFill>
                  <a:srgbClr val="000066"/>
                </a:solidFill>
                <a:latin typeface="Arial"/>
                <a:cs typeface="Arial"/>
              </a:rPr>
              <a:t>EL</a:t>
            </a:r>
            <a:endParaRPr sz="1200">
              <a:latin typeface="Arial"/>
              <a:cs typeface="Arial"/>
            </a:endParaRPr>
          </a:p>
          <a:p>
            <a:pPr marL="2731134" marR="1460419" indent="3080004">
              <a:lnSpc>
                <a:spcPts val="2290"/>
              </a:lnSpc>
              <a:spcBef>
                <a:spcPts val="1634"/>
              </a:spcBef>
            </a:pPr>
            <a:r>
              <a:rPr sz="900" spc="0" dirty="0" smtClean="0">
                <a:solidFill>
                  <a:srgbClr val="000066"/>
                </a:solidFill>
                <a:latin typeface="Arial"/>
                <a:cs typeface="Arial"/>
              </a:rPr>
              <a:t>BRINE CHEMICAL FEED</a:t>
            </a:r>
            <a:endParaRPr sz="900">
              <a:latin typeface="Arial"/>
              <a:cs typeface="Arial"/>
            </a:endParaRPr>
          </a:p>
          <a:p>
            <a:pPr marL="4712080">
              <a:lnSpc>
                <a:spcPts val="745"/>
              </a:lnSpc>
            </a:pPr>
            <a:r>
              <a:rPr sz="900" spc="-2" dirty="0" smtClean="0">
                <a:solidFill>
                  <a:srgbClr val="000066"/>
                </a:solidFill>
                <a:latin typeface="Arial"/>
                <a:cs typeface="Arial"/>
              </a:rPr>
              <a:t>SOFTENERS</a:t>
            </a:r>
            <a:endParaRPr sz="900">
              <a:latin typeface="Arial"/>
              <a:cs typeface="Arial"/>
            </a:endParaRPr>
          </a:p>
          <a:p>
            <a:pPr marL="528319">
              <a:lnSpc>
                <a:spcPct val="95825"/>
              </a:lnSpc>
              <a:spcBef>
                <a:spcPts val="192"/>
              </a:spcBef>
            </a:pPr>
            <a:r>
              <a:rPr sz="1600" spc="-4" dirty="0" smtClean="0">
                <a:solidFill>
                  <a:srgbClr val="000066"/>
                </a:solidFill>
                <a:latin typeface="Arial"/>
                <a:cs typeface="Arial"/>
              </a:rPr>
              <a:t>Figure: Schematic overview of a boiler room</a:t>
            </a:r>
            <a:endParaRPr sz="1600">
              <a:latin typeface="Arial"/>
              <a:cs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17" name="object 17"/>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8" name="object 18"/>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9" name="object 19"/>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20" name="object 20"/>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5" name="object 15"/>
          <p:cNvSpPr txBox="1"/>
          <p:nvPr/>
        </p:nvSpPr>
        <p:spPr>
          <a:xfrm>
            <a:off x="444500" y="1122531"/>
            <a:ext cx="1919735" cy="711504"/>
          </a:xfrm>
          <a:prstGeom prst="rect">
            <a:avLst/>
          </a:prstGeom>
        </p:spPr>
        <p:txBody>
          <a:bodyPr wrap="square" lIns="0" tIns="35560" rIns="0" bIns="0" rtlCol="0">
            <a:noAutofit/>
          </a:bodyPr>
          <a:lstStyle/>
          <a:p>
            <a:pPr marL="12700">
              <a:lnSpc>
                <a:spcPts val="5600"/>
              </a:lnSpc>
            </a:pPr>
            <a:r>
              <a:rPr sz="5400" b="1" dirty="0" smtClean="0">
                <a:solidFill>
                  <a:srgbClr val="04607A"/>
                </a:solidFill>
                <a:latin typeface="Times New Roman"/>
                <a:cs typeface="Times New Roman"/>
              </a:rPr>
              <a:t>Boiler</a:t>
            </a:r>
            <a:endParaRPr sz="5400">
              <a:latin typeface="Times New Roman"/>
              <a:cs typeface="Times New Roman"/>
            </a:endParaRPr>
          </a:p>
        </p:txBody>
      </p:sp>
      <p:sp>
        <p:nvSpPr>
          <p:cNvPr id="14" name="object 14"/>
          <p:cNvSpPr txBox="1"/>
          <p:nvPr/>
        </p:nvSpPr>
        <p:spPr>
          <a:xfrm>
            <a:off x="2395095" y="1122531"/>
            <a:ext cx="3125907" cy="711504"/>
          </a:xfrm>
          <a:prstGeom prst="rect">
            <a:avLst/>
          </a:prstGeom>
        </p:spPr>
        <p:txBody>
          <a:bodyPr wrap="square" lIns="0" tIns="35560" rIns="0" bIns="0" rtlCol="0">
            <a:noAutofit/>
          </a:bodyPr>
          <a:lstStyle/>
          <a:p>
            <a:pPr marL="12700">
              <a:lnSpc>
                <a:spcPts val="5600"/>
              </a:lnSpc>
            </a:pPr>
            <a:r>
              <a:rPr sz="5400" b="1" spc="-10" dirty="0" smtClean="0">
                <a:solidFill>
                  <a:srgbClr val="04607A"/>
                </a:solidFill>
                <a:latin typeface="Times New Roman"/>
                <a:cs typeface="Times New Roman"/>
              </a:rPr>
              <a:t>properties</a:t>
            </a:r>
            <a:endParaRPr sz="5400">
              <a:latin typeface="Times New Roman"/>
              <a:cs typeface="Times New Roman"/>
            </a:endParaRPr>
          </a:p>
        </p:txBody>
      </p:sp>
      <p:sp>
        <p:nvSpPr>
          <p:cNvPr id="13" name="object 13"/>
          <p:cNvSpPr txBox="1"/>
          <p:nvPr/>
        </p:nvSpPr>
        <p:spPr>
          <a:xfrm>
            <a:off x="535940" y="1941664"/>
            <a:ext cx="8083190" cy="3209916"/>
          </a:xfrm>
          <a:prstGeom prst="rect">
            <a:avLst/>
          </a:prstGeom>
        </p:spPr>
        <p:txBody>
          <a:bodyPr wrap="square" lIns="0" tIns="17018" rIns="0" bIns="0" rtlCol="0">
            <a:noAutofit/>
          </a:bodyPr>
          <a:lstStyle/>
          <a:p>
            <a:pPr marL="12700" marR="44254">
              <a:lnSpc>
                <a:spcPts val="2680"/>
              </a:lnSpc>
            </a:pPr>
            <a:r>
              <a:rPr sz="2600" spc="-3" dirty="0" smtClean="0">
                <a:latin typeface="Times New Roman"/>
                <a:cs typeface="Times New Roman"/>
              </a:rPr>
              <a:t>a). </a:t>
            </a:r>
            <a:r>
              <a:rPr sz="2600" b="1" u="heavy" spc="-3" dirty="0" smtClean="0">
                <a:latin typeface="Times New Roman"/>
                <a:cs typeface="Times New Roman"/>
              </a:rPr>
              <a:t>Safety</a:t>
            </a:r>
            <a:r>
              <a:rPr sz="2600" spc="-3" dirty="0" smtClean="0">
                <a:latin typeface="Times New Roman"/>
                <a:cs typeface="Times New Roman"/>
              </a:rPr>
              <a:t>: The boiler should be safe under the operating</a:t>
            </a:r>
            <a:endParaRPr sz="2600">
              <a:latin typeface="Times New Roman"/>
              <a:cs typeface="Times New Roman"/>
            </a:endParaRPr>
          </a:p>
          <a:p>
            <a:pPr marL="360172" marR="44254">
              <a:lnSpc>
                <a:spcPts val="2580"/>
              </a:lnSpc>
            </a:pPr>
            <a:r>
              <a:rPr sz="2600" spc="2" dirty="0" smtClean="0">
                <a:latin typeface="Times New Roman"/>
                <a:cs typeface="Times New Roman"/>
              </a:rPr>
              <a:t>conditions.</a:t>
            </a:r>
            <a:endParaRPr sz="2600">
              <a:latin typeface="Times New Roman"/>
              <a:cs typeface="Times New Roman"/>
            </a:endParaRPr>
          </a:p>
          <a:p>
            <a:pPr marL="360172" marR="1019344" indent="-347472">
              <a:lnSpc>
                <a:spcPts val="2500"/>
              </a:lnSpc>
              <a:spcBef>
                <a:spcPts val="553"/>
              </a:spcBef>
            </a:pPr>
            <a:r>
              <a:rPr sz="2600" spc="0" dirty="0" smtClean="0">
                <a:latin typeface="Times New Roman"/>
                <a:cs typeface="Times New Roman"/>
              </a:rPr>
              <a:t>b). </a:t>
            </a:r>
            <a:r>
              <a:rPr sz="2600" b="1" u="heavy" spc="0" dirty="0" smtClean="0">
                <a:latin typeface="Times New Roman"/>
                <a:cs typeface="Times New Roman"/>
              </a:rPr>
              <a:t>Accessibility</a:t>
            </a:r>
            <a:r>
              <a:rPr sz="2600" spc="0" dirty="0" smtClean="0">
                <a:latin typeface="Times New Roman"/>
                <a:cs typeface="Times New Roman"/>
              </a:rPr>
              <a:t>: the various part of boiler should be accessible for repair &amp; maintenance.</a:t>
            </a:r>
            <a:endParaRPr sz="2600">
              <a:latin typeface="Times New Roman"/>
              <a:cs typeface="Times New Roman"/>
            </a:endParaRPr>
          </a:p>
          <a:p>
            <a:pPr marL="12700" marR="44254">
              <a:lnSpc>
                <a:spcPts val="2910"/>
              </a:lnSpc>
              <a:spcBef>
                <a:spcPts val="210"/>
              </a:spcBef>
            </a:pPr>
            <a:r>
              <a:rPr sz="2600" spc="-2" dirty="0" smtClean="0">
                <a:latin typeface="Times New Roman"/>
                <a:cs typeface="Times New Roman"/>
              </a:rPr>
              <a:t>c). </a:t>
            </a:r>
            <a:r>
              <a:rPr sz="2600" b="1" u="heavy" spc="-2" dirty="0" smtClean="0">
                <a:latin typeface="Times New Roman"/>
                <a:cs typeface="Times New Roman"/>
              </a:rPr>
              <a:t>Capacity</a:t>
            </a:r>
            <a:r>
              <a:rPr sz="2600" spc="-2" dirty="0" smtClean="0">
                <a:latin typeface="Times New Roman"/>
                <a:cs typeface="Times New Roman"/>
              </a:rPr>
              <a:t>: Should be capable of supplying Steam</a:t>
            </a:r>
            <a:endParaRPr sz="2600">
              <a:latin typeface="Times New Roman"/>
              <a:cs typeface="Times New Roman"/>
            </a:endParaRPr>
          </a:p>
          <a:p>
            <a:pPr marL="360172" marR="44254">
              <a:lnSpc>
                <a:spcPts val="2580"/>
              </a:lnSpc>
            </a:pPr>
            <a:r>
              <a:rPr sz="2600" dirty="0" smtClean="0">
                <a:latin typeface="Times New Roman"/>
                <a:cs typeface="Times New Roman"/>
              </a:rPr>
              <a:t>according to the requirements.</a:t>
            </a:r>
            <a:endParaRPr sz="2600">
              <a:latin typeface="Times New Roman"/>
              <a:cs typeface="Times New Roman"/>
            </a:endParaRPr>
          </a:p>
          <a:p>
            <a:pPr marL="360172" indent="-347472">
              <a:lnSpc>
                <a:spcPts val="2500"/>
              </a:lnSpc>
              <a:spcBef>
                <a:spcPts val="553"/>
              </a:spcBef>
            </a:pPr>
            <a:r>
              <a:rPr sz="2600" dirty="0" smtClean="0">
                <a:latin typeface="Times New Roman"/>
                <a:cs typeface="Times New Roman"/>
              </a:rPr>
              <a:t>d). </a:t>
            </a:r>
            <a:r>
              <a:rPr sz="2600" b="1" u="heavy" dirty="0" smtClean="0">
                <a:latin typeface="Times New Roman"/>
                <a:cs typeface="Times New Roman"/>
              </a:rPr>
              <a:t>Effi</a:t>
            </a:r>
            <a:r>
              <a:rPr sz="2600" b="1" u="heavy" spc="-9" dirty="0" smtClean="0">
                <a:latin typeface="Times New Roman"/>
                <a:cs typeface="Times New Roman"/>
              </a:rPr>
              <a:t>c</a:t>
            </a:r>
            <a:r>
              <a:rPr sz="2600" b="1" u="heavy" spc="0" dirty="0" smtClean="0">
                <a:latin typeface="Times New Roman"/>
                <a:cs typeface="Times New Roman"/>
              </a:rPr>
              <a:t>i</a:t>
            </a:r>
            <a:r>
              <a:rPr sz="2600" b="1" u="heavy" spc="-9" dirty="0" smtClean="0">
                <a:latin typeface="Times New Roman"/>
                <a:cs typeface="Times New Roman"/>
              </a:rPr>
              <a:t>e</a:t>
            </a:r>
            <a:r>
              <a:rPr sz="2600" b="1" u="heavy" spc="0" dirty="0" smtClean="0">
                <a:latin typeface="Times New Roman"/>
                <a:cs typeface="Times New Roman"/>
              </a:rPr>
              <a:t>nc</a:t>
            </a:r>
            <a:r>
              <a:rPr sz="2600" b="1" u="heavy" spc="4" dirty="0" smtClean="0">
                <a:latin typeface="Times New Roman"/>
                <a:cs typeface="Times New Roman"/>
              </a:rPr>
              <a:t>y</a:t>
            </a:r>
            <a:r>
              <a:rPr sz="2600" spc="0" dirty="0" smtClean="0">
                <a:latin typeface="Times New Roman"/>
                <a:cs typeface="Times New Roman"/>
              </a:rPr>
              <a:t>:</a:t>
            </a:r>
            <a:r>
              <a:rPr sz="2600" spc="-14" dirty="0" smtClean="0">
                <a:latin typeface="Times New Roman"/>
                <a:cs typeface="Times New Roman"/>
              </a:rPr>
              <a:t> </a:t>
            </a:r>
            <a:r>
              <a:rPr sz="2600" spc="0" dirty="0" smtClean="0">
                <a:latin typeface="Times New Roman"/>
                <a:cs typeface="Times New Roman"/>
              </a:rPr>
              <a:t>S</a:t>
            </a:r>
            <a:r>
              <a:rPr sz="2600" spc="9" dirty="0" smtClean="0">
                <a:latin typeface="Times New Roman"/>
                <a:cs typeface="Times New Roman"/>
              </a:rPr>
              <a:t>h</a:t>
            </a:r>
            <a:r>
              <a:rPr sz="2600" spc="0" dirty="0" smtClean="0">
                <a:latin typeface="Times New Roman"/>
                <a:cs typeface="Times New Roman"/>
              </a:rPr>
              <a:t>o</a:t>
            </a:r>
            <a:r>
              <a:rPr sz="2600" spc="9" dirty="0" smtClean="0">
                <a:latin typeface="Times New Roman"/>
                <a:cs typeface="Times New Roman"/>
              </a:rPr>
              <a:t>u</a:t>
            </a:r>
            <a:r>
              <a:rPr sz="2600" spc="0" dirty="0" smtClean="0">
                <a:latin typeface="Times New Roman"/>
                <a:cs typeface="Times New Roman"/>
              </a:rPr>
              <a:t>ld</a:t>
            </a:r>
            <a:r>
              <a:rPr sz="2600" spc="-25" dirty="0" smtClean="0">
                <a:latin typeface="Times New Roman"/>
                <a:cs typeface="Times New Roman"/>
              </a:rPr>
              <a:t> </a:t>
            </a:r>
            <a:r>
              <a:rPr sz="2600" spc="0" dirty="0" smtClean="0">
                <a:latin typeface="Times New Roman"/>
                <a:cs typeface="Times New Roman"/>
              </a:rPr>
              <a:t>be</a:t>
            </a:r>
            <a:r>
              <a:rPr sz="2600" spc="-9" dirty="0" smtClean="0">
                <a:latin typeface="Times New Roman"/>
                <a:cs typeface="Times New Roman"/>
              </a:rPr>
              <a:t> </a:t>
            </a:r>
            <a:r>
              <a:rPr sz="2600" spc="0" dirty="0" smtClean="0">
                <a:latin typeface="Times New Roman"/>
                <a:cs typeface="Times New Roman"/>
              </a:rPr>
              <a:t>able</a:t>
            </a:r>
            <a:r>
              <a:rPr sz="2600" spc="-9" dirty="0" smtClean="0">
                <a:latin typeface="Times New Roman"/>
                <a:cs typeface="Times New Roman"/>
              </a:rPr>
              <a:t> </a:t>
            </a:r>
            <a:r>
              <a:rPr sz="2600" spc="0" dirty="0" smtClean="0">
                <a:latin typeface="Times New Roman"/>
                <a:cs typeface="Times New Roman"/>
              </a:rPr>
              <a:t>to absorb</a:t>
            </a:r>
            <a:r>
              <a:rPr sz="2600" spc="-19" dirty="0" smtClean="0">
                <a:latin typeface="Times New Roman"/>
                <a:cs typeface="Times New Roman"/>
              </a:rPr>
              <a:t> </a:t>
            </a:r>
            <a:r>
              <a:rPr sz="2600" spc="0" dirty="0" smtClean="0">
                <a:latin typeface="Times New Roman"/>
                <a:cs typeface="Times New Roman"/>
              </a:rPr>
              <a:t>a </a:t>
            </a:r>
            <a:r>
              <a:rPr sz="2600" spc="-19" dirty="0" smtClean="0">
                <a:latin typeface="Times New Roman"/>
                <a:cs typeface="Times New Roman"/>
              </a:rPr>
              <a:t>m</a:t>
            </a:r>
            <a:r>
              <a:rPr sz="2600" spc="0" dirty="0" smtClean="0">
                <a:latin typeface="Times New Roman"/>
                <a:cs typeface="Times New Roman"/>
              </a:rPr>
              <a:t>axi</a:t>
            </a:r>
            <a:r>
              <a:rPr sz="2600" spc="-14" dirty="0" smtClean="0">
                <a:latin typeface="Times New Roman"/>
                <a:cs typeface="Times New Roman"/>
              </a:rPr>
              <a:t>m</a:t>
            </a:r>
            <a:r>
              <a:rPr sz="2600" spc="0" dirty="0" smtClean="0">
                <a:latin typeface="Times New Roman"/>
                <a:cs typeface="Times New Roman"/>
              </a:rPr>
              <a:t>um a</a:t>
            </a:r>
            <a:r>
              <a:rPr sz="2600" spc="-9" dirty="0" smtClean="0">
                <a:latin typeface="Times New Roman"/>
                <a:cs typeface="Times New Roman"/>
              </a:rPr>
              <a:t>m</a:t>
            </a:r>
            <a:r>
              <a:rPr sz="2600" spc="0" dirty="0" smtClean="0">
                <a:latin typeface="Times New Roman"/>
                <a:cs typeface="Times New Roman"/>
              </a:rPr>
              <a:t>o</a:t>
            </a:r>
            <a:r>
              <a:rPr sz="2600" spc="9" dirty="0" smtClean="0">
                <a:latin typeface="Times New Roman"/>
                <a:cs typeface="Times New Roman"/>
              </a:rPr>
              <a:t>u</a:t>
            </a:r>
            <a:r>
              <a:rPr sz="2600" spc="0" dirty="0" smtClean="0">
                <a:latin typeface="Times New Roman"/>
                <a:cs typeface="Times New Roman"/>
              </a:rPr>
              <a:t>nt </a:t>
            </a:r>
            <a:r>
              <a:rPr sz="2600" spc="4" dirty="0" smtClean="0">
                <a:latin typeface="Times New Roman"/>
                <a:cs typeface="Times New Roman"/>
              </a:rPr>
              <a:t>o</a:t>
            </a:r>
            <a:r>
              <a:rPr sz="2600" spc="0" dirty="0" smtClean="0">
                <a:latin typeface="Times New Roman"/>
                <a:cs typeface="Times New Roman"/>
              </a:rPr>
              <a:t>f</a:t>
            </a:r>
            <a:r>
              <a:rPr sz="2600" spc="-9" dirty="0" smtClean="0">
                <a:latin typeface="Times New Roman"/>
                <a:cs typeface="Times New Roman"/>
              </a:rPr>
              <a:t> </a:t>
            </a:r>
            <a:r>
              <a:rPr sz="2600" spc="4" dirty="0" smtClean="0">
                <a:latin typeface="Times New Roman"/>
                <a:cs typeface="Times New Roman"/>
              </a:rPr>
              <a:t>h</a:t>
            </a:r>
            <a:r>
              <a:rPr sz="2600" spc="0" dirty="0" smtClean="0">
                <a:latin typeface="Times New Roman"/>
                <a:cs typeface="Times New Roman"/>
              </a:rPr>
              <a:t>eat pr</a:t>
            </a:r>
            <a:r>
              <a:rPr sz="2600" spc="9" dirty="0" smtClean="0">
                <a:latin typeface="Times New Roman"/>
                <a:cs typeface="Times New Roman"/>
              </a:rPr>
              <a:t>o</a:t>
            </a:r>
            <a:r>
              <a:rPr sz="2600" spc="4" dirty="0" smtClean="0">
                <a:latin typeface="Times New Roman"/>
                <a:cs typeface="Times New Roman"/>
              </a:rPr>
              <a:t>du</a:t>
            </a:r>
            <a:r>
              <a:rPr sz="2600" spc="0" dirty="0" smtClean="0">
                <a:latin typeface="Times New Roman"/>
                <a:cs typeface="Times New Roman"/>
              </a:rPr>
              <a:t>ced</a:t>
            </a:r>
            <a:r>
              <a:rPr sz="2600" spc="-44" dirty="0" smtClean="0">
                <a:latin typeface="Times New Roman"/>
                <a:cs typeface="Times New Roman"/>
              </a:rPr>
              <a:t> </a:t>
            </a:r>
            <a:r>
              <a:rPr sz="2600" spc="4" dirty="0" smtClean="0">
                <a:latin typeface="Times New Roman"/>
                <a:cs typeface="Times New Roman"/>
              </a:rPr>
              <a:t>du</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to </a:t>
            </a:r>
            <a:r>
              <a:rPr sz="2600" spc="14" dirty="0" smtClean="0">
                <a:latin typeface="Times New Roman"/>
                <a:cs typeface="Times New Roman"/>
              </a:rPr>
              <a:t>b</a:t>
            </a:r>
            <a:r>
              <a:rPr sz="2600" spc="4" dirty="0" smtClean="0">
                <a:latin typeface="Times New Roman"/>
                <a:cs typeface="Times New Roman"/>
              </a:rPr>
              <a:t>u</a:t>
            </a:r>
            <a:r>
              <a:rPr sz="2600" spc="0" dirty="0" smtClean="0">
                <a:latin typeface="Times New Roman"/>
                <a:cs typeface="Times New Roman"/>
              </a:rPr>
              <a:t>rni</a:t>
            </a:r>
            <a:r>
              <a:rPr sz="2600" spc="14" dirty="0" smtClean="0">
                <a:latin typeface="Times New Roman"/>
                <a:cs typeface="Times New Roman"/>
              </a:rPr>
              <a:t>n</a:t>
            </a:r>
            <a:r>
              <a:rPr sz="2600" spc="0" dirty="0" smtClean="0">
                <a:latin typeface="Times New Roman"/>
                <a:cs typeface="Times New Roman"/>
              </a:rPr>
              <a:t>g</a:t>
            </a:r>
            <a:r>
              <a:rPr sz="2600" spc="-29" dirty="0" smtClean="0">
                <a:latin typeface="Times New Roman"/>
                <a:cs typeface="Times New Roman"/>
              </a:rPr>
              <a:t> </a:t>
            </a:r>
            <a:r>
              <a:rPr sz="2600" spc="4" dirty="0" smtClean="0">
                <a:latin typeface="Times New Roman"/>
                <a:cs typeface="Times New Roman"/>
              </a:rPr>
              <a:t>o</a:t>
            </a:r>
            <a:r>
              <a:rPr sz="2600" spc="0" dirty="0" smtClean="0">
                <a:latin typeface="Times New Roman"/>
                <a:cs typeface="Times New Roman"/>
              </a:rPr>
              <a:t>f</a:t>
            </a:r>
            <a:r>
              <a:rPr sz="2600" spc="-9" dirty="0" smtClean="0">
                <a:latin typeface="Times New Roman"/>
                <a:cs typeface="Times New Roman"/>
              </a:rPr>
              <a:t> </a:t>
            </a:r>
            <a:r>
              <a:rPr sz="2600" spc="0" dirty="0" smtClean="0">
                <a:latin typeface="Times New Roman"/>
                <a:cs typeface="Times New Roman"/>
              </a:rPr>
              <a:t>fuel in</a:t>
            </a:r>
            <a:r>
              <a:rPr sz="2600" spc="9" dirty="0" smtClean="0">
                <a:latin typeface="Times New Roman"/>
                <a:cs typeface="Times New Roman"/>
              </a:rPr>
              <a:t> </a:t>
            </a:r>
            <a:r>
              <a:rPr sz="2600" spc="0" dirty="0" smtClean="0">
                <a:latin typeface="Times New Roman"/>
                <a:cs typeface="Times New Roman"/>
              </a:rPr>
              <a:t>the f</a:t>
            </a:r>
            <a:r>
              <a:rPr sz="2600" spc="9" dirty="0" smtClean="0">
                <a:latin typeface="Times New Roman"/>
                <a:cs typeface="Times New Roman"/>
              </a:rPr>
              <a:t>u</a:t>
            </a:r>
            <a:r>
              <a:rPr sz="2600" spc="0" dirty="0" smtClean="0">
                <a:latin typeface="Times New Roman"/>
                <a:cs typeface="Times New Roman"/>
              </a:rPr>
              <a:t>rnace.</a:t>
            </a:r>
            <a:endParaRPr sz="2600">
              <a:latin typeface="Times New Roman"/>
              <a:cs typeface="Times New Roman"/>
            </a:endParaRPr>
          </a:p>
          <a:p>
            <a:pPr marL="12700" marR="44254">
              <a:lnSpc>
                <a:spcPct val="95825"/>
              </a:lnSpc>
              <a:spcBef>
                <a:spcPts val="64"/>
              </a:spcBef>
            </a:pPr>
            <a:r>
              <a:rPr sz="2600" spc="0" dirty="0" smtClean="0">
                <a:latin typeface="Times New Roman"/>
                <a:cs typeface="Times New Roman"/>
              </a:rPr>
              <a:t>e). It should be </a:t>
            </a:r>
            <a:r>
              <a:rPr sz="2600" b="1" u="heavy" spc="0" dirty="0" smtClean="0">
                <a:latin typeface="Times New Roman"/>
                <a:cs typeface="Times New Roman"/>
              </a:rPr>
              <a:t>simple in construction</a:t>
            </a:r>
            <a:r>
              <a:rPr sz="2600" spc="0" dirty="0" smtClean="0">
                <a:latin typeface="Times New Roman"/>
                <a:cs typeface="Times New Roman"/>
              </a:rPr>
              <a:t>.</a:t>
            </a:r>
            <a:endParaRPr sz="2600">
              <a:latin typeface="Times New Roman"/>
              <a:cs typeface="Times New Roman"/>
            </a:endParaRPr>
          </a:p>
        </p:txBody>
      </p:sp>
      <p:sp>
        <p:nvSpPr>
          <p:cNvPr id="12" name="object 12"/>
          <p:cNvSpPr txBox="1"/>
          <p:nvPr/>
        </p:nvSpPr>
        <p:spPr>
          <a:xfrm>
            <a:off x="535940" y="5192093"/>
            <a:ext cx="6345734" cy="356107"/>
          </a:xfrm>
          <a:prstGeom prst="rect">
            <a:avLst/>
          </a:prstGeom>
        </p:spPr>
        <p:txBody>
          <a:bodyPr wrap="square" lIns="0" tIns="17526" rIns="0" bIns="0" rtlCol="0">
            <a:noAutofit/>
          </a:bodyPr>
          <a:lstStyle/>
          <a:p>
            <a:pPr marL="12700">
              <a:lnSpc>
                <a:spcPts val="2760"/>
              </a:lnSpc>
            </a:pPr>
            <a:r>
              <a:rPr sz="2600" spc="-17" dirty="0" smtClean="0">
                <a:latin typeface="Times New Roman"/>
                <a:cs typeface="Times New Roman"/>
              </a:rPr>
              <a:t>f). Its </a:t>
            </a:r>
            <a:r>
              <a:rPr sz="2600" b="1" spc="-17" dirty="0" smtClean="0">
                <a:latin typeface="Times New Roman"/>
                <a:cs typeface="Times New Roman"/>
              </a:rPr>
              <a:t> </a:t>
            </a:r>
            <a:r>
              <a:rPr sz="2600" b="1" u="heavy" spc="-17" dirty="0" smtClean="0">
                <a:latin typeface="Times New Roman"/>
                <a:cs typeface="Times New Roman"/>
              </a:rPr>
              <a:t>initial cost</a:t>
            </a:r>
            <a:r>
              <a:rPr sz="2600" b="1" spc="-17" dirty="0" smtClean="0">
                <a:latin typeface="Times New Roman"/>
                <a:cs typeface="Times New Roman"/>
              </a:rPr>
              <a:t> </a:t>
            </a:r>
            <a:r>
              <a:rPr sz="2600" spc="-17" dirty="0" smtClean="0">
                <a:latin typeface="Times New Roman"/>
                <a:cs typeface="Times New Roman"/>
              </a:rPr>
              <a:t>and </a:t>
            </a:r>
            <a:r>
              <a:rPr sz="2600" b="1" u="heavy" spc="-17" dirty="0" smtClean="0">
                <a:latin typeface="Times New Roman"/>
                <a:cs typeface="Times New Roman"/>
              </a:rPr>
              <a:t>maintenance cost</a:t>
            </a:r>
            <a:r>
              <a:rPr sz="2600" b="1" spc="-17" dirty="0" smtClean="0">
                <a:latin typeface="Times New Roman"/>
                <a:cs typeface="Times New Roman"/>
              </a:rPr>
              <a:t> </a:t>
            </a:r>
            <a:r>
              <a:rPr sz="2600" spc="-17" dirty="0" smtClean="0">
                <a:latin typeface="Times New Roman"/>
                <a:cs typeface="Times New Roman"/>
              </a:rPr>
              <a:t>is low.</a:t>
            </a:r>
            <a:endParaRPr sz="2600">
              <a:latin typeface="Times New Roman"/>
              <a:cs typeface="Times New Roman"/>
            </a:endParaRPr>
          </a:p>
        </p:txBody>
      </p:sp>
      <p:sp>
        <p:nvSpPr>
          <p:cNvPr id="11" name="object 11"/>
          <p:cNvSpPr txBox="1"/>
          <p:nvPr/>
        </p:nvSpPr>
        <p:spPr>
          <a:xfrm>
            <a:off x="535940" y="5588283"/>
            <a:ext cx="7484821" cy="356107"/>
          </a:xfrm>
          <a:prstGeom prst="rect">
            <a:avLst/>
          </a:prstGeom>
        </p:spPr>
        <p:txBody>
          <a:bodyPr wrap="square" lIns="0" tIns="17526" rIns="0" bIns="0" rtlCol="0">
            <a:noAutofit/>
          </a:bodyPr>
          <a:lstStyle/>
          <a:p>
            <a:pPr marL="12700">
              <a:lnSpc>
                <a:spcPts val="2760"/>
              </a:lnSpc>
            </a:pPr>
            <a:r>
              <a:rPr sz="2600" spc="0" dirty="0" smtClean="0">
                <a:latin typeface="Times New Roman"/>
                <a:cs typeface="Times New Roman"/>
              </a:rPr>
              <a:t>g). It should be </a:t>
            </a:r>
            <a:r>
              <a:rPr sz="2600" b="1" u="heavy" spc="0" dirty="0" smtClean="0">
                <a:latin typeface="Times New Roman"/>
                <a:cs typeface="Times New Roman"/>
              </a:rPr>
              <a:t>capable of quick starting and loading</a:t>
            </a:r>
            <a:r>
              <a:rPr sz="2600" spc="0" dirty="0" smtClean="0">
                <a:latin typeface="Times New Roman"/>
                <a:cs typeface="Times New Roman"/>
              </a:rPr>
              <a:t>.</a:t>
            </a:r>
            <a:endParaRPr sz="2600">
              <a:latin typeface="Times New Roman"/>
              <a:cs typeface="Times New Roman"/>
            </a:endParaRPr>
          </a:p>
        </p:txBody>
      </p:sp>
      <p:sp>
        <p:nvSpPr>
          <p:cNvPr id="10" name="object 10"/>
          <p:cNvSpPr txBox="1"/>
          <p:nvPr/>
        </p:nvSpPr>
        <p:spPr>
          <a:xfrm>
            <a:off x="3528580" y="4934585"/>
            <a:ext cx="82676" cy="152400"/>
          </a:xfrm>
          <a:prstGeom prst="rect">
            <a:avLst/>
          </a:prstGeom>
        </p:spPr>
        <p:txBody>
          <a:bodyPr wrap="square" lIns="0" tIns="0" rIns="0" bIns="0" rtlCol="0">
            <a:noAutofit/>
          </a:bodyPr>
          <a:lstStyle/>
          <a:p>
            <a:pPr marL="25400">
              <a:lnSpc>
                <a:spcPts val="1000"/>
              </a:lnSpc>
            </a:pPr>
            <a:endParaRPr sz="1000"/>
          </a:p>
        </p:txBody>
      </p:sp>
      <p:sp>
        <p:nvSpPr>
          <p:cNvPr id="9" name="object 9"/>
          <p:cNvSpPr txBox="1"/>
          <p:nvPr/>
        </p:nvSpPr>
        <p:spPr>
          <a:xfrm>
            <a:off x="3886076" y="4934585"/>
            <a:ext cx="83999" cy="152400"/>
          </a:xfrm>
          <a:prstGeom prst="rect">
            <a:avLst/>
          </a:prstGeom>
        </p:spPr>
        <p:txBody>
          <a:bodyPr wrap="square" lIns="0" tIns="0" rIns="0" bIns="0" rtlCol="0">
            <a:noAutofit/>
          </a:bodyPr>
          <a:lstStyle/>
          <a:p>
            <a:pPr marL="25400">
              <a:lnSpc>
                <a:spcPts val="1000"/>
              </a:lnSpc>
            </a:pPr>
            <a:endParaRPr sz="1000"/>
          </a:p>
        </p:txBody>
      </p:sp>
      <p:sp>
        <p:nvSpPr>
          <p:cNvPr id="8" name="object 8"/>
          <p:cNvSpPr txBox="1"/>
          <p:nvPr/>
        </p:nvSpPr>
        <p:spPr>
          <a:xfrm>
            <a:off x="2171723" y="5331206"/>
            <a:ext cx="83669" cy="152400"/>
          </a:xfrm>
          <a:prstGeom prst="rect">
            <a:avLst/>
          </a:prstGeom>
        </p:spPr>
        <p:txBody>
          <a:bodyPr wrap="square" lIns="0" tIns="0" rIns="0" bIns="0" rtlCol="0">
            <a:noAutofit/>
          </a:bodyPr>
          <a:lstStyle/>
          <a:p>
            <a:pPr marL="25400">
              <a:lnSpc>
                <a:spcPts val="1000"/>
              </a:lnSpc>
            </a:pPr>
            <a:endParaRPr sz="1000"/>
          </a:p>
        </p:txBody>
      </p:sp>
      <p:sp>
        <p:nvSpPr>
          <p:cNvPr id="7" name="object 7"/>
          <p:cNvSpPr txBox="1"/>
          <p:nvPr/>
        </p:nvSpPr>
        <p:spPr>
          <a:xfrm>
            <a:off x="5247434" y="5331206"/>
            <a:ext cx="77716" cy="152400"/>
          </a:xfrm>
          <a:prstGeom prst="rect">
            <a:avLst/>
          </a:prstGeom>
        </p:spPr>
        <p:txBody>
          <a:bodyPr wrap="square" lIns="0" tIns="0" rIns="0" bIns="0" rtlCol="0">
            <a:noAutofit/>
          </a:bodyPr>
          <a:lstStyle/>
          <a:p>
            <a:pPr marL="25400">
              <a:lnSpc>
                <a:spcPts val="1000"/>
              </a:lnSpc>
            </a:pPr>
            <a:endParaRPr sz="1000"/>
          </a:p>
        </p:txBody>
      </p:sp>
      <p:sp>
        <p:nvSpPr>
          <p:cNvPr id="6" name="object 6"/>
          <p:cNvSpPr txBox="1"/>
          <p:nvPr/>
        </p:nvSpPr>
        <p:spPr>
          <a:xfrm>
            <a:off x="3716061" y="5727395"/>
            <a:ext cx="78708" cy="152400"/>
          </a:xfrm>
          <a:prstGeom prst="rect">
            <a:avLst/>
          </a:prstGeom>
        </p:spPr>
        <p:txBody>
          <a:bodyPr wrap="square" lIns="0" tIns="0" rIns="0" bIns="0" rtlCol="0">
            <a:noAutofit/>
          </a:bodyPr>
          <a:lstStyle/>
          <a:p>
            <a:pPr marL="25400">
              <a:lnSpc>
                <a:spcPts val="1000"/>
              </a:lnSpc>
            </a:pPr>
            <a:endParaRPr sz="1000"/>
          </a:p>
        </p:txBody>
      </p:sp>
      <p:sp>
        <p:nvSpPr>
          <p:cNvPr id="5" name="object 5"/>
          <p:cNvSpPr txBox="1"/>
          <p:nvPr/>
        </p:nvSpPr>
        <p:spPr>
          <a:xfrm>
            <a:off x="4070249" y="5727395"/>
            <a:ext cx="82676" cy="152400"/>
          </a:xfrm>
          <a:prstGeom prst="rect">
            <a:avLst/>
          </a:prstGeom>
        </p:spPr>
        <p:txBody>
          <a:bodyPr wrap="square" lIns="0" tIns="0" rIns="0" bIns="0" rtlCol="0">
            <a:noAutofit/>
          </a:bodyPr>
          <a:lstStyle/>
          <a:p>
            <a:pPr marL="25400">
              <a:lnSpc>
                <a:spcPts val="1000"/>
              </a:lnSpc>
            </a:pPr>
            <a:endParaRPr sz="1000"/>
          </a:p>
        </p:txBody>
      </p:sp>
      <p:sp>
        <p:nvSpPr>
          <p:cNvPr id="4" name="object 4"/>
          <p:cNvSpPr txBox="1"/>
          <p:nvPr/>
        </p:nvSpPr>
        <p:spPr>
          <a:xfrm>
            <a:off x="4942988" y="5727395"/>
            <a:ext cx="82346" cy="152400"/>
          </a:xfrm>
          <a:prstGeom prst="rect">
            <a:avLst/>
          </a:prstGeom>
        </p:spPr>
        <p:txBody>
          <a:bodyPr wrap="square" lIns="0" tIns="0" rIns="0" bIns="0" rtlCol="0">
            <a:noAutofit/>
          </a:bodyPr>
          <a:lstStyle/>
          <a:p>
            <a:pPr marL="25400">
              <a:lnSpc>
                <a:spcPts val="1000"/>
              </a:lnSpc>
            </a:pPr>
            <a:endParaRPr sz="1000"/>
          </a:p>
        </p:txBody>
      </p:sp>
      <p:sp>
        <p:nvSpPr>
          <p:cNvPr id="3" name="object 3"/>
          <p:cNvSpPr txBox="1"/>
          <p:nvPr/>
        </p:nvSpPr>
        <p:spPr>
          <a:xfrm>
            <a:off x="6126592" y="5727395"/>
            <a:ext cx="81354" cy="1524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6742039" y="5727395"/>
            <a:ext cx="81354"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14" name="object 14"/>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5" name="object 15"/>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6" name="object 16"/>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7" name="object 17"/>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8" name="object 18"/>
          <p:cNvSpPr/>
          <p:nvPr/>
        </p:nvSpPr>
        <p:spPr>
          <a:xfrm>
            <a:off x="7086600" y="4800600"/>
            <a:ext cx="1848611" cy="1848612"/>
          </a:xfrm>
          <a:prstGeom prst="rect">
            <a:avLst/>
          </a:prstGeom>
          <a:blipFill>
            <a:blip r:embed="rId7" cstate="print"/>
            <a:stretch>
              <a:fillRect/>
            </a:stretch>
          </a:blipFill>
        </p:spPr>
        <p:txBody>
          <a:bodyPr wrap="square" lIns="0" tIns="0" rIns="0" bIns="0" rtlCol="0">
            <a:noAutofit/>
          </a:bodyPr>
          <a:lstStyle/>
          <a:p>
            <a:endParaRPr/>
          </a:p>
        </p:txBody>
      </p:sp>
      <p:sp>
        <p:nvSpPr>
          <p:cNvPr id="12" name="object 12"/>
          <p:cNvSpPr txBox="1"/>
          <p:nvPr/>
        </p:nvSpPr>
        <p:spPr>
          <a:xfrm>
            <a:off x="444500" y="1138707"/>
            <a:ext cx="4582422" cy="711504"/>
          </a:xfrm>
          <a:prstGeom prst="rect">
            <a:avLst/>
          </a:prstGeom>
        </p:spPr>
        <p:txBody>
          <a:bodyPr wrap="square" lIns="0" tIns="34925" rIns="0" bIns="0" rtlCol="0">
            <a:noAutofit/>
          </a:bodyPr>
          <a:lstStyle/>
          <a:p>
            <a:pPr marL="12700">
              <a:lnSpc>
                <a:spcPts val="5500"/>
              </a:lnSpc>
            </a:pPr>
            <a:r>
              <a:rPr sz="5400" spc="-30" dirty="0" smtClean="0">
                <a:solidFill>
                  <a:srgbClr val="7A9799"/>
                </a:solidFill>
                <a:latin typeface="Calibri"/>
                <a:cs typeface="Calibri"/>
              </a:rPr>
              <a:t>CLASSIFICATION</a:t>
            </a:r>
            <a:endParaRPr sz="5400">
              <a:latin typeface="Calibri"/>
              <a:cs typeface="Calibri"/>
            </a:endParaRPr>
          </a:p>
        </p:txBody>
      </p:sp>
      <p:sp>
        <p:nvSpPr>
          <p:cNvPr id="11" name="object 11"/>
          <p:cNvSpPr txBox="1"/>
          <p:nvPr/>
        </p:nvSpPr>
        <p:spPr>
          <a:xfrm>
            <a:off x="5051693" y="1138707"/>
            <a:ext cx="899135" cy="711504"/>
          </a:xfrm>
          <a:prstGeom prst="rect">
            <a:avLst/>
          </a:prstGeom>
        </p:spPr>
        <p:txBody>
          <a:bodyPr wrap="square" lIns="0" tIns="34925" rIns="0" bIns="0" rtlCol="0">
            <a:noAutofit/>
          </a:bodyPr>
          <a:lstStyle/>
          <a:p>
            <a:pPr marL="12700">
              <a:lnSpc>
                <a:spcPts val="5500"/>
              </a:lnSpc>
            </a:pPr>
            <a:r>
              <a:rPr sz="5400" spc="4" dirty="0" smtClean="0">
                <a:solidFill>
                  <a:srgbClr val="7A9799"/>
                </a:solidFill>
                <a:latin typeface="Calibri"/>
                <a:cs typeface="Calibri"/>
              </a:rPr>
              <a:t>OF</a:t>
            </a:r>
            <a:endParaRPr sz="5400">
              <a:latin typeface="Calibri"/>
              <a:cs typeface="Calibri"/>
            </a:endParaRPr>
          </a:p>
        </p:txBody>
      </p:sp>
      <p:sp>
        <p:nvSpPr>
          <p:cNvPr id="10" name="object 10"/>
          <p:cNvSpPr txBox="1"/>
          <p:nvPr/>
        </p:nvSpPr>
        <p:spPr>
          <a:xfrm>
            <a:off x="5930686" y="1138707"/>
            <a:ext cx="2475711" cy="1276485"/>
          </a:xfrm>
          <a:prstGeom prst="rect">
            <a:avLst/>
          </a:prstGeom>
        </p:spPr>
        <p:txBody>
          <a:bodyPr wrap="square" lIns="0" tIns="34925" rIns="0" bIns="0" rtlCol="0">
            <a:noAutofit/>
          </a:bodyPr>
          <a:lstStyle/>
          <a:p>
            <a:pPr marL="59262">
              <a:lnSpc>
                <a:spcPts val="5500"/>
              </a:lnSpc>
            </a:pPr>
            <a:r>
              <a:rPr sz="5400" spc="-12" dirty="0" smtClean="0">
                <a:solidFill>
                  <a:srgbClr val="7A9799"/>
                </a:solidFill>
                <a:latin typeface="Calibri"/>
                <a:cs typeface="Calibri"/>
              </a:rPr>
              <a:t>BOILERS</a:t>
            </a:r>
            <a:endParaRPr sz="5400">
              <a:latin typeface="Calibri"/>
              <a:cs typeface="Calibri"/>
            </a:endParaRPr>
          </a:p>
          <a:p>
            <a:pPr marL="12700" marR="102915">
              <a:lnSpc>
                <a:spcPct val="101725"/>
              </a:lnSpc>
              <a:spcBef>
                <a:spcPts val="757"/>
              </a:spcBef>
            </a:pPr>
            <a:r>
              <a:rPr sz="2800" b="1" spc="2" dirty="0" smtClean="0">
                <a:latin typeface="Constantia"/>
                <a:cs typeface="Constantia"/>
              </a:rPr>
              <a:t>TUBE</a:t>
            </a:r>
            <a:endParaRPr sz="2800">
              <a:latin typeface="Constantia"/>
              <a:cs typeface="Constantia"/>
            </a:endParaRPr>
          </a:p>
        </p:txBody>
      </p:sp>
      <p:sp>
        <p:nvSpPr>
          <p:cNvPr id="9" name="object 9"/>
          <p:cNvSpPr txBox="1"/>
          <p:nvPr/>
        </p:nvSpPr>
        <p:spPr>
          <a:xfrm>
            <a:off x="535940" y="2030735"/>
            <a:ext cx="263582" cy="363727"/>
          </a:xfrm>
          <a:prstGeom prst="rect">
            <a:avLst/>
          </a:prstGeom>
        </p:spPr>
        <p:txBody>
          <a:bodyPr wrap="square" lIns="0" tIns="17113" rIns="0" bIns="0" rtlCol="0">
            <a:noAutofit/>
          </a:bodyPr>
          <a:lstStyle/>
          <a:p>
            <a:pPr marL="12700">
              <a:lnSpc>
                <a:spcPts val="2695"/>
              </a:lnSpc>
            </a:pPr>
            <a:r>
              <a:rPr sz="2650" dirty="0" smtClean="0">
                <a:solidFill>
                  <a:srgbClr val="0AD0D9"/>
                </a:solidFill>
                <a:latin typeface="Wingdings"/>
                <a:cs typeface="Wingdings"/>
              </a:rPr>
              <a:t></a:t>
            </a:r>
            <a:endParaRPr sz="2650">
              <a:latin typeface="Wingdings"/>
              <a:cs typeface="Wingdings"/>
            </a:endParaRPr>
          </a:p>
        </p:txBody>
      </p:sp>
      <p:sp>
        <p:nvSpPr>
          <p:cNvPr id="8" name="object 8"/>
          <p:cNvSpPr txBox="1"/>
          <p:nvPr/>
        </p:nvSpPr>
        <p:spPr>
          <a:xfrm>
            <a:off x="810260" y="2034701"/>
            <a:ext cx="2194881" cy="380491"/>
          </a:xfrm>
          <a:prstGeom prst="rect">
            <a:avLst/>
          </a:prstGeom>
        </p:spPr>
        <p:txBody>
          <a:bodyPr wrap="square" lIns="0" tIns="18383" rIns="0" bIns="0" rtlCol="0">
            <a:noAutofit/>
          </a:bodyPr>
          <a:lstStyle/>
          <a:p>
            <a:pPr marL="12700">
              <a:lnSpc>
                <a:spcPts val="2895"/>
              </a:lnSpc>
            </a:pPr>
            <a:r>
              <a:rPr sz="2800" b="1" spc="-28" dirty="0" smtClean="0">
                <a:latin typeface="Constantia"/>
                <a:cs typeface="Constantia"/>
              </a:rPr>
              <a:t>According to</a:t>
            </a:r>
            <a:endParaRPr sz="2800">
              <a:latin typeface="Constantia"/>
              <a:cs typeface="Constantia"/>
            </a:endParaRPr>
          </a:p>
        </p:txBody>
      </p:sp>
      <p:sp>
        <p:nvSpPr>
          <p:cNvPr id="7" name="object 7"/>
          <p:cNvSpPr txBox="1"/>
          <p:nvPr/>
        </p:nvSpPr>
        <p:spPr>
          <a:xfrm>
            <a:off x="2994785" y="2034701"/>
            <a:ext cx="901944" cy="380491"/>
          </a:xfrm>
          <a:prstGeom prst="rect">
            <a:avLst/>
          </a:prstGeom>
        </p:spPr>
        <p:txBody>
          <a:bodyPr wrap="square" lIns="0" tIns="18383" rIns="0" bIns="0" rtlCol="0">
            <a:noAutofit/>
          </a:bodyPr>
          <a:lstStyle/>
          <a:p>
            <a:pPr marL="12700">
              <a:lnSpc>
                <a:spcPts val="2895"/>
              </a:lnSpc>
            </a:pPr>
            <a:r>
              <a:rPr sz="2800" b="1" spc="-4" dirty="0" smtClean="0">
                <a:latin typeface="Constantia"/>
                <a:cs typeface="Constantia"/>
              </a:rPr>
              <a:t>what</a:t>
            </a:r>
            <a:endParaRPr sz="2800">
              <a:latin typeface="Constantia"/>
              <a:cs typeface="Constantia"/>
            </a:endParaRPr>
          </a:p>
        </p:txBody>
      </p:sp>
      <p:sp>
        <p:nvSpPr>
          <p:cNvPr id="6" name="object 6"/>
          <p:cNvSpPr txBox="1"/>
          <p:nvPr/>
        </p:nvSpPr>
        <p:spPr>
          <a:xfrm>
            <a:off x="3893878" y="2034701"/>
            <a:ext cx="986181" cy="380491"/>
          </a:xfrm>
          <a:prstGeom prst="rect">
            <a:avLst/>
          </a:prstGeom>
        </p:spPr>
        <p:txBody>
          <a:bodyPr wrap="square" lIns="0" tIns="18383" rIns="0" bIns="0" rtlCol="0">
            <a:noAutofit/>
          </a:bodyPr>
          <a:lstStyle/>
          <a:p>
            <a:pPr marL="12700">
              <a:lnSpc>
                <a:spcPts val="2895"/>
              </a:lnSpc>
            </a:pPr>
            <a:r>
              <a:rPr sz="2800" b="1" spc="29" dirty="0" smtClean="0">
                <a:latin typeface="Constantia"/>
                <a:cs typeface="Constantia"/>
              </a:rPr>
              <a:t>flows</a:t>
            </a:r>
            <a:endParaRPr sz="2800">
              <a:latin typeface="Constantia"/>
              <a:cs typeface="Constantia"/>
            </a:endParaRPr>
          </a:p>
        </p:txBody>
      </p:sp>
      <p:sp>
        <p:nvSpPr>
          <p:cNvPr id="5" name="object 5"/>
          <p:cNvSpPr txBox="1"/>
          <p:nvPr/>
        </p:nvSpPr>
        <p:spPr>
          <a:xfrm>
            <a:off x="4883165" y="2034701"/>
            <a:ext cx="423526" cy="380491"/>
          </a:xfrm>
          <a:prstGeom prst="rect">
            <a:avLst/>
          </a:prstGeom>
        </p:spPr>
        <p:txBody>
          <a:bodyPr wrap="square" lIns="0" tIns="18383" rIns="0" bIns="0" rtlCol="0">
            <a:noAutofit/>
          </a:bodyPr>
          <a:lstStyle/>
          <a:p>
            <a:pPr marL="12700">
              <a:lnSpc>
                <a:spcPts val="2895"/>
              </a:lnSpc>
            </a:pPr>
            <a:r>
              <a:rPr sz="2800" b="1" dirty="0" smtClean="0">
                <a:latin typeface="Constantia"/>
                <a:cs typeface="Constantia"/>
              </a:rPr>
              <a:t>in</a:t>
            </a:r>
            <a:endParaRPr sz="2800">
              <a:latin typeface="Constantia"/>
              <a:cs typeface="Constantia"/>
            </a:endParaRPr>
          </a:p>
        </p:txBody>
      </p:sp>
      <p:sp>
        <p:nvSpPr>
          <p:cNvPr id="4" name="object 4"/>
          <p:cNvSpPr txBox="1"/>
          <p:nvPr/>
        </p:nvSpPr>
        <p:spPr>
          <a:xfrm>
            <a:off x="5304304" y="2034701"/>
            <a:ext cx="634188" cy="380491"/>
          </a:xfrm>
          <a:prstGeom prst="rect">
            <a:avLst/>
          </a:prstGeom>
        </p:spPr>
        <p:txBody>
          <a:bodyPr wrap="square" lIns="0" tIns="18383" rIns="0" bIns="0" rtlCol="0">
            <a:noAutofit/>
          </a:bodyPr>
          <a:lstStyle/>
          <a:p>
            <a:pPr marL="12700">
              <a:lnSpc>
                <a:spcPts val="2895"/>
              </a:lnSpc>
            </a:pPr>
            <a:r>
              <a:rPr sz="2800" b="1" dirty="0" smtClean="0">
                <a:latin typeface="Constantia"/>
                <a:cs typeface="Constantia"/>
              </a:rPr>
              <a:t>the</a:t>
            </a:r>
            <a:endParaRPr sz="2800">
              <a:latin typeface="Constantia"/>
              <a:cs typeface="Constantia"/>
            </a:endParaRPr>
          </a:p>
        </p:txBody>
      </p:sp>
      <p:sp>
        <p:nvSpPr>
          <p:cNvPr id="3" name="object 3"/>
          <p:cNvSpPr txBox="1"/>
          <p:nvPr/>
        </p:nvSpPr>
        <p:spPr>
          <a:xfrm>
            <a:off x="535940" y="4079245"/>
            <a:ext cx="263582" cy="875792"/>
          </a:xfrm>
          <a:prstGeom prst="rect">
            <a:avLst/>
          </a:prstGeom>
        </p:spPr>
        <p:txBody>
          <a:bodyPr wrap="square" lIns="0" tIns="17113" rIns="0" bIns="0" rtlCol="0">
            <a:noAutofit/>
          </a:bodyPr>
          <a:lstStyle/>
          <a:p>
            <a:pPr marL="12700" marR="0">
              <a:lnSpc>
                <a:spcPts val="2695"/>
              </a:lnSpc>
            </a:pPr>
            <a:r>
              <a:rPr sz="2650" dirty="0" smtClean="0">
                <a:solidFill>
                  <a:srgbClr val="0AD0D9"/>
                </a:solidFill>
                <a:latin typeface="Wingdings"/>
                <a:cs typeface="Wingdings"/>
              </a:rPr>
              <a:t></a:t>
            </a:r>
            <a:endParaRPr sz="2650">
              <a:latin typeface="Wingdings"/>
              <a:cs typeface="Wingdings"/>
            </a:endParaRPr>
          </a:p>
          <a:p>
            <a:pPr marL="12700">
              <a:lnSpc>
                <a:spcPct val="89274"/>
              </a:lnSpc>
              <a:spcBef>
                <a:spcPts val="1058"/>
              </a:spcBef>
            </a:pPr>
            <a:r>
              <a:rPr sz="2650" dirty="0" smtClean="0">
                <a:solidFill>
                  <a:srgbClr val="0AD0D9"/>
                </a:solidFill>
                <a:latin typeface="Wingdings"/>
                <a:cs typeface="Wingdings"/>
              </a:rPr>
              <a:t></a:t>
            </a:r>
            <a:endParaRPr sz="2650">
              <a:latin typeface="Wingdings"/>
              <a:cs typeface="Wingdings"/>
            </a:endParaRPr>
          </a:p>
        </p:txBody>
      </p:sp>
      <p:sp>
        <p:nvSpPr>
          <p:cNvPr id="2" name="object 2"/>
          <p:cNvSpPr txBox="1"/>
          <p:nvPr/>
        </p:nvSpPr>
        <p:spPr>
          <a:xfrm>
            <a:off x="810260" y="4083211"/>
            <a:ext cx="2161229" cy="892556"/>
          </a:xfrm>
          <a:prstGeom prst="rect">
            <a:avLst/>
          </a:prstGeom>
        </p:spPr>
        <p:txBody>
          <a:bodyPr wrap="square" lIns="0" tIns="18383" rIns="0" bIns="0" rtlCol="0">
            <a:noAutofit/>
          </a:bodyPr>
          <a:lstStyle/>
          <a:p>
            <a:pPr marL="12700">
              <a:lnSpc>
                <a:spcPts val="2895"/>
              </a:lnSpc>
            </a:pPr>
            <a:r>
              <a:rPr sz="2800" spc="-32" dirty="0" smtClean="0">
                <a:latin typeface="Constantia"/>
                <a:cs typeface="Constantia"/>
              </a:rPr>
              <a:t>1. Water tube.</a:t>
            </a:r>
            <a:endParaRPr sz="2800">
              <a:latin typeface="Constantia"/>
              <a:cs typeface="Constantia"/>
            </a:endParaRPr>
          </a:p>
          <a:p>
            <a:pPr marL="12700" marR="53263">
              <a:lnSpc>
                <a:spcPct val="101725"/>
              </a:lnSpc>
              <a:spcBef>
                <a:spcPts val="469"/>
              </a:spcBef>
            </a:pPr>
            <a:r>
              <a:rPr sz="2800" spc="-14" dirty="0" smtClean="0">
                <a:latin typeface="Constantia"/>
                <a:cs typeface="Constantia"/>
              </a:rPr>
              <a:t>2. Fire tube.</a:t>
            </a:r>
            <a:endParaRPr sz="2800">
              <a:latin typeface="Constantia"/>
              <a:cs typeface="Constanti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5" name="object 5"/>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6" name="object 6"/>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7" name="object 7"/>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8" name="object 8"/>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3" name="object 3"/>
          <p:cNvSpPr txBox="1"/>
          <p:nvPr/>
        </p:nvSpPr>
        <p:spPr>
          <a:xfrm>
            <a:off x="535940" y="1190142"/>
            <a:ext cx="7706196" cy="3930728"/>
          </a:xfrm>
          <a:prstGeom prst="rect">
            <a:avLst/>
          </a:prstGeom>
        </p:spPr>
        <p:txBody>
          <a:bodyPr wrap="square" lIns="0" tIns="32416" rIns="0" bIns="0" rtlCol="0">
            <a:noAutofit/>
          </a:bodyPr>
          <a:lstStyle/>
          <a:p>
            <a:pPr marL="1858517" marR="44254">
              <a:lnSpc>
                <a:spcPts val="5105"/>
              </a:lnSpc>
            </a:pPr>
            <a:r>
              <a:rPr sz="5000" b="1" spc="-25" dirty="0" smtClean="0">
                <a:solidFill>
                  <a:srgbClr val="04607A"/>
                </a:solidFill>
                <a:latin typeface="Calibri"/>
                <a:cs typeface="Calibri"/>
              </a:rPr>
              <a:t>Fire Tube Boilers</a:t>
            </a:r>
            <a:endParaRPr sz="5000">
              <a:latin typeface="Calibri"/>
              <a:cs typeface="Calibri"/>
            </a:endParaRPr>
          </a:p>
          <a:p>
            <a:pPr marL="287019" indent="-274319">
              <a:lnSpc>
                <a:spcPct val="100041"/>
              </a:lnSpc>
              <a:spcBef>
                <a:spcPts val="954"/>
              </a:spcBef>
            </a:pPr>
            <a:r>
              <a:rPr sz="2450" dirty="0" smtClean="0">
                <a:solidFill>
                  <a:srgbClr val="0AD0D9"/>
                </a:solidFill>
                <a:latin typeface="Wingdings"/>
                <a:cs typeface="Wingdings"/>
              </a:rPr>
              <a:t></a:t>
            </a:r>
            <a:r>
              <a:rPr sz="2450" dirty="0" smtClean="0">
                <a:solidFill>
                  <a:srgbClr val="0AD0D9"/>
                </a:solidFill>
                <a:latin typeface="Times New Roman"/>
                <a:cs typeface="Times New Roman"/>
              </a:rPr>
              <a:t> </a:t>
            </a:r>
            <a:r>
              <a:rPr sz="2600" dirty="0" smtClean="0">
                <a:latin typeface="Times New Roman"/>
                <a:cs typeface="Times New Roman"/>
              </a:rPr>
              <a:t>The combustion gases pass inside boiler tubes, and heat transferred to water on the shell side.</a:t>
            </a:r>
            <a:endParaRPr sz="2600">
              <a:latin typeface="Times New Roman"/>
              <a:cs typeface="Times New Roman"/>
            </a:endParaRPr>
          </a:p>
          <a:p>
            <a:pPr marL="12700" marR="44254">
              <a:lnSpc>
                <a:spcPct val="95825"/>
              </a:lnSpc>
              <a:spcBef>
                <a:spcPts val="1700"/>
              </a:spcBef>
            </a:pPr>
            <a:r>
              <a:rPr sz="2650" spc="0" dirty="0" smtClean="0">
                <a:solidFill>
                  <a:srgbClr val="0AD0D9"/>
                </a:solidFill>
                <a:latin typeface="Arial"/>
                <a:cs typeface="Arial"/>
              </a:rPr>
              <a:t>•  </a:t>
            </a:r>
            <a:r>
              <a:rPr sz="2650" spc="34" dirty="0" smtClean="0">
                <a:solidFill>
                  <a:srgbClr val="0AD0D9"/>
                </a:solidFill>
                <a:latin typeface="Arial"/>
                <a:cs typeface="Arial"/>
              </a:rPr>
              <a:t> </a:t>
            </a:r>
            <a:r>
              <a:rPr sz="2800" spc="0" dirty="0" smtClean="0">
                <a:latin typeface="Arial"/>
                <a:cs typeface="Arial"/>
              </a:rPr>
              <a:t>Re</a:t>
            </a:r>
            <a:r>
              <a:rPr sz="2800" spc="9" dirty="0" smtClean="0">
                <a:latin typeface="Arial"/>
                <a:cs typeface="Arial"/>
              </a:rPr>
              <a:t>l</a:t>
            </a:r>
            <a:r>
              <a:rPr sz="2800" spc="0" dirty="0" smtClean="0">
                <a:latin typeface="Arial"/>
                <a:cs typeface="Arial"/>
              </a:rPr>
              <a:t>a</a:t>
            </a:r>
            <a:r>
              <a:rPr sz="2800" spc="9" dirty="0" smtClean="0">
                <a:latin typeface="Arial"/>
                <a:cs typeface="Arial"/>
              </a:rPr>
              <a:t>t</a:t>
            </a:r>
            <a:r>
              <a:rPr sz="2800" spc="0" dirty="0" smtClean="0">
                <a:latin typeface="Arial"/>
                <a:cs typeface="Arial"/>
              </a:rPr>
              <a:t>i</a:t>
            </a:r>
            <a:r>
              <a:rPr sz="2800" spc="9" dirty="0" smtClean="0">
                <a:latin typeface="Arial"/>
                <a:cs typeface="Arial"/>
              </a:rPr>
              <a:t>v</a:t>
            </a:r>
            <a:r>
              <a:rPr sz="2800" spc="0" dirty="0" smtClean="0">
                <a:latin typeface="Arial"/>
                <a:cs typeface="Arial"/>
              </a:rPr>
              <a:t>e</a:t>
            </a:r>
            <a:r>
              <a:rPr sz="2800" spc="9" dirty="0" smtClean="0">
                <a:latin typeface="Arial"/>
                <a:cs typeface="Arial"/>
              </a:rPr>
              <a:t>l</a:t>
            </a:r>
            <a:r>
              <a:rPr sz="2800" spc="0" dirty="0" smtClean="0">
                <a:latin typeface="Arial"/>
                <a:cs typeface="Arial"/>
              </a:rPr>
              <a:t>y</a:t>
            </a:r>
            <a:r>
              <a:rPr sz="2800" spc="-121" dirty="0" smtClean="0">
                <a:latin typeface="Arial"/>
                <a:cs typeface="Arial"/>
              </a:rPr>
              <a:t> </a:t>
            </a:r>
            <a:r>
              <a:rPr sz="2800" spc="9" dirty="0" smtClean="0">
                <a:latin typeface="Arial"/>
                <a:cs typeface="Arial"/>
              </a:rPr>
              <a:t>s</a:t>
            </a:r>
            <a:r>
              <a:rPr sz="2800" spc="0" dirty="0" smtClean="0">
                <a:latin typeface="Arial"/>
                <a:cs typeface="Arial"/>
              </a:rPr>
              <a:t>m</a:t>
            </a:r>
            <a:r>
              <a:rPr sz="2800" spc="4" dirty="0" smtClean="0">
                <a:latin typeface="Arial"/>
                <a:cs typeface="Arial"/>
              </a:rPr>
              <a:t>a</a:t>
            </a:r>
            <a:r>
              <a:rPr sz="2800" spc="0" dirty="0" smtClean="0">
                <a:latin typeface="Arial"/>
                <a:cs typeface="Arial"/>
              </a:rPr>
              <a:t>ll</a:t>
            </a:r>
            <a:r>
              <a:rPr sz="2800" spc="-40" dirty="0" smtClean="0">
                <a:latin typeface="Arial"/>
                <a:cs typeface="Arial"/>
              </a:rPr>
              <a:t> </a:t>
            </a:r>
            <a:r>
              <a:rPr sz="2800" spc="4" dirty="0" smtClean="0">
                <a:latin typeface="Arial"/>
                <a:cs typeface="Arial"/>
              </a:rPr>
              <a:t>s</a:t>
            </a:r>
            <a:r>
              <a:rPr sz="2800" spc="0" dirty="0" smtClean="0">
                <a:latin typeface="Arial"/>
                <a:cs typeface="Arial"/>
              </a:rPr>
              <a:t>t</a:t>
            </a:r>
            <a:r>
              <a:rPr sz="2800" spc="9" dirty="0" smtClean="0">
                <a:latin typeface="Arial"/>
                <a:cs typeface="Arial"/>
              </a:rPr>
              <a:t>e</a:t>
            </a:r>
            <a:r>
              <a:rPr sz="2800" spc="0" dirty="0" smtClean="0">
                <a:latin typeface="Arial"/>
                <a:cs typeface="Arial"/>
              </a:rPr>
              <a:t>am</a:t>
            </a:r>
            <a:r>
              <a:rPr sz="2800" spc="-76" dirty="0" smtClean="0">
                <a:latin typeface="Arial"/>
                <a:cs typeface="Arial"/>
              </a:rPr>
              <a:t> </a:t>
            </a:r>
            <a:r>
              <a:rPr sz="2800" spc="9" dirty="0" smtClean="0">
                <a:latin typeface="Arial"/>
                <a:cs typeface="Arial"/>
              </a:rPr>
              <a:t>c</a:t>
            </a:r>
            <a:r>
              <a:rPr sz="2800" spc="0" dirty="0" smtClean="0">
                <a:latin typeface="Arial"/>
                <a:cs typeface="Arial"/>
              </a:rPr>
              <a:t>a</a:t>
            </a:r>
            <a:r>
              <a:rPr sz="2800" spc="14" dirty="0" smtClean="0">
                <a:latin typeface="Arial"/>
                <a:cs typeface="Arial"/>
              </a:rPr>
              <a:t>p</a:t>
            </a:r>
            <a:r>
              <a:rPr sz="2800" spc="0" dirty="0" smtClean="0">
                <a:latin typeface="Arial"/>
                <a:cs typeface="Arial"/>
              </a:rPr>
              <a:t>a</a:t>
            </a:r>
            <a:r>
              <a:rPr sz="2800" spc="14" dirty="0" smtClean="0">
                <a:latin typeface="Arial"/>
                <a:cs typeface="Arial"/>
              </a:rPr>
              <a:t>c</a:t>
            </a:r>
            <a:r>
              <a:rPr sz="2800" spc="0" dirty="0" smtClean="0">
                <a:latin typeface="Arial"/>
                <a:cs typeface="Arial"/>
              </a:rPr>
              <a:t>i</a:t>
            </a:r>
            <a:r>
              <a:rPr sz="2800" spc="9" dirty="0" smtClean="0">
                <a:latin typeface="Arial"/>
                <a:cs typeface="Arial"/>
              </a:rPr>
              <a:t>t</a:t>
            </a:r>
            <a:r>
              <a:rPr sz="2800" spc="0" dirty="0" smtClean="0">
                <a:latin typeface="Arial"/>
                <a:cs typeface="Arial"/>
              </a:rPr>
              <a:t>i</a:t>
            </a:r>
            <a:r>
              <a:rPr sz="2800" spc="9" dirty="0" smtClean="0">
                <a:latin typeface="Arial"/>
                <a:cs typeface="Arial"/>
              </a:rPr>
              <a:t>e</a:t>
            </a:r>
            <a:r>
              <a:rPr sz="2800" spc="0" dirty="0" smtClean="0">
                <a:latin typeface="Arial"/>
                <a:cs typeface="Arial"/>
              </a:rPr>
              <a:t>s</a:t>
            </a:r>
            <a:r>
              <a:rPr sz="2800" spc="-110" dirty="0" smtClean="0">
                <a:latin typeface="Arial"/>
                <a:cs typeface="Arial"/>
              </a:rPr>
              <a:t> </a:t>
            </a:r>
            <a:r>
              <a:rPr sz="2800" spc="0" dirty="0" smtClean="0">
                <a:latin typeface="Arial"/>
                <a:cs typeface="Arial"/>
              </a:rPr>
              <a:t>(1</a:t>
            </a:r>
            <a:r>
              <a:rPr sz="2800" spc="14" dirty="0" smtClean="0">
                <a:latin typeface="Arial"/>
                <a:cs typeface="Arial"/>
              </a:rPr>
              <a:t>2</a:t>
            </a:r>
            <a:r>
              <a:rPr sz="2800" spc="0" dirty="0" smtClean="0">
                <a:latin typeface="Arial"/>
                <a:cs typeface="Arial"/>
              </a:rPr>
              <a:t>,</a:t>
            </a:r>
            <a:r>
              <a:rPr sz="2800" spc="9" dirty="0" smtClean="0">
                <a:latin typeface="Arial"/>
                <a:cs typeface="Arial"/>
              </a:rPr>
              <a:t>0</a:t>
            </a:r>
            <a:r>
              <a:rPr sz="2800" spc="0" dirty="0" smtClean="0">
                <a:latin typeface="Arial"/>
                <a:cs typeface="Arial"/>
              </a:rPr>
              <a:t>00</a:t>
            </a:r>
            <a:endParaRPr sz="2800">
              <a:latin typeface="Arial"/>
              <a:cs typeface="Arial"/>
            </a:endParaRPr>
          </a:p>
          <a:p>
            <a:pPr marL="415035" marR="44254">
              <a:lnSpc>
                <a:spcPct val="95825"/>
              </a:lnSpc>
              <a:spcBef>
                <a:spcPts val="140"/>
              </a:spcBef>
            </a:pPr>
            <a:r>
              <a:rPr sz="2800" spc="3" dirty="0" smtClean="0">
                <a:latin typeface="Arial"/>
                <a:cs typeface="Arial"/>
              </a:rPr>
              <a:t>kg/hour)</a:t>
            </a:r>
            <a:endParaRPr sz="2800">
              <a:latin typeface="Arial"/>
              <a:cs typeface="Arial"/>
            </a:endParaRPr>
          </a:p>
          <a:p>
            <a:pPr marL="12700" marR="44254">
              <a:lnSpc>
                <a:spcPct val="95825"/>
              </a:lnSpc>
              <a:spcBef>
                <a:spcPts val="1822"/>
              </a:spcBef>
            </a:pPr>
            <a:r>
              <a:rPr sz="2650" spc="0" dirty="0" smtClean="0">
                <a:solidFill>
                  <a:srgbClr val="0AD0D9"/>
                </a:solidFill>
                <a:latin typeface="Arial"/>
                <a:cs typeface="Arial"/>
              </a:rPr>
              <a:t>•  </a:t>
            </a:r>
            <a:r>
              <a:rPr sz="2650" spc="34" dirty="0" smtClean="0">
                <a:solidFill>
                  <a:srgbClr val="0AD0D9"/>
                </a:solidFill>
                <a:latin typeface="Arial"/>
                <a:cs typeface="Arial"/>
              </a:rPr>
              <a:t> </a:t>
            </a:r>
            <a:r>
              <a:rPr sz="2800" spc="0" dirty="0" smtClean="0">
                <a:latin typeface="Arial"/>
                <a:cs typeface="Arial"/>
              </a:rPr>
              <a:t>L</a:t>
            </a:r>
            <a:r>
              <a:rPr sz="2800" spc="14" dirty="0" smtClean="0">
                <a:latin typeface="Arial"/>
                <a:cs typeface="Arial"/>
              </a:rPr>
              <a:t>o</a:t>
            </a:r>
            <a:r>
              <a:rPr sz="2800" spc="0" dirty="0" smtClean="0">
                <a:latin typeface="Arial"/>
                <a:cs typeface="Arial"/>
              </a:rPr>
              <a:t>w</a:t>
            </a:r>
            <a:r>
              <a:rPr sz="2800" spc="-36" dirty="0" smtClean="0">
                <a:latin typeface="Arial"/>
                <a:cs typeface="Arial"/>
              </a:rPr>
              <a:t> </a:t>
            </a:r>
            <a:r>
              <a:rPr sz="2800" spc="0" dirty="0" smtClean="0">
                <a:latin typeface="Arial"/>
                <a:cs typeface="Arial"/>
              </a:rPr>
              <a:t>to</a:t>
            </a:r>
            <a:r>
              <a:rPr sz="2800" spc="-8" dirty="0" smtClean="0">
                <a:latin typeface="Arial"/>
                <a:cs typeface="Arial"/>
              </a:rPr>
              <a:t> </a:t>
            </a:r>
            <a:r>
              <a:rPr sz="2800" spc="0" dirty="0" smtClean="0">
                <a:latin typeface="Arial"/>
                <a:cs typeface="Arial"/>
              </a:rPr>
              <a:t>me</a:t>
            </a:r>
            <a:r>
              <a:rPr sz="2800" spc="9" dirty="0" smtClean="0">
                <a:latin typeface="Arial"/>
                <a:cs typeface="Arial"/>
              </a:rPr>
              <a:t>d</a:t>
            </a:r>
            <a:r>
              <a:rPr sz="2800" spc="0" dirty="0" smtClean="0">
                <a:latin typeface="Arial"/>
                <a:cs typeface="Arial"/>
              </a:rPr>
              <a:t>i</a:t>
            </a:r>
            <a:r>
              <a:rPr sz="2800" spc="9" dirty="0" smtClean="0">
                <a:latin typeface="Arial"/>
                <a:cs typeface="Arial"/>
              </a:rPr>
              <a:t>u</a:t>
            </a:r>
            <a:r>
              <a:rPr sz="2800" spc="0" dirty="0" smtClean="0">
                <a:latin typeface="Arial"/>
                <a:cs typeface="Arial"/>
              </a:rPr>
              <a:t>m</a:t>
            </a:r>
            <a:r>
              <a:rPr sz="2800" spc="-69" dirty="0" smtClean="0">
                <a:latin typeface="Arial"/>
                <a:cs typeface="Arial"/>
              </a:rPr>
              <a:t> </a:t>
            </a:r>
            <a:r>
              <a:rPr sz="2800" spc="4" dirty="0" smtClean="0">
                <a:latin typeface="Arial"/>
                <a:cs typeface="Arial"/>
              </a:rPr>
              <a:t>s</a:t>
            </a:r>
            <a:r>
              <a:rPr sz="2800" spc="0" dirty="0" smtClean="0">
                <a:latin typeface="Arial"/>
                <a:cs typeface="Arial"/>
              </a:rPr>
              <a:t>t</a:t>
            </a:r>
            <a:r>
              <a:rPr sz="2800" spc="9" dirty="0" smtClean="0">
                <a:latin typeface="Arial"/>
                <a:cs typeface="Arial"/>
              </a:rPr>
              <a:t>e</a:t>
            </a:r>
            <a:r>
              <a:rPr sz="2800" spc="0" dirty="0" smtClean="0">
                <a:latin typeface="Arial"/>
                <a:cs typeface="Arial"/>
              </a:rPr>
              <a:t>am</a:t>
            </a:r>
            <a:r>
              <a:rPr sz="2800" spc="-76" dirty="0" smtClean="0">
                <a:latin typeface="Arial"/>
                <a:cs typeface="Arial"/>
              </a:rPr>
              <a:t> </a:t>
            </a:r>
            <a:r>
              <a:rPr sz="2800" spc="9" dirty="0" smtClean="0">
                <a:latin typeface="Arial"/>
                <a:cs typeface="Arial"/>
              </a:rPr>
              <a:t>p</a:t>
            </a:r>
            <a:r>
              <a:rPr sz="2800" spc="0" dirty="0" smtClean="0">
                <a:latin typeface="Arial"/>
                <a:cs typeface="Arial"/>
              </a:rPr>
              <a:t>r</a:t>
            </a:r>
            <a:r>
              <a:rPr sz="2800" spc="9" dirty="0" smtClean="0">
                <a:latin typeface="Arial"/>
                <a:cs typeface="Arial"/>
              </a:rPr>
              <a:t>e</a:t>
            </a:r>
            <a:r>
              <a:rPr sz="2800" spc="4" dirty="0" smtClean="0">
                <a:latin typeface="Arial"/>
                <a:cs typeface="Arial"/>
              </a:rPr>
              <a:t>ss</a:t>
            </a:r>
            <a:r>
              <a:rPr sz="2800" spc="0" dirty="0" smtClean="0">
                <a:latin typeface="Arial"/>
                <a:cs typeface="Arial"/>
              </a:rPr>
              <a:t>u</a:t>
            </a:r>
            <a:r>
              <a:rPr sz="2800" spc="9" dirty="0" smtClean="0">
                <a:latin typeface="Arial"/>
                <a:cs typeface="Arial"/>
              </a:rPr>
              <a:t>r</a:t>
            </a:r>
            <a:r>
              <a:rPr sz="2800" spc="0" dirty="0" smtClean="0">
                <a:latin typeface="Arial"/>
                <a:cs typeface="Arial"/>
              </a:rPr>
              <a:t>es</a:t>
            </a:r>
            <a:r>
              <a:rPr sz="2800" spc="-107" dirty="0" smtClean="0">
                <a:latin typeface="Arial"/>
                <a:cs typeface="Arial"/>
              </a:rPr>
              <a:t> </a:t>
            </a:r>
            <a:r>
              <a:rPr sz="2800" spc="9" dirty="0" smtClean="0">
                <a:latin typeface="Arial"/>
                <a:cs typeface="Arial"/>
              </a:rPr>
              <a:t>(</a:t>
            </a:r>
            <a:r>
              <a:rPr sz="2800" spc="0" dirty="0" smtClean="0">
                <a:latin typeface="Arial"/>
                <a:cs typeface="Arial"/>
              </a:rPr>
              <a:t>18</a:t>
            </a:r>
            <a:r>
              <a:rPr sz="2800" spc="-25" dirty="0" smtClean="0">
                <a:latin typeface="Arial"/>
                <a:cs typeface="Arial"/>
              </a:rPr>
              <a:t> </a:t>
            </a:r>
            <a:r>
              <a:rPr sz="2800" spc="9" dirty="0" smtClean="0">
                <a:latin typeface="Arial"/>
                <a:cs typeface="Arial"/>
              </a:rPr>
              <a:t>k</a:t>
            </a:r>
            <a:r>
              <a:rPr sz="2800" spc="0" dirty="0" smtClean="0">
                <a:latin typeface="Arial"/>
                <a:cs typeface="Arial"/>
              </a:rPr>
              <a:t>g</a:t>
            </a:r>
            <a:r>
              <a:rPr sz="2800" spc="9" dirty="0" smtClean="0">
                <a:latin typeface="Arial"/>
                <a:cs typeface="Arial"/>
              </a:rPr>
              <a:t>/</a:t>
            </a:r>
            <a:r>
              <a:rPr sz="2800" spc="4" dirty="0" smtClean="0">
                <a:latin typeface="Arial"/>
                <a:cs typeface="Arial"/>
              </a:rPr>
              <a:t>c</a:t>
            </a:r>
            <a:r>
              <a:rPr sz="2800" spc="0" dirty="0" smtClean="0">
                <a:latin typeface="Arial"/>
                <a:cs typeface="Arial"/>
              </a:rPr>
              <a:t>m</a:t>
            </a:r>
            <a:r>
              <a:rPr sz="2800" spc="4" dirty="0" smtClean="0">
                <a:latin typeface="Arial"/>
                <a:cs typeface="Arial"/>
              </a:rPr>
              <a:t>2</a:t>
            </a:r>
            <a:r>
              <a:rPr sz="2800" spc="0" dirty="0" smtClean="0">
                <a:latin typeface="Arial"/>
                <a:cs typeface="Arial"/>
              </a:rPr>
              <a:t>)</a:t>
            </a:r>
            <a:endParaRPr sz="2800">
              <a:latin typeface="Arial"/>
              <a:cs typeface="Arial"/>
            </a:endParaRPr>
          </a:p>
          <a:p>
            <a:pPr marL="12700" marR="44254">
              <a:lnSpc>
                <a:spcPct val="95825"/>
              </a:lnSpc>
              <a:spcBef>
                <a:spcPts val="1820"/>
              </a:spcBef>
            </a:pPr>
            <a:r>
              <a:rPr sz="2650" spc="0" dirty="0" smtClean="0">
                <a:solidFill>
                  <a:srgbClr val="0AD0D9"/>
                </a:solidFill>
                <a:latin typeface="Arial"/>
                <a:cs typeface="Arial"/>
              </a:rPr>
              <a:t>•  </a:t>
            </a:r>
            <a:r>
              <a:rPr sz="2650" spc="34" dirty="0" smtClean="0">
                <a:solidFill>
                  <a:srgbClr val="0AD0D9"/>
                </a:solidFill>
                <a:latin typeface="Arial"/>
                <a:cs typeface="Arial"/>
              </a:rPr>
              <a:t> </a:t>
            </a:r>
            <a:r>
              <a:rPr sz="2800" spc="0" dirty="0" smtClean="0">
                <a:latin typeface="Arial"/>
                <a:cs typeface="Arial"/>
              </a:rPr>
              <a:t>Op</a:t>
            </a:r>
            <a:r>
              <a:rPr sz="2800" spc="9" dirty="0" smtClean="0">
                <a:latin typeface="Arial"/>
                <a:cs typeface="Arial"/>
              </a:rPr>
              <a:t>e</a:t>
            </a:r>
            <a:r>
              <a:rPr sz="2800" spc="0" dirty="0" smtClean="0">
                <a:latin typeface="Arial"/>
                <a:cs typeface="Arial"/>
              </a:rPr>
              <a:t>r</a:t>
            </a:r>
            <a:r>
              <a:rPr sz="2800" spc="9" dirty="0" smtClean="0">
                <a:latin typeface="Arial"/>
                <a:cs typeface="Arial"/>
              </a:rPr>
              <a:t>a</a:t>
            </a:r>
            <a:r>
              <a:rPr sz="2800" spc="0" dirty="0" smtClean="0">
                <a:latin typeface="Arial"/>
                <a:cs typeface="Arial"/>
              </a:rPr>
              <a:t>t</a:t>
            </a:r>
            <a:r>
              <a:rPr sz="2800" spc="9" dirty="0" smtClean="0">
                <a:latin typeface="Arial"/>
                <a:cs typeface="Arial"/>
              </a:rPr>
              <a:t>e</a:t>
            </a:r>
            <a:r>
              <a:rPr sz="2800" spc="0" dirty="0" smtClean="0">
                <a:latin typeface="Arial"/>
                <a:cs typeface="Arial"/>
              </a:rPr>
              <a:t>s</a:t>
            </a:r>
            <a:r>
              <a:rPr sz="2800" spc="-81" dirty="0" smtClean="0">
                <a:latin typeface="Arial"/>
                <a:cs typeface="Arial"/>
              </a:rPr>
              <a:t> </a:t>
            </a:r>
            <a:r>
              <a:rPr sz="2800" spc="0" dirty="0" smtClean="0">
                <a:latin typeface="Arial"/>
                <a:cs typeface="Arial"/>
              </a:rPr>
              <a:t>with</a:t>
            </a:r>
            <a:r>
              <a:rPr sz="2800" spc="-34" dirty="0" smtClean="0">
                <a:latin typeface="Arial"/>
                <a:cs typeface="Arial"/>
              </a:rPr>
              <a:t> </a:t>
            </a:r>
            <a:r>
              <a:rPr sz="2800" spc="9" dirty="0" smtClean="0">
                <a:latin typeface="Arial"/>
                <a:cs typeface="Arial"/>
              </a:rPr>
              <a:t>o</a:t>
            </a:r>
            <a:r>
              <a:rPr sz="2800" spc="0" dirty="0" smtClean="0">
                <a:latin typeface="Arial"/>
                <a:cs typeface="Arial"/>
              </a:rPr>
              <a:t>i</a:t>
            </a:r>
            <a:r>
              <a:rPr sz="2800" spc="9" dirty="0" smtClean="0">
                <a:latin typeface="Arial"/>
                <a:cs typeface="Arial"/>
              </a:rPr>
              <a:t>l</a:t>
            </a:r>
            <a:r>
              <a:rPr sz="2800" spc="0" dirty="0" smtClean="0">
                <a:latin typeface="Arial"/>
                <a:cs typeface="Arial"/>
              </a:rPr>
              <a:t>,</a:t>
            </a:r>
            <a:r>
              <a:rPr sz="2800" spc="-17" dirty="0" smtClean="0">
                <a:latin typeface="Arial"/>
                <a:cs typeface="Arial"/>
              </a:rPr>
              <a:t> </a:t>
            </a:r>
            <a:r>
              <a:rPr sz="2800" spc="0" dirty="0" smtClean="0">
                <a:latin typeface="Arial"/>
                <a:cs typeface="Arial"/>
              </a:rPr>
              <a:t>g</a:t>
            </a:r>
            <a:r>
              <a:rPr sz="2800" spc="9" dirty="0" smtClean="0">
                <a:latin typeface="Arial"/>
                <a:cs typeface="Arial"/>
              </a:rPr>
              <a:t>a</a:t>
            </a:r>
            <a:r>
              <a:rPr sz="2800" spc="0" dirty="0" smtClean="0">
                <a:latin typeface="Arial"/>
                <a:cs typeface="Arial"/>
              </a:rPr>
              <a:t>s</a:t>
            </a:r>
            <a:r>
              <a:rPr sz="2800" spc="-45" dirty="0" smtClean="0">
                <a:latin typeface="Arial"/>
                <a:cs typeface="Arial"/>
              </a:rPr>
              <a:t> </a:t>
            </a:r>
            <a:r>
              <a:rPr sz="2800" spc="0" dirty="0" smtClean="0">
                <a:latin typeface="Arial"/>
                <a:cs typeface="Arial"/>
              </a:rPr>
              <a:t>or</a:t>
            </a:r>
            <a:r>
              <a:rPr sz="2800" spc="-9" dirty="0" smtClean="0">
                <a:latin typeface="Arial"/>
                <a:cs typeface="Arial"/>
              </a:rPr>
              <a:t> </a:t>
            </a:r>
            <a:r>
              <a:rPr sz="2800" spc="9" dirty="0" smtClean="0">
                <a:latin typeface="Arial"/>
                <a:cs typeface="Arial"/>
              </a:rPr>
              <a:t>s</a:t>
            </a:r>
            <a:r>
              <a:rPr sz="2800" spc="0" dirty="0" smtClean="0">
                <a:latin typeface="Arial"/>
                <a:cs typeface="Arial"/>
              </a:rPr>
              <a:t>o</a:t>
            </a:r>
            <a:r>
              <a:rPr sz="2800" spc="9" dirty="0" smtClean="0">
                <a:latin typeface="Arial"/>
                <a:cs typeface="Arial"/>
              </a:rPr>
              <a:t>l</a:t>
            </a:r>
            <a:r>
              <a:rPr sz="2800" spc="0" dirty="0" smtClean="0">
                <a:latin typeface="Arial"/>
                <a:cs typeface="Arial"/>
              </a:rPr>
              <a:t>id</a:t>
            </a:r>
            <a:r>
              <a:rPr sz="2800" spc="-47" dirty="0" smtClean="0">
                <a:latin typeface="Arial"/>
                <a:cs typeface="Arial"/>
              </a:rPr>
              <a:t> </a:t>
            </a:r>
            <a:r>
              <a:rPr sz="2800" spc="4" dirty="0" smtClean="0">
                <a:latin typeface="Arial"/>
                <a:cs typeface="Arial"/>
              </a:rPr>
              <a:t>f</a:t>
            </a:r>
            <a:r>
              <a:rPr sz="2800" spc="0" dirty="0" smtClean="0">
                <a:latin typeface="Arial"/>
                <a:cs typeface="Arial"/>
              </a:rPr>
              <a:t>u</a:t>
            </a:r>
            <a:r>
              <a:rPr sz="2800" spc="9" dirty="0" smtClean="0">
                <a:latin typeface="Arial"/>
                <a:cs typeface="Arial"/>
              </a:rPr>
              <a:t>e</a:t>
            </a:r>
            <a:r>
              <a:rPr sz="2800" spc="0" dirty="0" smtClean="0">
                <a:latin typeface="Arial"/>
                <a:cs typeface="Arial"/>
              </a:rPr>
              <a:t>ls</a:t>
            </a:r>
            <a:endParaRPr sz="2800">
              <a:latin typeface="Arial"/>
              <a:cs typeface="Arial"/>
            </a:endParaRPr>
          </a:p>
        </p:txBody>
      </p:sp>
      <p:sp>
        <p:nvSpPr>
          <p:cNvPr id="2" name="object 2"/>
          <p:cNvSpPr txBox="1"/>
          <p:nvPr/>
        </p:nvSpPr>
        <p:spPr>
          <a:xfrm>
            <a:off x="8252512" y="2021538"/>
            <a:ext cx="295588" cy="356107"/>
          </a:xfrm>
          <a:prstGeom prst="rect">
            <a:avLst/>
          </a:prstGeom>
        </p:spPr>
        <p:txBody>
          <a:bodyPr wrap="square" lIns="0" tIns="17526" rIns="0" bIns="0" rtlCol="0">
            <a:noAutofit/>
          </a:bodyPr>
          <a:lstStyle/>
          <a:p>
            <a:pPr marL="12700">
              <a:lnSpc>
                <a:spcPts val="2760"/>
              </a:lnSpc>
            </a:pPr>
            <a:r>
              <a:rPr sz="2600" dirty="0" smtClean="0">
                <a:latin typeface="Times New Roman"/>
                <a:cs typeface="Times New Roman"/>
              </a:rPr>
              <a:t>is</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4" name="object 4"/>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6" name="object 6"/>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7" name="object 7"/>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8" name="object 8"/>
          <p:cNvSpPr/>
          <p:nvPr/>
        </p:nvSpPr>
        <p:spPr>
          <a:xfrm>
            <a:off x="1752600" y="2667000"/>
            <a:ext cx="7200900" cy="3744468"/>
          </a:xfrm>
          <a:prstGeom prst="rect">
            <a:avLst/>
          </a:prstGeom>
          <a:blipFill>
            <a:blip r:embed="rId7" cstate="print"/>
            <a:stretch>
              <a:fillRect/>
            </a:stretch>
          </a:blipFill>
        </p:spPr>
        <p:txBody>
          <a:bodyPr wrap="square" lIns="0" tIns="0" rIns="0" bIns="0" rtlCol="0">
            <a:noAutofit/>
          </a:bodyPr>
          <a:lstStyle/>
          <a:p>
            <a:endParaRPr/>
          </a:p>
        </p:txBody>
      </p:sp>
      <p:sp>
        <p:nvSpPr>
          <p:cNvPr id="2" name="object 2"/>
          <p:cNvSpPr txBox="1"/>
          <p:nvPr/>
        </p:nvSpPr>
        <p:spPr>
          <a:xfrm>
            <a:off x="612140" y="921858"/>
            <a:ext cx="3107685" cy="1534235"/>
          </a:xfrm>
          <a:prstGeom prst="rect">
            <a:avLst/>
          </a:prstGeom>
        </p:spPr>
        <p:txBody>
          <a:bodyPr wrap="square" lIns="0" tIns="34925" rIns="0" bIns="0" rtlCol="0">
            <a:noAutofit/>
          </a:bodyPr>
          <a:lstStyle/>
          <a:p>
            <a:pPr marL="12700">
              <a:lnSpc>
                <a:spcPts val="5500"/>
              </a:lnSpc>
            </a:pPr>
            <a:r>
              <a:rPr sz="5400" b="1" spc="-93" dirty="0" smtClean="0">
                <a:latin typeface="Constantia"/>
                <a:cs typeface="Constantia"/>
              </a:rPr>
              <a:t>Fire Tube</a:t>
            </a:r>
            <a:endParaRPr sz="5400">
              <a:latin typeface="Constantia"/>
              <a:cs typeface="Constantia"/>
            </a:endParaRPr>
          </a:p>
          <a:p>
            <a:pPr marL="12700" marR="102870">
              <a:lnSpc>
                <a:spcPts val="6480"/>
              </a:lnSpc>
              <a:spcBef>
                <a:spcPts val="49"/>
              </a:spcBef>
            </a:pPr>
            <a:r>
              <a:rPr sz="5400" b="1" dirty="0" smtClean="0">
                <a:latin typeface="Constantia"/>
                <a:cs typeface="Constantia"/>
              </a:rPr>
              <a:t>Boilers</a:t>
            </a:r>
            <a:endParaRPr sz="5400">
              <a:latin typeface="Constantia"/>
              <a:cs typeface="Constanti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4" name="object 4"/>
          <p:cNvSpPr txBox="1"/>
          <p:nvPr/>
        </p:nvSpPr>
        <p:spPr>
          <a:xfrm>
            <a:off x="1935226" y="1173668"/>
            <a:ext cx="3304286" cy="661212"/>
          </a:xfrm>
          <a:prstGeom prst="rect">
            <a:avLst/>
          </a:prstGeom>
        </p:spPr>
        <p:txBody>
          <a:bodyPr wrap="square" lIns="0" tIns="33051" rIns="0" bIns="0" rtlCol="0">
            <a:noAutofit/>
          </a:bodyPr>
          <a:lstStyle/>
          <a:p>
            <a:pPr marL="12700">
              <a:lnSpc>
                <a:spcPts val="5205"/>
              </a:lnSpc>
            </a:pPr>
            <a:r>
              <a:rPr sz="5000" b="1" spc="-93" dirty="0" smtClean="0">
                <a:solidFill>
                  <a:srgbClr val="04607A"/>
                </a:solidFill>
                <a:latin typeface="Times New Roman"/>
                <a:cs typeface="Times New Roman"/>
              </a:rPr>
              <a:t>Water Tube</a:t>
            </a:r>
            <a:endParaRPr sz="5000">
              <a:latin typeface="Times New Roman"/>
              <a:cs typeface="Times New Roman"/>
            </a:endParaRPr>
          </a:p>
        </p:txBody>
      </p:sp>
      <p:sp>
        <p:nvSpPr>
          <p:cNvPr id="3" name="object 3"/>
          <p:cNvSpPr txBox="1"/>
          <p:nvPr/>
        </p:nvSpPr>
        <p:spPr>
          <a:xfrm>
            <a:off x="5275150" y="1173668"/>
            <a:ext cx="2028210" cy="661212"/>
          </a:xfrm>
          <a:prstGeom prst="rect">
            <a:avLst/>
          </a:prstGeom>
        </p:spPr>
        <p:txBody>
          <a:bodyPr wrap="square" lIns="0" tIns="33051" rIns="0" bIns="0" rtlCol="0">
            <a:noAutofit/>
          </a:bodyPr>
          <a:lstStyle/>
          <a:p>
            <a:pPr marL="12700">
              <a:lnSpc>
                <a:spcPts val="5205"/>
              </a:lnSpc>
            </a:pPr>
            <a:r>
              <a:rPr sz="5000" b="1" dirty="0" smtClean="0">
                <a:solidFill>
                  <a:srgbClr val="04607A"/>
                </a:solidFill>
                <a:latin typeface="Times New Roman"/>
                <a:cs typeface="Times New Roman"/>
              </a:rPr>
              <a:t>Boilers</a:t>
            </a:r>
            <a:endParaRPr sz="5000">
              <a:latin typeface="Times New Roman"/>
              <a:cs typeface="Times New Roman"/>
            </a:endParaRPr>
          </a:p>
        </p:txBody>
      </p:sp>
      <p:sp>
        <p:nvSpPr>
          <p:cNvPr id="2" name="object 2"/>
          <p:cNvSpPr txBox="1"/>
          <p:nvPr/>
        </p:nvSpPr>
        <p:spPr>
          <a:xfrm>
            <a:off x="535940" y="2021538"/>
            <a:ext cx="8459939" cy="3738639"/>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In</a:t>
            </a:r>
            <a:r>
              <a:rPr sz="2600" spc="-9" dirty="0" smtClean="0">
                <a:latin typeface="Times New Roman"/>
                <a:cs typeface="Times New Roman"/>
              </a:rPr>
              <a:t> </a:t>
            </a:r>
            <a:r>
              <a:rPr sz="2600" spc="0" dirty="0" smtClean="0">
                <a:latin typeface="Times New Roman"/>
                <a:cs typeface="Times New Roman"/>
              </a:rPr>
              <a:t>this ty</a:t>
            </a:r>
            <a:r>
              <a:rPr sz="2600" spc="9" dirty="0" smtClean="0">
                <a:latin typeface="Times New Roman"/>
                <a:cs typeface="Times New Roman"/>
              </a:rPr>
              <a:t>p</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of 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a:t>
            </a:r>
            <a:r>
              <a:rPr sz="2600" spc="-19" dirty="0" smtClean="0">
                <a:latin typeface="Times New Roman"/>
                <a:cs typeface="Times New Roman"/>
              </a:rPr>
              <a:t> </a:t>
            </a:r>
            <a:r>
              <a:rPr sz="2600" spc="0" dirty="0" smtClean="0">
                <a:latin typeface="Times New Roman"/>
                <a:cs typeface="Times New Roman"/>
              </a:rPr>
              <a:t>water</a:t>
            </a:r>
            <a:r>
              <a:rPr sz="2600" spc="-19" dirty="0" smtClean="0">
                <a:latin typeface="Times New Roman"/>
                <a:cs typeface="Times New Roman"/>
              </a:rPr>
              <a:t> </a:t>
            </a:r>
            <a:r>
              <a:rPr sz="2600" spc="0" dirty="0" smtClean="0">
                <a:latin typeface="Times New Roman"/>
                <a:cs typeface="Times New Roman"/>
              </a:rPr>
              <a:t>pas</a:t>
            </a:r>
            <a:r>
              <a:rPr sz="2600" spc="-9" dirty="0" smtClean="0">
                <a:latin typeface="Times New Roman"/>
                <a:cs typeface="Times New Roman"/>
              </a:rPr>
              <a:t>s</a:t>
            </a:r>
            <a:r>
              <a:rPr sz="2600" spc="0" dirty="0" smtClean="0">
                <a:latin typeface="Times New Roman"/>
                <a:cs typeface="Times New Roman"/>
              </a:rPr>
              <a:t>es thro</a:t>
            </a:r>
            <a:r>
              <a:rPr sz="2600" spc="9" dirty="0" smtClean="0">
                <a:latin typeface="Times New Roman"/>
                <a:cs typeface="Times New Roman"/>
              </a:rPr>
              <a:t>u</a:t>
            </a:r>
            <a:r>
              <a:rPr sz="2600" spc="0" dirty="0" smtClean="0">
                <a:latin typeface="Times New Roman"/>
                <a:cs typeface="Times New Roman"/>
              </a:rPr>
              <a:t>gh</a:t>
            </a:r>
            <a:r>
              <a:rPr sz="2600" spc="-29" dirty="0" smtClean="0">
                <a:latin typeface="Times New Roman"/>
                <a:cs typeface="Times New Roman"/>
              </a:rPr>
              <a:t> </a:t>
            </a:r>
            <a:r>
              <a:rPr sz="2600" spc="0" dirty="0" smtClean="0">
                <a:latin typeface="Times New Roman"/>
                <a:cs typeface="Times New Roman"/>
              </a:rPr>
              <a:t>the</a:t>
            </a:r>
            <a:r>
              <a:rPr sz="2600" spc="-14" dirty="0" smtClean="0">
                <a:latin typeface="Times New Roman"/>
                <a:cs typeface="Times New Roman"/>
              </a:rPr>
              <a:t> </a:t>
            </a:r>
            <a:r>
              <a:rPr sz="2600" spc="0" dirty="0" smtClean="0">
                <a:latin typeface="Times New Roman"/>
                <a:cs typeface="Times New Roman"/>
              </a:rPr>
              <a:t>tu</a:t>
            </a:r>
            <a:r>
              <a:rPr sz="2600" spc="4" dirty="0" smtClean="0">
                <a:latin typeface="Times New Roman"/>
                <a:cs typeface="Times New Roman"/>
              </a:rPr>
              <a:t>b</a:t>
            </a:r>
            <a:r>
              <a:rPr sz="2600" spc="0" dirty="0" smtClean="0">
                <a:latin typeface="Times New Roman"/>
                <a:cs typeface="Times New Roman"/>
              </a:rPr>
              <a:t>es</a:t>
            </a:r>
            <a:r>
              <a:rPr sz="2600" spc="-9" dirty="0" smtClean="0">
                <a:latin typeface="Times New Roman"/>
                <a:cs typeface="Times New Roman"/>
              </a:rPr>
              <a:t> </a:t>
            </a:r>
            <a:r>
              <a:rPr sz="2600" spc="0" dirty="0" smtClean="0">
                <a:latin typeface="Times New Roman"/>
                <a:cs typeface="Times New Roman"/>
              </a:rPr>
              <a:t>w</a:t>
            </a:r>
            <a:r>
              <a:rPr sz="2600" spc="9" dirty="0" smtClean="0">
                <a:latin typeface="Times New Roman"/>
                <a:cs typeface="Times New Roman"/>
              </a:rPr>
              <a:t>h</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the</a:t>
            </a:r>
            <a:endParaRPr sz="2600">
              <a:latin typeface="Times New Roman"/>
              <a:cs typeface="Times New Roman"/>
            </a:endParaRPr>
          </a:p>
          <a:p>
            <a:pPr marL="287019" marR="49606">
              <a:lnSpc>
                <a:spcPct val="95825"/>
              </a:lnSpc>
            </a:pPr>
            <a:r>
              <a:rPr sz="2600" spc="-2" dirty="0" smtClean="0">
                <a:latin typeface="Times New Roman"/>
                <a:cs typeface="Times New Roman"/>
              </a:rPr>
              <a:t>gases remain in the shell side, passing over the tube surfaces</a:t>
            </a:r>
            <a:endParaRPr sz="2600">
              <a:latin typeface="Times New Roman"/>
              <a:cs typeface="Times New Roman"/>
            </a:endParaRPr>
          </a:p>
          <a:p>
            <a:pPr marL="12700" marR="49606">
              <a:lnSpc>
                <a:spcPct val="95825"/>
              </a:lnSpc>
              <a:spcBef>
                <a:spcPts val="1815"/>
              </a:spcBef>
            </a:pPr>
            <a:r>
              <a:rPr sz="2650" spc="0" dirty="0" smtClean="0">
                <a:solidFill>
                  <a:srgbClr val="0AD0D9"/>
                </a:solidFill>
                <a:latin typeface="Times New Roman"/>
                <a:cs typeface="Times New Roman"/>
              </a:rPr>
              <a:t>•  </a:t>
            </a:r>
            <a:r>
              <a:rPr sz="2650" spc="250" dirty="0" smtClean="0">
                <a:solidFill>
                  <a:srgbClr val="0AD0D9"/>
                </a:solidFill>
                <a:latin typeface="Times New Roman"/>
                <a:cs typeface="Times New Roman"/>
              </a:rPr>
              <a:t> </a:t>
            </a:r>
            <a:r>
              <a:rPr sz="2800" spc="0" dirty="0" smtClean="0">
                <a:latin typeface="Times New Roman"/>
                <a:cs typeface="Times New Roman"/>
              </a:rPr>
              <a:t>Used</a:t>
            </a:r>
            <a:r>
              <a:rPr sz="2800" spc="-52" dirty="0" smtClean="0">
                <a:latin typeface="Times New Roman"/>
                <a:cs typeface="Times New Roman"/>
              </a:rPr>
              <a:t> </a:t>
            </a:r>
            <a:r>
              <a:rPr sz="2800" spc="0" dirty="0" smtClean="0">
                <a:latin typeface="Times New Roman"/>
                <a:cs typeface="Times New Roman"/>
              </a:rPr>
              <a:t>f</a:t>
            </a:r>
            <a:r>
              <a:rPr sz="2800" spc="9" dirty="0" smtClean="0">
                <a:latin typeface="Times New Roman"/>
                <a:cs typeface="Times New Roman"/>
              </a:rPr>
              <a:t>o</a:t>
            </a:r>
            <a:r>
              <a:rPr sz="2800" spc="0" dirty="0" smtClean="0">
                <a:latin typeface="Times New Roman"/>
                <a:cs typeface="Times New Roman"/>
              </a:rPr>
              <a:t>r</a:t>
            </a:r>
            <a:r>
              <a:rPr sz="2800" spc="-17" dirty="0" smtClean="0">
                <a:latin typeface="Times New Roman"/>
                <a:cs typeface="Times New Roman"/>
              </a:rPr>
              <a:t> </a:t>
            </a:r>
            <a:r>
              <a:rPr sz="2800" spc="4" dirty="0" smtClean="0">
                <a:latin typeface="Times New Roman"/>
                <a:cs typeface="Times New Roman"/>
              </a:rPr>
              <a:t>h</a:t>
            </a:r>
            <a:r>
              <a:rPr sz="2800" spc="0" dirty="0" smtClean="0">
                <a:latin typeface="Times New Roman"/>
                <a:cs typeface="Times New Roman"/>
              </a:rPr>
              <a:t>i</a:t>
            </a:r>
            <a:r>
              <a:rPr sz="2800" spc="9" dirty="0" smtClean="0">
                <a:latin typeface="Times New Roman"/>
                <a:cs typeface="Times New Roman"/>
              </a:rPr>
              <a:t>g</a:t>
            </a:r>
            <a:r>
              <a:rPr sz="2800" spc="0" dirty="0" smtClean="0">
                <a:latin typeface="Times New Roman"/>
                <a:cs typeface="Times New Roman"/>
              </a:rPr>
              <a:t>h</a:t>
            </a:r>
            <a:r>
              <a:rPr sz="2800" spc="-59" dirty="0" smtClean="0">
                <a:latin typeface="Times New Roman"/>
                <a:cs typeface="Times New Roman"/>
              </a:rPr>
              <a:t> </a:t>
            </a:r>
            <a:r>
              <a:rPr sz="2800" spc="0" dirty="0" smtClean="0">
                <a:latin typeface="Times New Roman"/>
                <a:cs typeface="Times New Roman"/>
              </a:rPr>
              <a:t>s</a:t>
            </a:r>
            <a:r>
              <a:rPr sz="2800" spc="9" dirty="0" smtClean="0">
                <a:latin typeface="Times New Roman"/>
                <a:cs typeface="Times New Roman"/>
              </a:rPr>
              <a:t>t</a:t>
            </a:r>
            <a:r>
              <a:rPr sz="2800" spc="0" dirty="0" smtClean="0">
                <a:latin typeface="Times New Roman"/>
                <a:cs typeface="Times New Roman"/>
              </a:rPr>
              <a:t>eam</a:t>
            </a:r>
            <a:r>
              <a:rPr sz="2800" spc="-9" dirty="0" smtClean="0">
                <a:latin typeface="Times New Roman"/>
                <a:cs typeface="Times New Roman"/>
              </a:rPr>
              <a:t> </a:t>
            </a:r>
            <a:r>
              <a:rPr sz="2800" spc="4" dirty="0" smtClean="0">
                <a:latin typeface="Times New Roman"/>
                <a:cs typeface="Times New Roman"/>
              </a:rPr>
              <a:t>d</a:t>
            </a:r>
            <a:r>
              <a:rPr sz="2800" spc="0" dirty="0" smtClean="0">
                <a:latin typeface="Times New Roman"/>
                <a:cs typeface="Times New Roman"/>
              </a:rPr>
              <a:t>e</a:t>
            </a:r>
            <a:r>
              <a:rPr sz="2800" spc="-14" dirty="0" smtClean="0">
                <a:latin typeface="Times New Roman"/>
                <a:cs typeface="Times New Roman"/>
              </a:rPr>
              <a:t>m</a:t>
            </a:r>
            <a:r>
              <a:rPr sz="2800" spc="0" dirty="0" smtClean="0">
                <a:latin typeface="Times New Roman"/>
                <a:cs typeface="Times New Roman"/>
              </a:rPr>
              <a:t>and</a:t>
            </a:r>
            <a:r>
              <a:rPr sz="2800" spc="-34" dirty="0" smtClean="0">
                <a:latin typeface="Times New Roman"/>
                <a:cs typeface="Times New Roman"/>
              </a:rPr>
              <a:t> </a:t>
            </a:r>
            <a:r>
              <a:rPr sz="2800" spc="0" dirty="0" smtClean="0">
                <a:latin typeface="Times New Roman"/>
                <a:cs typeface="Times New Roman"/>
              </a:rPr>
              <a:t>and</a:t>
            </a:r>
            <a:r>
              <a:rPr sz="2800" spc="-40" dirty="0" smtClean="0">
                <a:latin typeface="Times New Roman"/>
                <a:cs typeface="Times New Roman"/>
              </a:rPr>
              <a:t> </a:t>
            </a:r>
            <a:r>
              <a:rPr sz="2800" spc="4" dirty="0" smtClean="0">
                <a:latin typeface="Times New Roman"/>
                <a:cs typeface="Times New Roman"/>
              </a:rPr>
              <a:t>p</a:t>
            </a:r>
            <a:r>
              <a:rPr sz="2800" spc="0" dirty="0" smtClean="0">
                <a:latin typeface="Times New Roman"/>
                <a:cs typeface="Times New Roman"/>
              </a:rPr>
              <a:t>re</a:t>
            </a:r>
            <a:r>
              <a:rPr sz="2800" spc="9" dirty="0" smtClean="0">
                <a:latin typeface="Times New Roman"/>
                <a:cs typeface="Times New Roman"/>
              </a:rPr>
              <a:t>s</a:t>
            </a:r>
            <a:r>
              <a:rPr sz="2800" spc="0" dirty="0" smtClean="0">
                <a:latin typeface="Times New Roman"/>
                <a:cs typeface="Times New Roman"/>
              </a:rPr>
              <a:t>s</a:t>
            </a:r>
            <a:r>
              <a:rPr sz="2800" spc="9" dirty="0" smtClean="0">
                <a:latin typeface="Times New Roman"/>
                <a:cs typeface="Times New Roman"/>
              </a:rPr>
              <a:t>u</a:t>
            </a:r>
            <a:r>
              <a:rPr sz="2800" spc="0" dirty="0" smtClean="0">
                <a:latin typeface="Times New Roman"/>
                <a:cs typeface="Times New Roman"/>
              </a:rPr>
              <a:t>re</a:t>
            </a:r>
            <a:r>
              <a:rPr sz="2800" spc="-93" dirty="0" smtClean="0">
                <a:latin typeface="Times New Roman"/>
                <a:cs typeface="Times New Roman"/>
              </a:rPr>
              <a:t> </a:t>
            </a:r>
            <a:r>
              <a:rPr sz="2800" spc="9" dirty="0" smtClean="0">
                <a:latin typeface="Times New Roman"/>
                <a:cs typeface="Times New Roman"/>
              </a:rPr>
              <a:t>r</a:t>
            </a:r>
            <a:r>
              <a:rPr sz="2800" spc="0" dirty="0" smtClean="0">
                <a:latin typeface="Times New Roman"/>
                <a:cs typeface="Times New Roman"/>
              </a:rPr>
              <a:t>eq</a:t>
            </a:r>
            <a:r>
              <a:rPr sz="2800" spc="9" dirty="0" smtClean="0">
                <a:latin typeface="Times New Roman"/>
                <a:cs typeface="Times New Roman"/>
              </a:rPr>
              <a:t>u</a:t>
            </a:r>
            <a:r>
              <a:rPr sz="2800" spc="0" dirty="0" smtClean="0">
                <a:latin typeface="Times New Roman"/>
                <a:cs typeface="Times New Roman"/>
              </a:rPr>
              <a:t>i</a:t>
            </a:r>
            <a:r>
              <a:rPr sz="2800" spc="9" dirty="0" smtClean="0">
                <a:latin typeface="Times New Roman"/>
                <a:cs typeface="Times New Roman"/>
              </a:rPr>
              <a:t>r</a:t>
            </a:r>
            <a:r>
              <a:rPr sz="2800" spc="0" dirty="0" smtClean="0">
                <a:latin typeface="Times New Roman"/>
                <a:cs typeface="Times New Roman"/>
              </a:rPr>
              <a:t>e</a:t>
            </a:r>
            <a:r>
              <a:rPr sz="2800" spc="-14" dirty="0" smtClean="0">
                <a:latin typeface="Times New Roman"/>
                <a:cs typeface="Times New Roman"/>
              </a:rPr>
              <a:t>m</a:t>
            </a:r>
            <a:r>
              <a:rPr sz="2800" spc="0" dirty="0" smtClean="0">
                <a:latin typeface="Times New Roman"/>
                <a:cs typeface="Times New Roman"/>
              </a:rPr>
              <a:t>en</a:t>
            </a:r>
            <a:r>
              <a:rPr sz="2800" spc="9" dirty="0" smtClean="0">
                <a:latin typeface="Times New Roman"/>
                <a:cs typeface="Times New Roman"/>
              </a:rPr>
              <a:t>t</a:t>
            </a:r>
            <a:r>
              <a:rPr sz="2800" spc="0" dirty="0" smtClean="0">
                <a:latin typeface="Times New Roman"/>
                <a:cs typeface="Times New Roman"/>
              </a:rPr>
              <a:t>s</a:t>
            </a:r>
            <a:endParaRPr sz="2800">
              <a:latin typeface="Times New Roman"/>
              <a:cs typeface="Times New Roman"/>
            </a:endParaRPr>
          </a:p>
          <a:p>
            <a:pPr marL="12700" marR="49606">
              <a:lnSpc>
                <a:spcPct val="95825"/>
              </a:lnSpc>
              <a:spcBef>
                <a:spcPts val="1822"/>
              </a:spcBef>
            </a:pPr>
            <a:r>
              <a:rPr sz="2650" spc="0" dirty="0" smtClean="0">
                <a:solidFill>
                  <a:srgbClr val="0AD0D9"/>
                </a:solidFill>
                <a:latin typeface="Times New Roman"/>
                <a:cs typeface="Times New Roman"/>
              </a:rPr>
              <a:t>•  </a:t>
            </a:r>
            <a:r>
              <a:rPr sz="2650" spc="250" dirty="0" smtClean="0">
                <a:solidFill>
                  <a:srgbClr val="0AD0D9"/>
                </a:solidFill>
                <a:latin typeface="Times New Roman"/>
                <a:cs typeface="Times New Roman"/>
              </a:rPr>
              <a:t> </a:t>
            </a:r>
            <a:r>
              <a:rPr sz="2800" spc="0" dirty="0" smtClean="0">
                <a:latin typeface="Times New Roman"/>
                <a:cs typeface="Times New Roman"/>
              </a:rPr>
              <a:t>Capacity ra</a:t>
            </a:r>
            <a:r>
              <a:rPr sz="2800" spc="9" dirty="0" smtClean="0">
                <a:latin typeface="Times New Roman"/>
                <a:cs typeface="Times New Roman"/>
              </a:rPr>
              <a:t>n</a:t>
            </a:r>
            <a:r>
              <a:rPr sz="2800" spc="4" dirty="0" smtClean="0">
                <a:latin typeface="Times New Roman"/>
                <a:cs typeface="Times New Roman"/>
              </a:rPr>
              <a:t>g</a:t>
            </a:r>
            <a:r>
              <a:rPr sz="2800" spc="0" dirty="0" smtClean="0">
                <a:latin typeface="Times New Roman"/>
                <a:cs typeface="Times New Roman"/>
              </a:rPr>
              <a:t>e</a:t>
            </a:r>
            <a:r>
              <a:rPr sz="2800" spc="-49" dirty="0" smtClean="0">
                <a:latin typeface="Times New Roman"/>
                <a:cs typeface="Times New Roman"/>
              </a:rPr>
              <a:t> </a:t>
            </a:r>
            <a:r>
              <a:rPr sz="2800" spc="0" dirty="0" smtClean="0">
                <a:latin typeface="Times New Roman"/>
                <a:cs typeface="Times New Roman"/>
              </a:rPr>
              <a:t>of</a:t>
            </a:r>
            <a:r>
              <a:rPr sz="2800" spc="-8" dirty="0" smtClean="0">
                <a:latin typeface="Times New Roman"/>
                <a:cs typeface="Times New Roman"/>
              </a:rPr>
              <a:t> </a:t>
            </a:r>
            <a:r>
              <a:rPr sz="2800" spc="4" dirty="0" smtClean="0">
                <a:latin typeface="Times New Roman"/>
                <a:cs typeface="Times New Roman"/>
              </a:rPr>
              <a:t>4</a:t>
            </a:r>
            <a:r>
              <a:rPr sz="2800" spc="0" dirty="0" smtClean="0">
                <a:latin typeface="Times New Roman"/>
                <a:cs typeface="Times New Roman"/>
              </a:rPr>
              <a:t>,0</a:t>
            </a:r>
            <a:r>
              <a:rPr sz="2800" spc="14" dirty="0" smtClean="0">
                <a:latin typeface="Times New Roman"/>
                <a:cs typeface="Times New Roman"/>
              </a:rPr>
              <a:t>0</a:t>
            </a:r>
            <a:r>
              <a:rPr sz="2800" spc="0" dirty="0" smtClean="0">
                <a:latin typeface="Times New Roman"/>
                <a:cs typeface="Times New Roman"/>
              </a:rPr>
              <a:t>0</a:t>
            </a:r>
            <a:r>
              <a:rPr sz="2800" spc="-102" dirty="0" smtClean="0">
                <a:latin typeface="Times New Roman"/>
                <a:cs typeface="Times New Roman"/>
              </a:rPr>
              <a:t> </a:t>
            </a:r>
            <a:r>
              <a:rPr sz="2800" spc="0" dirty="0" smtClean="0">
                <a:latin typeface="Times New Roman"/>
                <a:cs typeface="Times New Roman"/>
              </a:rPr>
              <a:t>–</a:t>
            </a:r>
            <a:r>
              <a:rPr sz="2800" spc="-13" dirty="0" smtClean="0">
                <a:latin typeface="Times New Roman"/>
                <a:cs typeface="Times New Roman"/>
              </a:rPr>
              <a:t> </a:t>
            </a:r>
            <a:r>
              <a:rPr sz="2800" spc="0" dirty="0" smtClean="0">
                <a:latin typeface="Times New Roman"/>
                <a:cs typeface="Times New Roman"/>
              </a:rPr>
              <a:t>1</a:t>
            </a:r>
            <a:r>
              <a:rPr sz="2800" spc="9" dirty="0" smtClean="0">
                <a:latin typeface="Times New Roman"/>
                <a:cs typeface="Times New Roman"/>
              </a:rPr>
              <a:t>2</a:t>
            </a:r>
            <a:r>
              <a:rPr sz="2800" spc="0" dirty="0" smtClean="0">
                <a:latin typeface="Times New Roman"/>
                <a:cs typeface="Times New Roman"/>
              </a:rPr>
              <a:t>0,</a:t>
            </a:r>
            <a:r>
              <a:rPr sz="2800" spc="4" dirty="0" smtClean="0">
                <a:latin typeface="Times New Roman"/>
                <a:cs typeface="Times New Roman"/>
              </a:rPr>
              <a:t>0</a:t>
            </a:r>
            <a:r>
              <a:rPr sz="2800" spc="0" dirty="0" smtClean="0">
                <a:latin typeface="Times New Roman"/>
                <a:cs typeface="Times New Roman"/>
              </a:rPr>
              <a:t>00</a:t>
            </a:r>
            <a:r>
              <a:rPr sz="2800" spc="-90" dirty="0" smtClean="0">
                <a:latin typeface="Times New Roman"/>
                <a:cs typeface="Times New Roman"/>
              </a:rPr>
              <a:t> </a:t>
            </a:r>
            <a:r>
              <a:rPr sz="2800" spc="0" dirty="0" smtClean="0">
                <a:latin typeface="Times New Roman"/>
                <a:cs typeface="Times New Roman"/>
              </a:rPr>
              <a:t>k</a:t>
            </a:r>
            <a:r>
              <a:rPr sz="2800" spc="9" dirty="0" smtClean="0">
                <a:latin typeface="Times New Roman"/>
                <a:cs typeface="Times New Roman"/>
              </a:rPr>
              <a:t>g</a:t>
            </a:r>
            <a:r>
              <a:rPr sz="2800" spc="0" dirty="0" smtClean="0">
                <a:latin typeface="Times New Roman"/>
                <a:cs typeface="Times New Roman"/>
              </a:rPr>
              <a:t>/</a:t>
            </a:r>
            <a:r>
              <a:rPr sz="2800" spc="4" dirty="0" smtClean="0">
                <a:latin typeface="Times New Roman"/>
                <a:cs typeface="Times New Roman"/>
              </a:rPr>
              <a:t>h</a:t>
            </a:r>
            <a:r>
              <a:rPr sz="2800" spc="0" dirty="0" smtClean="0">
                <a:latin typeface="Times New Roman"/>
                <a:cs typeface="Times New Roman"/>
              </a:rPr>
              <a:t>o</a:t>
            </a:r>
            <a:r>
              <a:rPr sz="2800" spc="9" dirty="0" smtClean="0">
                <a:latin typeface="Times New Roman"/>
                <a:cs typeface="Times New Roman"/>
              </a:rPr>
              <a:t>u</a:t>
            </a:r>
            <a:r>
              <a:rPr sz="2800" spc="0" dirty="0" smtClean="0">
                <a:latin typeface="Times New Roman"/>
                <a:cs typeface="Times New Roman"/>
              </a:rPr>
              <a:t>r</a:t>
            </a:r>
            <a:endParaRPr sz="2800">
              <a:latin typeface="Times New Roman"/>
              <a:cs typeface="Times New Roman"/>
            </a:endParaRPr>
          </a:p>
          <a:p>
            <a:pPr marL="12700" marR="49606">
              <a:lnSpc>
                <a:spcPct val="95825"/>
              </a:lnSpc>
              <a:spcBef>
                <a:spcPts val="1820"/>
              </a:spcBef>
            </a:pPr>
            <a:r>
              <a:rPr sz="2650" spc="0" dirty="0" smtClean="0">
                <a:solidFill>
                  <a:srgbClr val="0AD0D9"/>
                </a:solidFill>
                <a:latin typeface="Times New Roman"/>
                <a:cs typeface="Times New Roman"/>
              </a:rPr>
              <a:t>•  </a:t>
            </a:r>
            <a:r>
              <a:rPr sz="2650" spc="250" dirty="0" smtClean="0">
                <a:solidFill>
                  <a:srgbClr val="0AD0D9"/>
                </a:solidFill>
                <a:latin typeface="Times New Roman"/>
                <a:cs typeface="Times New Roman"/>
              </a:rPr>
              <a:t> </a:t>
            </a:r>
            <a:r>
              <a:rPr sz="2800" spc="0" dirty="0" smtClean="0">
                <a:latin typeface="Times New Roman"/>
                <a:cs typeface="Times New Roman"/>
              </a:rPr>
              <a:t>Comb</a:t>
            </a:r>
            <a:r>
              <a:rPr sz="2800" spc="4" dirty="0" smtClean="0">
                <a:latin typeface="Times New Roman"/>
                <a:cs typeface="Times New Roman"/>
              </a:rPr>
              <a:t>u</a:t>
            </a:r>
            <a:r>
              <a:rPr sz="2800" spc="0" dirty="0" smtClean="0">
                <a:latin typeface="Times New Roman"/>
                <a:cs typeface="Times New Roman"/>
              </a:rPr>
              <a:t>s</a:t>
            </a:r>
            <a:r>
              <a:rPr sz="2800" spc="9" dirty="0" smtClean="0">
                <a:latin typeface="Times New Roman"/>
                <a:cs typeface="Times New Roman"/>
              </a:rPr>
              <a:t>t</a:t>
            </a:r>
            <a:r>
              <a:rPr sz="2800" spc="0" dirty="0" smtClean="0">
                <a:latin typeface="Times New Roman"/>
                <a:cs typeface="Times New Roman"/>
              </a:rPr>
              <a:t>i</a:t>
            </a:r>
            <a:r>
              <a:rPr sz="2800" spc="9" dirty="0" smtClean="0">
                <a:latin typeface="Times New Roman"/>
                <a:cs typeface="Times New Roman"/>
              </a:rPr>
              <a:t>o</a:t>
            </a:r>
            <a:r>
              <a:rPr sz="2800" spc="0" dirty="0" smtClean="0">
                <a:latin typeface="Times New Roman"/>
                <a:cs typeface="Times New Roman"/>
              </a:rPr>
              <a:t>n</a:t>
            </a:r>
            <a:r>
              <a:rPr sz="2800" spc="-128" dirty="0" smtClean="0">
                <a:latin typeface="Times New Roman"/>
                <a:cs typeface="Times New Roman"/>
              </a:rPr>
              <a:t> </a:t>
            </a:r>
            <a:r>
              <a:rPr sz="2800" spc="0" dirty="0" smtClean="0">
                <a:latin typeface="Times New Roman"/>
                <a:cs typeface="Times New Roman"/>
              </a:rPr>
              <a:t>e</a:t>
            </a:r>
            <a:r>
              <a:rPr sz="2800" spc="-44" dirty="0" smtClean="0">
                <a:latin typeface="Times New Roman"/>
                <a:cs typeface="Times New Roman"/>
              </a:rPr>
              <a:t>f</a:t>
            </a:r>
            <a:r>
              <a:rPr sz="2800" spc="0" dirty="0" smtClean="0">
                <a:latin typeface="Times New Roman"/>
                <a:cs typeface="Times New Roman"/>
              </a:rPr>
              <a:t>f</a:t>
            </a:r>
            <a:r>
              <a:rPr sz="2800" spc="9" dirty="0" smtClean="0">
                <a:latin typeface="Times New Roman"/>
                <a:cs typeface="Times New Roman"/>
              </a:rPr>
              <a:t>i</a:t>
            </a:r>
            <a:r>
              <a:rPr sz="2800" spc="0" dirty="0" smtClean="0">
                <a:latin typeface="Times New Roman"/>
                <a:cs typeface="Times New Roman"/>
              </a:rPr>
              <a:t>ciency</a:t>
            </a:r>
            <a:r>
              <a:rPr sz="2800" spc="-21" dirty="0" smtClean="0">
                <a:latin typeface="Times New Roman"/>
                <a:cs typeface="Times New Roman"/>
              </a:rPr>
              <a:t> </a:t>
            </a:r>
            <a:r>
              <a:rPr sz="2800" spc="0" dirty="0" smtClean="0">
                <a:latin typeface="Times New Roman"/>
                <a:cs typeface="Times New Roman"/>
              </a:rPr>
              <a:t>en</a:t>
            </a:r>
            <a:r>
              <a:rPr sz="2800" spc="9" dirty="0" smtClean="0">
                <a:latin typeface="Times New Roman"/>
                <a:cs typeface="Times New Roman"/>
              </a:rPr>
              <a:t>h</a:t>
            </a:r>
            <a:r>
              <a:rPr sz="2800" spc="0" dirty="0" smtClean="0">
                <a:latin typeface="Times New Roman"/>
                <a:cs typeface="Times New Roman"/>
              </a:rPr>
              <a:t>anced</a:t>
            </a:r>
            <a:r>
              <a:rPr sz="2800" spc="-105" dirty="0" smtClean="0">
                <a:latin typeface="Times New Roman"/>
                <a:cs typeface="Times New Roman"/>
              </a:rPr>
              <a:t> </a:t>
            </a:r>
            <a:r>
              <a:rPr sz="2800" spc="14" dirty="0" smtClean="0">
                <a:latin typeface="Times New Roman"/>
                <a:cs typeface="Times New Roman"/>
              </a:rPr>
              <a:t>b</a:t>
            </a:r>
            <a:r>
              <a:rPr sz="2800" spc="0" dirty="0" smtClean="0">
                <a:latin typeface="Times New Roman"/>
                <a:cs typeface="Times New Roman"/>
              </a:rPr>
              <a:t>y</a:t>
            </a:r>
            <a:r>
              <a:rPr sz="2800" spc="-37" dirty="0" smtClean="0">
                <a:latin typeface="Times New Roman"/>
                <a:cs typeface="Times New Roman"/>
              </a:rPr>
              <a:t> </a:t>
            </a:r>
            <a:r>
              <a:rPr sz="2800" spc="0" dirty="0" smtClean="0">
                <a:latin typeface="Times New Roman"/>
                <a:cs typeface="Times New Roman"/>
              </a:rPr>
              <a:t>i</a:t>
            </a:r>
            <a:r>
              <a:rPr sz="2800" spc="9" dirty="0" smtClean="0">
                <a:latin typeface="Times New Roman"/>
                <a:cs typeface="Times New Roman"/>
              </a:rPr>
              <a:t>n</a:t>
            </a:r>
            <a:r>
              <a:rPr sz="2800" spc="4" dirty="0" smtClean="0">
                <a:latin typeface="Times New Roman"/>
                <a:cs typeface="Times New Roman"/>
              </a:rPr>
              <a:t>du</a:t>
            </a:r>
            <a:r>
              <a:rPr sz="2800" spc="0" dirty="0" smtClean="0">
                <a:latin typeface="Times New Roman"/>
                <a:cs typeface="Times New Roman"/>
              </a:rPr>
              <a:t>ced</a:t>
            </a:r>
            <a:r>
              <a:rPr sz="2800" spc="-59" dirty="0" smtClean="0">
                <a:latin typeface="Times New Roman"/>
                <a:cs typeface="Times New Roman"/>
              </a:rPr>
              <a:t> </a:t>
            </a:r>
            <a:r>
              <a:rPr sz="2800" spc="4" dirty="0" smtClean="0">
                <a:latin typeface="Times New Roman"/>
                <a:cs typeface="Times New Roman"/>
              </a:rPr>
              <a:t>d</a:t>
            </a:r>
            <a:r>
              <a:rPr sz="2800" spc="0" dirty="0" smtClean="0">
                <a:latin typeface="Times New Roman"/>
                <a:cs typeface="Times New Roman"/>
              </a:rPr>
              <a:t>ra</a:t>
            </a:r>
            <a:r>
              <a:rPr sz="2800" spc="9" dirty="0" smtClean="0">
                <a:latin typeface="Times New Roman"/>
                <a:cs typeface="Times New Roman"/>
              </a:rPr>
              <a:t>f</a:t>
            </a:r>
            <a:r>
              <a:rPr sz="2800" spc="0" dirty="0" smtClean="0">
                <a:latin typeface="Times New Roman"/>
                <a:cs typeface="Times New Roman"/>
              </a:rPr>
              <a:t>t</a:t>
            </a:r>
            <a:r>
              <a:rPr sz="2800" spc="-45" dirty="0" smtClean="0">
                <a:latin typeface="Times New Roman"/>
                <a:cs typeface="Times New Roman"/>
              </a:rPr>
              <a:t> </a:t>
            </a:r>
            <a:r>
              <a:rPr sz="2800" spc="9" dirty="0" smtClean="0">
                <a:latin typeface="Times New Roman"/>
                <a:cs typeface="Times New Roman"/>
              </a:rPr>
              <a:t>f</a:t>
            </a:r>
            <a:r>
              <a:rPr sz="2800" spc="0" dirty="0" smtClean="0">
                <a:latin typeface="Times New Roman"/>
                <a:cs typeface="Times New Roman"/>
              </a:rPr>
              <a:t>an</a:t>
            </a:r>
            <a:r>
              <a:rPr sz="2800" spc="9" dirty="0" smtClean="0">
                <a:latin typeface="Times New Roman"/>
                <a:cs typeface="Times New Roman"/>
              </a:rPr>
              <a:t>s</a:t>
            </a:r>
            <a:r>
              <a:rPr sz="2800" spc="0" dirty="0" smtClean="0">
                <a:latin typeface="Times New Roman"/>
                <a:cs typeface="Times New Roman"/>
              </a:rPr>
              <a:t>.</a:t>
            </a:r>
            <a:endParaRPr sz="2800">
              <a:latin typeface="Times New Roman"/>
              <a:cs typeface="Times New Roman"/>
            </a:endParaRPr>
          </a:p>
          <a:p>
            <a:pPr marL="12700" marR="49606">
              <a:lnSpc>
                <a:spcPct val="95825"/>
              </a:lnSpc>
              <a:spcBef>
                <a:spcPts val="1820"/>
              </a:spcBef>
            </a:pPr>
            <a:r>
              <a:rPr sz="2650" spc="0" dirty="0" smtClean="0">
                <a:solidFill>
                  <a:srgbClr val="0AD0D9"/>
                </a:solidFill>
                <a:latin typeface="Times New Roman"/>
                <a:cs typeface="Times New Roman"/>
              </a:rPr>
              <a:t>•  </a:t>
            </a:r>
            <a:r>
              <a:rPr sz="2650" spc="244" dirty="0" smtClean="0">
                <a:solidFill>
                  <a:srgbClr val="0AD0D9"/>
                </a:solidFill>
                <a:latin typeface="Times New Roman"/>
                <a:cs typeface="Times New Roman"/>
              </a:rPr>
              <a:t> </a:t>
            </a:r>
            <a:r>
              <a:rPr sz="2800" spc="0" dirty="0" smtClean="0">
                <a:latin typeface="Times New Roman"/>
                <a:cs typeface="Times New Roman"/>
              </a:rPr>
              <a:t>Lower</a:t>
            </a:r>
            <a:r>
              <a:rPr sz="2800" spc="25" dirty="0" smtClean="0">
                <a:latin typeface="Times New Roman"/>
                <a:cs typeface="Times New Roman"/>
              </a:rPr>
              <a:t> </a:t>
            </a:r>
            <a:r>
              <a:rPr sz="2800" spc="0" dirty="0" smtClean="0">
                <a:latin typeface="Times New Roman"/>
                <a:cs typeface="Times New Roman"/>
              </a:rPr>
              <a:t>t</a:t>
            </a:r>
            <a:r>
              <a:rPr sz="2800" spc="9" dirty="0" smtClean="0">
                <a:latin typeface="Times New Roman"/>
                <a:cs typeface="Times New Roman"/>
              </a:rPr>
              <a:t>o</a:t>
            </a:r>
            <a:r>
              <a:rPr sz="2800" spc="0" dirty="0" smtClean="0">
                <a:latin typeface="Times New Roman"/>
                <a:cs typeface="Times New Roman"/>
              </a:rPr>
              <a:t>lera</a:t>
            </a:r>
            <a:r>
              <a:rPr sz="2800" spc="9" dirty="0" smtClean="0">
                <a:latin typeface="Times New Roman"/>
                <a:cs typeface="Times New Roman"/>
              </a:rPr>
              <a:t>n</a:t>
            </a:r>
            <a:r>
              <a:rPr sz="2800" spc="0" dirty="0" smtClean="0">
                <a:latin typeface="Times New Roman"/>
                <a:cs typeface="Times New Roman"/>
              </a:rPr>
              <a:t>ce</a:t>
            </a:r>
            <a:r>
              <a:rPr sz="2800" spc="-25" dirty="0" smtClean="0">
                <a:latin typeface="Times New Roman"/>
                <a:cs typeface="Times New Roman"/>
              </a:rPr>
              <a:t> </a:t>
            </a:r>
            <a:r>
              <a:rPr sz="2800" spc="0" dirty="0" smtClean="0">
                <a:latin typeface="Times New Roman"/>
                <a:cs typeface="Times New Roman"/>
              </a:rPr>
              <a:t>f</a:t>
            </a:r>
            <a:r>
              <a:rPr sz="2800" spc="9" dirty="0" smtClean="0">
                <a:latin typeface="Times New Roman"/>
                <a:cs typeface="Times New Roman"/>
              </a:rPr>
              <a:t>o</a:t>
            </a:r>
            <a:r>
              <a:rPr sz="2800" spc="0" dirty="0" smtClean="0">
                <a:latin typeface="Times New Roman"/>
                <a:cs typeface="Times New Roman"/>
              </a:rPr>
              <a:t>r</a:t>
            </a:r>
            <a:r>
              <a:rPr sz="2800" spc="-32" dirty="0" smtClean="0">
                <a:latin typeface="Times New Roman"/>
                <a:cs typeface="Times New Roman"/>
              </a:rPr>
              <a:t> </a:t>
            </a:r>
            <a:r>
              <a:rPr sz="2800" spc="0" dirty="0" smtClean="0">
                <a:latin typeface="Times New Roman"/>
                <a:cs typeface="Times New Roman"/>
              </a:rPr>
              <a:t>water</a:t>
            </a:r>
            <a:r>
              <a:rPr sz="2800" spc="14" dirty="0" smtClean="0">
                <a:latin typeface="Times New Roman"/>
                <a:cs typeface="Times New Roman"/>
              </a:rPr>
              <a:t> </a:t>
            </a:r>
            <a:r>
              <a:rPr sz="2800" spc="0" dirty="0" smtClean="0">
                <a:latin typeface="Times New Roman"/>
                <a:cs typeface="Times New Roman"/>
              </a:rPr>
              <a:t>q</a:t>
            </a:r>
            <a:r>
              <a:rPr sz="2800" spc="9" dirty="0" smtClean="0">
                <a:latin typeface="Times New Roman"/>
                <a:cs typeface="Times New Roman"/>
              </a:rPr>
              <a:t>u</a:t>
            </a:r>
            <a:r>
              <a:rPr sz="2800" spc="0" dirty="0" smtClean="0">
                <a:latin typeface="Times New Roman"/>
                <a:cs typeface="Times New Roman"/>
              </a:rPr>
              <a:t>ali</a:t>
            </a:r>
            <a:r>
              <a:rPr sz="2800" spc="4" dirty="0" smtClean="0">
                <a:latin typeface="Times New Roman"/>
                <a:cs typeface="Times New Roman"/>
              </a:rPr>
              <a:t>t</a:t>
            </a:r>
            <a:r>
              <a:rPr sz="2800" spc="0" dirty="0" smtClean="0">
                <a:latin typeface="Times New Roman"/>
                <a:cs typeface="Times New Roman"/>
              </a:rPr>
              <a:t>y</a:t>
            </a:r>
            <a:r>
              <a:rPr sz="2800" spc="-41" dirty="0" smtClean="0">
                <a:latin typeface="Times New Roman"/>
                <a:cs typeface="Times New Roman"/>
              </a:rPr>
              <a:t> </a:t>
            </a:r>
            <a:r>
              <a:rPr sz="2800" spc="-9" dirty="0" smtClean="0">
                <a:latin typeface="Times New Roman"/>
                <a:cs typeface="Times New Roman"/>
              </a:rPr>
              <a:t>a</a:t>
            </a:r>
            <a:r>
              <a:rPr sz="2800" spc="0" dirty="0" smtClean="0">
                <a:latin typeface="Times New Roman"/>
                <a:cs typeface="Times New Roman"/>
              </a:rPr>
              <a:t>nd</a:t>
            </a:r>
            <a:r>
              <a:rPr sz="2800" spc="-27" dirty="0" smtClean="0">
                <a:latin typeface="Times New Roman"/>
                <a:cs typeface="Times New Roman"/>
              </a:rPr>
              <a:t> </a:t>
            </a:r>
            <a:r>
              <a:rPr sz="2800" spc="0" dirty="0" smtClean="0">
                <a:latin typeface="Times New Roman"/>
                <a:cs typeface="Times New Roman"/>
              </a:rPr>
              <a:t>needs</a:t>
            </a:r>
            <a:r>
              <a:rPr sz="2800" spc="9" dirty="0" smtClean="0">
                <a:latin typeface="Times New Roman"/>
                <a:cs typeface="Times New Roman"/>
              </a:rPr>
              <a:t> </a:t>
            </a:r>
            <a:r>
              <a:rPr sz="2800" spc="0" dirty="0" smtClean="0">
                <a:latin typeface="Times New Roman"/>
                <a:cs typeface="Times New Roman"/>
              </a:rPr>
              <a:t>water</a:t>
            </a:r>
            <a:endParaRPr sz="2800">
              <a:latin typeface="Times New Roman"/>
              <a:cs typeface="Times New Roman"/>
            </a:endParaRPr>
          </a:p>
          <a:p>
            <a:pPr marL="415035" marR="49606">
              <a:lnSpc>
                <a:spcPct val="95825"/>
              </a:lnSpc>
              <a:spcBef>
                <a:spcPts val="140"/>
              </a:spcBef>
            </a:pPr>
            <a:r>
              <a:rPr sz="2800" spc="0" dirty="0" smtClean="0">
                <a:latin typeface="Times New Roman"/>
                <a:cs typeface="Times New Roman"/>
              </a:rPr>
              <a:t>treatment plant</a:t>
            </a:r>
            <a:endParaRPr sz="2800">
              <a:latin typeface="Times New Roman"/>
              <a:cs typeface="Times New Roman"/>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4" name="object 4"/>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6" name="object 6"/>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7" name="object 7"/>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8" name="object 8"/>
          <p:cNvSpPr/>
          <p:nvPr/>
        </p:nvSpPr>
        <p:spPr>
          <a:xfrm>
            <a:off x="2590800" y="358139"/>
            <a:ext cx="6553200" cy="6499860"/>
          </a:xfrm>
          <a:prstGeom prst="rect">
            <a:avLst/>
          </a:prstGeom>
          <a:blipFill>
            <a:blip r:embed="rId7" cstate="print"/>
            <a:stretch>
              <a:fillRect/>
            </a:stretch>
          </a:blipFill>
        </p:spPr>
        <p:txBody>
          <a:bodyPr wrap="square" lIns="0" tIns="0" rIns="0" bIns="0" rtlCol="0">
            <a:noAutofit/>
          </a:bodyPr>
          <a:lstStyle/>
          <a:p>
            <a:endParaRPr/>
          </a:p>
        </p:txBody>
      </p:sp>
      <p:sp>
        <p:nvSpPr>
          <p:cNvPr id="2" name="object 2"/>
          <p:cNvSpPr txBox="1"/>
          <p:nvPr/>
        </p:nvSpPr>
        <p:spPr>
          <a:xfrm>
            <a:off x="383540" y="1287123"/>
            <a:ext cx="1995892" cy="2357805"/>
          </a:xfrm>
          <a:prstGeom prst="rect">
            <a:avLst/>
          </a:prstGeom>
        </p:spPr>
        <p:txBody>
          <a:bodyPr wrap="square" lIns="0" tIns="35655" rIns="0" bIns="0" rtlCol="0">
            <a:noAutofit/>
          </a:bodyPr>
          <a:lstStyle/>
          <a:p>
            <a:pPr marL="12700" marR="102915">
              <a:lnSpc>
                <a:spcPts val="5615"/>
              </a:lnSpc>
            </a:pPr>
            <a:r>
              <a:rPr sz="5400" spc="-84" dirty="0" smtClean="0">
                <a:latin typeface="Times New Roman"/>
                <a:cs typeface="Times New Roman"/>
              </a:rPr>
              <a:t>Water</a:t>
            </a:r>
            <a:endParaRPr sz="5400">
              <a:latin typeface="Times New Roman"/>
              <a:cs typeface="Times New Roman"/>
            </a:endParaRPr>
          </a:p>
          <a:p>
            <a:pPr marL="12700" marR="102915">
              <a:lnSpc>
                <a:spcPct val="95825"/>
              </a:lnSpc>
            </a:pPr>
            <a:r>
              <a:rPr sz="5400" dirty="0" smtClean="0">
                <a:latin typeface="Times New Roman"/>
                <a:cs typeface="Times New Roman"/>
              </a:rPr>
              <a:t>tube</a:t>
            </a:r>
            <a:endParaRPr sz="5400">
              <a:latin typeface="Times New Roman"/>
              <a:cs typeface="Times New Roman"/>
            </a:endParaRPr>
          </a:p>
          <a:p>
            <a:pPr marL="12700">
              <a:lnSpc>
                <a:spcPts val="6195"/>
              </a:lnSpc>
              <a:spcBef>
                <a:spcPts val="579"/>
              </a:spcBef>
            </a:pPr>
            <a:r>
              <a:rPr sz="5400" dirty="0" smtClean="0">
                <a:latin typeface="Times New Roman"/>
                <a:cs typeface="Times New Roman"/>
              </a:rPr>
              <a:t>boilers</a:t>
            </a:r>
            <a:endParaRPr sz="5400">
              <a:latin typeface="Times New Roman"/>
              <a:cs typeface="Times New Roman"/>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22"/>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23" name="object 23"/>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24" name="object 24"/>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25" name="object 25"/>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26" name="object 26"/>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27" name="object 27"/>
          <p:cNvSpPr/>
          <p:nvPr/>
        </p:nvSpPr>
        <p:spPr>
          <a:xfrm>
            <a:off x="304800" y="1066825"/>
            <a:ext cx="762000" cy="736320"/>
          </a:xfrm>
          <a:custGeom>
            <a:avLst/>
            <a:gdLst/>
            <a:ahLst/>
            <a:cxnLst/>
            <a:rect l="l" t="t" r="r" b="b"/>
            <a:pathLst>
              <a:path w="762000" h="736320">
                <a:moveTo>
                  <a:pt x="0" y="736320"/>
                </a:moveTo>
                <a:lnTo>
                  <a:pt x="762000" y="736320"/>
                </a:lnTo>
                <a:lnTo>
                  <a:pt x="762000" y="0"/>
                </a:lnTo>
                <a:lnTo>
                  <a:pt x="0" y="0"/>
                </a:lnTo>
                <a:lnTo>
                  <a:pt x="0" y="736320"/>
                </a:lnTo>
                <a:close/>
              </a:path>
            </a:pathLst>
          </a:custGeom>
          <a:solidFill>
            <a:srgbClr val="0E6EC5"/>
          </a:solidFill>
        </p:spPr>
        <p:txBody>
          <a:bodyPr wrap="square" lIns="0" tIns="0" rIns="0" bIns="0" rtlCol="0">
            <a:noAutofit/>
          </a:bodyPr>
          <a:lstStyle/>
          <a:p>
            <a:endParaRPr/>
          </a:p>
        </p:txBody>
      </p:sp>
      <p:sp>
        <p:nvSpPr>
          <p:cNvPr id="28" name="object 28"/>
          <p:cNvSpPr/>
          <p:nvPr/>
        </p:nvSpPr>
        <p:spPr>
          <a:xfrm>
            <a:off x="1066800" y="1066825"/>
            <a:ext cx="2438400" cy="736320"/>
          </a:xfrm>
          <a:custGeom>
            <a:avLst/>
            <a:gdLst/>
            <a:ahLst/>
            <a:cxnLst/>
            <a:rect l="l" t="t" r="r" b="b"/>
            <a:pathLst>
              <a:path w="2438400" h="736320">
                <a:moveTo>
                  <a:pt x="0" y="736320"/>
                </a:moveTo>
                <a:lnTo>
                  <a:pt x="2438400" y="736320"/>
                </a:lnTo>
                <a:lnTo>
                  <a:pt x="2438400" y="0"/>
                </a:lnTo>
                <a:lnTo>
                  <a:pt x="0" y="0"/>
                </a:lnTo>
                <a:lnTo>
                  <a:pt x="0" y="736320"/>
                </a:lnTo>
                <a:close/>
              </a:path>
            </a:pathLst>
          </a:custGeom>
          <a:solidFill>
            <a:srgbClr val="0E6EC5"/>
          </a:solidFill>
        </p:spPr>
        <p:txBody>
          <a:bodyPr wrap="square" lIns="0" tIns="0" rIns="0" bIns="0" rtlCol="0">
            <a:noAutofit/>
          </a:bodyPr>
          <a:lstStyle/>
          <a:p>
            <a:endParaRPr/>
          </a:p>
        </p:txBody>
      </p:sp>
      <p:sp>
        <p:nvSpPr>
          <p:cNvPr id="29" name="object 29"/>
          <p:cNvSpPr/>
          <p:nvPr/>
        </p:nvSpPr>
        <p:spPr>
          <a:xfrm>
            <a:off x="3505200" y="1066825"/>
            <a:ext cx="2792729" cy="736320"/>
          </a:xfrm>
          <a:custGeom>
            <a:avLst/>
            <a:gdLst/>
            <a:ahLst/>
            <a:cxnLst/>
            <a:rect l="l" t="t" r="r" b="b"/>
            <a:pathLst>
              <a:path w="2792729" h="736320">
                <a:moveTo>
                  <a:pt x="0" y="736320"/>
                </a:moveTo>
                <a:lnTo>
                  <a:pt x="2792729" y="736320"/>
                </a:lnTo>
                <a:lnTo>
                  <a:pt x="2792729" y="0"/>
                </a:lnTo>
                <a:lnTo>
                  <a:pt x="0" y="0"/>
                </a:lnTo>
                <a:lnTo>
                  <a:pt x="0" y="736320"/>
                </a:lnTo>
                <a:close/>
              </a:path>
            </a:pathLst>
          </a:custGeom>
          <a:solidFill>
            <a:srgbClr val="0E6EC5"/>
          </a:solidFill>
        </p:spPr>
        <p:txBody>
          <a:bodyPr wrap="square" lIns="0" tIns="0" rIns="0" bIns="0" rtlCol="0">
            <a:noAutofit/>
          </a:bodyPr>
          <a:lstStyle/>
          <a:p>
            <a:endParaRPr/>
          </a:p>
        </p:txBody>
      </p:sp>
      <p:sp>
        <p:nvSpPr>
          <p:cNvPr id="30" name="object 30"/>
          <p:cNvSpPr/>
          <p:nvPr/>
        </p:nvSpPr>
        <p:spPr>
          <a:xfrm>
            <a:off x="6297930" y="1066825"/>
            <a:ext cx="2541270" cy="736320"/>
          </a:xfrm>
          <a:custGeom>
            <a:avLst/>
            <a:gdLst/>
            <a:ahLst/>
            <a:cxnLst/>
            <a:rect l="l" t="t" r="r" b="b"/>
            <a:pathLst>
              <a:path w="2541270" h="736320">
                <a:moveTo>
                  <a:pt x="0" y="736320"/>
                </a:moveTo>
                <a:lnTo>
                  <a:pt x="2541270" y="736320"/>
                </a:lnTo>
                <a:lnTo>
                  <a:pt x="2541270" y="0"/>
                </a:lnTo>
                <a:lnTo>
                  <a:pt x="0" y="0"/>
                </a:lnTo>
                <a:lnTo>
                  <a:pt x="0" y="736320"/>
                </a:lnTo>
                <a:close/>
              </a:path>
            </a:pathLst>
          </a:custGeom>
          <a:solidFill>
            <a:srgbClr val="0E6EC5"/>
          </a:solidFill>
        </p:spPr>
        <p:txBody>
          <a:bodyPr wrap="square" lIns="0" tIns="0" rIns="0" bIns="0" rtlCol="0">
            <a:noAutofit/>
          </a:bodyPr>
          <a:lstStyle/>
          <a:p>
            <a:endParaRPr/>
          </a:p>
        </p:txBody>
      </p:sp>
      <p:sp>
        <p:nvSpPr>
          <p:cNvPr id="31" name="object 31"/>
          <p:cNvSpPr/>
          <p:nvPr/>
        </p:nvSpPr>
        <p:spPr>
          <a:xfrm>
            <a:off x="304800" y="1803146"/>
            <a:ext cx="762000" cy="426592"/>
          </a:xfrm>
          <a:custGeom>
            <a:avLst/>
            <a:gdLst/>
            <a:ahLst/>
            <a:cxnLst/>
            <a:rect l="l" t="t" r="r" b="b"/>
            <a:pathLst>
              <a:path w="762000" h="426592">
                <a:moveTo>
                  <a:pt x="0" y="426592"/>
                </a:moveTo>
                <a:lnTo>
                  <a:pt x="762000" y="426592"/>
                </a:lnTo>
                <a:lnTo>
                  <a:pt x="762000" y="0"/>
                </a:lnTo>
                <a:lnTo>
                  <a:pt x="0" y="0"/>
                </a:lnTo>
                <a:lnTo>
                  <a:pt x="0" y="426592"/>
                </a:lnTo>
                <a:close/>
              </a:path>
            </a:pathLst>
          </a:custGeom>
          <a:solidFill>
            <a:srgbClr val="CCD4EA"/>
          </a:solidFill>
        </p:spPr>
        <p:txBody>
          <a:bodyPr wrap="square" lIns="0" tIns="0" rIns="0" bIns="0" rtlCol="0">
            <a:noAutofit/>
          </a:bodyPr>
          <a:lstStyle/>
          <a:p>
            <a:endParaRPr/>
          </a:p>
        </p:txBody>
      </p:sp>
      <p:sp>
        <p:nvSpPr>
          <p:cNvPr id="32" name="object 32"/>
          <p:cNvSpPr/>
          <p:nvPr/>
        </p:nvSpPr>
        <p:spPr>
          <a:xfrm>
            <a:off x="1066800" y="1803146"/>
            <a:ext cx="2438400" cy="426592"/>
          </a:xfrm>
          <a:custGeom>
            <a:avLst/>
            <a:gdLst/>
            <a:ahLst/>
            <a:cxnLst/>
            <a:rect l="l" t="t" r="r" b="b"/>
            <a:pathLst>
              <a:path w="2438400" h="426592">
                <a:moveTo>
                  <a:pt x="0" y="426592"/>
                </a:moveTo>
                <a:lnTo>
                  <a:pt x="2438400" y="426592"/>
                </a:lnTo>
                <a:lnTo>
                  <a:pt x="2438400" y="0"/>
                </a:lnTo>
                <a:lnTo>
                  <a:pt x="0" y="0"/>
                </a:lnTo>
                <a:lnTo>
                  <a:pt x="0" y="426592"/>
                </a:lnTo>
                <a:close/>
              </a:path>
            </a:pathLst>
          </a:custGeom>
          <a:solidFill>
            <a:srgbClr val="CCD4EA"/>
          </a:solidFill>
        </p:spPr>
        <p:txBody>
          <a:bodyPr wrap="square" lIns="0" tIns="0" rIns="0" bIns="0" rtlCol="0">
            <a:noAutofit/>
          </a:bodyPr>
          <a:lstStyle/>
          <a:p>
            <a:endParaRPr/>
          </a:p>
        </p:txBody>
      </p:sp>
      <p:sp>
        <p:nvSpPr>
          <p:cNvPr id="33" name="object 33"/>
          <p:cNvSpPr/>
          <p:nvPr/>
        </p:nvSpPr>
        <p:spPr>
          <a:xfrm>
            <a:off x="3505200" y="1803146"/>
            <a:ext cx="2792729" cy="426592"/>
          </a:xfrm>
          <a:custGeom>
            <a:avLst/>
            <a:gdLst/>
            <a:ahLst/>
            <a:cxnLst/>
            <a:rect l="l" t="t" r="r" b="b"/>
            <a:pathLst>
              <a:path w="2792729" h="426592">
                <a:moveTo>
                  <a:pt x="0" y="426592"/>
                </a:moveTo>
                <a:lnTo>
                  <a:pt x="2792729" y="426592"/>
                </a:lnTo>
                <a:lnTo>
                  <a:pt x="2792729" y="0"/>
                </a:lnTo>
                <a:lnTo>
                  <a:pt x="0" y="0"/>
                </a:lnTo>
                <a:lnTo>
                  <a:pt x="0" y="426592"/>
                </a:lnTo>
                <a:close/>
              </a:path>
            </a:pathLst>
          </a:custGeom>
          <a:solidFill>
            <a:srgbClr val="CCD4EA"/>
          </a:solidFill>
        </p:spPr>
        <p:txBody>
          <a:bodyPr wrap="square" lIns="0" tIns="0" rIns="0" bIns="0" rtlCol="0">
            <a:noAutofit/>
          </a:bodyPr>
          <a:lstStyle/>
          <a:p>
            <a:endParaRPr/>
          </a:p>
        </p:txBody>
      </p:sp>
      <p:sp>
        <p:nvSpPr>
          <p:cNvPr id="34" name="object 34"/>
          <p:cNvSpPr/>
          <p:nvPr/>
        </p:nvSpPr>
        <p:spPr>
          <a:xfrm>
            <a:off x="6297930" y="1803146"/>
            <a:ext cx="2541270" cy="426592"/>
          </a:xfrm>
          <a:custGeom>
            <a:avLst/>
            <a:gdLst/>
            <a:ahLst/>
            <a:cxnLst/>
            <a:rect l="l" t="t" r="r" b="b"/>
            <a:pathLst>
              <a:path w="2541270" h="426592">
                <a:moveTo>
                  <a:pt x="0" y="426592"/>
                </a:moveTo>
                <a:lnTo>
                  <a:pt x="2541270" y="426592"/>
                </a:lnTo>
                <a:lnTo>
                  <a:pt x="2541270" y="0"/>
                </a:lnTo>
                <a:lnTo>
                  <a:pt x="0" y="0"/>
                </a:lnTo>
                <a:lnTo>
                  <a:pt x="0" y="426592"/>
                </a:lnTo>
                <a:close/>
              </a:path>
            </a:pathLst>
          </a:custGeom>
          <a:solidFill>
            <a:srgbClr val="CCD4EA"/>
          </a:solidFill>
        </p:spPr>
        <p:txBody>
          <a:bodyPr wrap="square" lIns="0" tIns="0" rIns="0" bIns="0" rtlCol="0">
            <a:noAutofit/>
          </a:bodyPr>
          <a:lstStyle/>
          <a:p>
            <a:endParaRPr/>
          </a:p>
        </p:txBody>
      </p:sp>
      <p:sp>
        <p:nvSpPr>
          <p:cNvPr id="35" name="object 35"/>
          <p:cNvSpPr/>
          <p:nvPr/>
        </p:nvSpPr>
        <p:spPr>
          <a:xfrm>
            <a:off x="304800" y="2229662"/>
            <a:ext cx="762000" cy="666191"/>
          </a:xfrm>
          <a:custGeom>
            <a:avLst/>
            <a:gdLst/>
            <a:ahLst/>
            <a:cxnLst/>
            <a:rect l="l" t="t" r="r" b="b"/>
            <a:pathLst>
              <a:path w="762000" h="666191">
                <a:moveTo>
                  <a:pt x="0" y="666191"/>
                </a:moveTo>
                <a:lnTo>
                  <a:pt x="762000" y="666191"/>
                </a:lnTo>
                <a:lnTo>
                  <a:pt x="762000" y="0"/>
                </a:lnTo>
                <a:lnTo>
                  <a:pt x="0" y="0"/>
                </a:lnTo>
                <a:lnTo>
                  <a:pt x="0" y="666191"/>
                </a:lnTo>
                <a:close/>
              </a:path>
            </a:pathLst>
          </a:custGeom>
          <a:solidFill>
            <a:srgbClr val="E7EBF5"/>
          </a:solidFill>
        </p:spPr>
        <p:txBody>
          <a:bodyPr wrap="square" lIns="0" tIns="0" rIns="0" bIns="0" rtlCol="0">
            <a:noAutofit/>
          </a:bodyPr>
          <a:lstStyle/>
          <a:p>
            <a:endParaRPr/>
          </a:p>
        </p:txBody>
      </p:sp>
      <p:sp>
        <p:nvSpPr>
          <p:cNvPr id="36" name="object 36"/>
          <p:cNvSpPr/>
          <p:nvPr/>
        </p:nvSpPr>
        <p:spPr>
          <a:xfrm>
            <a:off x="1066800" y="2229662"/>
            <a:ext cx="2438400" cy="666191"/>
          </a:xfrm>
          <a:custGeom>
            <a:avLst/>
            <a:gdLst/>
            <a:ahLst/>
            <a:cxnLst/>
            <a:rect l="l" t="t" r="r" b="b"/>
            <a:pathLst>
              <a:path w="2438400" h="666191">
                <a:moveTo>
                  <a:pt x="0" y="666191"/>
                </a:moveTo>
                <a:lnTo>
                  <a:pt x="2438400" y="666191"/>
                </a:lnTo>
                <a:lnTo>
                  <a:pt x="2438400" y="0"/>
                </a:lnTo>
                <a:lnTo>
                  <a:pt x="0" y="0"/>
                </a:lnTo>
                <a:lnTo>
                  <a:pt x="0" y="666191"/>
                </a:lnTo>
                <a:close/>
              </a:path>
            </a:pathLst>
          </a:custGeom>
          <a:solidFill>
            <a:srgbClr val="E7EBF5"/>
          </a:solidFill>
        </p:spPr>
        <p:txBody>
          <a:bodyPr wrap="square" lIns="0" tIns="0" rIns="0" bIns="0" rtlCol="0">
            <a:noAutofit/>
          </a:bodyPr>
          <a:lstStyle/>
          <a:p>
            <a:endParaRPr/>
          </a:p>
        </p:txBody>
      </p:sp>
      <p:sp>
        <p:nvSpPr>
          <p:cNvPr id="37" name="object 37"/>
          <p:cNvSpPr/>
          <p:nvPr/>
        </p:nvSpPr>
        <p:spPr>
          <a:xfrm>
            <a:off x="3505200" y="2229662"/>
            <a:ext cx="2792729" cy="666191"/>
          </a:xfrm>
          <a:custGeom>
            <a:avLst/>
            <a:gdLst/>
            <a:ahLst/>
            <a:cxnLst/>
            <a:rect l="l" t="t" r="r" b="b"/>
            <a:pathLst>
              <a:path w="2792729" h="666191">
                <a:moveTo>
                  <a:pt x="0" y="666191"/>
                </a:moveTo>
                <a:lnTo>
                  <a:pt x="2792729" y="666191"/>
                </a:lnTo>
                <a:lnTo>
                  <a:pt x="2792729" y="0"/>
                </a:lnTo>
                <a:lnTo>
                  <a:pt x="0" y="0"/>
                </a:lnTo>
                <a:lnTo>
                  <a:pt x="0" y="666191"/>
                </a:lnTo>
                <a:close/>
              </a:path>
            </a:pathLst>
          </a:custGeom>
          <a:solidFill>
            <a:srgbClr val="E7EBF5"/>
          </a:solidFill>
        </p:spPr>
        <p:txBody>
          <a:bodyPr wrap="square" lIns="0" tIns="0" rIns="0" bIns="0" rtlCol="0">
            <a:noAutofit/>
          </a:bodyPr>
          <a:lstStyle/>
          <a:p>
            <a:endParaRPr/>
          </a:p>
        </p:txBody>
      </p:sp>
      <p:sp>
        <p:nvSpPr>
          <p:cNvPr id="38" name="object 38"/>
          <p:cNvSpPr/>
          <p:nvPr/>
        </p:nvSpPr>
        <p:spPr>
          <a:xfrm>
            <a:off x="6297930" y="2229662"/>
            <a:ext cx="2541270" cy="666191"/>
          </a:xfrm>
          <a:custGeom>
            <a:avLst/>
            <a:gdLst/>
            <a:ahLst/>
            <a:cxnLst/>
            <a:rect l="l" t="t" r="r" b="b"/>
            <a:pathLst>
              <a:path w="2541270" h="666191">
                <a:moveTo>
                  <a:pt x="0" y="666191"/>
                </a:moveTo>
                <a:lnTo>
                  <a:pt x="2541270" y="666191"/>
                </a:lnTo>
                <a:lnTo>
                  <a:pt x="2541270" y="0"/>
                </a:lnTo>
                <a:lnTo>
                  <a:pt x="0" y="0"/>
                </a:lnTo>
                <a:lnTo>
                  <a:pt x="0" y="666191"/>
                </a:lnTo>
                <a:close/>
              </a:path>
            </a:pathLst>
          </a:custGeom>
          <a:solidFill>
            <a:srgbClr val="E7EBF5"/>
          </a:solidFill>
        </p:spPr>
        <p:txBody>
          <a:bodyPr wrap="square" lIns="0" tIns="0" rIns="0" bIns="0" rtlCol="0">
            <a:noAutofit/>
          </a:bodyPr>
          <a:lstStyle/>
          <a:p>
            <a:endParaRPr/>
          </a:p>
        </p:txBody>
      </p:sp>
      <p:sp>
        <p:nvSpPr>
          <p:cNvPr id="39" name="object 39"/>
          <p:cNvSpPr/>
          <p:nvPr/>
        </p:nvSpPr>
        <p:spPr>
          <a:xfrm>
            <a:off x="304800" y="2895854"/>
            <a:ext cx="762000" cy="426593"/>
          </a:xfrm>
          <a:custGeom>
            <a:avLst/>
            <a:gdLst/>
            <a:ahLst/>
            <a:cxnLst/>
            <a:rect l="l" t="t" r="r" b="b"/>
            <a:pathLst>
              <a:path w="762000" h="426593">
                <a:moveTo>
                  <a:pt x="0" y="426593"/>
                </a:moveTo>
                <a:lnTo>
                  <a:pt x="762000" y="426593"/>
                </a:lnTo>
                <a:lnTo>
                  <a:pt x="762000" y="0"/>
                </a:lnTo>
                <a:lnTo>
                  <a:pt x="0" y="0"/>
                </a:lnTo>
                <a:lnTo>
                  <a:pt x="0" y="426593"/>
                </a:lnTo>
                <a:close/>
              </a:path>
            </a:pathLst>
          </a:custGeom>
          <a:solidFill>
            <a:srgbClr val="CCD4EA"/>
          </a:solidFill>
        </p:spPr>
        <p:txBody>
          <a:bodyPr wrap="square" lIns="0" tIns="0" rIns="0" bIns="0" rtlCol="0">
            <a:noAutofit/>
          </a:bodyPr>
          <a:lstStyle/>
          <a:p>
            <a:endParaRPr/>
          </a:p>
        </p:txBody>
      </p:sp>
      <p:sp>
        <p:nvSpPr>
          <p:cNvPr id="40" name="object 40"/>
          <p:cNvSpPr/>
          <p:nvPr/>
        </p:nvSpPr>
        <p:spPr>
          <a:xfrm>
            <a:off x="1066800" y="2895854"/>
            <a:ext cx="2438400" cy="426593"/>
          </a:xfrm>
          <a:custGeom>
            <a:avLst/>
            <a:gdLst/>
            <a:ahLst/>
            <a:cxnLst/>
            <a:rect l="l" t="t" r="r" b="b"/>
            <a:pathLst>
              <a:path w="2438400" h="426593">
                <a:moveTo>
                  <a:pt x="0" y="426593"/>
                </a:moveTo>
                <a:lnTo>
                  <a:pt x="2438400" y="426593"/>
                </a:lnTo>
                <a:lnTo>
                  <a:pt x="2438400" y="0"/>
                </a:lnTo>
                <a:lnTo>
                  <a:pt x="0" y="0"/>
                </a:lnTo>
                <a:lnTo>
                  <a:pt x="0" y="426593"/>
                </a:lnTo>
                <a:close/>
              </a:path>
            </a:pathLst>
          </a:custGeom>
          <a:solidFill>
            <a:srgbClr val="CCD4EA"/>
          </a:solidFill>
        </p:spPr>
        <p:txBody>
          <a:bodyPr wrap="square" lIns="0" tIns="0" rIns="0" bIns="0" rtlCol="0">
            <a:noAutofit/>
          </a:bodyPr>
          <a:lstStyle/>
          <a:p>
            <a:endParaRPr/>
          </a:p>
        </p:txBody>
      </p:sp>
      <p:sp>
        <p:nvSpPr>
          <p:cNvPr id="41" name="object 41"/>
          <p:cNvSpPr/>
          <p:nvPr/>
        </p:nvSpPr>
        <p:spPr>
          <a:xfrm>
            <a:off x="3505200" y="2895854"/>
            <a:ext cx="2792729" cy="426593"/>
          </a:xfrm>
          <a:custGeom>
            <a:avLst/>
            <a:gdLst/>
            <a:ahLst/>
            <a:cxnLst/>
            <a:rect l="l" t="t" r="r" b="b"/>
            <a:pathLst>
              <a:path w="2792729" h="426593">
                <a:moveTo>
                  <a:pt x="0" y="426593"/>
                </a:moveTo>
                <a:lnTo>
                  <a:pt x="2792729" y="426593"/>
                </a:lnTo>
                <a:lnTo>
                  <a:pt x="2792729" y="0"/>
                </a:lnTo>
                <a:lnTo>
                  <a:pt x="0" y="0"/>
                </a:lnTo>
                <a:lnTo>
                  <a:pt x="0" y="426593"/>
                </a:lnTo>
                <a:close/>
              </a:path>
            </a:pathLst>
          </a:custGeom>
          <a:solidFill>
            <a:srgbClr val="CCD4EA"/>
          </a:solidFill>
        </p:spPr>
        <p:txBody>
          <a:bodyPr wrap="square" lIns="0" tIns="0" rIns="0" bIns="0" rtlCol="0">
            <a:noAutofit/>
          </a:bodyPr>
          <a:lstStyle/>
          <a:p>
            <a:endParaRPr/>
          </a:p>
        </p:txBody>
      </p:sp>
      <p:sp>
        <p:nvSpPr>
          <p:cNvPr id="42" name="object 42"/>
          <p:cNvSpPr/>
          <p:nvPr/>
        </p:nvSpPr>
        <p:spPr>
          <a:xfrm>
            <a:off x="6297930" y="2895854"/>
            <a:ext cx="2541270" cy="426593"/>
          </a:xfrm>
          <a:custGeom>
            <a:avLst/>
            <a:gdLst/>
            <a:ahLst/>
            <a:cxnLst/>
            <a:rect l="l" t="t" r="r" b="b"/>
            <a:pathLst>
              <a:path w="2541270" h="426593">
                <a:moveTo>
                  <a:pt x="0" y="426593"/>
                </a:moveTo>
                <a:lnTo>
                  <a:pt x="2541270" y="426593"/>
                </a:lnTo>
                <a:lnTo>
                  <a:pt x="2541270" y="0"/>
                </a:lnTo>
                <a:lnTo>
                  <a:pt x="0" y="0"/>
                </a:lnTo>
                <a:lnTo>
                  <a:pt x="0" y="426593"/>
                </a:lnTo>
                <a:close/>
              </a:path>
            </a:pathLst>
          </a:custGeom>
          <a:solidFill>
            <a:srgbClr val="CCD4EA"/>
          </a:solidFill>
        </p:spPr>
        <p:txBody>
          <a:bodyPr wrap="square" lIns="0" tIns="0" rIns="0" bIns="0" rtlCol="0">
            <a:noAutofit/>
          </a:bodyPr>
          <a:lstStyle/>
          <a:p>
            <a:endParaRPr/>
          </a:p>
        </p:txBody>
      </p:sp>
      <p:sp>
        <p:nvSpPr>
          <p:cNvPr id="43" name="object 43"/>
          <p:cNvSpPr/>
          <p:nvPr/>
        </p:nvSpPr>
        <p:spPr>
          <a:xfrm>
            <a:off x="304800" y="3322447"/>
            <a:ext cx="762000" cy="426592"/>
          </a:xfrm>
          <a:custGeom>
            <a:avLst/>
            <a:gdLst/>
            <a:ahLst/>
            <a:cxnLst/>
            <a:rect l="l" t="t" r="r" b="b"/>
            <a:pathLst>
              <a:path w="762000" h="426592">
                <a:moveTo>
                  <a:pt x="0" y="426592"/>
                </a:moveTo>
                <a:lnTo>
                  <a:pt x="762000" y="426592"/>
                </a:lnTo>
                <a:lnTo>
                  <a:pt x="762000" y="0"/>
                </a:lnTo>
                <a:lnTo>
                  <a:pt x="0" y="0"/>
                </a:lnTo>
                <a:lnTo>
                  <a:pt x="0" y="426592"/>
                </a:lnTo>
                <a:close/>
              </a:path>
            </a:pathLst>
          </a:custGeom>
          <a:solidFill>
            <a:srgbClr val="E7EBF5"/>
          </a:solidFill>
        </p:spPr>
        <p:txBody>
          <a:bodyPr wrap="square" lIns="0" tIns="0" rIns="0" bIns="0" rtlCol="0">
            <a:noAutofit/>
          </a:bodyPr>
          <a:lstStyle/>
          <a:p>
            <a:endParaRPr/>
          </a:p>
        </p:txBody>
      </p:sp>
      <p:sp>
        <p:nvSpPr>
          <p:cNvPr id="44" name="object 44"/>
          <p:cNvSpPr/>
          <p:nvPr/>
        </p:nvSpPr>
        <p:spPr>
          <a:xfrm>
            <a:off x="1066800" y="3322447"/>
            <a:ext cx="2438400" cy="426592"/>
          </a:xfrm>
          <a:custGeom>
            <a:avLst/>
            <a:gdLst/>
            <a:ahLst/>
            <a:cxnLst/>
            <a:rect l="l" t="t" r="r" b="b"/>
            <a:pathLst>
              <a:path w="2438400" h="426592">
                <a:moveTo>
                  <a:pt x="0" y="426592"/>
                </a:moveTo>
                <a:lnTo>
                  <a:pt x="2438400" y="426592"/>
                </a:lnTo>
                <a:lnTo>
                  <a:pt x="2438400" y="0"/>
                </a:lnTo>
                <a:lnTo>
                  <a:pt x="0" y="0"/>
                </a:lnTo>
                <a:lnTo>
                  <a:pt x="0" y="426592"/>
                </a:lnTo>
                <a:close/>
              </a:path>
            </a:pathLst>
          </a:custGeom>
          <a:solidFill>
            <a:srgbClr val="E7EBF5"/>
          </a:solidFill>
        </p:spPr>
        <p:txBody>
          <a:bodyPr wrap="square" lIns="0" tIns="0" rIns="0" bIns="0" rtlCol="0">
            <a:noAutofit/>
          </a:bodyPr>
          <a:lstStyle/>
          <a:p>
            <a:endParaRPr/>
          </a:p>
        </p:txBody>
      </p:sp>
      <p:sp>
        <p:nvSpPr>
          <p:cNvPr id="45" name="object 45"/>
          <p:cNvSpPr/>
          <p:nvPr/>
        </p:nvSpPr>
        <p:spPr>
          <a:xfrm>
            <a:off x="3505200" y="3322447"/>
            <a:ext cx="2792729" cy="426592"/>
          </a:xfrm>
          <a:custGeom>
            <a:avLst/>
            <a:gdLst/>
            <a:ahLst/>
            <a:cxnLst/>
            <a:rect l="l" t="t" r="r" b="b"/>
            <a:pathLst>
              <a:path w="2792729" h="426592">
                <a:moveTo>
                  <a:pt x="0" y="426592"/>
                </a:moveTo>
                <a:lnTo>
                  <a:pt x="2792729" y="426592"/>
                </a:lnTo>
                <a:lnTo>
                  <a:pt x="2792729" y="0"/>
                </a:lnTo>
                <a:lnTo>
                  <a:pt x="0" y="0"/>
                </a:lnTo>
                <a:lnTo>
                  <a:pt x="0" y="426592"/>
                </a:lnTo>
                <a:close/>
              </a:path>
            </a:pathLst>
          </a:custGeom>
          <a:solidFill>
            <a:srgbClr val="E7EBF5"/>
          </a:solidFill>
        </p:spPr>
        <p:txBody>
          <a:bodyPr wrap="square" lIns="0" tIns="0" rIns="0" bIns="0" rtlCol="0">
            <a:noAutofit/>
          </a:bodyPr>
          <a:lstStyle/>
          <a:p>
            <a:endParaRPr/>
          </a:p>
        </p:txBody>
      </p:sp>
      <p:sp>
        <p:nvSpPr>
          <p:cNvPr id="46" name="object 46"/>
          <p:cNvSpPr/>
          <p:nvPr/>
        </p:nvSpPr>
        <p:spPr>
          <a:xfrm>
            <a:off x="6297930" y="3322447"/>
            <a:ext cx="2541270" cy="426592"/>
          </a:xfrm>
          <a:custGeom>
            <a:avLst/>
            <a:gdLst/>
            <a:ahLst/>
            <a:cxnLst/>
            <a:rect l="l" t="t" r="r" b="b"/>
            <a:pathLst>
              <a:path w="2541270" h="426592">
                <a:moveTo>
                  <a:pt x="0" y="426592"/>
                </a:moveTo>
                <a:lnTo>
                  <a:pt x="2541270" y="426592"/>
                </a:lnTo>
                <a:lnTo>
                  <a:pt x="2541270" y="0"/>
                </a:lnTo>
                <a:lnTo>
                  <a:pt x="0" y="0"/>
                </a:lnTo>
                <a:lnTo>
                  <a:pt x="0" y="426592"/>
                </a:lnTo>
                <a:close/>
              </a:path>
            </a:pathLst>
          </a:custGeom>
          <a:solidFill>
            <a:srgbClr val="E7EBF5"/>
          </a:solidFill>
        </p:spPr>
        <p:txBody>
          <a:bodyPr wrap="square" lIns="0" tIns="0" rIns="0" bIns="0" rtlCol="0">
            <a:noAutofit/>
          </a:bodyPr>
          <a:lstStyle/>
          <a:p>
            <a:endParaRPr/>
          </a:p>
        </p:txBody>
      </p:sp>
      <p:sp>
        <p:nvSpPr>
          <p:cNvPr id="47" name="object 47"/>
          <p:cNvSpPr/>
          <p:nvPr/>
        </p:nvSpPr>
        <p:spPr>
          <a:xfrm>
            <a:off x="304800" y="3749065"/>
            <a:ext cx="762000" cy="736320"/>
          </a:xfrm>
          <a:custGeom>
            <a:avLst/>
            <a:gdLst/>
            <a:ahLst/>
            <a:cxnLst/>
            <a:rect l="l" t="t" r="r" b="b"/>
            <a:pathLst>
              <a:path w="762000" h="736320">
                <a:moveTo>
                  <a:pt x="0" y="736320"/>
                </a:moveTo>
                <a:lnTo>
                  <a:pt x="762000" y="736320"/>
                </a:lnTo>
                <a:lnTo>
                  <a:pt x="762000" y="0"/>
                </a:lnTo>
                <a:lnTo>
                  <a:pt x="0" y="0"/>
                </a:lnTo>
                <a:lnTo>
                  <a:pt x="0" y="736320"/>
                </a:lnTo>
                <a:close/>
              </a:path>
            </a:pathLst>
          </a:custGeom>
          <a:solidFill>
            <a:srgbClr val="CCD4EA"/>
          </a:solidFill>
        </p:spPr>
        <p:txBody>
          <a:bodyPr wrap="square" lIns="0" tIns="0" rIns="0" bIns="0" rtlCol="0">
            <a:noAutofit/>
          </a:bodyPr>
          <a:lstStyle/>
          <a:p>
            <a:endParaRPr/>
          </a:p>
        </p:txBody>
      </p:sp>
      <p:sp>
        <p:nvSpPr>
          <p:cNvPr id="48" name="object 48"/>
          <p:cNvSpPr/>
          <p:nvPr/>
        </p:nvSpPr>
        <p:spPr>
          <a:xfrm>
            <a:off x="1066800" y="3749065"/>
            <a:ext cx="2438400" cy="736320"/>
          </a:xfrm>
          <a:custGeom>
            <a:avLst/>
            <a:gdLst/>
            <a:ahLst/>
            <a:cxnLst/>
            <a:rect l="l" t="t" r="r" b="b"/>
            <a:pathLst>
              <a:path w="2438400" h="736320">
                <a:moveTo>
                  <a:pt x="0" y="736320"/>
                </a:moveTo>
                <a:lnTo>
                  <a:pt x="2438400" y="736320"/>
                </a:lnTo>
                <a:lnTo>
                  <a:pt x="2438400" y="0"/>
                </a:lnTo>
                <a:lnTo>
                  <a:pt x="0" y="0"/>
                </a:lnTo>
                <a:lnTo>
                  <a:pt x="0" y="736320"/>
                </a:lnTo>
                <a:close/>
              </a:path>
            </a:pathLst>
          </a:custGeom>
          <a:solidFill>
            <a:srgbClr val="CCD4EA"/>
          </a:solidFill>
        </p:spPr>
        <p:txBody>
          <a:bodyPr wrap="square" lIns="0" tIns="0" rIns="0" bIns="0" rtlCol="0">
            <a:noAutofit/>
          </a:bodyPr>
          <a:lstStyle/>
          <a:p>
            <a:endParaRPr/>
          </a:p>
        </p:txBody>
      </p:sp>
      <p:sp>
        <p:nvSpPr>
          <p:cNvPr id="49" name="object 49"/>
          <p:cNvSpPr/>
          <p:nvPr/>
        </p:nvSpPr>
        <p:spPr>
          <a:xfrm>
            <a:off x="3505200" y="3749065"/>
            <a:ext cx="2792729" cy="736320"/>
          </a:xfrm>
          <a:custGeom>
            <a:avLst/>
            <a:gdLst/>
            <a:ahLst/>
            <a:cxnLst/>
            <a:rect l="l" t="t" r="r" b="b"/>
            <a:pathLst>
              <a:path w="2792729" h="736320">
                <a:moveTo>
                  <a:pt x="0" y="736320"/>
                </a:moveTo>
                <a:lnTo>
                  <a:pt x="2792729" y="736320"/>
                </a:lnTo>
                <a:lnTo>
                  <a:pt x="2792729" y="0"/>
                </a:lnTo>
                <a:lnTo>
                  <a:pt x="0" y="0"/>
                </a:lnTo>
                <a:lnTo>
                  <a:pt x="0" y="736320"/>
                </a:lnTo>
                <a:close/>
              </a:path>
            </a:pathLst>
          </a:custGeom>
          <a:solidFill>
            <a:srgbClr val="CCD4EA"/>
          </a:solidFill>
        </p:spPr>
        <p:txBody>
          <a:bodyPr wrap="square" lIns="0" tIns="0" rIns="0" bIns="0" rtlCol="0">
            <a:noAutofit/>
          </a:bodyPr>
          <a:lstStyle/>
          <a:p>
            <a:endParaRPr/>
          </a:p>
        </p:txBody>
      </p:sp>
      <p:sp>
        <p:nvSpPr>
          <p:cNvPr id="50" name="object 50"/>
          <p:cNvSpPr/>
          <p:nvPr/>
        </p:nvSpPr>
        <p:spPr>
          <a:xfrm>
            <a:off x="6297930" y="3749065"/>
            <a:ext cx="2541270" cy="736320"/>
          </a:xfrm>
          <a:custGeom>
            <a:avLst/>
            <a:gdLst/>
            <a:ahLst/>
            <a:cxnLst/>
            <a:rect l="l" t="t" r="r" b="b"/>
            <a:pathLst>
              <a:path w="2541270" h="736320">
                <a:moveTo>
                  <a:pt x="0" y="736320"/>
                </a:moveTo>
                <a:lnTo>
                  <a:pt x="2541270" y="736320"/>
                </a:lnTo>
                <a:lnTo>
                  <a:pt x="2541270" y="0"/>
                </a:lnTo>
                <a:lnTo>
                  <a:pt x="0" y="0"/>
                </a:lnTo>
                <a:lnTo>
                  <a:pt x="0" y="736320"/>
                </a:lnTo>
                <a:close/>
              </a:path>
            </a:pathLst>
          </a:custGeom>
          <a:solidFill>
            <a:srgbClr val="CCD4EA"/>
          </a:solidFill>
        </p:spPr>
        <p:txBody>
          <a:bodyPr wrap="square" lIns="0" tIns="0" rIns="0" bIns="0" rtlCol="0">
            <a:noAutofit/>
          </a:bodyPr>
          <a:lstStyle/>
          <a:p>
            <a:endParaRPr/>
          </a:p>
        </p:txBody>
      </p:sp>
      <p:sp>
        <p:nvSpPr>
          <p:cNvPr id="51" name="object 51"/>
          <p:cNvSpPr/>
          <p:nvPr/>
        </p:nvSpPr>
        <p:spPr>
          <a:xfrm>
            <a:off x="304800" y="4485436"/>
            <a:ext cx="762000" cy="666191"/>
          </a:xfrm>
          <a:custGeom>
            <a:avLst/>
            <a:gdLst/>
            <a:ahLst/>
            <a:cxnLst/>
            <a:rect l="l" t="t" r="r" b="b"/>
            <a:pathLst>
              <a:path w="762000" h="666191">
                <a:moveTo>
                  <a:pt x="0" y="666191"/>
                </a:moveTo>
                <a:lnTo>
                  <a:pt x="762000" y="666191"/>
                </a:lnTo>
                <a:lnTo>
                  <a:pt x="762000" y="0"/>
                </a:lnTo>
                <a:lnTo>
                  <a:pt x="0" y="0"/>
                </a:lnTo>
                <a:lnTo>
                  <a:pt x="0" y="666191"/>
                </a:lnTo>
                <a:close/>
              </a:path>
            </a:pathLst>
          </a:custGeom>
          <a:solidFill>
            <a:srgbClr val="E7EBF5"/>
          </a:solidFill>
        </p:spPr>
        <p:txBody>
          <a:bodyPr wrap="square" lIns="0" tIns="0" rIns="0" bIns="0" rtlCol="0">
            <a:noAutofit/>
          </a:bodyPr>
          <a:lstStyle/>
          <a:p>
            <a:endParaRPr/>
          </a:p>
        </p:txBody>
      </p:sp>
      <p:sp>
        <p:nvSpPr>
          <p:cNvPr id="52" name="object 52"/>
          <p:cNvSpPr/>
          <p:nvPr/>
        </p:nvSpPr>
        <p:spPr>
          <a:xfrm>
            <a:off x="1066800" y="4485436"/>
            <a:ext cx="2438400" cy="666191"/>
          </a:xfrm>
          <a:custGeom>
            <a:avLst/>
            <a:gdLst/>
            <a:ahLst/>
            <a:cxnLst/>
            <a:rect l="l" t="t" r="r" b="b"/>
            <a:pathLst>
              <a:path w="2438400" h="666191">
                <a:moveTo>
                  <a:pt x="0" y="666191"/>
                </a:moveTo>
                <a:lnTo>
                  <a:pt x="2438400" y="666191"/>
                </a:lnTo>
                <a:lnTo>
                  <a:pt x="2438400" y="0"/>
                </a:lnTo>
                <a:lnTo>
                  <a:pt x="0" y="0"/>
                </a:lnTo>
                <a:lnTo>
                  <a:pt x="0" y="666191"/>
                </a:lnTo>
                <a:close/>
              </a:path>
            </a:pathLst>
          </a:custGeom>
          <a:solidFill>
            <a:srgbClr val="E7EBF5"/>
          </a:solidFill>
        </p:spPr>
        <p:txBody>
          <a:bodyPr wrap="square" lIns="0" tIns="0" rIns="0" bIns="0" rtlCol="0">
            <a:noAutofit/>
          </a:bodyPr>
          <a:lstStyle/>
          <a:p>
            <a:endParaRPr/>
          </a:p>
        </p:txBody>
      </p:sp>
      <p:sp>
        <p:nvSpPr>
          <p:cNvPr id="53" name="object 53"/>
          <p:cNvSpPr/>
          <p:nvPr/>
        </p:nvSpPr>
        <p:spPr>
          <a:xfrm>
            <a:off x="3505200" y="4485436"/>
            <a:ext cx="2792729" cy="666191"/>
          </a:xfrm>
          <a:custGeom>
            <a:avLst/>
            <a:gdLst/>
            <a:ahLst/>
            <a:cxnLst/>
            <a:rect l="l" t="t" r="r" b="b"/>
            <a:pathLst>
              <a:path w="2792729" h="666191">
                <a:moveTo>
                  <a:pt x="0" y="666191"/>
                </a:moveTo>
                <a:lnTo>
                  <a:pt x="2792729" y="666191"/>
                </a:lnTo>
                <a:lnTo>
                  <a:pt x="2792729" y="0"/>
                </a:lnTo>
                <a:lnTo>
                  <a:pt x="0" y="0"/>
                </a:lnTo>
                <a:lnTo>
                  <a:pt x="0" y="666191"/>
                </a:lnTo>
                <a:close/>
              </a:path>
            </a:pathLst>
          </a:custGeom>
          <a:solidFill>
            <a:srgbClr val="E7EBF5"/>
          </a:solidFill>
        </p:spPr>
        <p:txBody>
          <a:bodyPr wrap="square" lIns="0" tIns="0" rIns="0" bIns="0" rtlCol="0">
            <a:noAutofit/>
          </a:bodyPr>
          <a:lstStyle/>
          <a:p>
            <a:endParaRPr/>
          </a:p>
        </p:txBody>
      </p:sp>
      <p:sp>
        <p:nvSpPr>
          <p:cNvPr id="54" name="object 54"/>
          <p:cNvSpPr/>
          <p:nvPr/>
        </p:nvSpPr>
        <p:spPr>
          <a:xfrm>
            <a:off x="6297930" y="4485436"/>
            <a:ext cx="2541270" cy="666191"/>
          </a:xfrm>
          <a:custGeom>
            <a:avLst/>
            <a:gdLst/>
            <a:ahLst/>
            <a:cxnLst/>
            <a:rect l="l" t="t" r="r" b="b"/>
            <a:pathLst>
              <a:path w="2541270" h="666191">
                <a:moveTo>
                  <a:pt x="0" y="666191"/>
                </a:moveTo>
                <a:lnTo>
                  <a:pt x="2541270" y="666191"/>
                </a:lnTo>
                <a:lnTo>
                  <a:pt x="2541270" y="0"/>
                </a:lnTo>
                <a:lnTo>
                  <a:pt x="0" y="0"/>
                </a:lnTo>
                <a:lnTo>
                  <a:pt x="0" y="666191"/>
                </a:lnTo>
                <a:close/>
              </a:path>
            </a:pathLst>
          </a:custGeom>
          <a:solidFill>
            <a:srgbClr val="E7EBF5"/>
          </a:solidFill>
        </p:spPr>
        <p:txBody>
          <a:bodyPr wrap="square" lIns="0" tIns="0" rIns="0" bIns="0" rtlCol="0">
            <a:noAutofit/>
          </a:bodyPr>
          <a:lstStyle/>
          <a:p>
            <a:endParaRPr/>
          </a:p>
        </p:txBody>
      </p:sp>
      <p:sp>
        <p:nvSpPr>
          <p:cNvPr id="55" name="object 55"/>
          <p:cNvSpPr/>
          <p:nvPr/>
        </p:nvSpPr>
        <p:spPr>
          <a:xfrm>
            <a:off x="304800" y="5151628"/>
            <a:ext cx="762000" cy="426593"/>
          </a:xfrm>
          <a:custGeom>
            <a:avLst/>
            <a:gdLst/>
            <a:ahLst/>
            <a:cxnLst/>
            <a:rect l="l" t="t" r="r" b="b"/>
            <a:pathLst>
              <a:path w="762000" h="426593">
                <a:moveTo>
                  <a:pt x="0" y="426593"/>
                </a:moveTo>
                <a:lnTo>
                  <a:pt x="762000" y="426593"/>
                </a:lnTo>
                <a:lnTo>
                  <a:pt x="762000" y="0"/>
                </a:lnTo>
                <a:lnTo>
                  <a:pt x="0" y="0"/>
                </a:lnTo>
                <a:lnTo>
                  <a:pt x="0" y="426593"/>
                </a:lnTo>
                <a:close/>
              </a:path>
            </a:pathLst>
          </a:custGeom>
          <a:solidFill>
            <a:srgbClr val="CCD4EA"/>
          </a:solidFill>
        </p:spPr>
        <p:txBody>
          <a:bodyPr wrap="square" lIns="0" tIns="0" rIns="0" bIns="0" rtlCol="0">
            <a:noAutofit/>
          </a:bodyPr>
          <a:lstStyle/>
          <a:p>
            <a:endParaRPr/>
          </a:p>
        </p:txBody>
      </p:sp>
      <p:sp>
        <p:nvSpPr>
          <p:cNvPr id="56" name="object 56"/>
          <p:cNvSpPr/>
          <p:nvPr/>
        </p:nvSpPr>
        <p:spPr>
          <a:xfrm>
            <a:off x="1066800" y="5151628"/>
            <a:ext cx="2438400" cy="426593"/>
          </a:xfrm>
          <a:custGeom>
            <a:avLst/>
            <a:gdLst/>
            <a:ahLst/>
            <a:cxnLst/>
            <a:rect l="l" t="t" r="r" b="b"/>
            <a:pathLst>
              <a:path w="2438400" h="426593">
                <a:moveTo>
                  <a:pt x="0" y="426593"/>
                </a:moveTo>
                <a:lnTo>
                  <a:pt x="2438400" y="426593"/>
                </a:lnTo>
                <a:lnTo>
                  <a:pt x="2438400" y="0"/>
                </a:lnTo>
                <a:lnTo>
                  <a:pt x="0" y="0"/>
                </a:lnTo>
                <a:lnTo>
                  <a:pt x="0" y="426593"/>
                </a:lnTo>
                <a:close/>
              </a:path>
            </a:pathLst>
          </a:custGeom>
          <a:solidFill>
            <a:srgbClr val="CCD4EA"/>
          </a:solidFill>
        </p:spPr>
        <p:txBody>
          <a:bodyPr wrap="square" lIns="0" tIns="0" rIns="0" bIns="0" rtlCol="0">
            <a:noAutofit/>
          </a:bodyPr>
          <a:lstStyle/>
          <a:p>
            <a:endParaRPr/>
          </a:p>
        </p:txBody>
      </p:sp>
      <p:sp>
        <p:nvSpPr>
          <p:cNvPr id="57" name="object 57"/>
          <p:cNvSpPr/>
          <p:nvPr/>
        </p:nvSpPr>
        <p:spPr>
          <a:xfrm>
            <a:off x="3505200" y="5151628"/>
            <a:ext cx="2792729" cy="426593"/>
          </a:xfrm>
          <a:custGeom>
            <a:avLst/>
            <a:gdLst/>
            <a:ahLst/>
            <a:cxnLst/>
            <a:rect l="l" t="t" r="r" b="b"/>
            <a:pathLst>
              <a:path w="2792729" h="426593">
                <a:moveTo>
                  <a:pt x="0" y="426593"/>
                </a:moveTo>
                <a:lnTo>
                  <a:pt x="2792729" y="426593"/>
                </a:lnTo>
                <a:lnTo>
                  <a:pt x="2792729" y="0"/>
                </a:lnTo>
                <a:lnTo>
                  <a:pt x="0" y="0"/>
                </a:lnTo>
                <a:lnTo>
                  <a:pt x="0" y="426593"/>
                </a:lnTo>
                <a:close/>
              </a:path>
            </a:pathLst>
          </a:custGeom>
          <a:solidFill>
            <a:srgbClr val="CCD4EA"/>
          </a:solidFill>
        </p:spPr>
        <p:txBody>
          <a:bodyPr wrap="square" lIns="0" tIns="0" rIns="0" bIns="0" rtlCol="0">
            <a:noAutofit/>
          </a:bodyPr>
          <a:lstStyle/>
          <a:p>
            <a:endParaRPr/>
          </a:p>
        </p:txBody>
      </p:sp>
      <p:sp>
        <p:nvSpPr>
          <p:cNvPr id="58" name="object 58"/>
          <p:cNvSpPr/>
          <p:nvPr/>
        </p:nvSpPr>
        <p:spPr>
          <a:xfrm>
            <a:off x="6297930" y="5151628"/>
            <a:ext cx="2541270" cy="426593"/>
          </a:xfrm>
          <a:custGeom>
            <a:avLst/>
            <a:gdLst/>
            <a:ahLst/>
            <a:cxnLst/>
            <a:rect l="l" t="t" r="r" b="b"/>
            <a:pathLst>
              <a:path w="2541270" h="426593">
                <a:moveTo>
                  <a:pt x="0" y="426593"/>
                </a:moveTo>
                <a:lnTo>
                  <a:pt x="2541270" y="426593"/>
                </a:lnTo>
                <a:lnTo>
                  <a:pt x="2541270" y="0"/>
                </a:lnTo>
                <a:lnTo>
                  <a:pt x="0" y="0"/>
                </a:lnTo>
                <a:lnTo>
                  <a:pt x="0" y="426593"/>
                </a:lnTo>
                <a:close/>
              </a:path>
            </a:pathLst>
          </a:custGeom>
          <a:solidFill>
            <a:srgbClr val="CCD4EA"/>
          </a:solidFill>
        </p:spPr>
        <p:txBody>
          <a:bodyPr wrap="square" lIns="0" tIns="0" rIns="0" bIns="0" rtlCol="0">
            <a:noAutofit/>
          </a:bodyPr>
          <a:lstStyle/>
          <a:p>
            <a:endParaRPr/>
          </a:p>
        </p:txBody>
      </p:sp>
      <p:sp>
        <p:nvSpPr>
          <p:cNvPr id="59" name="object 59"/>
          <p:cNvSpPr/>
          <p:nvPr/>
        </p:nvSpPr>
        <p:spPr>
          <a:xfrm>
            <a:off x="304800" y="5578208"/>
            <a:ext cx="762000" cy="426593"/>
          </a:xfrm>
          <a:custGeom>
            <a:avLst/>
            <a:gdLst/>
            <a:ahLst/>
            <a:cxnLst/>
            <a:rect l="l" t="t" r="r" b="b"/>
            <a:pathLst>
              <a:path w="762000" h="426592">
                <a:moveTo>
                  <a:pt x="0" y="426593"/>
                </a:moveTo>
                <a:lnTo>
                  <a:pt x="762000" y="426593"/>
                </a:lnTo>
                <a:lnTo>
                  <a:pt x="762000" y="0"/>
                </a:lnTo>
                <a:lnTo>
                  <a:pt x="0" y="0"/>
                </a:lnTo>
                <a:lnTo>
                  <a:pt x="0" y="426593"/>
                </a:lnTo>
                <a:close/>
              </a:path>
            </a:pathLst>
          </a:custGeom>
          <a:solidFill>
            <a:srgbClr val="E7EBF5"/>
          </a:solidFill>
        </p:spPr>
        <p:txBody>
          <a:bodyPr wrap="square" lIns="0" tIns="0" rIns="0" bIns="0" rtlCol="0">
            <a:noAutofit/>
          </a:bodyPr>
          <a:lstStyle/>
          <a:p>
            <a:endParaRPr/>
          </a:p>
        </p:txBody>
      </p:sp>
      <p:sp>
        <p:nvSpPr>
          <p:cNvPr id="60" name="object 60"/>
          <p:cNvSpPr/>
          <p:nvPr/>
        </p:nvSpPr>
        <p:spPr>
          <a:xfrm>
            <a:off x="1066800" y="5578208"/>
            <a:ext cx="2438400" cy="426593"/>
          </a:xfrm>
          <a:custGeom>
            <a:avLst/>
            <a:gdLst/>
            <a:ahLst/>
            <a:cxnLst/>
            <a:rect l="l" t="t" r="r" b="b"/>
            <a:pathLst>
              <a:path w="2438400" h="426592">
                <a:moveTo>
                  <a:pt x="0" y="426593"/>
                </a:moveTo>
                <a:lnTo>
                  <a:pt x="2438400" y="426593"/>
                </a:lnTo>
                <a:lnTo>
                  <a:pt x="2438400" y="0"/>
                </a:lnTo>
                <a:lnTo>
                  <a:pt x="0" y="0"/>
                </a:lnTo>
                <a:lnTo>
                  <a:pt x="0" y="426593"/>
                </a:lnTo>
                <a:close/>
              </a:path>
            </a:pathLst>
          </a:custGeom>
          <a:solidFill>
            <a:srgbClr val="E7EBF5"/>
          </a:solidFill>
        </p:spPr>
        <p:txBody>
          <a:bodyPr wrap="square" lIns="0" tIns="0" rIns="0" bIns="0" rtlCol="0">
            <a:noAutofit/>
          </a:bodyPr>
          <a:lstStyle/>
          <a:p>
            <a:endParaRPr/>
          </a:p>
        </p:txBody>
      </p:sp>
      <p:sp>
        <p:nvSpPr>
          <p:cNvPr id="61" name="object 61"/>
          <p:cNvSpPr/>
          <p:nvPr/>
        </p:nvSpPr>
        <p:spPr>
          <a:xfrm>
            <a:off x="3505200" y="5578208"/>
            <a:ext cx="2792729" cy="426593"/>
          </a:xfrm>
          <a:custGeom>
            <a:avLst/>
            <a:gdLst/>
            <a:ahLst/>
            <a:cxnLst/>
            <a:rect l="l" t="t" r="r" b="b"/>
            <a:pathLst>
              <a:path w="2792729" h="426592">
                <a:moveTo>
                  <a:pt x="0" y="426593"/>
                </a:moveTo>
                <a:lnTo>
                  <a:pt x="2792729" y="426593"/>
                </a:lnTo>
                <a:lnTo>
                  <a:pt x="2792729" y="0"/>
                </a:lnTo>
                <a:lnTo>
                  <a:pt x="0" y="0"/>
                </a:lnTo>
                <a:lnTo>
                  <a:pt x="0" y="426593"/>
                </a:lnTo>
                <a:close/>
              </a:path>
            </a:pathLst>
          </a:custGeom>
          <a:solidFill>
            <a:srgbClr val="E7EBF5"/>
          </a:solidFill>
        </p:spPr>
        <p:txBody>
          <a:bodyPr wrap="square" lIns="0" tIns="0" rIns="0" bIns="0" rtlCol="0">
            <a:noAutofit/>
          </a:bodyPr>
          <a:lstStyle/>
          <a:p>
            <a:endParaRPr/>
          </a:p>
        </p:txBody>
      </p:sp>
      <p:sp>
        <p:nvSpPr>
          <p:cNvPr id="62" name="object 62"/>
          <p:cNvSpPr/>
          <p:nvPr/>
        </p:nvSpPr>
        <p:spPr>
          <a:xfrm>
            <a:off x="6297930" y="5578208"/>
            <a:ext cx="2541270" cy="426593"/>
          </a:xfrm>
          <a:custGeom>
            <a:avLst/>
            <a:gdLst/>
            <a:ahLst/>
            <a:cxnLst/>
            <a:rect l="l" t="t" r="r" b="b"/>
            <a:pathLst>
              <a:path w="2541270" h="426592">
                <a:moveTo>
                  <a:pt x="0" y="426593"/>
                </a:moveTo>
                <a:lnTo>
                  <a:pt x="2541270" y="426593"/>
                </a:lnTo>
                <a:lnTo>
                  <a:pt x="2541270" y="0"/>
                </a:lnTo>
                <a:lnTo>
                  <a:pt x="0" y="0"/>
                </a:lnTo>
                <a:lnTo>
                  <a:pt x="0" y="426593"/>
                </a:lnTo>
                <a:close/>
              </a:path>
            </a:pathLst>
          </a:custGeom>
          <a:solidFill>
            <a:srgbClr val="E7EBF5"/>
          </a:solidFill>
        </p:spPr>
        <p:txBody>
          <a:bodyPr wrap="square" lIns="0" tIns="0" rIns="0" bIns="0" rtlCol="0">
            <a:noAutofit/>
          </a:bodyPr>
          <a:lstStyle/>
          <a:p>
            <a:endParaRPr/>
          </a:p>
        </p:txBody>
      </p:sp>
      <p:sp>
        <p:nvSpPr>
          <p:cNvPr id="63" name="object 63"/>
          <p:cNvSpPr/>
          <p:nvPr/>
        </p:nvSpPr>
        <p:spPr>
          <a:xfrm>
            <a:off x="304800" y="6004814"/>
            <a:ext cx="762000" cy="426593"/>
          </a:xfrm>
          <a:custGeom>
            <a:avLst/>
            <a:gdLst/>
            <a:ahLst/>
            <a:cxnLst/>
            <a:rect l="l" t="t" r="r" b="b"/>
            <a:pathLst>
              <a:path w="762000" h="426592">
                <a:moveTo>
                  <a:pt x="0" y="426593"/>
                </a:moveTo>
                <a:lnTo>
                  <a:pt x="762000" y="426593"/>
                </a:lnTo>
                <a:lnTo>
                  <a:pt x="762000" y="0"/>
                </a:lnTo>
                <a:lnTo>
                  <a:pt x="0" y="0"/>
                </a:lnTo>
                <a:lnTo>
                  <a:pt x="0" y="426593"/>
                </a:lnTo>
                <a:close/>
              </a:path>
            </a:pathLst>
          </a:custGeom>
          <a:solidFill>
            <a:srgbClr val="CCD4EA"/>
          </a:solidFill>
        </p:spPr>
        <p:txBody>
          <a:bodyPr wrap="square" lIns="0" tIns="0" rIns="0" bIns="0" rtlCol="0">
            <a:noAutofit/>
          </a:bodyPr>
          <a:lstStyle/>
          <a:p>
            <a:endParaRPr/>
          </a:p>
        </p:txBody>
      </p:sp>
      <p:sp>
        <p:nvSpPr>
          <p:cNvPr id="64" name="object 64"/>
          <p:cNvSpPr/>
          <p:nvPr/>
        </p:nvSpPr>
        <p:spPr>
          <a:xfrm>
            <a:off x="1066800" y="6004814"/>
            <a:ext cx="2438400" cy="426593"/>
          </a:xfrm>
          <a:custGeom>
            <a:avLst/>
            <a:gdLst/>
            <a:ahLst/>
            <a:cxnLst/>
            <a:rect l="l" t="t" r="r" b="b"/>
            <a:pathLst>
              <a:path w="2438400" h="426592">
                <a:moveTo>
                  <a:pt x="0" y="426593"/>
                </a:moveTo>
                <a:lnTo>
                  <a:pt x="2438400" y="426593"/>
                </a:lnTo>
                <a:lnTo>
                  <a:pt x="2438400" y="0"/>
                </a:lnTo>
                <a:lnTo>
                  <a:pt x="0" y="0"/>
                </a:lnTo>
                <a:lnTo>
                  <a:pt x="0" y="426593"/>
                </a:lnTo>
                <a:close/>
              </a:path>
            </a:pathLst>
          </a:custGeom>
          <a:solidFill>
            <a:srgbClr val="CCD4EA"/>
          </a:solidFill>
        </p:spPr>
        <p:txBody>
          <a:bodyPr wrap="square" lIns="0" tIns="0" rIns="0" bIns="0" rtlCol="0">
            <a:noAutofit/>
          </a:bodyPr>
          <a:lstStyle/>
          <a:p>
            <a:endParaRPr/>
          </a:p>
        </p:txBody>
      </p:sp>
      <p:sp>
        <p:nvSpPr>
          <p:cNvPr id="65" name="object 65"/>
          <p:cNvSpPr/>
          <p:nvPr/>
        </p:nvSpPr>
        <p:spPr>
          <a:xfrm>
            <a:off x="3505200" y="6004814"/>
            <a:ext cx="2792729" cy="426593"/>
          </a:xfrm>
          <a:custGeom>
            <a:avLst/>
            <a:gdLst/>
            <a:ahLst/>
            <a:cxnLst/>
            <a:rect l="l" t="t" r="r" b="b"/>
            <a:pathLst>
              <a:path w="2792729" h="426592">
                <a:moveTo>
                  <a:pt x="0" y="426593"/>
                </a:moveTo>
                <a:lnTo>
                  <a:pt x="2792729" y="426593"/>
                </a:lnTo>
                <a:lnTo>
                  <a:pt x="2792729" y="0"/>
                </a:lnTo>
                <a:lnTo>
                  <a:pt x="0" y="0"/>
                </a:lnTo>
                <a:lnTo>
                  <a:pt x="0" y="426593"/>
                </a:lnTo>
                <a:close/>
              </a:path>
            </a:pathLst>
          </a:custGeom>
          <a:solidFill>
            <a:srgbClr val="CCD4EA"/>
          </a:solidFill>
        </p:spPr>
        <p:txBody>
          <a:bodyPr wrap="square" lIns="0" tIns="0" rIns="0" bIns="0" rtlCol="0">
            <a:noAutofit/>
          </a:bodyPr>
          <a:lstStyle/>
          <a:p>
            <a:endParaRPr/>
          </a:p>
        </p:txBody>
      </p:sp>
      <p:sp>
        <p:nvSpPr>
          <p:cNvPr id="66" name="object 66"/>
          <p:cNvSpPr/>
          <p:nvPr/>
        </p:nvSpPr>
        <p:spPr>
          <a:xfrm>
            <a:off x="6297930" y="6004814"/>
            <a:ext cx="2541270" cy="426593"/>
          </a:xfrm>
          <a:custGeom>
            <a:avLst/>
            <a:gdLst/>
            <a:ahLst/>
            <a:cxnLst/>
            <a:rect l="l" t="t" r="r" b="b"/>
            <a:pathLst>
              <a:path w="2541270" h="426592">
                <a:moveTo>
                  <a:pt x="0" y="426593"/>
                </a:moveTo>
                <a:lnTo>
                  <a:pt x="2541270" y="426593"/>
                </a:lnTo>
                <a:lnTo>
                  <a:pt x="2541270" y="0"/>
                </a:lnTo>
                <a:lnTo>
                  <a:pt x="0" y="0"/>
                </a:lnTo>
                <a:lnTo>
                  <a:pt x="0" y="426593"/>
                </a:lnTo>
                <a:close/>
              </a:path>
            </a:pathLst>
          </a:custGeom>
          <a:solidFill>
            <a:srgbClr val="CCD4EA"/>
          </a:solidFill>
        </p:spPr>
        <p:txBody>
          <a:bodyPr wrap="square" lIns="0" tIns="0" rIns="0" bIns="0" rtlCol="0">
            <a:noAutofit/>
          </a:bodyPr>
          <a:lstStyle/>
          <a:p>
            <a:endParaRPr/>
          </a:p>
        </p:txBody>
      </p:sp>
      <p:sp>
        <p:nvSpPr>
          <p:cNvPr id="67" name="object 67"/>
          <p:cNvSpPr/>
          <p:nvPr/>
        </p:nvSpPr>
        <p:spPr>
          <a:xfrm>
            <a:off x="304800" y="6431406"/>
            <a:ext cx="762000" cy="426591"/>
          </a:xfrm>
          <a:custGeom>
            <a:avLst/>
            <a:gdLst/>
            <a:ahLst/>
            <a:cxnLst/>
            <a:rect l="l" t="t" r="r" b="b"/>
            <a:pathLst>
              <a:path w="762000" h="426591">
                <a:moveTo>
                  <a:pt x="762000" y="426591"/>
                </a:moveTo>
                <a:lnTo>
                  <a:pt x="762000" y="0"/>
                </a:lnTo>
                <a:lnTo>
                  <a:pt x="0" y="0"/>
                </a:lnTo>
                <a:lnTo>
                  <a:pt x="0" y="426591"/>
                </a:lnTo>
                <a:lnTo>
                  <a:pt x="762000" y="426591"/>
                </a:lnTo>
                <a:close/>
              </a:path>
            </a:pathLst>
          </a:custGeom>
          <a:solidFill>
            <a:srgbClr val="E7EBF5"/>
          </a:solidFill>
        </p:spPr>
        <p:txBody>
          <a:bodyPr wrap="square" lIns="0" tIns="0" rIns="0" bIns="0" rtlCol="0">
            <a:noAutofit/>
          </a:bodyPr>
          <a:lstStyle/>
          <a:p>
            <a:endParaRPr/>
          </a:p>
        </p:txBody>
      </p:sp>
      <p:sp>
        <p:nvSpPr>
          <p:cNvPr id="68" name="object 68"/>
          <p:cNvSpPr/>
          <p:nvPr/>
        </p:nvSpPr>
        <p:spPr>
          <a:xfrm>
            <a:off x="1066800" y="6431406"/>
            <a:ext cx="2438400" cy="426591"/>
          </a:xfrm>
          <a:custGeom>
            <a:avLst/>
            <a:gdLst/>
            <a:ahLst/>
            <a:cxnLst/>
            <a:rect l="l" t="t" r="r" b="b"/>
            <a:pathLst>
              <a:path w="2438400" h="426591">
                <a:moveTo>
                  <a:pt x="2438400" y="426591"/>
                </a:moveTo>
                <a:lnTo>
                  <a:pt x="2438400" y="0"/>
                </a:lnTo>
                <a:lnTo>
                  <a:pt x="0" y="0"/>
                </a:lnTo>
                <a:lnTo>
                  <a:pt x="0" y="426591"/>
                </a:lnTo>
                <a:lnTo>
                  <a:pt x="2438400" y="426591"/>
                </a:lnTo>
                <a:close/>
              </a:path>
            </a:pathLst>
          </a:custGeom>
          <a:solidFill>
            <a:srgbClr val="E7EBF5"/>
          </a:solidFill>
        </p:spPr>
        <p:txBody>
          <a:bodyPr wrap="square" lIns="0" tIns="0" rIns="0" bIns="0" rtlCol="0">
            <a:noAutofit/>
          </a:bodyPr>
          <a:lstStyle/>
          <a:p>
            <a:endParaRPr/>
          </a:p>
        </p:txBody>
      </p:sp>
      <p:sp>
        <p:nvSpPr>
          <p:cNvPr id="69" name="object 69"/>
          <p:cNvSpPr/>
          <p:nvPr/>
        </p:nvSpPr>
        <p:spPr>
          <a:xfrm>
            <a:off x="3505200" y="6431406"/>
            <a:ext cx="2792729" cy="426591"/>
          </a:xfrm>
          <a:custGeom>
            <a:avLst/>
            <a:gdLst/>
            <a:ahLst/>
            <a:cxnLst/>
            <a:rect l="l" t="t" r="r" b="b"/>
            <a:pathLst>
              <a:path w="2792729" h="426591">
                <a:moveTo>
                  <a:pt x="2792729" y="426591"/>
                </a:moveTo>
                <a:lnTo>
                  <a:pt x="2792729" y="0"/>
                </a:lnTo>
                <a:lnTo>
                  <a:pt x="0" y="0"/>
                </a:lnTo>
                <a:lnTo>
                  <a:pt x="0" y="426591"/>
                </a:lnTo>
                <a:lnTo>
                  <a:pt x="2792729" y="426591"/>
                </a:lnTo>
                <a:close/>
              </a:path>
            </a:pathLst>
          </a:custGeom>
          <a:solidFill>
            <a:srgbClr val="E7EBF5"/>
          </a:solidFill>
        </p:spPr>
        <p:txBody>
          <a:bodyPr wrap="square" lIns="0" tIns="0" rIns="0" bIns="0" rtlCol="0">
            <a:noAutofit/>
          </a:bodyPr>
          <a:lstStyle/>
          <a:p>
            <a:endParaRPr/>
          </a:p>
        </p:txBody>
      </p:sp>
      <p:sp>
        <p:nvSpPr>
          <p:cNvPr id="70" name="object 70"/>
          <p:cNvSpPr/>
          <p:nvPr/>
        </p:nvSpPr>
        <p:spPr>
          <a:xfrm>
            <a:off x="6297930" y="6431406"/>
            <a:ext cx="2541270" cy="426591"/>
          </a:xfrm>
          <a:custGeom>
            <a:avLst/>
            <a:gdLst/>
            <a:ahLst/>
            <a:cxnLst/>
            <a:rect l="l" t="t" r="r" b="b"/>
            <a:pathLst>
              <a:path w="2541270" h="426591">
                <a:moveTo>
                  <a:pt x="2541270" y="426591"/>
                </a:moveTo>
                <a:lnTo>
                  <a:pt x="2541270" y="0"/>
                </a:lnTo>
                <a:lnTo>
                  <a:pt x="0" y="0"/>
                </a:lnTo>
                <a:lnTo>
                  <a:pt x="0" y="426591"/>
                </a:lnTo>
                <a:lnTo>
                  <a:pt x="2541270" y="426591"/>
                </a:lnTo>
                <a:close/>
              </a:path>
            </a:pathLst>
          </a:custGeom>
          <a:solidFill>
            <a:srgbClr val="E7EBF5"/>
          </a:solidFill>
        </p:spPr>
        <p:txBody>
          <a:bodyPr wrap="square" lIns="0" tIns="0" rIns="0" bIns="0" rtlCol="0">
            <a:noAutofit/>
          </a:bodyPr>
          <a:lstStyle/>
          <a:p>
            <a:endParaRPr/>
          </a:p>
        </p:txBody>
      </p:sp>
      <p:sp>
        <p:nvSpPr>
          <p:cNvPr id="71" name="object 71"/>
          <p:cNvSpPr/>
          <p:nvPr/>
        </p:nvSpPr>
        <p:spPr>
          <a:xfrm>
            <a:off x="298450" y="1803146"/>
            <a:ext cx="8547100" cy="0"/>
          </a:xfrm>
          <a:custGeom>
            <a:avLst/>
            <a:gdLst/>
            <a:ahLst/>
            <a:cxnLst/>
            <a:rect l="l" t="t" r="r" b="b"/>
            <a:pathLst>
              <a:path w="8547100">
                <a:moveTo>
                  <a:pt x="0" y="0"/>
                </a:moveTo>
                <a:lnTo>
                  <a:pt x="8547100" y="0"/>
                </a:lnTo>
              </a:path>
            </a:pathLst>
          </a:custGeom>
          <a:ln w="38100">
            <a:solidFill>
              <a:srgbClr val="FFFFFF"/>
            </a:solidFill>
          </a:ln>
        </p:spPr>
        <p:txBody>
          <a:bodyPr wrap="square" lIns="0" tIns="0" rIns="0" bIns="0" rtlCol="0">
            <a:noAutofit/>
          </a:bodyPr>
          <a:lstStyle/>
          <a:p>
            <a:endParaRPr/>
          </a:p>
        </p:txBody>
      </p:sp>
      <p:sp>
        <p:nvSpPr>
          <p:cNvPr id="21" name="object 21"/>
          <p:cNvSpPr txBox="1"/>
          <p:nvPr/>
        </p:nvSpPr>
        <p:spPr>
          <a:xfrm>
            <a:off x="819708" y="693547"/>
            <a:ext cx="1812168" cy="380491"/>
          </a:xfrm>
          <a:prstGeom prst="rect">
            <a:avLst/>
          </a:prstGeom>
        </p:spPr>
        <p:txBody>
          <a:bodyPr wrap="square" lIns="0" tIns="18383" rIns="0" bIns="0" rtlCol="0">
            <a:noAutofit/>
          </a:bodyPr>
          <a:lstStyle/>
          <a:p>
            <a:pPr marL="12700">
              <a:lnSpc>
                <a:spcPts val="2895"/>
              </a:lnSpc>
            </a:pPr>
            <a:r>
              <a:rPr sz="2800" spc="0" dirty="0" smtClean="0">
                <a:solidFill>
                  <a:srgbClr val="04607A"/>
                </a:solidFill>
                <a:latin typeface="Calibri"/>
                <a:cs typeface="Calibri"/>
              </a:rPr>
              <a:t>Comparison</a:t>
            </a:r>
            <a:endParaRPr sz="2800">
              <a:latin typeface="Calibri"/>
              <a:cs typeface="Calibri"/>
            </a:endParaRPr>
          </a:p>
        </p:txBody>
      </p:sp>
      <p:sp>
        <p:nvSpPr>
          <p:cNvPr id="20" name="object 20"/>
          <p:cNvSpPr txBox="1"/>
          <p:nvPr/>
        </p:nvSpPr>
        <p:spPr>
          <a:xfrm>
            <a:off x="2637424" y="693547"/>
            <a:ext cx="1350073" cy="380491"/>
          </a:xfrm>
          <a:prstGeom prst="rect">
            <a:avLst/>
          </a:prstGeom>
        </p:spPr>
        <p:txBody>
          <a:bodyPr wrap="square" lIns="0" tIns="18383" rIns="0" bIns="0" rtlCol="0">
            <a:noAutofit/>
          </a:bodyPr>
          <a:lstStyle/>
          <a:p>
            <a:pPr marL="12700">
              <a:lnSpc>
                <a:spcPts val="2895"/>
              </a:lnSpc>
            </a:pPr>
            <a:r>
              <a:rPr sz="2800" spc="-4" dirty="0" smtClean="0">
                <a:solidFill>
                  <a:srgbClr val="04607A"/>
                </a:solidFill>
                <a:latin typeface="Calibri"/>
                <a:cs typeface="Calibri"/>
              </a:rPr>
              <a:t>between</a:t>
            </a:r>
            <a:endParaRPr sz="2800">
              <a:latin typeface="Calibri"/>
              <a:cs typeface="Calibri"/>
            </a:endParaRPr>
          </a:p>
        </p:txBody>
      </p:sp>
      <p:sp>
        <p:nvSpPr>
          <p:cNvPr id="19" name="object 19"/>
          <p:cNvSpPr txBox="1"/>
          <p:nvPr/>
        </p:nvSpPr>
        <p:spPr>
          <a:xfrm>
            <a:off x="3989259" y="693547"/>
            <a:ext cx="1394479" cy="380491"/>
          </a:xfrm>
          <a:prstGeom prst="rect">
            <a:avLst/>
          </a:prstGeom>
        </p:spPr>
        <p:txBody>
          <a:bodyPr wrap="square" lIns="0" tIns="18383" rIns="0" bIns="0" rtlCol="0">
            <a:noAutofit/>
          </a:bodyPr>
          <a:lstStyle/>
          <a:p>
            <a:pPr marL="12700">
              <a:lnSpc>
                <a:spcPts val="2895"/>
              </a:lnSpc>
            </a:pPr>
            <a:r>
              <a:rPr sz="2800" spc="-5" dirty="0" smtClean="0">
                <a:solidFill>
                  <a:srgbClr val="04607A"/>
                </a:solidFill>
                <a:latin typeface="Calibri"/>
                <a:cs typeface="Calibri"/>
              </a:rPr>
              <a:t>Fire-tube</a:t>
            </a:r>
            <a:endParaRPr sz="2800">
              <a:latin typeface="Calibri"/>
              <a:cs typeface="Calibri"/>
            </a:endParaRPr>
          </a:p>
        </p:txBody>
      </p:sp>
      <p:sp>
        <p:nvSpPr>
          <p:cNvPr id="18" name="object 18"/>
          <p:cNvSpPr txBox="1"/>
          <p:nvPr/>
        </p:nvSpPr>
        <p:spPr>
          <a:xfrm>
            <a:off x="5390098" y="693547"/>
            <a:ext cx="320882" cy="380491"/>
          </a:xfrm>
          <a:prstGeom prst="rect">
            <a:avLst/>
          </a:prstGeom>
        </p:spPr>
        <p:txBody>
          <a:bodyPr wrap="square" lIns="0" tIns="18383" rIns="0" bIns="0" rtlCol="0">
            <a:noAutofit/>
          </a:bodyPr>
          <a:lstStyle/>
          <a:p>
            <a:pPr marL="12700">
              <a:lnSpc>
                <a:spcPts val="2895"/>
              </a:lnSpc>
            </a:pPr>
            <a:r>
              <a:rPr sz="2800" dirty="0" smtClean="0">
                <a:solidFill>
                  <a:srgbClr val="04607A"/>
                </a:solidFill>
                <a:latin typeface="Calibri"/>
                <a:cs typeface="Calibri"/>
              </a:rPr>
              <a:t>&amp;</a:t>
            </a:r>
            <a:endParaRPr sz="2800">
              <a:latin typeface="Calibri"/>
              <a:cs typeface="Calibri"/>
            </a:endParaRPr>
          </a:p>
        </p:txBody>
      </p:sp>
      <p:sp>
        <p:nvSpPr>
          <p:cNvPr id="17" name="object 17"/>
          <p:cNvSpPr txBox="1"/>
          <p:nvPr/>
        </p:nvSpPr>
        <p:spPr>
          <a:xfrm>
            <a:off x="5712522" y="693547"/>
            <a:ext cx="1689246" cy="380491"/>
          </a:xfrm>
          <a:prstGeom prst="rect">
            <a:avLst/>
          </a:prstGeom>
        </p:spPr>
        <p:txBody>
          <a:bodyPr wrap="square" lIns="0" tIns="18383" rIns="0" bIns="0" rtlCol="0">
            <a:noAutofit/>
          </a:bodyPr>
          <a:lstStyle/>
          <a:p>
            <a:pPr marL="12700">
              <a:lnSpc>
                <a:spcPts val="2895"/>
              </a:lnSpc>
            </a:pPr>
            <a:r>
              <a:rPr sz="2800" spc="-7" dirty="0" smtClean="0">
                <a:solidFill>
                  <a:srgbClr val="04607A"/>
                </a:solidFill>
                <a:latin typeface="Calibri"/>
                <a:cs typeface="Calibri"/>
              </a:rPr>
              <a:t>water-tube</a:t>
            </a:r>
            <a:endParaRPr sz="2800">
              <a:latin typeface="Calibri"/>
              <a:cs typeface="Calibri"/>
            </a:endParaRPr>
          </a:p>
        </p:txBody>
      </p:sp>
      <p:sp>
        <p:nvSpPr>
          <p:cNvPr id="16" name="object 16"/>
          <p:cNvSpPr txBox="1"/>
          <p:nvPr/>
        </p:nvSpPr>
        <p:spPr>
          <a:xfrm>
            <a:off x="7406708" y="693547"/>
            <a:ext cx="1046684" cy="380491"/>
          </a:xfrm>
          <a:prstGeom prst="rect">
            <a:avLst/>
          </a:prstGeom>
        </p:spPr>
        <p:txBody>
          <a:bodyPr wrap="square" lIns="0" tIns="18383" rIns="0" bIns="0" rtlCol="0">
            <a:noAutofit/>
          </a:bodyPr>
          <a:lstStyle/>
          <a:p>
            <a:pPr marL="12700">
              <a:lnSpc>
                <a:spcPts val="2895"/>
              </a:lnSpc>
            </a:pPr>
            <a:r>
              <a:rPr sz="2800" spc="-9" dirty="0" smtClean="0">
                <a:solidFill>
                  <a:srgbClr val="04607A"/>
                </a:solidFill>
                <a:latin typeface="Calibri"/>
                <a:cs typeface="Calibri"/>
              </a:rPr>
              <a:t>boilers</a:t>
            </a:r>
            <a:endParaRPr sz="2800">
              <a:latin typeface="Calibri"/>
              <a:cs typeface="Calibri"/>
            </a:endParaRPr>
          </a:p>
        </p:txBody>
      </p:sp>
      <p:sp>
        <p:nvSpPr>
          <p:cNvPr id="15" name="object 15"/>
          <p:cNvSpPr txBox="1"/>
          <p:nvPr/>
        </p:nvSpPr>
        <p:spPr>
          <a:xfrm>
            <a:off x="383540" y="6507510"/>
            <a:ext cx="312846" cy="254000"/>
          </a:xfrm>
          <a:prstGeom prst="rect">
            <a:avLst/>
          </a:prstGeom>
        </p:spPr>
        <p:txBody>
          <a:bodyPr wrap="square" lIns="0" tIns="12065" rIns="0" bIns="0" rtlCol="0">
            <a:noAutofit/>
          </a:bodyPr>
          <a:lstStyle/>
          <a:p>
            <a:pPr marL="12700">
              <a:lnSpc>
                <a:spcPts val="1900"/>
              </a:lnSpc>
            </a:pPr>
            <a:r>
              <a:rPr sz="1800" dirty="0" smtClean="0">
                <a:latin typeface="Constantia"/>
                <a:cs typeface="Constantia"/>
              </a:rPr>
              <a:t>10.</a:t>
            </a:r>
            <a:endParaRPr sz="1800">
              <a:latin typeface="Constantia"/>
              <a:cs typeface="Constantia"/>
            </a:endParaRPr>
          </a:p>
        </p:txBody>
      </p:sp>
      <p:sp>
        <p:nvSpPr>
          <p:cNvPr id="14" name="object 14"/>
          <p:cNvSpPr txBox="1"/>
          <p:nvPr/>
        </p:nvSpPr>
        <p:spPr>
          <a:xfrm>
            <a:off x="1145844" y="6507510"/>
            <a:ext cx="1622585" cy="254000"/>
          </a:xfrm>
          <a:prstGeom prst="rect">
            <a:avLst/>
          </a:prstGeom>
        </p:spPr>
        <p:txBody>
          <a:bodyPr wrap="square" lIns="0" tIns="12065" rIns="0" bIns="0" rtlCol="0">
            <a:noAutofit/>
          </a:bodyPr>
          <a:lstStyle/>
          <a:p>
            <a:pPr marL="12700">
              <a:lnSpc>
                <a:spcPts val="1900"/>
              </a:lnSpc>
            </a:pPr>
            <a:r>
              <a:rPr sz="1800" spc="0" dirty="0" smtClean="0">
                <a:latin typeface="Constantia"/>
                <a:cs typeface="Constantia"/>
              </a:rPr>
              <a:t>Risk of bursting</a:t>
            </a:r>
            <a:endParaRPr sz="1800">
              <a:latin typeface="Constantia"/>
              <a:cs typeface="Constantia"/>
            </a:endParaRPr>
          </a:p>
        </p:txBody>
      </p:sp>
      <p:sp>
        <p:nvSpPr>
          <p:cNvPr id="13" name="object 13"/>
          <p:cNvSpPr txBox="1"/>
          <p:nvPr/>
        </p:nvSpPr>
        <p:spPr>
          <a:xfrm>
            <a:off x="3584575" y="6507510"/>
            <a:ext cx="616172" cy="254000"/>
          </a:xfrm>
          <a:prstGeom prst="rect">
            <a:avLst/>
          </a:prstGeom>
        </p:spPr>
        <p:txBody>
          <a:bodyPr wrap="square" lIns="0" tIns="12065" rIns="0" bIns="0" rtlCol="0">
            <a:noAutofit/>
          </a:bodyPr>
          <a:lstStyle/>
          <a:p>
            <a:pPr marL="12700">
              <a:lnSpc>
                <a:spcPts val="1900"/>
              </a:lnSpc>
            </a:pPr>
            <a:r>
              <a:rPr sz="1800" spc="0" dirty="0" smtClean="0">
                <a:latin typeface="Constantia"/>
                <a:cs typeface="Constantia"/>
              </a:rPr>
              <a:t>lesser</a:t>
            </a:r>
            <a:endParaRPr sz="1800">
              <a:latin typeface="Constantia"/>
              <a:cs typeface="Constantia"/>
            </a:endParaRPr>
          </a:p>
        </p:txBody>
      </p:sp>
      <p:sp>
        <p:nvSpPr>
          <p:cNvPr id="12" name="object 12"/>
          <p:cNvSpPr txBox="1"/>
          <p:nvPr/>
        </p:nvSpPr>
        <p:spPr>
          <a:xfrm>
            <a:off x="6377686" y="6507510"/>
            <a:ext cx="994356" cy="254000"/>
          </a:xfrm>
          <a:prstGeom prst="rect">
            <a:avLst/>
          </a:prstGeom>
        </p:spPr>
        <p:txBody>
          <a:bodyPr wrap="square" lIns="0" tIns="12065" rIns="0" bIns="0" rtlCol="0">
            <a:noAutofit/>
          </a:bodyPr>
          <a:lstStyle/>
          <a:p>
            <a:pPr marL="12700">
              <a:lnSpc>
                <a:spcPts val="1900"/>
              </a:lnSpc>
            </a:pPr>
            <a:r>
              <a:rPr sz="1800" spc="-15" dirty="0" smtClean="0">
                <a:latin typeface="Constantia"/>
                <a:cs typeface="Constantia"/>
              </a:rPr>
              <a:t>More risk</a:t>
            </a:r>
            <a:endParaRPr sz="1800">
              <a:latin typeface="Constantia"/>
              <a:cs typeface="Constantia"/>
            </a:endParaRPr>
          </a:p>
        </p:txBody>
      </p:sp>
      <p:sp>
        <p:nvSpPr>
          <p:cNvPr id="11" name="object 11"/>
          <p:cNvSpPr txBox="1"/>
          <p:nvPr/>
        </p:nvSpPr>
        <p:spPr>
          <a:xfrm>
            <a:off x="304800" y="1066825"/>
            <a:ext cx="8534400" cy="736320"/>
          </a:xfrm>
          <a:prstGeom prst="rect">
            <a:avLst/>
          </a:prstGeom>
        </p:spPr>
        <p:txBody>
          <a:bodyPr wrap="square" lIns="0" tIns="36830" rIns="0" bIns="0" rtlCol="0">
            <a:noAutofit/>
          </a:bodyPr>
          <a:lstStyle/>
          <a:p>
            <a:pPr marL="91439">
              <a:lnSpc>
                <a:spcPct val="101725"/>
              </a:lnSpc>
            </a:pPr>
            <a:r>
              <a:rPr sz="1800" b="1" spc="0" dirty="0" smtClean="0">
                <a:solidFill>
                  <a:srgbClr val="FFFFFF"/>
                </a:solidFill>
                <a:latin typeface="Constantia"/>
                <a:cs typeface="Constantia"/>
              </a:rPr>
              <a:t>S n</a:t>
            </a:r>
            <a:r>
              <a:rPr sz="1800" b="1" spc="-54" dirty="0" smtClean="0">
                <a:solidFill>
                  <a:srgbClr val="FFFFFF"/>
                </a:solidFill>
                <a:latin typeface="Constantia"/>
                <a:cs typeface="Constantia"/>
              </a:rPr>
              <a:t>o</a:t>
            </a:r>
            <a:r>
              <a:rPr sz="1800" b="1" spc="0" dirty="0" smtClean="0">
                <a:solidFill>
                  <a:srgbClr val="FFFFFF"/>
                </a:solidFill>
                <a:latin typeface="Constantia"/>
                <a:cs typeface="Constantia"/>
              </a:rPr>
              <a:t>.      </a:t>
            </a:r>
            <a:r>
              <a:rPr sz="1800" b="1" spc="194" dirty="0" smtClean="0">
                <a:solidFill>
                  <a:srgbClr val="FFFFFF"/>
                </a:solidFill>
                <a:latin typeface="Constantia"/>
                <a:cs typeface="Constantia"/>
              </a:rPr>
              <a:t> </a:t>
            </a:r>
            <a:r>
              <a:rPr sz="1800" b="1" spc="-25" dirty="0" smtClean="0">
                <a:solidFill>
                  <a:srgbClr val="FFFFFF"/>
                </a:solidFill>
                <a:latin typeface="Constantia"/>
                <a:cs typeface="Constantia"/>
              </a:rPr>
              <a:t>P</a:t>
            </a:r>
            <a:r>
              <a:rPr sz="1800" b="1" spc="0" dirty="0" smtClean="0">
                <a:solidFill>
                  <a:srgbClr val="FFFFFF"/>
                </a:solidFill>
                <a:latin typeface="Constantia"/>
                <a:cs typeface="Constantia"/>
              </a:rPr>
              <a:t>a</a:t>
            </a:r>
            <a:r>
              <a:rPr sz="1800" b="1" spc="-4" dirty="0" smtClean="0">
                <a:solidFill>
                  <a:srgbClr val="FFFFFF"/>
                </a:solidFill>
                <a:latin typeface="Constantia"/>
                <a:cs typeface="Constantia"/>
              </a:rPr>
              <a:t>rt</a:t>
            </a:r>
            <a:r>
              <a:rPr sz="1800" b="1" spc="0" dirty="0" smtClean="0">
                <a:solidFill>
                  <a:srgbClr val="FFFFFF"/>
                </a:solidFill>
                <a:latin typeface="Constantia"/>
                <a:cs typeface="Constantia"/>
              </a:rPr>
              <a:t>i</a:t>
            </a:r>
            <a:r>
              <a:rPr sz="1800" b="1" spc="4" dirty="0" smtClean="0">
                <a:solidFill>
                  <a:srgbClr val="FFFFFF"/>
                </a:solidFill>
                <a:latin typeface="Constantia"/>
                <a:cs typeface="Constantia"/>
              </a:rPr>
              <a:t>c</a:t>
            </a:r>
            <a:r>
              <a:rPr sz="1800" b="1" spc="0" dirty="0" smtClean="0">
                <a:solidFill>
                  <a:srgbClr val="FFFFFF"/>
                </a:solidFill>
                <a:latin typeface="Constantia"/>
                <a:cs typeface="Constantia"/>
              </a:rPr>
              <a:t>ul</a:t>
            </a:r>
            <a:r>
              <a:rPr sz="1800" b="1" spc="-9" dirty="0" smtClean="0">
                <a:solidFill>
                  <a:srgbClr val="FFFFFF"/>
                </a:solidFill>
                <a:latin typeface="Constantia"/>
                <a:cs typeface="Constantia"/>
              </a:rPr>
              <a:t>a</a:t>
            </a:r>
            <a:r>
              <a:rPr sz="1800" b="1" spc="0" dirty="0" smtClean="0">
                <a:solidFill>
                  <a:srgbClr val="FFFFFF"/>
                </a:solidFill>
                <a:latin typeface="Constantia"/>
                <a:cs typeface="Constantia"/>
              </a:rPr>
              <a:t>rs                   </a:t>
            </a:r>
            <a:r>
              <a:rPr sz="1800" b="1" spc="4" dirty="0" smtClean="0">
                <a:solidFill>
                  <a:srgbClr val="FFFFFF"/>
                </a:solidFill>
                <a:latin typeface="Constantia"/>
                <a:cs typeface="Constantia"/>
              </a:rPr>
              <a:t> </a:t>
            </a:r>
            <a:r>
              <a:rPr sz="1800" b="1" spc="-19" dirty="0" smtClean="0">
                <a:solidFill>
                  <a:srgbClr val="FFFFFF"/>
                </a:solidFill>
                <a:latin typeface="Constantia"/>
                <a:cs typeface="Constantia"/>
              </a:rPr>
              <a:t>F</a:t>
            </a:r>
            <a:r>
              <a:rPr sz="1800" b="1" spc="0" dirty="0" smtClean="0">
                <a:solidFill>
                  <a:srgbClr val="FFFFFF"/>
                </a:solidFill>
                <a:latin typeface="Constantia"/>
                <a:cs typeface="Constantia"/>
              </a:rPr>
              <a:t>i</a:t>
            </a:r>
            <a:r>
              <a:rPr sz="1800" b="1" spc="-25" dirty="0" smtClean="0">
                <a:solidFill>
                  <a:srgbClr val="FFFFFF"/>
                </a:solidFill>
                <a:latin typeface="Constantia"/>
                <a:cs typeface="Constantia"/>
              </a:rPr>
              <a:t>r</a:t>
            </a:r>
            <a:r>
              <a:rPr sz="1800" b="1" spc="0" dirty="0" smtClean="0">
                <a:solidFill>
                  <a:srgbClr val="FFFFFF"/>
                </a:solidFill>
                <a:latin typeface="Constantia"/>
                <a:cs typeface="Constantia"/>
              </a:rPr>
              <a:t>e</a:t>
            </a:r>
            <a:r>
              <a:rPr sz="1800" b="1" spc="-64" dirty="0" smtClean="0">
                <a:solidFill>
                  <a:srgbClr val="FFFFFF"/>
                </a:solidFill>
                <a:latin typeface="Constantia"/>
                <a:cs typeface="Constantia"/>
              </a:rPr>
              <a:t> </a:t>
            </a:r>
            <a:r>
              <a:rPr sz="1800" b="1" spc="-4" dirty="0" smtClean="0">
                <a:solidFill>
                  <a:srgbClr val="FFFFFF"/>
                </a:solidFill>
                <a:latin typeface="Constantia"/>
                <a:cs typeface="Constantia"/>
              </a:rPr>
              <a:t>t</a:t>
            </a:r>
            <a:r>
              <a:rPr sz="1800" b="1" spc="0" dirty="0" smtClean="0">
                <a:solidFill>
                  <a:srgbClr val="FFFFFF"/>
                </a:solidFill>
                <a:latin typeface="Constantia"/>
                <a:cs typeface="Constantia"/>
              </a:rPr>
              <a:t>ube</a:t>
            </a:r>
            <a:r>
              <a:rPr sz="1800" b="1" spc="-49" dirty="0" smtClean="0">
                <a:solidFill>
                  <a:srgbClr val="FFFFFF"/>
                </a:solidFill>
                <a:latin typeface="Constantia"/>
                <a:cs typeface="Constantia"/>
              </a:rPr>
              <a:t> </a:t>
            </a:r>
            <a:r>
              <a:rPr sz="1800" b="1" spc="0" dirty="0" smtClean="0">
                <a:solidFill>
                  <a:srgbClr val="FFFFFF"/>
                </a:solidFill>
                <a:latin typeface="Constantia"/>
                <a:cs typeface="Constantia"/>
              </a:rPr>
              <a:t>boilers                 </a:t>
            </a:r>
            <a:r>
              <a:rPr sz="1800" b="1" spc="360" dirty="0" smtClean="0">
                <a:solidFill>
                  <a:srgbClr val="FFFFFF"/>
                </a:solidFill>
                <a:latin typeface="Constantia"/>
                <a:cs typeface="Constantia"/>
              </a:rPr>
              <a:t> </a:t>
            </a:r>
            <a:r>
              <a:rPr sz="1800" b="1" spc="-109" dirty="0" smtClean="0">
                <a:solidFill>
                  <a:srgbClr val="FFFFFF"/>
                </a:solidFill>
                <a:latin typeface="Constantia"/>
                <a:cs typeface="Constantia"/>
              </a:rPr>
              <a:t>W</a:t>
            </a:r>
            <a:r>
              <a:rPr sz="1800" b="1" spc="0" dirty="0" smtClean="0">
                <a:solidFill>
                  <a:srgbClr val="FFFFFF"/>
                </a:solidFill>
                <a:latin typeface="Constantia"/>
                <a:cs typeface="Constantia"/>
              </a:rPr>
              <a:t>a</a:t>
            </a:r>
            <a:r>
              <a:rPr sz="1800" b="1" spc="-34" dirty="0" smtClean="0">
                <a:solidFill>
                  <a:srgbClr val="FFFFFF"/>
                </a:solidFill>
                <a:latin typeface="Constantia"/>
                <a:cs typeface="Constantia"/>
              </a:rPr>
              <a:t>t</a:t>
            </a:r>
            <a:r>
              <a:rPr sz="1800" b="1" spc="0" dirty="0" smtClean="0">
                <a:solidFill>
                  <a:srgbClr val="FFFFFF"/>
                </a:solidFill>
                <a:latin typeface="Constantia"/>
                <a:cs typeface="Constantia"/>
              </a:rPr>
              <a:t>er</a:t>
            </a:r>
            <a:r>
              <a:rPr sz="1800" b="1" spc="-89" dirty="0" smtClean="0">
                <a:solidFill>
                  <a:srgbClr val="FFFFFF"/>
                </a:solidFill>
                <a:latin typeface="Constantia"/>
                <a:cs typeface="Constantia"/>
              </a:rPr>
              <a:t> </a:t>
            </a:r>
            <a:r>
              <a:rPr sz="1800" b="1" spc="-4" dirty="0" smtClean="0">
                <a:solidFill>
                  <a:srgbClr val="FFFFFF"/>
                </a:solidFill>
                <a:latin typeface="Constantia"/>
                <a:cs typeface="Constantia"/>
              </a:rPr>
              <a:t>t</a:t>
            </a:r>
            <a:r>
              <a:rPr sz="1800" b="1" spc="0" dirty="0" smtClean="0">
                <a:solidFill>
                  <a:srgbClr val="FFFFFF"/>
                </a:solidFill>
                <a:latin typeface="Constantia"/>
                <a:cs typeface="Constantia"/>
              </a:rPr>
              <a:t>ube</a:t>
            </a:r>
            <a:r>
              <a:rPr sz="1800" b="1" spc="-49" dirty="0" smtClean="0">
                <a:solidFill>
                  <a:srgbClr val="FFFFFF"/>
                </a:solidFill>
                <a:latin typeface="Constantia"/>
                <a:cs typeface="Constantia"/>
              </a:rPr>
              <a:t> </a:t>
            </a:r>
            <a:r>
              <a:rPr sz="1800" b="1" spc="0" dirty="0" smtClean="0">
                <a:solidFill>
                  <a:srgbClr val="FFFFFF"/>
                </a:solidFill>
                <a:latin typeface="Constantia"/>
                <a:cs typeface="Constantia"/>
              </a:rPr>
              <a:t>boilers</a:t>
            </a:r>
            <a:endParaRPr sz="1800">
              <a:latin typeface="Constantia"/>
              <a:cs typeface="Constantia"/>
            </a:endParaRPr>
          </a:p>
        </p:txBody>
      </p:sp>
      <p:sp>
        <p:nvSpPr>
          <p:cNvPr id="10" name="object 10"/>
          <p:cNvSpPr txBox="1"/>
          <p:nvPr/>
        </p:nvSpPr>
        <p:spPr>
          <a:xfrm>
            <a:off x="304800" y="1803146"/>
            <a:ext cx="8534400" cy="426554"/>
          </a:xfrm>
          <a:prstGeom prst="rect">
            <a:avLst/>
          </a:prstGeom>
        </p:spPr>
        <p:txBody>
          <a:bodyPr wrap="square" lIns="0" tIns="36830" rIns="0" bIns="0" rtlCol="0">
            <a:noAutofit/>
          </a:bodyPr>
          <a:lstStyle/>
          <a:p>
            <a:pPr marL="91439">
              <a:lnSpc>
                <a:spcPct val="101725"/>
              </a:lnSpc>
            </a:pPr>
            <a:r>
              <a:rPr sz="1800" spc="0" dirty="0" smtClean="0">
                <a:latin typeface="Constantia"/>
                <a:cs typeface="Constantia"/>
              </a:rPr>
              <a:t>1.          </a:t>
            </a:r>
            <a:r>
              <a:rPr sz="1800" spc="29" dirty="0" smtClean="0">
                <a:latin typeface="Constantia"/>
                <a:cs typeface="Constantia"/>
              </a:rPr>
              <a:t> </a:t>
            </a:r>
            <a:r>
              <a:rPr sz="1800" spc="-34" dirty="0" smtClean="0">
                <a:latin typeface="Constantia"/>
                <a:cs typeface="Constantia"/>
              </a:rPr>
              <a:t>M</a:t>
            </a:r>
            <a:r>
              <a:rPr sz="1800" spc="0" dirty="0" smtClean="0">
                <a:latin typeface="Constantia"/>
                <a:cs typeface="Constantia"/>
              </a:rPr>
              <a:t>ode</a:t>
            </a:r>
            <a:r>
              <a:rPr sz="1800" spc="-89" dirty="0" smtClean="0">
                <a:latin typeface="Constantia"/>
                <a:cs typeface="Constantia"/>
              </a:rPr>
              <a:t> </a:t>
            </a:r>
            <a:r>
              <a:rPr sz="1800" spc="0" dirty="0" smtClean="0">
                <a:latin typeface="Constantia"/>
                <a:cs typeface="Constantia"/>
              </a:rPr>
              <a:t>of</a:t>
            </a:r>
            <a:r>
              <a:rPr sz="1800" spc="39" dirty="0" smtClean="0">
                <a:latin typeface="Constantia"/>
                <a:cs typeface="Constantia"/>
              </a:rPr>
              <a:t> </a:t>
            </a:r>
            <a:r>
              <a:rPr sz="1800" spc="44" dirty="0" smtClean="0">
                <a:latin typeface="Constantia"/>
                <a:cs typeface="Constantia"/>
              </a:rPr>
              <a:t>f</a:t>
            </a:r>
            <a:r>
              <a:rPr sz="1800" spc="0" dirty="0" smtClean="0">
                <a:latin typeface="Constantia"/>
                <a:cs typeface="Constantia"/>
              </a:rPr>
              <a:t>iri</a:t>
            </a:r>
            <a:r>
              <a:rPr sz="1800" spc="-9" dirty="0" smtClean="0">
                <a:latin typeface="Constantia"/>
                <a:cs typeface="Constantia"/>
              </a:rPr>
              <a:t>n</a:t>
            </a:r>
            <a:r>
              <a:rPr sz="1800" spc="0" dirty="0" smtClean="0">
                <a:latin typeface="Constantia"/>
                <a:cs typeface="Constantia"/>
              </a:rPr>
              <a:t>g                  In</a:t>
            </a:r>
            <a:r>
              <a:rPr sz="1800" spc="-25" dirty="0" smtClean="0">
                <a:latin typeface="Constantia"/>
                <a:cs typeface="Constantia"/>
              </a:rPr>
              <a:t>t</a:t>
            </a:r>
            <a:r>
              <a:rPr sz="1800" spc="0" dirty="0" smtClean="0">
                <a:latin typeface="Constantia"/>
                <a:cs typeface="Constantia"/>
              </a:rPr>
              <a:t>e</a:t>
            </a:r>
            <a:r>
              <a:rPr sz="1800" spc="4" dirty="0" smtClean="0">
                <a:latin typeface="Constantia"/>
                <a:cs typeface="Constantia"/>
              </a:rPr>
              <a:t>r</a:t>
            </a:r>
            <a:r>
              <a:rPr sz="1800" spc="0" dirty="0" smtClean="0">
                <a:latin typeface="Constantia"/>
                <a:cs typeface="Constantia"/>
              </a:rPr>
              <a:t>na</a:t>
            </a:r>
            <a:r>
              <a:rPr sz="1800" spc="-4" dirty="0" smtClean="0">
                <a:latin typeface="Constantia"/>
                <a:cs typeface="Constantia"/>
              </a:rPr>
              <a:t>l</a:t>
            </a:r>
            <a:r>
              <a:rPr sz="1800" spc="-14" dirty="0" smtClean="0">
                <a:latin typeface="Constantia"/>
                <a:cs typeface="Constantia"/>
              </a:rPr>
              <a:t>l</a:t>
            </a:r>
            <a:r>
              <a:rPr sz="1800" spc="0" dirty="0" smtClean="0">
                <a:latin typeface="Constantia"/>
                <a:cs typeface="Constantia"/>
              </a:rPr>
              <a:t>y</a:t>
            </a:r>
            <a:r>
              <a:rPr sz="1800" spc="-69" dirty="0" smtClean="0">
                <a:latin typeface="Constantia"/>
                <a:cs typeface="Constantia"/>
              </a:rPr>
              <a:t> </a:t>
            </a:r>
            <a:r>
              <a:rPr sz="1800" spc="39" dirty="0" smtClean="0">
                <a:latin typeface="Constantia"/>
                <a:cs typeface="Constantia"/>
              </a:rPr>
              <a:t>f</a:t>
            </a:r>
            <a:r>
              <a:rPr sz="1800" spc="0" dirty="0" smtClean="0">
                <a:latin typeface="Constantia"/>
                <a:cs typeface="Constantia"/>
              </a:rPr>
              <a:t>i</a:t>
            </a:r>
            <a:r>
              <a:rPr sz="1800" spc="-25" dirty="0" smtClean="0">
                <a:latin typeface="Constantia"/>
                <a:cs typeface="Constantia"/>
              </a:rPr>
              <a:t>r</a:t>
            </a:r>
            <a:r>
              <a:rPr sz="1800" spc="0" dirty="0" smtClean="0">
                <a:latin typeface="Constantia"/>
                <a:cs typeface="Constantia"/>
              </a:rPr>
              <a:t>ed                      </a:t>
            </a:r>
            <a:r>
              <a:rPr sz="1800" spc="9" dirty="0" smtClean="0">
                <a:latin typeface="Constantia"/>
                <a:cs typeface="Constantia"/>
              </a:rPr>
              <a:t> </a:t>
            </a:r>
            <a:r>
              <a:rPr sz="1800" spc="0" dirty="0" smtClean="0">
                <a:latin typeface="Constantia"/>
                <a:cs typeface="Constantia"/>
              </a:rPr>
              <a:t>Ex</a:t>
            </a:r>
            <a:r>
              <a:rPr sz="1800" spc="-25" dirty="0" smtClean="0">
                <a:latin typeface="Constantia"/>
                <a:cs typeface="Constantia"/>
              </a:rPr>
              <a:t>t</a:t>
            </a:r>
            <a:r>
              <a:rPr sz="1800" spc="0" dirty="0" smtClean="0">
                <a:latin typeface="Constantia"/>
                <a:cs typeface="Constantia"/>
              </a:rPr>
              <a:t>e</a:t>
            </a:r>
            <a:r>
              <a:rPr sz="1800" spc="4" dirty="0" smtClean="0">
                <a:latin typeface="Constantia"/>
                <a:cs typeface="Constantia"/>
              </a:rPr>
              <a:t>r</a:t>
            </a:r>
            <a:r>
              <a:rPr sz="1800" spc="0" dirty="0" smtClean="0">
                <a:latin typeface="Constantia"/>
                <a:cs typeface="Constantia"/>
              </a:rPr>
              <a:t>na</a:t>
            </a:r>
            <a:r>
              <a:rPr sz="1800" spc="-4" dirty="0" smtClean="0">
                <a:latin typeface="Constantia"/>
                <a:cs typeface="Constantia"/>
              </a:rPr>
              <a:t>l</a:t>
            </a:r>
            <a:r>
              <a:rPr sz="1800" spc="-14" dirty="0" smtClean="0">
                <a:latin typeface="Constantia"/>
                <a:cs typeface="Constantia"/>
              </a:rPr>
              <a:t>l</a:t>
            </a:r>
            <a:r>
              <a:rPr sz="1800" spc="0" dirty="0" smtClean="0">
                <a:latin typeface="Constantia"/>
                <a:cs typeface="Constantia"/>
              </a:rPr>
              <a:t>y</a:t>
            </a:r>
            <a:r>
              <a:rPr sz="1800" spc="-69" dirty="0" smtClean="0">
                <a:latin typeface="Constantia"/>
                <a:cs typeface="Constantia"/>
              </a:rPr>
              <a:t> </a:t>
            </a:r>
            <a:r>
              <a:rPr sz="1800" spc="39" dirty="0" smtClean="0">
                <a:latin typeface="Constantia"/>
                <a:cs typeface="Constantia"/>
              </a:rPr>
              <a:t>f</a:t>
            </a:r>
            <a:r>
              <a:rPr sz="1800" spc="0" dirty="0" smtClean="0">
                <a:latin typeface="Constantia"/>
                <a:cs typeface="Constantia"/>
              </a:rPr>
              <a:t>i</a:t>
            </a:r>
            <a:r>
              <a:rPr sz="1800" spc="-25" dirty="0" smtClean="0">
                <a:latin typeface="Constantia"/>
                <a:cs typeface="Constantia"/>
              </a:rPr>
              <a:t>r</a:t>
            </a:r>
            <a:r>
              <a:rPr sz="1800" spc="0" dirty="0" smtClean="0">
                <a:latin typeface="Constantia"/>
                <a:cs typeface="Constantia"/>
              </a:rPr>
              <a:t>ed</a:t>
            </a:r>
            <a:endParaRPr sz="1800">
              <a:latin typeface="Constantia"/>
              <a:cs typeface="Constantia"/>
            </a:endParaRPr>
          </a:p>
        </p:txBody>
      </p:sp>
      <p:sp>
        <p:nvSpPr>
          <p:cNvPr id="9" name="object 9"/>
          <p:cNvSpPr txBox="1"/>
          <p:nvPr/>
        </p:nvSpPr>
        <p:spPr>
          <a:xfrm>
            <a:off x="304800" y="2229700"/>
            <a:ext cx="8534400" cy="666153"/>
          </a:xfrm>
          <a:prstGeom prst="rect">
            <a:avLst/>
          </a:prstGeom>
        </p:spPr>
        <p:txBody>
          <a:bodyPr wrap="square" lIns="0" tIns="39369" rIns="0" bIns="0" rtlCol="0">
            <a:noAutofit/>
          </a:bodyPr>
          <a:lstStyle/>
          <a:p>
            <a:pPr marL="91439">
              <a:lnSpc>
                <a:spcPts val="2001"/>
              </a:lnSpc>
            </a:pPr>
            <a:r>
              <a:rPr sz="1800" spc="4" dirty="0" smtClean="0">
                <a:latin typeface="Constantia"/>
                <a:cs typeface="Constantia"/>
              </a:rPr>
              <a:t>2</a:t>
            </a:r>
            <a:r>
              <a:rPr sz="1800" spc="0" dirty="0" smtClean="0">
                <a:latin typeface="Constantia"/>
                <a:cs typeface="Constantia"/>
              </a:rPr>
              <a:t>.         </a:t>
            </a:r>
            <a:r>
              <a:rPr sz="1800" spc="164" dirty="0" smtClean="0">
                <a:latin typeface="Constantia"/>
                <a:cs typeface="Constantia"/>
              </a:rPr>
              <a:t> </a:t>
            </a:r>
            <a:r>
              <a:rPr sz="1600" spc="0" dirty="0" smtClean="0">
                <a:latin typeface="Constantia"/>
                <a:cs typeface="Constantia"/>
              </a:rPr>
              <a:t>Ra</a:t>
            </a:r>
            <a:r>
              <a:rPr sz="1600" spc="-19" dirty="0" smtClean="0">
                <a:latin typeface="Constantia"/>
                <a:cs typeface="Constantia"/>
              </a:rPr>
              <a:t>t</a:t>
            </a:r>
            <a:r>
              <a:rPr sz="1600" spc="0" dirty="0" smtClean="0">
                <a:latin typeface="Constantia"/>
                <a:cs typeface="Constantia"/>
              </a:rPr>
              <a:t>e</a:t>
            </a:r>
            <a:r>
              <a:rPr sz="1600" spc="-116" dirty="0" smtClean="0">
                <a:latin typeface="Constantia"/>
                <a:cs typeface="Constantia"/>
              </a:rPr>
              <a:t> </a:t>
            </a:r>
            <a:r>
              <a:rPr sz="1600" spc="0" dirty="0" smtClean="0">
                <a:latin typeface="Constantia"/>
                <a:cs typeface="Constantia"/>
              </a:rPr>
              <a:t>of</a:t>
            </a:r>
            <a:r>
              <a:rPr sz="1600" spc="6" dirty="0" smtClean="0">
                <a:latin typeface="Constantia"/>
                <a:cs typeface="Constantia"/>
              </a:rPr>
              <a:t> </a:t>
            </a:r>
            <a:r>
              <a:rPr sz="1600" spc="0" dirty="0" smtClean="0">
                <a:latin typeface="Constantia"/>
                <a:cs typeface="Constantia"/>
              </a:rPr>
              <a:t>s</a:t>
            </a:r>
            <a:r>
              <a:rPr sz="1600" spc="-19" dirty="0" smtClean="0">
                <a:latin typeface="Constantia"/>
                <a:cs typeface="Constantia"/>
              </a:rPr>
              <a:t>t</a:t>
            </a:r>
            <a:r>
              <a:rPr sz="1600" spc="0" dirty="0" smtClean="0">
                <a:latin typeface="Constantia"/>
                <a:cs typeface="Constantia"/>
              </a:rPr>
              <a:t>e</a:t>
            </a:r>
            <a:r>
              <a:rPr sz="1600" spc="4" dirty="0" smtClean="0">
                <a:latin typeface="Constantia"/>
                <a:cs typeface="Constantia"/>
              </a:rPr>
              <a:t>a</a:t>
            </a:r>
            <a:r>
              <a:rPr sz="1600" spc="0" dirty="0" smtClean="0">
                <a:latin typeface="Constantia"/>
                <a:cs typeface="Constantia"/>
              </a:rPr>
              <a:t>m</a:t>
            </a:r>
            <a:r>
              <a:rPr sz="1600" spc="-96" dirty="0" smtClean="0">
                <a:latin typeface="Constantia"/>
                <a:cs typeface="Constantia"/>
              </a:rPr>
              <a:t> </a:t>
            </a:r>
            <a:r>
              <a:rPr sz="1600" spc="-4" dirty="0" smtClean="0">
                <a:latin typeface="Constantia"/>
                <a:cs typeface="Constantia"/>
              </a:rPr>
              <a:t>p</a:t>
            </a:r>
            <a:r>
              <a:rPr sz="1600" spc="-25" dirty="0" smtClean="0">
                <a:latin typeface="Constantia"/>
                <a:cs typeface="Constantia"/>
              </a:rPr>
              <a:t>r</a:t>
            </a:r>
            <a:r>
              <a:rPr sz="1600" spc="0" dirty="0" smtClean="0">
                <a:latin typeface="Constantia"/>
                <a:cs typeface="Constantia"/>
              </a:rPr>
              <a:t>oduction   </a:t>
            </a:r>
            <a:r>
              <a:rPr sz="1600" spc="207" dirty="0" smtClean="0">
                <a:latin typeface="Constantia"/>
                <a:cs typeface="Constantia"/>
              </a:rPr>
              <a:t> </a:t>
            </a:r>
            <a:r>
              <a:rPr sz="1800" spc="0" dirty="0" smtClean="0">
                <a:latin typeface="Constantia"/>
                <a:cs typeface="Constantia"/>
              </a:rPr>
              <a:t>l</a:t>
            </a:r>
            <a:r>
              <a:rPr sz="1800" spc="-39" dirty="0" smtClean="0">
                <a:latin typeface="Constantia"/>
                <a:cs typeface="Constantia"/>
              </a:rPr>
              <a:t>o</a:t>
            </a:r>
            <a:r>
              <a:rPr sz="1800" spc="-44" dirty="0" smtClean="0">
                <a:latin typeface="Constantia"/>
                <a:cs typeface="Constantia"/>
              </a:rPr>
              <a:t>w</a:t>
            </a:r>
            <a:r>
              <a:rPr sz="1800" spc="0" dirty="0" smtClean="0">
                <a:latin typeface="Constantia"/>
                <a:cs typeface="Constantia"/>
              </a:rPr>
              <a:t>er                                      </a:t>
            </a:r>
            <a:r>
              <a:rPr sz="1800" spc="179" dirty="0" smtClean="0">
                <a:latin typeface="Constantia"/>
                <a:cs typeface="Constantia"/>
              </a:rPr>
              <a:t> </a:t>
            </a:r>
            <a:r>
              <a:rPr sz="1800" spc="0" dirty="0" smtClean="0">
                <a:latin typeface="Constantia"/>
                <a:cs typeface="Constantia"/>
              </a:rPr>
              <a:t>Hi</a:t>
            </a:r>
            <a:r>
              <a:rPr sz="1800" spc="-14" dirty="0" smtClean="0">
                <a:latin typeface="Constantia"/>
                <a:cs typeface="Constantia"/>
              </a:rPr>
              <a:t>g</a:t>
            </a:r>
            <a:r>
              <a:rPr sz="1800" spc="0" dirty="0" smtClean="0">
                <a:latin typeface="Constantia"/>
                <a:cs typeface="Constantia"/>
              </a:rPr>
              <a:t>her</a:t>
            </a:r>
            <a:endParaRPr sz="1800">
              <a:latin typeface="Constantia"/>
              <a:cs typeface="Constantia"/>
            </a:endParaRPr>
          </a:p>
        </p:txBody>
      </p:sp>
      <p:sp>
        <p:nvSpPr>
          <p:cNvPr id="8" name="object 8"/>
          <p:cNvSpPr txBox="1"/>
          <p:nvPr/>
        </p:nvSpPr>
        <p:spPr>
          <a:xfrm>
            <a:off x="304800" y="2895854"/>
            <a:ext cx="8534400" cy="426593"/>
          </a:xfrm>
          <a:prstGeom prst="rect">
            <a:avLst/>
          </a:prstGeom>
        </p:spPr>
        <p:txBody>
          <a:bodyPr wrap="square" lIns="0" tIns="37465" rIns="0" bIns="0" rtlCol="0">
            <a:noAutofit/>
          </a:bodyPr>
          <a:lstStyle/>
          <a:p>
            <a:pPr marL="91439">
              <a:lnSpc>
                <a:spcPct val="101725"/>
              </a:lnSpc>
            </a:pPr>
            <a:r>
              <a:rPr sz="1800" spc="-4" dirty="0" smtClean="0">
                <a:latin typeface="Constantia"/>
                <a:cs typeface="Constantia"/>
              </a:rPr>
              <a:t>3</a:t>
            </a:r>
            <a:r>
              <a:rPr sz="1800" spc="0" dirty="0" smtClean="0">
                <a:latin typeface="Constantia"/>
                <a:cs typeface="Constantia"/>
              </a:rPr>
              <a:t>.         </a:t>
            </a:r>
            <a:r>
              <a:rPr sz="1800" spc="225" dirty="0" smtClean="0">
                <a:latin typeface="Constantia"/>
                <a:cs typeface="Constantia"/>
              </a:rPr>
              <a:t> </a:t>
            </a:r>
            <a:r>
              <a:rPr sz="1800" spc="-39" dirty="0" smtClean="0">
                <a:latin typeface="Constantia"/>
                <a:cs typeface="Constantia"/>
              </a:rPr>
              <a:t>c</a:t>
            </a:r>
            <a:r>
              <a:rPr sz="1800" spc="0" dirty="0" smtClean="0">
                <a:latin typeface="Constantia"/>
                <a:cs typeface="Constantia"/>
              </a:rPr>
              <a:t>o</a:t>
            </a:r>
            <a:r>
              <a:rPr sz="1800" spc="-4" dirty="0" smtClean="0">
                <a:latin typeface="Constantia"/>
                <a:cs typeface="Constantia"/>
              </a:rPr>
              <a:t>n</a:t>
            </a:r>
            <a:r>
              <a:rPr sz="1800" spc="0" dirty="0" smtClean="0">
                <a:latin typeface="Constantia"/>
                <a:cs typeface="Constantia"/>
              </a:rPr>
              <a:t>st</a:t>
            </a:r>
            <a:r>
              <a:rPr sz="1800" spc="9" dirty="0" smtClean="0">
                <a:latin typeface="Constantia"/>
                <a:cs typeface="Constantia"/>
              </a:rPr>
              <a:t>r</a:t>
            </a:r>
            <a:r>
              <a:rPr sz="1800" spc="0" dirty="0" smtClean="0">
                <a:latin typeface="Constantia"/>
                <a:cs typeface="Constantia"/>
              </a:rPr>
              <a:t>u</a:t>
            </a:r>
            <a:r>
              <a:rPr sz="1800" spc="-4" dirty="0" smtClean="0">
                <a:latin typeface="Constantia"/>
                <a:cs typeface="Constantia"/>
              </a:rPr>
              <a:t>c</a:t>
            </a:r>
            <a:r>
              <a:rPr sz="1800" spc="0" dirty="0" smtClean="0">
                <a:latin typeface="Constantia"/>
                <a:cs typeface="Constantia"/>
              </a:rPr>
              <a:t>ti</a:t>
            </a:r>
            <a:r>
              <a:rPr sz="1800" spc="-4" dirty="0" smtClean="0">
                <a:latin typeface="Constantia"/>
                <a:cs typeface="Constantia"/>
              </a:rPr>
              <a:t>o</a:t>
            </a:r>
            <a:r>
              <a:rPr sz="1800" spc="0" dirty="0" smtClean="0">
                <a:latin typeface="Constantia"/>
                <a:cs typeface="Constantia"/>
              </a:rPr>
              <a:t>n                   </a:t>
            </a:r>
            <a:r>
              <a:rPr sz="1800" spc="325" dirty="0" smtClean="0">
                <a:latin typeface="Constantia"/>
                <a:cs typeface="Constantia"/>
              </a:rPr>
              <a:t> </a:t>
            </a:r>
            <a:r>
              <a:rPr sz="1800" spc="0" dirty="0" smtClean="0">
                <a:latin typeface="Constantia"/>
                <a:cs typeface="Constantia"/>
              </a:rPr>
              <a:t>Di</a:t>
            </a:r>
            <a:r>
              <a:rPr sz="1800" spc="-4" dirty="0" smtClean="0">
                <a:latin typeface="Constantia"/>
                <a:cs typeface="Constantia"/>
              </a:rPr>
              <a:t>f</a:t>
            </a:r>
            <a:r>
              <a:rPr sz="1800" spc="39" dirty="0" smtClean="0">
                <a:latin typeface="Constantia"/>
                <a:cs typeface="Constantia"/>
              </a:rPr>
              <a:t>f</a:t>
            </a:r>
            <a:r>
              <a:rPr sz="1800" spc="0" dirty="0" smtClean="0">
                <a:latin typeface="Constantia"/>
                <a:cs typeface="Constantia"/>
              </a:rPr>
              <a:t>i</a:t>
            </a:r>
            <a:r>
              <a:rPr sz="1800" spc="-9" dirty="0" smtClean="0">
                <a:latin typeface="Constantia"/>
                <a:cs typeface="Constantia"/>
              </a:rPr>
              <a:t>c</a:t>
            </a:r>
            <a:r>
              <a:rPr sz="1800" spc="0" dirty="0" smtClean="0">
                <a:latin typeface="Constantia"/>
                <a:cs typeface="Constantia"/>
              </a:rPr>
              <a:t>u</a:t>
            </a:r>
            <a:r>
              <a:rPr sz="1800" spc="-4" dirty="0" smtClean="0">
                <a:latin typeface="Constantia"/>
                <a:cs typeface="Constantia"/>
              </a:rPr>
              <a:t>l</a:t>
            </a:r>
            <a:r>
              <a:rPr sz="1800" spc="0" dirty="0" smtClean="0">
                <a:latin typeface="Constantia"/>
                <a:cs typeface="Constantia"/>
              </a:rPr>
              <a:t>t                                 </a:t>
            </a:r>
            <a:r>
              <a:rPr sz="1800" spc="189" dirty="0" smtClean="0">
                <a:latin typeface="Constantia"/>
                <a:cs typeface="Constantia"/>
              </a:rPr>
              <a:t> </a:t>
            </a:r>
            <a:r>
              <a:rPr sz="1800" spc="-4" dirty="0" smtClean="0">
                <a:latin typeface="Constantia"/>
                <a:cs typeface="Constantia"/>
              </a:rPr>
              <a:t>S</a:t>
            </a:r>
            <a:r>
              <a:rPr sz="1800" spc="0" dirty="0" smtClean="0">
                <a:latin typeface="Constantia"/>
                <a:cs typeface="Constantia"/>
              </a:rPr>
              <a:t>imp</a:t>
            </a:r>
            <a:r>
              <a:rPr sz="1800" spc="-4" dirty="0" smtClean="0">
                <a:latin typeface="Constantia"/>
                <a:cs typeface="Constantia"/>
              </a:rPr>
              <a:t>l</a:t>
            </a:r>
            <a:r>
              <a:rPr sz="1800" spc="0" dirty="0" smtClean="0">
                <a:latin typeface="Constantia"/>
                <a:cs typeface="Constantia"/>
              </a:rPr>
              <a:t>e</a:t>
            </a:r>
            <a:endParaRPr sz="1800">
              <a:latin typeface="Constantia"/>
              <a:cs typeface="Constantia"/>
            </a:endParaRPr>
          </a:p>
        </p:txBody>
      </p:sp>
      <p:sp>
        <p:nvSpPr>
          <p:cNvPr id="7" name="object 7"/>
          <p:cNvSpPr txBox="1"/>
          <p:nvPr/>
        </p:nvSpPr>
        <p:spPr>
          <a:xfrm>
            <a:off x="304800" y="3322447"/>
            <a:ext cx="8534400" cy="426605"/>
          </a:xfrm>
          <a:prstGeom prst="rect">
            <a:avLst/>
          </a:prstGeom>
        </p:spPr>
        <p:txBody>
          <a:bodyPr wrap="square" lIns="0" tIns="37465" rIns="0" bIns="0" rtlCol="0">
            <a:noAutofit/>
          </a:bodyPr>
          <a:lstStyle/>
          <a:p>
            <a:pPr marL="91439">
              <a:lnSpc>
                <a:spcPct val="101725"/>
              </a:lnSpc>
            </a:pPr>
            <a:r>
              <a:rPr sz="1800" spc="4" dirty="0" smtClean="0">
                <a:latin typeface="Constantia"/>
                <a:cs typeface="Constantia"/>
              </a:rPr>
              <a:t>4</a:t>
            </a:r>
            <a:r>
              <a:rPr sz="1800" spc="0" dirty="0" smtClean="0">
                <a:latin typeface="Constantia"/>
                <a:cs typeface="Constantia"/>
              </a:rPr>
              <a:t>.         </a:t>
            </a:r>
            <a:r>
              <a:rPr sz="1800" spc="79" dirty="0" smtClean="0">
                <a:latin typeface="Constantia"/>
                <a:cs typeface="Constantia"/>
              </a:rPr>
              <a:t> </a:t>
            </a:r>
            <a:r>
              <a:rPr sz="1800" spc="0" dirty="0" smtClean="0">
                <a:latin typeface="Constantia"/>
                <a:cs typeface="Constantia"/>
              </a:rPr>
              <a:t>t</a:t>
            </a:r>
            <a:r>
              <a:rPr sz="1800" spc="-29" dirty="0" smtClean="0">
                <a:latin typeface="Constantia"/>
                <a:cs typeface="Constantia"/>
              </a:rPr>
              <a:t>r</a:t>
            </a:r>
            <a:r>
              <a:rPr sz="1800" spc="0" dirty="0" smtClean="0">
                <a:latin typeface="Constantia"/>
                <a:cs typeface="Constantia"/>
              </a:rPr>
              <a:t>ansporta</a:t>
            </a:r>
            <a:r>
              <a:rPr sz="1800" spc="4" dirty="0" smtClean="0">
                <a:latin typeface="Constantia"/>
                <a:cs typeface="Constantia"/>
              </a:rPr>
              <a:t>t</a:t>
            </a:r>
            <a:r>
              <a:rPr sz="1800" spc="0" dirty="0" smtClean="0">
                <a:latin typeface="Constantia"/>
                <a:cs typeface="Constantia"/>
              </a:rPr>
              <a:t>i</a:t>
            </a:r>
            <a:r>
              <a:rPr sz="1800" spc="-4" dirty="0" smtClean="0">
                <a:latin typeface="Constantia"/>
                <a:cs typeface="Constantia"/>
              </a:rPr>
              <a:t>o</a:t>
            </a:r>
            <a:r>
              <a:rPr sz="1800" spc="0" dirty="0" smtClean="0">
                <a:latin typeface="Constantia"/>
                <a:cs typeface="Constantia"/>
              </a:rPr>
              <a:t>n                </a:t>
            </a:r>
            <a:r>
              <a:rPr sz="1800" spc="285" dirty="0" smtClean="0">
                <a:latin typeface="Constantia"/>
                <a:cs typeface="Constantia"/>
              </a:rPr>
              <a:t> </a:t>
            </a:r>
            <a:r>
              <a:rPr sz="1800" spc="0" dirty="0" smtClean="0">
                <a:latin typeface="Constantia"/>
                <a:cs typeface="Constantia"/>
              </a:rPr>
              <a:t>Di</a:t>
            </a:r>
            <a:r>
              <a:rPr sz="1800" spc="-4" dirty="0" smtClean="0">
                <a:latin typeface="Constantia"/>
                <a:cs typeface="Constantia"/>
              </a:rPr>
              <a:t>f</a:t>
            </a:r>
            <a:r>
              <a:rPr sz="1800" spc="39" dirty="0" smtClean="0">
                <a:latin typeface="Constantia"/>
                <a:cs typeface="Constantia"/>
              </a:rPr>
              <a:t>f</a:t>
            </a:r>
            <a:r>
              <a:rPr sz="1800" spc="0" dirty="0" smtClean="0">
                <a:latin typeface="Constantia"/>
                <a:cs typeface="Constantia"/>
              </a:rPr>
              <a:t>i</a:t>
            </a:r>
            <a:r>
              <a:rPr sz="1800" spc="-9" dirty="0" smtClean="0">
                <a:latin typeface="Constantia"/>
                <a:cs typeface="Constantia"/>
              </a:rPr>
              <a:t>c</a:t>
            </a:r>
            <a:r>
              <a:rPr sz="1800" spc="0" dirty="0" smtClean="0">
                <a:latin typeface="Constantia"/>
                <a:cs typeface="Constantia"/>
              </a:rPr>
              <a:t>u</a:t>
            </a:r>
            <a:r>
              <a:rPr sz="1800" spc="-4" dirty="0" smtClean="0">
                <a:latin typeface="Constantia"/>
                <a:cs typeface="Constantia"/>
              </a:rPr>
              <a:t>l</a:t>
            </a:r>
            <a:r>
              <a:rPr sz="1800" spc="0" dirty="0" smtClean="0">
                <a:latin typeface="Constantia"/>
                <a:cs typeface="Constantia"/>
              </a:rPr>
              <a:t>t                                 </a:t>
            </a:r>
            <a:r>
              <a:rPr sz="1800" spc="189" dirty="0" smtClean="0">
                <a:latin typeface="Constantia"/>
                <a:cs typeface="Constantia"/>
              </a:rPr>
              <a:t> </a:t>
            </a:r>
            <a:r>
              <a:rPr sz="1800" spc="-4" dirty="0" smtClean="0">
                <a:latin typeface="Constantia"/>
                <a:cs typeface="Constantia"/>
              </a:rPr>
              <a:t>S</a:t>
            </a:r>
            <a:r>
              <a:rPr sz="1800" spc="0" dirty="0" smtClean="0">
                <a:latin typeface="Constantia"/>
                <a:cs typeface="Constantia"/>
              </a:rPr>
              <a:t>imp</a:t>
            </a:r>
            <a:r>
              <a:rPr sz="1800" spc="-4" dirty="0" smtClean="0">
                <a:latin typeface="Constantia"/>
                <a:cs typeface="Constantia"/>
              </a:rPr>
              <a:t>l</a:t>
            </a:r>
            <a:r>
              <a:rPr sz="1800" spc="0" dirty="0" smtClean="0">
                <a:latin typeface="Constantia"/>
                <a:cs typeface="Constantia"/>
              </a:rPr>
              <a:t>e</a:t>
            </a:r>
            <a:endParaRPr sz="1800">
              <a:latin typeface="Constantia"/>
              <a:cs typeface="Constantia"/>
            </a:endParaRPr>
          </a:p>
        </p:txBody>
      </p:sp>
      <p:sp>
        <p:nvSpPr>
          <p:cNvPr id="6" name="object 6"/>
          <p:cNvSpPr txBox="1"/>
          <p:nvPr/>
        </p:nvSpPr>
        <p:spPr>
          <a:xfrm>
            <a:off x="304800" y="3749052"/>
            <a:ext cx="8534400" cy="736358"/>
          </a:xfrm>
          <a:prstGeom prst="rect">
            <a:avLst/>
          </a:prstGeom>
        </p:spPr>
        <p:txBody>
          <a:bodyPr wrap="square" lIns="0" tIns="37465" rIns="0" bIns="0" rtlCol="0">
            <a:noAutofit/>
          </a:bodyPr>
          <a:lstStyle/>
          <a:p>
            <a:pPr marL="91439">
              <a:lnSpc>
                <a:spcPct val="101725"/>
              </a:lnSpc>
            </a:pPr>
            <a:r>
              <a:rPr sz="1800" spc="-4" dirty="0" smtClean="0">
                <a:latin typeface="Constantia"/>
                <a:cs typeface="Constantia"/>
              </a:rPr>
              <a:t>5</a:t>
            </a:r>
            <a:r>
              <a:rPr sz="1800" spc="0" dirty="0" smtClean="0">
                <a:latin typeface="Constantia"/>
                <a:cs typeface="Constantia"/>
              </a:rPr>
              <a:t>.         </a:t>
            </a:r>
            <a:r>
              <a:rPr sz="1800" spc="189" dirty="0" smtClean="0">
                <a:latin typeface="Constantia"/>
                <a:cs typeface="Constantia"/>
              </a:rPr>
              <a:t> </a:t>
            </a:r>
            <a:r>
              <a:rPr sz="1800" spc="-109" dirty="0" smtClean="0">
                <a:latin typeface="Constantia"/>
                <a:cs typeface="Constantia"/>
              </a:rPr>
              <a:t>T</a:t>
            </a:r>
            <a:r>
              <a:rPr sz="1800" spc="-19" dirty="0" smtClean="0">
                <a:latin typeface="Constantia"/>
                <a:cs typeface="Constantia"/>
              </a:rPr>
              <a:t>r</a:t>
            </a:r>
            <a:r>
              <a:rPr sz="1800" spc="0" dirty="0" smtClean="0">
                <a:latin typeface="Constantia"/>
                <a:cs typeface="Constantia"/>
              </a:rPr>
              <a:t>eatment</a:t>
            </a:r>
            <a:r>
              <a:rPr sz="1800" spc="-84" dirty="0" smtClean="0">
                <a:latin typeface="Constantia"/>
                <a:cs typeface="Constantia"/>
              </a:rPr>
              <a:t> </a:t>
            </a:r>
            <a:r>
              <a:rPr sz="1800" spc="0" dirty="0" smtClean="0">
                <a:latin typeface="Constantia"/>
                <a:cs typeface="Constantia"/>
              </a:rPr>
              <a:t>of </a:t>
            </a:r>
            <a:r>
              <a:rPr sz="1800" spc="-9" dirty="0" smtClean="0">
                <a:latin typeface="Constantia"/>
                <a:cs typeface="Constantia"/>
              </a:rPr>
              <a:t>w</a:t>
            </a:r>
            <a:r>
              <a:rPr sz="1800" spc="0" dirty="0" smtClean="0">
                <a:latin typeface="Constantia"/>
                <a:cs typeface="Constantia"/>
              </a:rPr>
              <a:t>a</a:t>
            </a:r>
            <a:r>
              <a:rPr sz="1800" spc="-25" dirty="0" smtClean="0">
                <a:latin typeface="Constantia"/>
                <a:cs typeface="Constantia"/>
              </a:rPr>
              <a:t>t</a:t>
            </a:r>
            <a:r>
              <a:rPr sz="1800" spc="0" dirty="0" smtClean="0">
                <a:latin typeface="Constantia"/>
                <a:cs typeface="Constantia"/>
              </a:rPr>
              <a:t>er        </a:t>
            </a:r>
            <a:r>
              <a:rPr sz="1800" spc="340" dirty="0" smtClean="0">
                <a:latin typeface="Constantia"/>
                <a:cs typeface="Constantia"/>
              </a:rPr>
              <a:t> </a:t>
            </a:r>
            <a:r>
              <a:rPr sz="1800" spc="-29" dirty="0" smtClean="0">
                <a:latin typeface="Constantia"/>
                <a:cs typeface="Constantia"/>
              </a:rPr>
              <a:t>N</a:t>
            </a:r>
            <a:r>
              <a:rPr sz="1800" spc="0" dirty="0" smtClean="0">
                <a:latin typeface="Constantia"/>
                <a:cs typeface="Constantia"/>
              </a:rPr>
              <a:t>ot</a:t>
            </a:r>
            <a:r>
              <a:rPr sz="1800" spc="-64" dirty="0" smtClean="0">
                <a:latin typeface="Constantia"/>
                <a:cs typeface="Constantia"/>
              </a:rPr>
              <a:t> </a:t>
            </a:r>
            <a:r>
              <a:rPr sz="1800" spc="0" dirty="0" smtClean="0">
                <a:latin typeface="Constantia"/>
                <a:cs typeface="Constantia"/>
              </a:rPr>
              <a:t>so</a:t>
            </a:r>
            <a:r>
              <a:rPr sz="1800" spc="-50" dirty="0" smtClean="0">
                <a:latin typeface="Constantia"/>
                <a:cs typeface="Constantia"/>
              </a:rPr>
              <a:t> </a:t>
            </a:r>
            <a:r>
              <a:rPr sz="1800" spc="0" dirty="0" smtClean="0">
                <a:latin typeface="Constantia"/>
                <a:cs typeface="Constantia"/>
              </a:rPr>
              <a:t>ne</a:t>
            </a:r>
            <a:r>
              <a:rPr sz="1800" spc="-39" dirty="0" smtClean="0">
                <a:latin typeface="Constantia"/>
                <a:cs typeface="Constantia"/>
              </a:rPr>
              <a:t>c</a:t>
            </a:r>
            <a:r>
              <a:rPr sz="1800" spc="0" dirty="0" smtClean="0">
                <a:latin typeface="Constantia"/>
                <a:cs typeface="Constantia"/>
              </a:rPr>
              <a:t>es</a:t>
            </a:r>
            <a:r>
              <a:rPr sz="1800" spc="4" dirty="0" smtClean="0">
                <a:latin typeface="Constantia"/>
                <a:cs typeface="Constantia"/>
              </a:rPr>
              <a:t>s</a:t>
            </a:r>
            <a:r>
              <a:rPr sz="1800" spc="0" dirty="0" smtClean="0">
                <a:latin typeface="Constantia"/>
                <a:cs typeface="Constantia"/>
              </a:rPr>
              <a:t>a</a:t>
            </a:r>
            <a:r>
              <a:rPr sz="1800" spc="29" dirty="0" smtClean="0">
                <a:latin typeface="Constantia"/>
                <a:cs typeface="Constantia"/>
              </a:rPr>
              <a:t>r</a:t>
            </a:r>
            <a:r>
              <a:rPr sz="1800" spc="0" dirty="0" smtClean="0">
                <a:latin typeface="Constantia"/>
                <a:cs typeface="Constantia"/>
              </a:rPr>
              <a:t>y                   </a:t>
            </a:r>
            <a:r>
              <a:rPr sz="1800" spc="104" dirty="0" smtClean="0">
                <a:latin typeface="Constantia"/>
                <a:cs typeface="Constantia"/>
              </a:rPr>
              <a:t> </a:t>
            </a:r>
            <a:r>
              <a:rPr sz="1800" spc="-34" dirty="0" smtClean="0">
                <a:latin typeface="Constantia"/>
                <a:cs typeface="Constantia"/>
              </a:rPr>
              <a:t>M</a:t>
            </a:r>
            <a:r>
              <a:rPr sz="1800" spc="0" dirty="0" smtClean="0">
                <a:latin typeface="Constantia"/>
                <a:cs typeface="Constantia"/>
              </a:rPr>
              <a:t>o</a:t>
            </a:r>
            <a:r>
              <a:rPr sz="1800" spc="-19" dirty="0" smtClean="0">
                <a:latin typeface="Constantia"/>
                <a:cs typeface="Constantia"/>
              </a:rPr>
              <a:t>r</a:t>
            </a:r>
            <a:r>
              <a:rPr sz="1800" spc="0" dirty="0" smtClean="0">
                <a:latin typeface="Constantia"/>
                <a:cs typeface="Constantia"/>
              </a:rPr>
              <a:t>e</a:t>
            </a:r>
            <a:r>
              <a:rPr sz="1800" spc="-50" dirty="0" smtClean="0">
                <a:latin typeface="Constantia"/>
                <a:cs typeface="Constantia"/>
              </a:rPr>
              <a:t> </a:t>
            </a:r>
            <a:r>
              <a:rPr sz="1800" spc="0" dirty="0" smtClean="0">
                <a:latin typeface="Constantia"/>
                <a:cs typeface="Constantia"/>
              </a:rPr>
              <a:t>ne</a:t>
            </a:r>
            <a:r>
              <a:rPr sz="1800" spc="-39" dirty="0" smtClean="0">
                <a:latin typeface="Constantia"/>
                <a:cs typeface="Constantia"/>
              </a:rPr>
              <a:t>c</a:t>
            </a:r>
            <a:r>
              <a:rPr sz="1800" spc="0" dirty="0" smtClean="0">
                <a:latin typeface="Constantia"/>
                <a:cs typeface="Constantia"/>
              </a:rPr>
              <a:t>es</a:t>
            </a:r>
            <a:r>
              <a:rPr sz="1800" spc="4" dirty="0" smtClean="0">
                <a:latin typeface="Constantia"/>
                <a:cs typeface="Constantia"/>
              </a:rPr>
              <a:t>s</a:t>
            </a:r>
            <a:r>
              <a:rPr sz="1800" spc="0" dirty="0" smtClean="0">
                <a:latin typeface="Constantia"/>
                <a:cs typeface="Constantia"/>
              </a:rPr>
              <a:t>a</a:t>
            </a:r>
            <a:r>
              <a:rPr sz="1800" spc="29" dirty="0" smtClean="0">
                <a:latin typeface="Constantia"/>
                <a:cs typeface="Constantia"/>
              </a:rPr>
              <a:t>r</a:t>
            </a:r>
            <a:r>
              <a:rPr sz="1800" spc="0" dirty="0" smtClean="0">
                <a:latin typeface="Constantia"/>
                <a:cs typeface="Constantia"/>
              </a:rPr>
              <a:t>y</a:t>
            </a:r>
            <a:endParaRPr sz="1800">
              <a:latin typeface="Constantia"/>
              <a:cs typeface="Constantia"/>
            </a:endParaRPr>
          </a:p>
        </p:txBody>
      </p:sp>
      <p:sp>
        <p:nvSpPr>
          <p:cNvPr id="5" name="object 5"/>
          <p:cNvSpPr txBox="1"/>
          <p:nvPr/>
        </p:nvSpPr>
        <p:spPr>
          <a:xfrm>
            <a:off x="304800" y="4485411"/>
            <a:ext cx="8534400" cy="666216"/>
          </a:xfrm>
          <a:prstGeom prst="rect">
            <a:avLst/>
          </a:prstGeom>
        </p:spPr>
        <p:txBody>
          <a:bodyPr wrap="square" lIns="0" tIns="39370" rIns="0" bIns="0" rtlCol="0">
            <a:noAutofit/>
          </a:bodyPr>
          <a:lstStyle/>
          <a:p>
            <a:pPr marL="91439">
              <a:lnSpc>
                <a:spcPts val="2001"/>
              </a:lnSpc>
            </a:pPr>
            <a:r>
              <a:rPr sz="1800" spc="0" dirty="0" smtClean="0">
                <a:latin typeface="Constantia"/>
                <a:cs typeface="Constantia"/>
              </a:rPr>
              <a:t>6.         </a:t>
            </a:r>
            <a:r>
              <a:rPr sz="1800" spc="69" dirty="0" smtClean="0">
                <a:latin typeface="Constantia"/>
                <a:cs typeface="Constantia"/>
              </a:rPr>
              <a:t> </a:t>
            </a:r>
            <a:r>
              <a:rPr sz="1600" spc="0" dirty="0" smtClean="0">
                <a:latin typeface="Constantia"/>
                <a:cs typeface="Constantia"/>
              </a:rPr>
              <a:t>O</a:t>
            </a:r>
            <a:r>
              <a:rPr sz="1600" spc="-4" dirty="0" smtClean="0">
                <a:latin typeface="Constantia"/>
                <a:cs typeface="Constantia"/>
              </a:rPr>
              <a:t>p</a:t>
            </a:r>
            <a:r>
              <a:rPr sz="1600" spc="0" dirty="0" smtClean="0">
                <a:latin typeface="Constantia"/>
                <a:cs typeface="Constantia"/>
              </a:rPr>
              <a:t>e</a:t>
            </a:r>
            <a:r>
              <a:rPr sz="1600" spc="-19" dirty="0" smtClean="0">
                <a:latin typeface="Constantia"/>
                <a:cs typeface="Constantia"/>
              </a:rPr>
              <a:t>r</a:t>
            </a:r>
            <a:r>
              <a:rPr sz="1600" spc="0" dirty="0" smtClean="0">
                <a:latin typeface="Constantia"/>
                <a:cs typeface="Constantia"/>
              </a:rPr>
              <a:t>at</a:t>
            </a:r>
            <a:r>
              <a:rPr sz="1600" spc="4" dirty="0" smtClean="0">
                <a:latin typeface="Constantia"/>
                <a:cs typeface="Constantia"/>
              </a:rPr>
              <a:t>i</a:t>
            </a:r>
            <a:r>
              <a:rPr sz="1600" spc="-4" dirty="0" smtClean="0">
                <a:latin typeface="Constantia"/>
                <a:cs typeface="Constantia"/>
              </a:rPr>
              <a:t>n</a:t>
            </a:r>
            <a:r>
              <a:rPr sz="1600" spc="0" dirty="0" smtClean="0">
                <a:latin typeface="Constantia"/>
                <a:cs typeface="Constantia"/>
              </a:rPr>
              <a:t>g</a:t>
            </a:r>
            <a:r>
              <a:rPr sz="1600" spc="-80" dirty="0" smtClean="0">
                <a:latin typeface="Constantia"/>
                <a:cs typeface="Constantia"/>
              </a:rPr>
              <a:t> </a:t>
            </a:r>
            <a:r>
              <a:rPr sz="1600" spc="-4" dirty="0" smtClean="0">
                <a:latin typeface="Constantia"/>
                <a:cs typeface="Constantia"/>
              </a:rPr>
              <a:t>p</a:t>
            </a:r>
            <a:r>
              <a:rPr sz="1600" spc="-25" dirty="0" smtClean="0">
                <a:latin typeface="Constantia"/>
                <a:cs typeface="Constantia"/>
              </a:rPr>
              <a:t>r</a:t>
            </a:r>
            <a:r>
              <a:rPr sz="1600" spc="0" dirty="0" smtClean="0">
                <a:latin typeface="Constantia"/>
                <a:cs typeface="Constantia"/>
              </a:rPr>
              <a:t>e</a:t>
            </a:r>
            <a:r>
              <a:rPr sz="1600" spc="4" dirty="0" smtClean="0">
                <a:latin typeface="Constantia"/>
                <a:cs typeface="Constantia"/>
              </a:rPr>
              <a:t>s</a:t>
            </a:r>
            <a:r>
              <a:rPr sz="1600" spc="0" dirty="0" smtClean="0">
                <a:latin typeface="Constantia"/>
                <a:cs typeface="Constantia"/>
              </a:rPr>
              <a:t>s</a:t>
            </a:r>
            <a:r>
              <a:rPr sz="1600" spc="4" dirty="0" smtClean="0">
                <a:latin typeface="Constantia"/>
                <a:cs typeface="Constantia"/>
              </a:rPr>
              <a:t>u</a:t>
            </a:r>
            <a:r>
              <a:rPr sz="1600" spc="-25" dirty="0" smtClean="0">
                <a:latin typeface="Constantia"/>
                <a:cs typeface="Constantia"/>
              </a:rPr>
              <a:t>r</a:t>
            </a:r>
            <a:r>
              <a:rPr sz="1600" spc="0" dirty="0" smtClean="0">
                <a:latin typeface="Constantia"/>
                <a:cs typeface="Constantia"/>
              </a:rPr>
              <a:t>e             </a:t>
            </a:r>
            <a:r>
              <a:rPr sz="1600" spc="306" dirty="0" smtClean="0">
                <a:latin typeface="Constantia"/>
                <a:cs typeface="Constantia"/>
              </a:rPr>
              <a:t> </a:t>
            </a:r>
            <a:r>
              <a:rPr sz="1800" spc="0" dirty="0" smtClean="0">
                <a:latin typeface="Constantia"/>
                <a:cs typeface="Constantia"/>
              </a:rPr>
              <a:t>L</a:t>
            </a:r>
            <a:r>
              <a:rPr sz="1800" spc="-9" dirty="0" smtClean="0">
                <a:latin typeface="Constantia"/>
                <a:cs typeface="Constantia"/>
              </a:rPr>
              <a:t>i</a:t>
            </a:r>
            <a:r>
              <a:rPr sz="1800" spc="0" dirty="0" smtClean="0">
                <a:latin typeface="Constantia"/>
                <a:cs typeface="Constantia"/>
              </a:rPr>
              <a:t>mi</a:t>
            </a:r>
            <a:r>
              <a:rPr sz="1800" spc="-29" dirty="0" smtClean="0">
                <a:latin typeface="Constantia"/>
                <a:cs typeface="Constantia"/>
              </a:rPr>
              <a:t>t</a:t>
            </a:r>
            <a:r>
              <a:rPr sz="1800" spc="0" dirty="0" smtClean="0">
                <a:latin typeface="Constantia"/>
                <a:cs typeface="Constantia"/>
              </a:rPr>
              <a:t>ed</a:t>
            </a:r>
            <a:r>
              <a:rPr sz="1800" spc="4" dirty="0" smtClean="0">
                <a:latin typeface="Constantia"/>
                <a:cs typeface="Constantia"/>
              </a:rPr>
              <a:t> </a:t>
            </a:r>
            <a:r>
              <a:rPr sz="1800" spc="-25" dirty="0" smtClean="0">
                <a:latin typeface="Constantia"/>
                <a:cs typeface="Constantia"/>
              </a:rPr>
              <a:t>t</a:t>
            </a:r>
            <a:r>
              <a:rPr sz="1800" spc="0" dirty="0" smtClean="0">
                <a:latin typeface="Constantia"/>
                <a:cs typeface="Constantia"/>
              </a:rPr>
              <a:t>o</a:t>
            </a:r>
            <a:r>
              <a:rPr sz="1800" spc="-50" dirty="0" smtClean="0">
                <a:latin typeface="Constantia"/>
                <a:cs typeface="Constantia"/>
              </a:rPr>
              <a:t> </a:t>
            </a:r>
            <a:r>
              <a:rPr sz="1800" spc="0" dirty="0" smtClean="0">
                <a:latin typeface="Constantia"/>
                <a:cs typeface="Constantia"/>
              </a:rPr>
              <a:t>16</a:t>
            </a:r>
            <a:r>
              <a:rPr sz="1800" spc="4" dirty="0" smtClean="0">
                <a:latin typeface="Constantia"/>
                <a:cs typeface="Constantia"/>
              </a:rPr>
              <a:t> b</a:t>
            </a:r>
            <a:r>
              <a:rPr sz="1800" spc="0" dirty="0" smtClean="0">
                <a:latin typeface="Constantia"/>
                <a:cs typeface="Constantia"/>
              </a:rPr>
              <a:t>ar                  </a:t>
            </a:r>
            <a:r>
              <a:rPr sz="1800" spc="385" dirty="0" smtClean="0">
                <a:latin typeface="Constantia"/>
                <a:cs typeface="Constantia"/>
              </a:rPr>
              <a:t> </a:t>
            </a:r>
            <a:r>
              <a:rPr sz="1600" spc="-34" dirty="0" smtClean="0">
                <a:latin typeface="Constantia"/>
                <a:cs typeface="Constantia"/>
              </a:rPr>
              <a:t>U</a:t>
            </a:r>
            <a:r>
              <a:rPr sz="1600" spc="-4" dirty="0" smtClean="0">
                <a:latin typeface="Constantia"/>
                <a:cs typeface="Constantia"/>
              </a:rPr>
              <a:t>nd</a:t>
            </a:r>
            <a:r>
              <a:rPr sz="1600" spc="0" dirty="0" smtClean="0">
                <a:latin typeface="Constantia"/>
                <a:cs typeface="Constantia"/>
              </a:rPr>
              <a:t>er</a:t>
            </a:r>
            <a:r>
              <a:rPr sz="1600" spc="330" dirty="0" smtClean="0">
                <a:latin typeface="Constantia"/>
                <a:cs typeface="Constantia"/>
              </a:rPr>
              <a:t> </a:t>
            </a:r>
            <a:r>
              <a:rPr sz="1600" spc="-4" dirty="0" smtClean="0">
                <a:latin typeface="Constantia"/>
                <a:cs typeface="Constantia"/>
              </a:rPr>
              <a:t>h</a:t>
            </a:r>
            <a:r>
              <a:rPr sz="1600" spc="0" dirty="0" smtClean="0">
                <a:latin typeface="Constantia"/>
                <a:cs typeface="Constantia"/>
              </a:rPr>
              <a:t>igh</a:t>
            </a:r>
            <a:r>
              <a:rPr sz="1600" spc="-86" dirty="0" smtClean="0">
                <a:latin typeface="Constantia"/>
                <a:cs typeface="Constantia"/>
              </a:rPr>
              <a:t> </a:t>
            </a:r>
            <a:r>
              <a:rPr sz="1600" spc="-4" dirty="0" smtClean="0">
                <a:latin typeface="Constantia"/>
                <a:cs typeface="Constantia"/>
              </a:rPr>
              <a:t>p</a:t>
            </a:r>
            <a:r>
              <a:rPr sz="1600" spc="-25" dirty="0" smtClean="0">
                <a:latin typeface="Constantia"/>
                <a:cs typeface="Constantia"/>
              </a:rPr>
              <a:t>r</a:t>
            </a:r>
            <a:r>
              <a:rPr sz="1600" spc="0" dirty="0" smtClean="0">
                <a:latin typeface="Constantia"/>
                <a:cs typeface="Constantia"/>
              </a:rPr>
              <a:t>e</a:t>
            </a:r>
            <a:r>
              <a:rPr sz="1600" spc="4" dirty="0" smtClean="0">
                <a:latin typeface="Constantia"/>
                <a:cs typeface="Constantia"/>
              </a:rPr>
              <a:t>s</a:t>
            </a:r>
            <a:r>
              <a:rPr sz="1600" spc="0" dirty="0" smtClean="0">
                <a:latin typeface="Constantia"/>
                <a:cs typeface="Constantia"/>
              </a:rPr>
              <a:t>s</a:t>
            </a:r>
            <a:r>
              <a:rPr sz="1600" spc="4" dirty="0" smtClean="0">
                <a:latin typeface="Constantia"/>
                <a:cs typeface="Constantia"/>
              </a:rPr>
              <a:t>u</a:t>
            </a:r>
            <a:r>
              <a:rPr sz="1600" spc="-25" dirty="0" smtClean="0">
                <a:latin typeface="Constantia"/>
                <a:cs typeface="Constantia"/>
              </a:rPr>
              <a:t>r</a:t>
            </a:r>
            <a:r>
              <a:rPr sz="1600" spc="0" dirty="0" smtClean="0">
                <a:latin typeface="Constantia"/>
                <a:cs typeface="Constantia"/>
              </a:rPr>
              <a:t>e</a:t>
            </a:r>
            <a:r>
              <a:rPr sz="1600" spc="-128" dirty="0" smtClean="0">
                <a:latin typeface="Constantia"/>
                <a:cs typeface="Constantia"/>
              </a:rPr>
              <a:t> </a:t>
            </a:r>
            <a:r>
              <a:rPr sz="1600" spc="0" dirty="0" smtClean="0">
                <a:latin typeface="Constantia"/>
                <a:cs typeface="Constantia"/>
              </a:rPr>
              <a:t>as</a:t>
            </a:r>
            <a:endParaRPr sz="1600">
              <a:latin typeface="Constantia"/>
              <a:cs typeface="Constantia"/>
            </a:endParaRPr>
          </a:p>
          <a:p>
            <a:pPr marR="1827277" algn="r">
              <a:lnSpc>
                <a:spcPts val="1670"/>
              </a:lnSpc>
              <a:spcBef>
                <a:spcPts val="283"/>
              </a:spcBef>
            </a:pPr>
            <a:r>
              <a:rPr sz="1600" spc="-5" dirty="0" smtClean="0">
                <a:latin typeface="Constantia"/>
                <a:cs typeface="Constantia"/>
              </a:rPr>
              <a:t>100 bar</a:t>
            </a:r>
            <a:endParaRPr sz="1600">
              <a:latin typeface="Constantia"/>
              <a:cs typeface="Constantia"/>
            </a:endParaRPr>
          </a:p>
        </p:txBody>
      </p:sp>
      <p:sp>
        <p:nvSpPr>
          <p:cNvPr id="4" name="object 4"/>
          <p:cNvSpPr txBox="1"/>
          <p:nvPr/>
        </p:nvSpPr>
        <p:spPr>
          <a:xfrm>
            <a:off x="304800" y="5151628"/>
            <a:ext cx="8534400" cy="426586"/>
          </a:xfrm>
          <a:prstGeom prst="rect">
            <a:avLst/>
          </a:prstGeom>
        </p:spPr>
        <p:txBody>
          <a:bodyPr wrap="square" lIns="0" tIns="37465" rIns="0" bIns="0" rtlCol="0">
            <a:noAutofit/>
          </a:bodyPr>
          <a:lstStyle/>
          <a:p>
            <a:pPr marL="91439">
              <a:lnSpc>
                <a:spcPct val="101725"/>
              </a:lnSpc>
            </a:pPr>
            <a:r>
              <a:rPr sz="1800" spc="4" dirty="0" smtClean="0">
                <a:latin typeface="Constantia"/>
                <a:cs typeface="Constantia"/>
              </a:rPr>
              <a:t>7</a:t>
            </a:r>
            <a:r>
              <a:rPr sz="1800" spc="0" dirty="0" smtClean="0">
                <a:latin typeface="Constantia"/>
                <a:cs typeface="Constantia"/>
              </a:rPr>
              <a:t>.         </a:t>
            </a:r>
            <a:r>
              <a:rPr sz="1800" spc="164" dirty="0" smtClean="0">
                <a:latin typeface="Constantia"/>
                <a:cs typeface="Constantia"/>
              </a:rPr>
              <a:t> </a:t>
            </a:r>
            <a:r>
              <a:rPr sz="1800" spc="0" dirty="0" smtClean="0">
                <a:latin typeface="Constantia"/>
                <a:cs typeface="Constantia"/>
              </a:rPr>
              <a:t>Floor</a:t>
            </a:r>
            <a:r>
              <a:rPr sz="1800" spc="-109" dirty="0" smtClean="0">
                <a:latin typeface="Constantia"/>
                <a:cs typeface="Constantia"/>
              </a:rPr>
              <a:t> </a:t>
            </a:r>
            <a:r>
              <a:rPr sz="1800" spc="0" dirty="0" smtClean="0">
                <a:latin typeface="Constantia"/>
                <a:cs typeface="Constantia"/>
              </a:rPr>
              <a:t>a</a:t>
            </a:r>
            <a:r>
              <a:rPr sz="1800" spc="-19" dirty="0" smtClean="0">
                <a:latin typeface="Constantia"/>
                <a:cs typeface="Constantia"/>
              </a:rPr>
              <a:t>r</a:t>
            </a:r>
            <a:r>
              <a:rPr sz="1800" spc="0" dirty="0" smtClean="0">
                <a:latin typeface="Constantia"/>
                <a:cs typeface="Constantia"/>
              </a:rPr>
              <a:t>ea                        </a:t>
            </a:r>
            <a:r>
              <a:rPr sz="1800" spc="240" dirty="0" smtClean="0">
                <a:latin typeface="Constantia"/>
                <a:cs typeface="Constantia"/>
              </a:rPr>
              <a:t> </a:t>
            </a:r>
            <a:r>
              <a:rPr sz="1800" spc="-34" dirty="0" smtClean="0">
                <a:latin typeface="Constantia"/>
                <a:cs typeface="Constantia"/>
              </a:rPr>
              <a:t>M</a:t>
            </a:r>
            <a:r>
              <a:rPr sz="1800" spc="0" dirty="0" smtClean="0">
                <a:latin typeface="Constantia"/>
                <a:cs typeface="Constantia"/>
              </a:rPr>
              <a:t>o</a:t>
            </a:r>
            <a:r>
              <a:rPr sz="1800" spc="-19" dirty="0" smtClean="0">
                <a:latin typeface="Constantia"/>
                <a:cs typeface="Constantia"/>
              </a:rPr>
              <a:t>r</a:t>
            </a:r>
            <a:r>
              <a:rPr sz="1800" spc="0" dirty="0" smtClean="0">
                <a:latin typeface="Constantia"/>
                <a:cs typeface="Constantia"/>
              </a:rPr>
              <a:t>e</a:t>
            </a:r>
            <a:r>
              <a:rPr sz="1800" spc="-64" dirty="0" smtClean="0">
                <a:latin typeface="Constantia"/>
                <a:cs typeface="Constantia"/>
              </a:rPr>
              <a:t> </a:t>
            </a:r>
            <a:r>
              <a:rPr sz="1800" spc="139" dirty="0" smtClean="0">
                <a:latin typeface="Constantia"/>
                <a:cs typeface="Constantia"/>
              </a:rPr>
              <a:t>f</a:t>
            </a:r>
            <a:r>
              <a:rPr sz="1800" spc="0" dirty="0" smtClean="0">
                <a:latin typeface="Constantia"/>
                <a:cs typeface="Constantia"/>
              </a:rPr>
              <a:t>loor</a:t>
            </a:r>
            <a:r>
              <a:rPr sz="1800" spc="-100" dirty="0" smtClean="0">
                <a:latin typeface="Constantia"/>
                <a:cs typeface="Constantia"/>
              </a:rPr>
              <a:t> </a:t>
            </a:r>
            <a:r>
              <a:rPr sz="1800" spc="0" dirty="0" smtClean="0">
                <a:latin typeface="Constantia"/>
                <a:cs typeface="Constantia"/>
              </a:rPr>
              <a:t>a</a:t>
            </a:r>
            <a:r>
              <a:rPr sz="1800" spc="-19" dirty="0" smtClean="0">
                <a:latin typeface="Constantia"/>
                <a:cs typeface="Constantia"/>
              </a:rPr>
              <a:t>r</a:t>
            </a:r>
            <a:r>
              <a:rPr sz="1800" spc="0" dirty="0" smtClean="0">
                <a:latin typeface="Constantia"/>
                <a:cs typeface="Constantia"/>
              </a:rPr>
              <a:t>ea                     </a:t>
            </a:r>
            <a:r>
              <a:rPr sz="1800" spc="154" dirty="0" smtClean="0">
                <a:latin typeface="Constantia"/>
                <a:cs typeface="Constantia"/>
              </a:rPr>
              <a:t> </a:t>
            </a:r>
            <a:r>
              <a:rPr sz="1800" spc="19" dirty="0" smtClean="0">
                <a:latin typeface="Constantia"/>
                <a:cs typeface="Constantia"/>
              </a:rPr>
              <a:t>L</a:t>
            </a:r>
            <a:r>
              <a:rPr sz="1800" spc="0" dirty="0" smtClean="0">
                <a:latin typeface="Constantia"/>
                <a:cs typeface="Constantia"/>
              </a:rPr>
              <a:t>ess</a:t>
            </a:r>
            <a:r>
              <a:rPr sz="1800" spc="-44" dirty="0" smtClean="0">
                <a:latin typeface="Constantia"/>
                <a:cs typeface="Constantia"/>
              </a:rPr>
              <a:t> </a:t>
            </a:r>
            <a:r>
              <a:rPr sz="1800" spc="139" dirty="0" smtClean="0">
                <a:latin typeface="Constantia"/>
                <a:cs typeface="Constantia"/>
              </a:rPr>
              <a:t>f</a:t>
            </a:r>
            <a:r>
              <a:rPr sz="1800" spc="0" dirty="0" smtClean="0">
                <a:latin typeface="Constantia"/>
                <a:cs typeface="Constantia"/>
              </a:rPr>
              <a:t>loor</a:t>
            </a:r>
            <a:r>
              <a:rPr sz="1800" spc="-109" dirty="0" smtClean="0">
                <a:latin typeface="Constantia"/>
                <a:cs typeface="Constantia"/>
              </a:rPr>
              <a:t> </a:t>
            </a:r>
            <a:r>
              <a:rPr sz="1800" spc="0" dirty="0" smtClean="0">
                <a:latin typeface="Constantia"/>
                <a:cs typeface="Constantia"/>
              </a:rPr>
              <a:t>a</a:t>
            </a:r>
            <a:r>
              <a:rPr sz="1800" spc="-19" dirty="0" smtClean="0">
                <a:latin typeface="Constantia"/>
                <a:cs typeface="Constantia"/>
              </a:rPr>
              <a:t>r</a:t>
            </a:r>
            <a:r>
              <a:rPr sz="1800" spc="0" dirty="0" smtClean="0">
                <a:latin typeface="Constantia"/>
                <a:cs typeface="Constantia"/>
              </a:rPr>
              <a:t>ea</a:t>
            </a:r>
            <a:endParaRPr sz="1800">
              <a:latin typeface="Constantia"/>
              <a:cs typeface="Constantia"/>
            </a:endParaRPr>
          </a:p>
        </p:txBody>
      </p:sp>
      <p:sp>
        <p:nvSpPr>
          <p:cNvPr id="3" name="object 3"/>
          <p:cNvSpPr txBox="1"/>
          <p:nvPr/>
        </p:nvSpPr>
        <p:spPr>
          <a:xfrm>
            <a:off x="304800" y="5578214"/>
            <a:ext cx="8534400" cy="426593"/>
          </a:xfrm>
          <a:prstGeom prst="rect">
            <a:avLst/>
          </a:prstGeom>
        </p:spPr>
        <p:txBody>
          <a:bodyPr wrap="square" lIns="0" tIns="38100" rIns="0" bIns="0" rtlCol="0">
            <a:noAutofit/>
          </a:bodyPr>
          <a:lstStyle/>
          <a:p>
            <a:pPr marL="91439">
              <a:lnSpc>
                <a:spcPct val="101725"/>
              </a:lnSpc>
            </a:pPr>
            <a:r>
              <a:rPr sz="1800" spc="4" dirty="0" smtClean="0">
                <a:latin typeface="Constantia"/>
                <a:cs typeface="Constantia"/>
              </a:rPr>
              <a:t>8</a:t>
            </a:r>
            <a:r>
              <a:rPr sz="1800" spc="0" dirty="0" smtClean="0">
                <a:latin typeface="Constantia"/>
                <a:cs typeface="Constantia"/>
              </a:rPr>
              <a:t>.         </a:t>
            </a:r>
            <a:r>
              <a:rPr sz="1800" spc="69" dirty="0" smtClean="0">
                <a:latin typeface="Constantia"/>
                <a:cs typeface="Constantia"/>
              </a:rPr>
              <a:t> </a:t>
            </a:r>
            <a:r>
              <a:rPr sz="1800" spc="-4" dirty="0" smtClean="0">
                <a:latin typeface="Constantia"/>
                <a:cs typeface="Constantia"/>
              </a:rPr>
              <a:t>S</a:t>
            </a:r>
            <a:r>
              <a:rPr sz="1800" spc="0" dirty="0" smtClean="0">
                <a:latin typeface="Constantia"/>
                <a:cs typeface="Constantia"/>
              </a:rPr>
              <a:t>hell</a:t>
            </a:r>
            <a:r>
              <a:rPr sz="1800" spc="-54" dirty="0" smtClean="0">
                <a:latin typeface="Constantia"/>
                <a:cs typeface="Constantia"/>
              </a:rPr>
              <a:t> </a:t>
            </a:r>
            <a:r>
              <a:rPr sz="1800" spc="0" dirty="0" smtClean="0">
                <a:latin typeface="Constantia"/>
                <a:cs typeface="Constantia"/>
              </a:rPr>
              <a:t>d</a:t>
            </a:r>
            <a:r>
              <a:rPr sz="1800" spc="-4" dirty="0" smtClean="0">
                <a:latin typeface="Constantia"/>
                <a:cs typeface="Constantia"/>
              </a:rPr>
              <a:t>i</a:t>
            </a:r>
            <a:r>
              <a:rPr sz="1800" spc="0" dirty="0" smtClean="0">
                <a:latin typeface="Constantia"/>
                <a:cs typeface="Constantia"/>
              </a:rPr>
              <a:t>ame</a:t>
            </a:r>
            <a:r>
              <a:rPr sz="1800" spc="-19" dirty="0" smtClean="0">
                <a:latin typeface="Constantia"/>
                <a:cs typeface="Constantia"/>
              </a:rPr>
              <a:t>t</a:t>
            </a:r>
            <a:r>
              <a:rPr sz="1800" spc="0" dirty="0" smtClean="0">
                <a:latin typeface="Constantia"/>
                <a:cs typeface="Constantia"/>
              </a:rPr>
              <a:t>er                </a:t>
            </a:r>
            <a:r>
              <a:rPr sz="1800" spc="350" dirty="0" smtClean="0">
                <a:latin typeface="Constantia"/>
                <a:cs typeface="Constantia"/>
              </a:rPr>
              <a:t> </a:t>
            </a:r>
            <a:r>
              <a:rPr sz="1800" spc="29" dirty="0" smtClean="0">
                <a:latin typeface="Constantia"/>
                <a:cs typeface="Constantia"/>
              </a:rPr>
              <a:t>L</a:t>
            </a:r>
            <a:r>
              <a:rPr sz="1800" spc="0" dirty="0" smtClean="0">
                <a:latin typeface="Constantia"/>
                <a:cs typeface="Constantia"/>
              </a:rPr>
              <a:t>a</a:t>
            </a:r>
            <a:r>
              <a:rPr sz="1800" spc="-19" dirty="0" smtClean="0">
                <a:latin typeface="Constantia"/>
                <a:cs typeface="Constantia"/>
              </a:rPr>
              <a:t>r</a:t>
            </a:r>
            <a:r>
              <a:rPr sz="1800" spc="-50" dirty="0" smtClean="0">
                <a:latin typeface="Constantia"/>
                <a:cs typeface="Constantia"/>
              </a:rPr>
              <a:t>g</a:t>
            </a:r>
            <a:r>
              <a:rPr sz="1800" spc="0" dirty="0" smtClean="0">
                <a:latin typeface="Constantia"/>
                <a:cs typeface="Constantia"/>
              </a:rPr>
              <a:t>e</a:t>
            </a:r>
            <a:r>
              <a:rPr sz="1800" spc="-50" dirty="0" smtClean="0">
                <a:latin typeface="Constantia"/>
                <a:cs typeface="Constantia"/>
              </a:rPr>
              <a:t> </a:t>
            </a:r>
            <a:r>
              <a:rPr sz="1800" spc="-14" dirty="0" smtClean="0">
                <a:latin typeface="Constantia"/>
                <a:cs typeface="Constantia"/>
              </a:rPr>
              <a:t>f</a:t>
            </a:r>
            <a:r>
              <a:rPr sz="1800" spc="0" dirty="0" smtClean="0">
                <a:latin typeface="Constantia"/>
                <a:cs typeface="Constantia"/>
              </a:rPr>
              <a:t>or</a:t>
            </a:r>
            <a:r>
              <a:rPr sz="1800" spc="-94" dirty="0" smtClean="0">
                <a:latin typeface="Constantia"/>
                <a:cs typeface="Constantia"/>
              </a:rPr>
              <a:t> </a:t>
            </a:r>
            <a:r>
              <a:rPr sz="1800" spc="0" dirty="0" smtClean="0">
                <a:latin typeface="Constantia"/>
                <a:cs typeface="Constantia"/>
              </a:rPr>
              <a:t>same</a:t>
            </a:r>
            <a:r>
              <a:rPr sz="1800" spc="-69" dirty="0" smtClean="0">
                <a:latin typeface="Constantia"/>
                <a:cs typeface="Constantia"/>
              </a:rPr>
              <a:t> </a:t>
            </a:r>
            <a:r>
              <a:rPr sz="1800" spc="0" dirty="0" smtClean="0">
                <a:latin typeface="Constantia"/>
                <a:cs typeface="Constantia"/>
              </a:rPr>
              <a:t>p</a:t>
            </a:r>
            <a:r>
              <a:rPr sz="1800" spc="-34" dirty="0" smtClean="0">
                <a:latin typeface="Constantia"/>
                <a:cs typeface="Constantia"/>
              </a:rPr>
              <a:t>o</a:t>
            </a:r>
            <a:r>
              <a:rPr sz="1800" spc="-44" dirty="0" smtClean="0">
                <a:latin typeface="Constantia"/>
                <a:cs typeface="Constantia"/>
              </a:rPr>
              <a:t>w</a:t>
            </a:r>
            <a:r>
              <a:rPr sz="1800" spc="0" dirty="0" smtClean="0">
                <a:latin typeface="Constantia"/>
                <a:cs typeface="Constantia"/>
              </a:rPr>
              <a:t>er           </a:t>
            </a:r>
            <a:r>
              <a:rPr sz="1800" spc="184" dirty="0" smtClean="0">
                <a:latin typeface="Constantia"/>
                <a:cs typeface="Constantia"/>
              </a:rPr>
              <a:t> </a:t>
            </a:r>
            <a:r>
              <a:rPr sz="1800" spc="-4" dirty="0" smtClean="0">
                <a:latin typeface="Constantia"/>
                <a:cs typeface="Constantia"/>
              </a:rPr>
              <a:t>S</a:t>
            </a:r>
            <a:r>
              <a:rPr sz="1800" spc="0" dirty="0" smtClean="0">
                <a:latin typeface="Constantia"/>
                <a:cs typeface="Constantia"/>
              </a:rPr>
              <a:t>mall</a:t>
            </a:r>
            <a:r>
              <a:rPr sz="1800" spc="-44" dirty="0" smtClean="0">
                <a:latin typeface="Constantia"/>
                <a:cs typeface="Constantia"/>
              </a:rPr>
              <a:t> </a:t>
            </a:r>
            <a:r>
              <a:rPr sz="1800" spc="0" dirty="0" smtClean="0">
                <a:latin typeface="Constantia"/>
                <a:cs typeface="Constantia"/>
              </a:rPr>
              <a:t>same</a:t>
            </a:r>
            <a:r>
              <a:rPr sz="1800" spc="-69" dirty="0" smtClean="0">
                <a:latin typeface="Constantia"/>
                <a:cs typeface="Constantia"/>
              </a:rPr>
              <a:t> </a:t>
            </a:r>
            <a:r>
              <a:rPr sz="1800" spc="0" dirty="0" smtClean="0">
                <a:latin typeface="Constantia"/>
                <a:cs typeface="Constantia"/>
              </a:rPr>
              <a:t>p</a:t>
            </a:r>
            <a:r>
              <a:rPr sz="1800" spc="-34" dirty="0" smtClean="0">
                <a:latin typeface="Constantia"/>
                <a:cs typeface="Constantia"/>
              </a:rPr>
              <a:t>o</a:t>
            </a:r>
            <a:r>
              <a:rPr sz="1800" spc="-44" dirty="0" smtClean="0">
                <a:latin typeface="Constantia"/>
                <a:cs typeface="Constantia"/>
              </a:rPr>
              <a:t>w</a:t>
            </a:r>
            <a:r>
              <a:rPr sz="1800" spc="0" dirty="0" smtClean="0">
                <a:latin typeface="Constantia"/>
                <a:cs typeface="Constantia"/>
              </a:rPr>
              <a:t>er</a:t>
            </a:r>
            <a:endParaRPr sz="1800">
              <a:latin typeface="Constantia"/>
              <a:cs typeface="Constantia"/>
            </a:endParaRPr>
          </a:p>
        </p:txBody>
      </p:sp>
      <p:sp>
        <p:nvSpPr>
          <p:cNvPr id="2" name="object 2"/>
          <p:cNvSpPr txBox="1"/>
          <p:nvPr/>
        </p:nvSpPr>
        <p:spPr>
          <a:xfrm>
            <a:off x="304800" y="6004807"/>
            <a:ext cx="8534400" cy="426599"/>
          </a:xfrm>
          <a:prstGeom prst="rect">
            <a:avLst/>
          </a:prstGeom>
        </p:spPr>
        <p:txBody>
          <a:bodyPr wrap="square" lIns="0" tIns="38100" rIns="0" bIns="0" rtlCol="0">
            <a:noAutofit/>
          </a:bodyPr>
          <a:lstStyle/>
          <a:p>
            <a:pPr marL="91439">
              <a:lnSpc>
                <a:spcPct val="101725"/>
              </a:lnSpc>
            </a:pPr>
            <a:r>
              <a:rPr sz="1800" spc="0" dirty="0" smtClean="0">
                <a:latin typeface="Constantia"/>
                <a:cs typeface="Constantia"/>
              </a:rPr>
              <a:t>9.         </a:t>
            </a:r>
            <a:r>
              <a:rPr sz="1800" spc="54" dirty="0" smtClean="0">
                <a:latin typeface="Constantia"/>
                <a:cs typeface="Constantia"/>
              </a:rPr>
              <a:t> </a:t>
            </a:r>
            <a:r>
              <a:rPr sz="1800" spc="0" dirty="0" smtClean="0">
                <a:latin typeface="Constantia"/>
                <a:cs typeface="Constantia"/>
              </a:rPr>
              <a:t>e</a:t>
            </a:r>
            <a:r>
              <a:rPr sz="1800" spc="-9" dirty="0" smtClean="0">
                <a:latin typeface="Constantia"/>
                <a:cs typeface="Constantia"/>
              </a:rPr>
              <a:t>x</a:t>
            </a:r>
            <a:r>
              <a:rPr sz="1800" spc="0" dirty="0" smtClean="0">
                <a:latin typeface="Constantia"/>
                <a:cs typeface="Constantia"/>
              </a:rPr>
              <a:t>plos</a:t>
            </a:r>
            <a:r>
              <a:rPr sz="1800" spc="-4" dirty="0" smtClean="0">
                <a:latin typeface="Constantia"/>
                <a:cs typeface="Constantia"/>
              </a:rPr>
              <a:t>i</a:t>
            </a:r>
            <a:r>
              <a:rPr sz="1800" spc="0" dirty="0" smtClean="0">
                <a:latin typeface="Constantia"/>
                <a:cs typeface="Constantia"/>
              </a:rPr>
              <a:t>on                         </a:t>
            </a:r>
            <a:r>
              <a:rPr sz="1800" spc="44" dirty="0" smtClean="0">
                <a:latin typeface="Constantia"/>
                <a:cs typeface="Constantia"/>
              </a:rPr>
              <a:t> </a:t>
            </a:r>
            <a:r>
              <a:rPr sz="1800" spc="19" dirty="0" smtClean="0">
                <a:latin typeface="Constantia"/>
                <a:cs typeface="Constantia"/>
              </a:rPr>
              <a:t>L</a:t>
            </a:r>
            <a:r>
              <a:rPr sz="1800" spc="0" dirty="0" smtClean="0">
                <a:latin typeface="Constantia"/>
                <a:cs typeface="Constantia"/>
              </a:rPr>
              <a:t>ess                                        </a:t>
            </a:r>
            <a:r>
              <a:rPr sz="1800" spc="204" dirty="0" smtClean="0">
                <a:latin typeface="Constantia"/>
                <a:cs typeface="Constantia"/>
              </a:rPr>
              <a:t> </a:t>
            </a:r>
            <a:r>
              <a:rPr sz="1800" spc="-34" dirty="0" smtClean="0">
                <a:latin typeface="Constantia"/>
                <a:cs typeface="Constantia"/>
              </a:rPr>
              <a:t>M</a:t>
            </a:r>
            <a:r>
              <a:rPr sz="1800" spc="0" dirty="0" smtClean="0">
                <a:latin typeface="Constantia"/>
                <a:cs typeface="Constantia"/>
              </a:rPr>
              <a:t>o</a:t>
            </a:r>
            <a:r>
              <a:rPr sz="1800" spc="-19" dirty="0" smtClean="0">
                <a:latin typeface="Constantia"/>
                <a:cs typeface="Constantia"/>
              </a:rPr>
              <a:t>r</a:t>
            </a:r>
            <a:r>
              <a:rPr sz="1800" spc="0" dirty="0" smtClean="0">
                <a:latin typeface="Constantia"/>
                <a:cs typeface="Constantia"/>
              </a:rPr>
              <a:t>e</a:t>
            </a:r>
            <a:endParaRPr sz="1800">
              <a:latin typeface="Constantia"/>
              <a:cs typeface="Constanti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15" name="object 15"/>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6" name="object 16"/>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7" name="object 17"/>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8" name="object 18"/>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9" name="object 19"/>
          <p:cNvSpPr/>
          <p:nvPr/>
        </p:nvSpPr>
        <p:spPr>
          <a:xfrm>
            <a:off x="5943600" y="1905000"/>
            <a:ext cx="2590800" cy="1943100"/>
          </a:xfrm>
          <a:prstGeom prst="rect">
            <a:avLst/>
          </a:prstGeom>
          <a:blipFill>
            <a:blip r:embed="rId7" cstate="print"/>
            <a:stretch>
              <a:fillRect/>
            </a:stretch>
          </a:blipFill>
        </p:spPr>
        <p:txBody>
          <a:bodyPr wrap="square" lIns="0" tIns="0" rIns="0" bIns="0" rtlCol="0">
            <a:noAutofit/>
          </a:bodyPr>
          <a:lstStyle/>
          <a:p>
            <a:endParaRPr/>
          </a:p>
        </p:txBody>
      </p:sp>
      <p:sp>
        <p:nvSpPr>
          <p:cNvPr id="20" name="object 20"/>
          <p:cNvSpPr/>
          <p:nvPr/>
        </p:nvSpPr>
        <p:spPr>
          <a:xfrm>
            <a:off x="5715000" y="4191000"/>
            <a:ext cx="3048000" cy="2255520"/>
          </a:xfrm>
          <a:prstGeom prst="rect">
            <a:avLst/>
          </a:prstGeom>
          <a:blipFill>
            <a:blip r:embed="rId8" cstate="print"/>
            <a:stretch>
              <a:fillRect/>
            </a:stretch>
          </a:blipFill>
        </p:spPr>
        <p:txBody>
          <a:bodyPr wrap="square" lIns="0" tIns="0" rIns="0" bIns="0" rtlCol="0">
            <a:noAutofit/>
          </a:bodyPr>
          <a:lstStyle/>
          <a:p>
            <a:endParaRPr/>
          </a:p>
        </p:txBody>
      </p:sp>
      <p:sp>
        <p:nvSpPr>
          <p:cNvPr id="13" name="object 13"/>
          <p:cNvSpPr txBox="1"/>
          <p:nvPr/>
        </p:nvSpPr>
        <p:spPr>
          <a:xfrm>
            <a:off x="444500" y="1240413"/>
            <a:ext cx="8305133" cy="597204"/>
          </a:xfrm>
          <a:prstGeom prst="rect">
            <a:avLst/>
          </a:prstGeom>
        </p:spPr>
        <p:txBody>
          <a:bodyPr wrap="square" lIns="0" tIns="29813" rIns="0" bIns="0" rtlCol="0">
            <a:noAutofit/>
          </a:bodyPr>
          <a:lstStyle/>
          <a:p>
            <a:pPr marL="12700">
              <a:lnSpc>
                <a:spcPts val="4695"/>
              </a:lnSpc>
            </a:pPr>
            <a:r>
              <a:rPr sz="4500" b="1" u="heavy" spc="0" dirty="0" smtClean="0">
                <a:solidFill>
                  <a:srgbClr val="04607A"/>
                </a:solidFill>
                <a:latin typeface="Times New Roman"/>
                <a:cs typeface="Times New Roman"/>
              </a:rPr>
              <a:t>BOILER MAIN COMPONENTS</a:t>
            </a:r>
            <a:endParaRPr sz="4500">
              <a:latin typeface="Times New Roman"/>
              <a:cs typeface="Times New Roman"/>
            </a:endParaRPr>
          </a:p>
        </p:txBody>
      </p:sp>
      <p:sp>
        <p:nvSpPr>
          <p:cNvPr id="12" name="object 12"/>
          <p:cNvSpPr txBox="1"/>
          <p:nvPr/>
        </p:nvSpPr>
        <p:spPr>
          <a:xfrm>
            <a:off x="535940" y="1980800"/>
            <a:ext cx="3972281" cy="330504"/>
          </a:xfrm>
          <a:prstGeom prst="rect">
            <a:avLst/>
          </a:prstGeom>
        </p:spPr>
        <p:txBody>
          <a:bodyPr wrap="square" lIns="0" tIns="16192" rIns="0" bIns="0" rtlCol="0">
            <a:noAutofit/>
          </a:bodyPr>
          <a:lstStyle/>
          <a:p>
            <a:pPr marL="12700">
              <a:lnSpc>
                <a:spcPts val="2550"/>
              </a:lnSpc>
            </a:pPr>
            <a:r>
              <a:rPr sz="2300" dirty="0" smtClean="0">
                <a:solidFill>
                  <a:srgbClr val="0AD0D9"/>
                </a:solidFill>
                <a:latin typeface="Wingdings"/>
                <a:cs typeface="Wingdings"/>
              </a:rPr>
              <a:t></a:t>
            </a:r>
            <a:r>
              <a:rPr sz="2300" spc="342" dirty="0" smtClean="0">
                <a:solidFill>
                  <a:srgbClr val="0AD0D9"/>
                </a:solidFill>
                <a:latin typeface="Times New Roman"/>
                <a:cs typeface="Times New Roman"/>
              </a:rPr>
              <a:t> </a:t>
            </a:r>
            <a:r>
              <a:rPr sz="2400" b="1" spc="0" dirty="0" smtClean="0">
                <a:latin typeface="Times New Roman"/>
                <a:cs typeface="Times New Roman"/>
              </a:rPr>
              <a:t>BOILER SHEL</a:t>
            </a:r>
            <a:r>
              <a:rPr sz="2400" b="1" spc="-25" dirty="0" smtClean="0">
                <a:latin typeface="Times New Roman"/>
                <a:cs typeface="Times New Roman"/>
              </a:rPr>
              <a:t>L</a:t>
            </a:r>
            <a:r>
              <a:rPr sz="2400" b="1" spc="0" dirty="0" smtClean="0">
                <a:latin typeface="Times New Roman"/>
                <a:cs typeface="Times New Roman"/>
              </a:rPr>
              <a:t>-</a:t>
            </a:r>
            <a:r>
              <a:rPr sz="2400" b="1" spc="-29" dirty="0" smtClean="0">
                <a:latin typeface="Times New Roman"/>
                <a:cs typeface="Times New Roman"/>
              </a:rPr>
              <a:t> </a:t>
            </a:r>
            <a:r>
              <a:rPr sz="2400" spc="0" dirty="0" err="1" smtClean="0">
                <a:latin typeface="Times New Roman"/>
                <a:cs typeface="Times New Roman"/>
              </a:rPr>
              <a:t>Theouter</a:t>
            </a:r>
            <a:endParaRPr sz="2400" dirty="0">
              <a:latin typeface="Times New Roman"/>
              <a:cs typeface="Times New Roman"/>
            </a:endParaRPr>
          </a:p>
        </p:txBody>
      </p:sp>
      <p:sp>
        <p:nvSpPr>
          <p:cNvPr id="11" name="object 11"/>
          <p:cNvSpPr txBox="1"/>
          <p:nvPr/>
        </p:nvSpPr>
        <p:spPr>
          <a:xfrm>
            <a:off x="810260" y="2310610"/>
            <a:ext cx="1375664" cy="330200"/>
          </a:xfrm>
          <a:prstGeom prst="rect">
            <a:avLst/>
          </a:prstGeom>
        </p:spPr>
        <p:txBody>
          <a:bodyPr wrap="square" lIns="0" tIns="16192" rIns="0" bIns="0" rtlCol="0">
            <a:noAutofit/>
          </a:bodyPr>
          <a:lstStyle/>
          <a:p>
            <a:pPr marL="12700">
              <a:lnSpc>
                <a:spcPts val="2550"/>
              </a:lnSpc>
            </a:pPr>
            <a:r>
              <a:rPr sz="2400" spc="0" dirty="0" smtClean="0">
                <a:latin typeface="Times New Roman"/>
                <a:cs typeface="Times New Roman"/>
              </a:rPr>
              <a:t>cylindrical</a:t>
            </a:r>
            <a:endParaRPr sz="2400" dirty="0">
              <a:latin typeface="Times New Roman"/>
              <a:cs typeface="Times New Roman"/>
            </a:endParaRPr>
          </a:p>
        </p:txBody>
      </p:sp>
      <p:sp>
        <p:nvSpPr>
          <p:cNvPr id="10" name="object 10"/>
          <p:cNvSpPr txBox="1"/>
          <p:nvPr/>
        </p:nvSpPr>
        <p:spPr>
          <a:xfrm>
            <a:off x="2185822" y="2310610"/>
            <a:ext cx="1280261" cy="330200"/>
          </a:xfrm>
          <a:prstGeom prst="rect">
            <a:avLst/>
          </a:prstGeom>
        </p:spPr>
        <p:txBody>
          <a:bodyPr wrap="square" lIns="0" tIns="16192" rIns="0" bIns="0" rtlCol="0">
            <a:noAutofit/>
          </a:bodyPr>
          <a:lstStyle/>
          <a:p>
            <a:pPr marL="12700">
              <a:lnSpc>
                <a:spcPts val="2550"/>
              </a:lnSpc>
            </a:pPr>
            <a:r>
              <a:rPr sz="2400" spc="-1" dirty="0" smtClean="0">
                <a:latin typeface="Times New Roman"/>
                <a:cs typeface="Times New Roman"/>
              </a:rPr>
              <a:t>portion of</a:t>
            </a:r>
            <a:endParaRPr sz="2400">
              <a:latin typeface="Times New Roman"/>
              <a:cs typeface="Times New Roman"/>
            </a:endParaRPr>
          </a:p>
        </p:txBody>
      </p:sp>
      <p:sp>
        <p:nvSpPr>
          <p:cNvPr id="9" name="object 9"/>
          <p:cNvSpPr txBox="1"/>
          <p:nvPr/>
        </p:nvSpPr>
        <p:spPr>
          <a:xfrm>
            <a:off x="3471164" y="2310610"/>
            <a:ext cx="1298854" cy="330200"/>
          </a:xfrm>
          <a:prstGeom prst="rect">
            <a:avLst/>
          </a:prstGeom>
        </p:spPr>
        <p:txBody>
          <a:bodyPr wrap="square" lIns="0" tIns="16192" rIns="0" bIns="0" rtlCol="0">
            <a:noAutofit/>
          </a:bodyPr>
          <a:lstStyle/>
          <a:p>
            <a:pPr marL="12700">
              <a:lnSpc>
                <a:spcPts val="2550"/>
              </a:lnSpc>
            </a:pPr>
            <a:r>
              <a:rPr sz="2400" spc="0" dirty="0" smtClean="0">
                <a:latin typeface="Times New Roman"/>
                <a:cs typeface="Times New Roman"/>
              </a:rPr>
              <a:t>a pressure</a:t>
            </a:r>
            <a:endParaRPr sz="2400">
              <a:latin typeface="Times New Roman"/>
              <a:cs typeface="Times New Roman"/>
            </a:endParaRPr>
          </a:p>
        </p:txBody>
      </p:sp>
      <p:sp>
        <p:nvSpPr>
          <p:cNvPr id="8" name="object 8"/>
          <p:cNvSpPr txBox="1"/>
          <p:nvPr/>
        </p:nvSpPr>
        <p:spPr>
          <a:xfrm>
            <a:off x="4773879" y="2310610"/>
            <a:ext cx="892860" cy="330200"/>
          </a:xfrm>
          <a:prstGeom prst="rect">
            <a:avLst/>
          </a:prstGeom>
        </p:spPr>
        <p:txBody>
          <a:bodyPr wrap="square" lIns="0" tIns="16192" rIns="0" bIns="0" rtlCol="0">
            <a:noAutofit/>
          </a:bodyPr>
          <a:lstStyle/>
          <a:p>
            <a:pPr marL="12700">
              <a:lnSpc>
                <a:spcPts val="2550"/>
              </a:lnSpc>
            </a:pPr>
            <a:r>
              <a:rPr sz="2400" spc="0" dirty="0" smtClean="0">
                <a:latin typeface="Times New Roman"/>
                <a:cs typeface="Times New Roman"/>
              </a:rPr>
              <a:t>vessel.</a:t>
            </a:r>
            <a:endParaRPr sz="2400">
              <a:latin typeface="Times New Roman"/>
              <a:cs typeface="Times New Roman"/>
            </a:endParaRPr>
          </a:p>
        </p:txBody>
      </p:sp>
      <p:sp>
        <p:nvSpPr>
          <p:cNvPr id="7" name="object 7"/>
          <p:cNvSpPr txBox="1"/>
          <p:nvPr/>
        </p:nvSpPr>
        <p:spPr>
          <a:xfrm>
            <a:off x="535940" y="4322544"/>
            <a:ext cx="1630476" cy="330200"/>
          </a:xfrm>
          <a:prstGeom prst="rect">
            <a:avLst/>
          </a:prstGeom>
        </p:spPr>
        <p:txBody>
          <a:bodyPr wrap="square" lIns="0" tIns="16192" rIns="0" bIns="0" rtlCol="0">
            <a:noAutofit/>
          </a:bodyPr>
          <a:lstStyle/>
          <a:p>
            <a:pPr marL="12700">
              <a:lnSpc>
                <a:spcPts val="2550"/>
              </a:lnSpc>
            </a:pPr>
            <a:r>
              <a:rPr sz="2400" b="1" spc="-31" dirty="0" smtClean="0">
                <a:latin typeface="Times New Roman"/>
                <a:cs typeface="Times New Roman"/>
              </a:rPr>
              <a:t>BURNER</a:t>
            </a:r>
            <a:endParaRPr sz="2400" dirty="0">
              <a:latin typeface="Times New Roman"/>
              <a:cs typeface="Times New Roman"/>
            </a:endParaRPr>
          </a:p>
        </p:txBody>
      </p:sp>
      <p:sp>
        <p:nvSpPr>
          <p:cNvPr id="6" name="object 6"/>
          <p:cNvSpPr txBox="1"/>
          <p:nvPr/>
        </p:nvSpPr>
        <p:spPr>
          <a:xfrm>
            <a:off x="2176018" y="4322544"/>
            <a:ext cx="1307693" cy="330200"/>
          </a:xfrm>
          <a:prstGeom prst="rect">
            <a:avLst/>
          </a:prstGeom>
        </p:spPr>
        <p:txBody>
          <a:bodyPr wrap="square" lIns="0" tIns="16192" rIns="0" bIns="0" rtlCol="0">
            <a:noAutofit/>
          </a:bodyPr>
          <a:lstStyle/>
          <a:p>
            <a:pPr marL="12700">
              <a:lnSpc>
                <a:spcPts val="2550"/>
              </a:lnSpc>
            </a:pPr>
            <a:r>
              <a:rPr sz="2400" b="1" spc="-25" dirty="0" smtClean="0">
                <a:latin typeface="Times New Roman"/>
                <a:cs typeface="Times New Roman"/>
              </a:rPr>
              <a:t>- </a:t>
            </a:r>
            <a:r>
              <a:rPr sz="2400" spc="-25" dirty="0" smtClean="0">
                <a:latin typeface="Times New Roman"/>
                <a:cs typeface="Times New Roman"/>
              </a:rPr>
              <a:t>A device</a:t>
            </a:r>
            <a:endParaRPr sz="2400">
              <a:latin typeface="Times New Roman"/>
              <a:cs typeface="Times New Roman"/>
            </a:endParaRPr>
          </a:p>
        </p:txBody>
      </p:sp>
      <p:sp>
        <p:nvSpPr>
          <p:cNvPr id="5" name="object 5"/>
          <p:cNvSpPr txBox="1"/>
          <p:nvPr/>
        </p:nvSpPr>
        <p:spPr>
          <a:xfrm>
            <a:off x="3486048" y="4322544"/>
            <a:ext cx="875182" cy="330200"/>
          </a:xfrm>
          <a:prstGeom prst="rect">
            <a:avLst/>
          </a:prstGeom>
        </p:spPr>
        <p:txBody>
          <a:bodyPr wrap="square" lIns="0" tIns="16192" rIns="0" bIns="0" rtlCol="0">
            <a:noAutofit/>
          </a:bodyPr>
          <a:lstStyle/>
          <a:p>
            <a:pPr marL="12700">
              <a:lnSpc>
                <a:spcPts val="2550"/>
              </a:lnSpc>
            </a:pPr>
            <a:r>
              <a:rPr sz="2400" dirty="0" smtClean="0">
                <a:latin typeface="Times New Roman"/>
                <a:cs typeface="Times New Roman"/>
              </a:rPr>
              <a:t>for the</a:t>
            </a:r>
            <a:endParaRPr sz="2400">
              <a:latin typeface="Times New Roman"/>
              <a:cs typeface="Times New Roman"/>
            </a:endParaRPr>
          </a:p>
        </p:txBody>
      </p:sp>
      <p:sp>
        <p:nvSpPr>
          <p:cNvPr id="4" name="object 4"/>
          <p:cNvSpPr txBox="1"/>
          <p:nvPr/>
        </p:nvSpPr>
        <p:spPr>
          <a:xfrm>
            <a:off x="810260" y="4651728"/>
            <a:ext cx="4497864" cy="1326829"/>
          </a:xfrm>
          <a:prstGeom prst="rect">
            <a:avLst/>
          </a:prstGeom>
        </p:spPr>
        <p:txBody>
          <a:bodyPr wrap="square" lIns="0" tIns="16192" rIns="0" bIns="0" rtlCol="0">
            <a:noAutofit/>
          </a:bodyPr>
          <a:lstStyle/>
          <a:p>
            <a:pPr marL="12700" marR="43110">
              <a:lnSpc>
                <a:spcPts val="2550"/>
              </a:lnSpc>
            </a:pPr>
            <a:r>
              <a:rPr sz="2400" spc="-1" dirty="0" smtClean="0">
                <a:latin typeface="Times New Roman"/>
                <a:cs typeface="Times New Roman"/>
              </a:rPr>
              <a:t>introduction of fuel and air into a</a:t>
            </a:r>
            <a:endParaRPr sz="2400" dirty="0">
              <a:latin typeface="Times New Roman"/>
              <a:cs typeface="Times New Roman"/>
            </a:endParaRPr>
          </a:p>
          <a:p>
            <a:pPr marL="12700" marR="43110">
              <a:lnSpc>
                <a:spcPts val="2590"/>
              </a:lnSpc>
              <a:spcBef>
                <a:spcPts val="1"/>
              </a:spcBef>
            </a:pPr>
            <a:r>
              <a:rPr sz="2400" spc="-1" dirty="0" smtClean="0">
                <a:latin typeface="Times New Roman"/>
                <a:cs typeface="Times New Roman"/>
              </a:rPr>
              <a:t>furnace at the desired velocitie.The</a:t>
            </a:r>
            <a:endParaRPr sz="2400" dirty="0">
              <a:latin typeface="Times New Roman"/>
              <a:cs typeface="Times New Roman"/>
            </a:endParaRPr>
          </a:p>
          <a:p>
            <a:pPr marL="12700">
              <a:lnSpc>
                <a:spcPts val="2530"/>
              </a:lnSpc>
              <a:spcBef>
                <a:spcPts val="47"/>
              </a:spcBef>
            </a:pPr>
            <a:r>
              <a:rPr sz="2400" dirty="0" smtClean="0">
                <a:latin typeface="Times New Roman"/>
                <a:cs typeface="Times New Roman"/>
              </a:rPr>
              <a:t>burn</a:t>
            </a:r>
            <a:r>
              <a:rPr sz="2400" spc="4" dirty="0" smtClean="0">
                <a:latin typeface="Times New Roman"/>
                <a:cs typeface="Times New Roman"/>
              </a:rPr>
              <a:t>e</a:t>
            </a:r>
            <a:r>
              <a:rPr sz="2400" spc="0" dirty="0" smtClean="0">
                <a:latin typeface="Times New Roman"/>
                <a:cs typeface="Times New Roman"/>
              </a:rPr>
              <a:t>r</a:t>
            </a:r>
            <a:r>
              <a:rPr sz="2400" spc="-4" dirty="0" smtClean="0">
                <a:latin typeface="Times New Roman"/>
                <a:cs typeface="Times New Roman"/>
              </a:rPr>
              <a:t> </a:t>
            </a:r>
            <a:r>
              <a:rPr sz="2400" spc="0" dirty="0" smtClean="0">
                <a:latin typeface="Times New Roman"/>
                <a:cs typeface="Times New Roman"/>
              </a:rPr>
              <a:t>is the</a:t>
            </a:r>
            <a:r>
              <a:rPr sz="2400" spc="-9" dirty="0" smtClean="0">
                <a:latin typeface="Times New Roman"/>
                <a:cs typeface="Times New Roman"/>
              </a:rPr>
              <a:t> </a:t>
            </a:r>
            <a:r>
              <a:rPr sz="2400" spc="0" dirty="0" smtClean="0">
                <a:latin typeface="Times New Roman"/>
                <a:cs typeface="Times New Roman"/>
              </a:rPr>
              <a:t>pr</a:t>
            </a:r>
            <a:r>
              <a:rPr sz="2400" spc="4" dirty="0" smtClean="0">
                <a:latin typeface="Times New Roman"/>
                <a:cs typeface="Times New Roman"/>
              </a:rPr>
              <a:t>i</a:t>
            </a:r>
            <a:r>
              <a:rPr sz="2400" spc="0" dirty="0" smtClean="0">
                <a:latin typeface="Times New Roman"/>
                <a:cs typeface="Times New Roman"/>
              </a:rPr>
              <a:t>ncip</a:t>
            </a:r>
            <a:r>
              <a:rPr sz="2400" spc="4" dirty="0" smtClean="0">
                <a:latin typeface="Times New Roman"/>
                <a:cs typeface="Times New Roman"/>
              </a:rPr>
              <a:t>a</a:t>
            </a:r>
            <a:r>
              <a:rPr sz="2400" spc="0" dirty="0" smtClean="0">
                <a:latin typeface="Times New Roman"/>
                <a:cs typeface="Times New Roman"/>
              </a:rPr>
              <a:t>l</a:t>
            </a:r>
            <a:r>
              <a:rPr sz="2400" spc="-44" dirty="0" smtClean="0">
                <a:latin typeface="Times New Roman"/>
                <a:cs typeface="Times New Roman"/>
              </a:rPr>
              <a:t> </a:t>
            </a:r>
            <a:r>
              <a:rPr sz="2400" spc="0" dirty="0" smtClean="0">
                <a:latin typeface="Times New Roman"/>
                <a:cs typeface="Times New Roman"/>
              </a:rPr>
              <a:t>devi</a:t>
            </a:r>
            <a:r>
              <a:rPr sz="2400" spc="4" dirty="0" smtClean="0">
                <a:latin typeface="Times New Roman"/>
                <a:cs typeface="Times New Roman"/>
              </a:rPr>
              <a:t>c</a:t>
            </a:r>
            <a:r>
              <a:rPr sz="2400" spc="0" dirty="0" smtClean="0">
                <a:latin typeface="Times New Roman"/>
                <a:cs typeface="Times New Roman"/>
              </a:rPr>
              <a:t>e</a:t>
            </a:r>
            <a:r>
              <a:rPr sz="2400" spc="-19" dirty="0" smtClean="0">
                <a:latin typeface="Times New Roman"/>
                <a:cs typeface="Times New Roman"/>
              </a:rPr>
              <a:t> </a:t>
            </a:r>
            <a:r>
              <a:rPr sz="2400" spc="0" dirty="0" smtClean="0">
                <a:latin typeface="Times New Roman"/>
                <a:cs typeface="Times New Roman"/>
              </a:rPr>
              <a:t>for</a:t>
            </a:r>
            <a:r>
              <a:rPr sz="2400" spc="4" dirty="0" smtClean="0">
                <a:latin typeface="Times New Roman"/>
                <a:cs typeface="Times New Roman"/>
              </a:rPr>
              <a:t> </a:t>
            </a:r>
            <a:r>
              <a:rPr sz="2400" spc="0" dirty="0" smtClean="0">
                <a:latin typeface="Times New Roman"/>
                <a:cs typeface="Times New Roman"/>
              </a:rPr>
              <a:t>the fir</a:t>
            </a:r>
            <a:r>
              <a:rPr sz="2400" spc="4" dirty="0" smtClean="0">
                <a:latin typeface="Times New Roman"/>
                <a:cs typeface="Times New Roman"/>
              </a:rPr>
              <a:t>i</a:t>
            </a:r>
            <a:r>
              <a:rPr sz="2400" spc="0" dirty="0" smtClean="0">
                <a:latin typeface="Times New Roman"/>
                <a:cs typeface="Times New Roman"/>
              </a:rPr>
              <a:t>ng</a:t>
            </a:r>
            <a:r>
              <a:rPr sz="2400" spc="-9" dirty="0" smtClean="0">
                <a:latin typeface="Times New Roman"/>
                <a:cs typeface="Times New Roman"/>
              </a:rPr>
              <a:t> </a:t>
            </a:r>
            <a:r>
              <a:rPr sz="2400" spc="0" dirty="0" smtClean="0">
                <a:latin typeface="Times New Roman"/>
                <a:cs typeface="Times New Roman"/>
              </a:rPr>
              <a:t>of oil</a:t>
            </a:r>
            <a:r>
              <a:rPr sz="2400" spc="-9" dirty="0" smtClean="0">
                <a:latin typeface="Times New Roman"/>
                <a:cs typeface="Times New Roman"/>
              </a:rPr>
              <a:t> </a:t>
            </a:r>
            <a:r>
              <a:rPr sz="2400" spc="0" dirty="0" smtClean="0">
                <a:latin typeface="Times New Roman"/>
                <a:cs typeface="Times New Roman"/>
              </a:rPr>
              <a:t>and/or</a:t>
            </a:r>
            <a:r>
              <a:rPr sz="2400" spc="-14" dirty="0" smtClean="0">
                <a:latin typeface="Times New Roman"/>
                <a:cs typeface="Times New Roman"/>
              </a:rPr>
              <a:t> </a:t>
            </a:r>
            <a:r>
              <a:rPr sz="2400" spc="0" dirty="0" smtClean="0">
                <a:latin typeface="Times New Roman"/>
                <a:cs typeface="Times New Roman"/>
              </a:rPr>
              <a:t>ga</a:t>
            </a:r>
            <a:r>
              <a:rPr sz="2400" spc="14" dirty="0" smtClean="0">
                <a:latin typeface="Times New Roman"/>
                <a:cs typeface="Times New Roman"/>
              </a:rPr>
              <a:t>s</a:t>
            </a:r>
            <a:r>
              <a:rPr sz="2400" spc="0" dirty="0" smtClean="0">
                <a:latin typeface="Constantia"/>
                <a:cs typeface="Constantia"/>
              </a:rPr>
              <a:t>.</a:t>
            </a:r>
            <a:endParaRPr sz="2400" dirty="0">
              <a:latin typeface="Constantia"/>
              <a:cs typeface="Constantia"/>
            </a:endParaRPr>
          </a:p>
        </p:txBody>
      </p:sp>
      <p:sp>
        <p:nvSpPr>
          <p:cNvPr id="3" name="object 3"/>
          <p:cNvSpPr txBox="1"/>
          <p:nvPr/>
        </p:nvSpPr>
        <p:spPr>
          <a:xfrm>
            <a:off x="2681520" y="1573529"/>
            <a:ext cx="140663" cy="1524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410086" y="1573529"/>
            <a:ext cx="142951"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8" name="object 8"/>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9" name="object 9"/>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0" name="object 10"/>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1" name="object 11"/>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2" name="object 12"/>
          <p:cNvSpPr/>
          <p:nvPr/>
        </p:nvSpPr>
        <p:spPr>
          <a:xfrm>
            <a:off x="6858000" y="1905000"/>
            <a:ext cx="2286000" cy="2590800"/>
          </a:xfrm>
          <a:prstGeom prst="rect">
            <a:avLst/>
          </a:prstGeom>
          <a:blipFill>
            <a:blip r:embed="rId7" cstate="print"/>
            <a:stretch>
              <a:fillRect/>
            </a:stretch>
          </a:blipFill>
        </p:spPr>
        <p:txBody>
          <a:bodyPr wrap="square" lIns="0" tIns="0" rIns="0" bIns="0" rtlCol="0">
            <a:noAutofit/>
          </a:bodyPr>
          <a:lstStyle/>
          <a:p>
            <a:endParaRPr/>
          </a:p>
        </p:txBody>
      </p:sp>
      <p:sp>
        <p:nvSpPr>
          <p:cNvPr id="13" name="object 13"/>
          <p:cNvSpPr/>
          <p:nvPr/>
        </p:nvSpPr>
        <p:spPr>
          <a:xfrm>
            <a:off x="6121908" y="4591811"/>
            <a:ext cx="3022091" cy="2266188"/>
          </a:xfrm>
          <a:prstGeom prst="rect">
            <a:avLst/>
          </a:prstGeom>
          <a:blipFill>
            <a:blip r:embed="rId8" cstate="print"/>
            <a:stretch>
              <a:fillRect/>
            </a:stretch>
          </a:blipFill>
        </p:spPr>
        <p:txBody>
          <a:bodyPr wrap="square" lIns="0" tIns="0" rIns="0" bIns="0" rtlCol="0">
            <a:noAutofit/>
          </a:bodyPr>
          <a:lstStyle/>
          <a:p>
            <a:endParaRPr/>
          </a:p>
        </p:txBody>
      </p:sp>
      <p:sp>
        <p:nvSpPr>
          <p:cNvPr id="6" name="object 6"/>
          <p:cNvSpPr txBox="1"/>
          <p:nvPr/>
        </p:nvSpPr>
        <p:spPr>
          <a:xfrm>
            <a:off x="444500" y="1240413"/>
            <a:ext cx="8083790" cy="597204"/>
          </a:xfrm>
          <a:prstGeom prst="rect">
            <a:avLst/>
          </a:prstGeom>
        </p:spPr>
        <p:txBody>
          <a:bodyPr wrap="square" lIns="0" tIns="29813" rIns="0" bIns="0" rtlCol="0">
            <a:noAutofit/>
          </a:bodyPr>
          <a:lstStyle/>
          <a:p>
            <a:pPr marL="12700">
              <a:lnSpc>
                <a:spcPts val="4695"/>
              </a:lnSpc>
            </a:pPr>
            <a:r>
              <a:rPr sz="4500" b="1" u="heavy" spc="0" dirty="0" smtClean="0">
                <a:solidFill>
                  <a:srgbClr val="04607A"/>
                </a:solidFill>
                <a:latin typeface="Times New Roman"/>
                <a:cs typeface="Times New Roman"/>
              </a:rPr>
              <a:t>BOILER </a:t>
            </a:r>
            <a:r>
              <a:rPr sz="4500" b="1" i="1" u="heavy" spc="0" dirty="0" smtClean="0">
                <a:solidFill>
                  <a:srgbClr val="04607A"/>
                </a:solidFill>
                <a:latin typeface="Times New Roman"/>
                <a:cs typeface="Times New Roman"/>
              </a:rPr>
              <a:t>MAIN COMPONENTS</a:t>
            </a:r>
            <a:endParaRPr sz="4500">
              <a:latin typeface="Times New Roman"/>
              <a:cs typeface="Times New Roman"/>
            </a:endParaRPr>
          </a:p>
        </p:txBody>
      </p:sp>
      <p:sp>
        <p:nvSpPr>
          <p:cNvPr id="5" name="object 5"/>
          <p:cNvSpPr txBox="1"/>
          <p:nvPr/>
        </p:nvSpPr>
        <p:spPr>
          <a:xfrm>
            <a:off x="535940" y="2021538"/>
            <a:ext cx="4646148" cy="2020570"/>
          </a:xfrm>
          <a:prstGeom prst="rect">
            <a:avLst/>
          </a:prstGeom>
        </p:spPr>
        <p:txBody>
          <a:bodyPr wrap="square" lIns="0" tIns="17526" rIns="0" bIns="0" rtlCol="0">
            <a:noAutofit/>
          </a:bodyPr>
          <a:lstStyle/>
          <a:p>
            <a:pPr marL="12700" marR="44254">
              <a:lnSpc>
                <a:spcPts val="2760"/>
              </a:lnSpc>
            </a:pPr>
            <a:r>
              <a:rPr sz="2450" dirty="0" smtClean="0">
                <a:solidFill>
                  <a:srgbClr val="0AD0D9"/>
                </a:solidFill>
                <a:latin typeface="Wingdings"/>
                <a:cs typeface="Wingdings"/>
              </a:rPr>
              <a:t></a:t>
            </a:r>
            <a:r>
              <a:rPr sz="2450" spc="5" dirty="0" smtClean="0">
                <a:solidFill>
                  <a:srgbClr val="0AD0D9"/>
                </a:solidFill>
                <a:latin typeface="Times New Roman"/>
                <a:cs typeface="Times New Roman"/>
              </a:rPr>
              <a:t> </a:t>
            </a:r>
            <a:r>
              <a:rPr sz="2600" b="1" spc="5" dirty="0" smtClean="0">
                <a:latin typeface="Times New Roman"/>
                <a:cs typeface="Times New Roman"/>
              </a:rPr>
              <a:t>Mud Ring or Mud Drum</a:t>
            </a:r>
            <a:endParaRPr sz="2600">
              <a:latin typeface="Times New Roman"/>
              <a:cs typeface="Times New Roman"/>
            </a:endParaRPr>
          </a:p>
          <a:p>
            <a:pPr marL="287019" indent="-274319">
              <a:lnSpc>
                <a:spcPct val="100041"/>
              </a:lnSpc>
              <a:spcBef>
                <a:spcPts val="616"/>
              </a:spcBef>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A</a:t>
            </a:r>
            <a:r>
              <a:rPr sz="2600" spc="-154" dirty="0" smtClean="0">
                <a:latin typeface="Times New Roman"/>
                <a:cs typeface="Times New Roman"/>
              </a:rPr>
              <a:t> </a:t>
            </a:r>
            <a:r>
              <a:rPr sz="2600" spc="0" dirty="0" smtClean="0">
                <a:latin typeface="Times New Roman"/>
                <a:cs typeface="Times New Roman"/>
              </a:rPr>
              <a:t>ty</a:t>
            </a:r>
            <a:r>
              <a:rPr sz="2600" spc="4" dirty="0" smtClean="0">
                <a:latin typeface="Times New Roman"/>
                <a:cs typeface="Times New Roman"/>
              </a:rPr>
              <a:t>p</a:t>
            </a:r>
            <a:r>
              <a:rPr sz="2600" spc="0" dirty="0" smtClean="0">
                <a:latin typeface="Times New Roman"/>
                <a:cs typeface="Times New Roman"/>
              </a:rPr>
              <a:t>i</a:t>
            </a:r>
            <a:r>
              <a:rPr sz="2600" spc="-9" dirty="0" smtClean="0">
                <a:latin typeface="Times New Roman"/>
                <a:cs typeface="Times New Roman"/>
              </a:rPr>
              <a:t>c</a:t>
            </a:r>
            <a:r>
              <a:rPr sz="2600" spc="0" dirty="0" smtClean="0">
                <a:latin typeface="Times New Roman"/>
                <a:cs typeface="Times New Roman"/>
              </a:rPr>
              <a:t>a</a:t>
            </a:r>
            <a:r>
              <a:rPr sz="2600" spc="-9" dirty="0" smtClean="0">
                <a:latin typeface="Times New Roman"/>
                <a:cs typeface="Times New Roman"/>
              </a:rPr>
              <a:t>l</a:t>
            </a:r>
            <a:r>
              <a:rPr sz="2600" spc="0" dirty="0" smtClean="0">
                <a:latin typeface="Times New Roman"/>
                <a:cs typeface="Times New Roman"/>
              </a:rPr>
              <a:t>ly cylindric</a:t>
            </a:r>
            <a:r>
              <a:rPr sz="2600" spc="-9" dirty="0" smtClean="0">
                <a:latin typeface="Times New Roman"/>
                <a:cs typeface="Times New Roman"/>
              </a:rPr>
              <a:t>a</a:t>
            </a:r>
            <a:r>
              <a:rPr sz="2600" spc="0" dirty="0" smtClean="0">
                <a:latin typeface="Times New Roman"/>
                <a:cs typeface="Times New Roman"/>
              </a:rPr>
              <a:t>l</a:t>
            </a:r>
            <a:r>
              <a:rPr sz="2600" spc="-14" dirty="0" smtClean="0">
                <a:latin typeface="Times New Roman"/>
                <a:cs typeface="Times New Roman"/>
              </a:rPr>
              <a:t> </a:t>
            </a:r>
            <a:r>
              <a:rPr sz="2600" spc="0" dirty="0" smtClean="0">
                <a:latin typeface="Times New Roman"/>
                <a:cs typeface="Times New Roman"/>
              </a:rPr>
              <a:t>shaped space</a:t>
            </a:r>
            <a:r>
              <a:rPr sz="2600" spc="-25" dirty="0" smtClean="0">
                <a:latin typeface="Times New Roman"/>
                <a:cs typeface="Times New Roman"/>
              </a:rPr>
              <a:t> </a:t>
            </a:r>
            <a:r>
              <a:rPr sz="2600" spc="0" dirty="0" smtClean="0">
                <a:latin typeface="Times New Roman"/>
                <a:cs typeface="Times New Roman"/>
              </a:rPr>
              <a:t>at the bottom</a:t>
            </a:r>
            <a:r>
              <a:rPr sz="2600" spc="-14" dirty="0" smtClean="0">
                <a:latin typeface="Times New Roman"/>
                <a:cs typeface="Times New Roman"/>
              </a:rPr>
              <a:t> </a:t>
            </a:r>
            <a:r>
              <a:rPr sz="2600" spc="0" dirty="0" smtClean="0">
                <a:latin typeface="Times New Roman"/>
                <a:cs typeface="Times New Roman"/>
              </a:rPr>
              <a:t>of the</a:t>
            </a:r>
            <a:r>
              <a:rPr sz="2600" spc="-14" dirty="0" smtClean="0">
                <a:latin typeface="Times New Roman"/>
                <a:cs typeface="Times New Roman"/>
              </a:rPr>
              <a:t> </a:t>
            </a:r>
            <a:r>
              <a:rPr sz="2600" spc="0" dirty="0" smtClean="0">
                <a:latin typeface="Times New Roman"/>
                <a:cs typeface="Times New Roman"/>
              </a:rPr>
              <a:t>water spa</a:t>
            </a:r>
            <a:r>
              <a:rPr sz="2600" spc="-9" dirty="0" smtClean="0">
                <a:latin typeface="Times New Roman"/>
                <a:cs typeface="Times New Roman"/>
              </a:rPr>
              <a:t>c</a:t>
            </a:r>
            <a:r>
              <a:rPr sz="2600" spc="0" dirty="0" smtClean="0">
                <a:latin typeface="Times New Roman"/>
                <a:cs typeface="Times New Roman"/>
              </a:rPr>
              <a:t>e. Sedi</a:t>
            </a:r>
            <a:r>
              <a:rPr sz="2600" spc="-14" dirty="0" smtClean="0">
                <a:latin typeface="Times New Roman"/>
                <a:cs typeface="Times New Roman"/>
              </a:rPr>
              <a:t>m</a:t>
            </a:r>
            <a:r>
              <a:rPr sz="2600" spc="0" dirty="0" smtClean="0">
                <a:latin typeface="Times New Roman"/>
                <a:cs typeface="Times New Roman"/>
              </a:rPr>
              <a:t>ent, </a:t>
            </a:r>
            <a:r>
              <a:rPr sz="2600" spc="-14" dirty="0" smtClean="0">
                <a:latin typeface="Times New Roman"/>
                <a:cs typeface="Times New Roman"/>
              </a:rPr>
              <a:t>m</a:t>
            </a:r>
            <a:r>
              <a:rPr sz="2600" spc="0" dirty="0" smtClean="0">
                <a:latin typeface="Times New Roman"/>
                <a:cs typeface="Times New Roman"/>
              </a:rPr>
              <a:t>u</a:t>
            </a:r>
            <a:r>
              <a:rPr sz="2600" spc="9" dirty="0" smtClean="0">
                <a:latin typeface="Times New Roman"/>
                <a:cs typeface="Times New Roman"/>
              </a:rPr>
              <a:t>d</a:t>
            </a:r>
            <a:r>
              <a:rPr sz="2600" spc="0" dirty="0" smtClean="0">
                <a:latin typeface="Times New Roman"/>
                <a:cs typeface="Times New Roman"/>
              </a:rPr>
              <a:t>,</a:t>
            </a:r>
            <a:r>
              <a:rPr sz="2600" spc="-14" dirty="0" smtClean="0">
                <a:latin typeface="Times New Roman"/>
                <a:cs typeface="Times New Roman"/>
              </a:rPr>
              <a:t> </a:t>
            </a:r>
            <a:r>
              <a:rPr sz="2600" spc="0" dirty="0" smtClean="0">
                <a:latin typeface="Times New Roman"/>
                <a:cs typeface="Times New Roman"/>
              </a:rPr>
              <a:t>and</a:t>
            </a:r>
            <a:r>
              <a:rPr sz="2600" spc="-9" dirty="0" smtClean="0">
                <a:latin typeface="Times New Roman"/>
                <a:cs typeface="Times New Roman"/>
              </a:rPr>
              <a:t> </a:t>
            </a:r>
            <a:r>
              <a:rPr sz="2600" spc="0" dirty="0" smtClean="0">
                <a:latin typeface="Times New Roman"/>
                <a:cs typeface="Times New Roman"/>
              </a:rPr>
              <a:t>other i</a:t>
            </a:r>
            <a:r>
              <a:rPr sz="2600" spc="-9" dirty="0" smtClean="0">
                <a:latin typeface="Times New Roman"/>
                <a:cs typeface="Times New Roman"/>
              </a:rPr>
              <a:t>m</a:t>
            </a:r>
            <a:r>
              <a:rPr sz="2600" spc="0" dirty="0" smtClean="0">
                <a:latin typeface="Times New Roman"/>
                <a:cs typeface="Times New Roman"/>
              </a:rPr>
              <a:t>p</a:t>
            </a:r>
            <a:r>
              <a:rPr sz="2600" spc="9" dirty="0" smtClean="0">
                <a:latin typeface="Times New Roman"/>
                <a:cs typeface="Times New Roman"/>
              </a:rPr>
              <a:t>u</a:t>
            </a:r>
            <a:r>
              <a:rPr sz="2600" spc="0" dirty="0" smtClean="0">
                <a:latin typeface="Times New Roman"/>
                <a:cs typeface="Times New Roman"/>
              </a:rPr>
              <a:t>ri</a:t>
            </a:r>
            <a:r>
              <a:rPr sz="2600" spc="-9" dirty="0" smtClean="0">
                <a:latin typeface="Times New Roman"/>
                <a:cs typeface="Times New Roman"/>
              </a:rPr>
              <a:t>t</a:t>
            </a:r>
            <a:r>
              <a:rPr sz="2600" spc="0" dirty="0" smtClean="0">
                <a:latin typeface="Times New Roman"/>
                <a:cs typeface="Times New Roman"/>
              </a:rPr>
              <a:t>i</a:t>
            </a:r>
            <a:r>
              <a:rPr sz="2600" spc="-9" dirty="0" smtClean="0">
                <a:latin typeface="Times New Roman"/>
                <a:cs typeface="Times New Roman"/>
              </a:rPr>
              <a:t>e</a:t>
            </a:r>
            <a:r>
              <a:rPr sz="2600" spc="0" dirty="0" smtClean="0">
                <a:latin typeface="Times New Roman"/>
                <a:cs typeface="Times New Roman"/>
              </a:rPr>
              <a:t>s </a:t>
            </a:r>
            <a:r>
              <a:rPr sz="2600" spc="9" dirty="0" smtClean="0">
                <a:latin typeface="Times New Roman"/>
                <a:cs typeface="Times New Roman"/>
              </a:rPr>
              <a:t>g</a:t>
            </a:r>
            <a:r>
              <a:rPr sz="2600" spc="0" dirty="0" smtClean="0">
                <a:latin typeface="Times New Roman"/>
                <a:cs typeface="Times New Roman"/>
              </a:rPr>
              <a:t>a</a:t>
            </a:r>
            <a:r>
              <a:rPr sz="2600" spc="-9" dirty="0" smtClean="0">
                <a:latin typeface="Times New Roman"/>
                <a:cs typeface="Times New Roman"/>
              </a:rPr>
              <a:t>t</a:t>
            </a:r>
            <a:r>
              <a:rPr sz="2600" spc="0" dirty="0" smtClean="0">
                <a:latin typeface="Times New Roman"/>
                <a:cs typeface="Times New Roman"/>
              </a:rPr>
              <a:t>her</a:t>
            </a:r>
            <a:r>
              <a:rPr sz="2600" spc="-14" dirty="0" smtClean="0">
                <a:latin typeface="Times New Roman"/>
                <a:cs typeface="Times New Roman"/>
              </a:rPr>
              <a:t> </a:t>
            </a:r>
            <a:r>
              <a:rPr sz="2600" spc="0" dirty="0" smtClean="0">
                <a:latin typeface="Times New Roman"/>
                <a:cs typeface="Times New Roman"/>
              </a:rPr>
              <a:t>ther</a:t>
            </a:r>
            <a:r>
              <a:rPr sz="2600" spc="-9" dirty="0" smtClean="0">
                <a:latin typeface="Times New Roman"/>
                <a:cs typeface="Times New Roman"/>
              </a:rPr>
              <a:t>e</a:t>
            </a:r>
            <a:r>
              <a:rPr sz="2600" spc="0" dirty="0" smtClean="0">
                <a:latin typeface="Times New Roman"/>
                <a:cs typeface="Times New Roman"/>
              </a:rPr>
              <a:t>.</a:t>
            </a:r>
            <a:endParaRPr sz="2600">
              <a:latin typeface="Times New Roman"/>
              <a:cs typeface="Times New Roman"/>
            </a:endParaRPr>
          </a:p>
        </p:txBody>
      </p:sp>
      <p:sp>
        <p:nvSpPr>
          <p:cNvPr id="4" name="object 4"/>
          <p:cNvSpPr txBox="1"/>
          <p:nvPr/>
        </p:nvSpPr>
        <p:spPr>
          <a:xfrm>
            <a:off x="535940" y="4636976"/>
            <a:ext cx="4651224" cy="1148918"/>
          </a:xfrm>
          <a:prstGeom prst="rect">
            <a:avLst/>
          </a:prstGeom>
        </p:spPr>
        <p:txBody>
          <a:bodyPr wrap="square" lIns="0" tIns="17526" rIns="0" bIns="0" rtlCol="0">
            <a:noAutofit/>
          </a:bodyPr>
          <a:lstStyle/>
          <a:p>
            <a:pPr algn="ctr">
              <a:lnSpc>
                <a:spcPts val="2760"/>
              </a:lnSpc>
            </a:pPr>
            <a:r>
              <a:rPr sz="2450" dirty="0" smtClean="0">
                <a:solidFill>
                  <a:srgbClr val="0AD0D9"/>
                </a:solidFill>
                <a:latin typeface="Wingdings"/>
                <a:cs typeface="Wingdings"/>
              </a:rPr>
              <a:t></a:t>
            </a:r>
            <a:r>
              <a:rPr sz="2450" spc="0" dirty="0" smtClean="0">
                <a:solidFill>
                  <a:srgbClr val="0AD0D9"/>
                </a:solidFill>
                <a:latin typeface="Times New Roman"/>
                <a:cs typeface="Times New Roman"/>
              </a:rPr>
              <a:t> </a:t>
            </a:r>
            <a:r>
              <a:rPr sz="2600" b="1" spc="0" dirty="0" smtClean="0">
                <a:latin typeface="Times New Roman"/>
                <a:cs typeface="Times New Roman"/>
              </a:rPr>
              <a:t>FURNACE </a:t>
            </a:r>
            <a:r>
              <a:rPr sz="2600" spc="0" dirty="0" smtClean="0">
                <a:latin typeface="Times New Roman"/>
                <a:cs typeface="Times New Roman"/>
              </a:rPr>
              <a:t>- An enclosed space</a:t>
            </a:r>
            <a:endParaRPr sz="2600">
              <a:latin typeface="Times New Roman"/>
              <a:cs typeface="Times New Roman"/>
            </a:endParaRPr>
          </a:p>
          <a:p>
            <a:pPr marL="287019" marR="24803">
              <a:lnSpc>
                <a:spcPct val="95825"/>
              </a:lnSpc>
            </a:pPr>
            <a:r>
              <a:rPr sz="2600" spc="-1" dirty="0" smtClean="0">
                <a:latin typeface="Times New Roman"/>
                <a:cs typeface="Times New Roman"/>
              </a:rPr>
              <a:t>provided for the combustion of</a:t>
            </a:r>
            <a:endParaRPr sz="2600">
              <a:latin typeface="Times New Roman"/>
              <a:cs typeface="Times New Roman"/>
            </a:endParaRPr>
          </a:p>
          <a:p>
            <a:pPr marL="287019" marR="24803">
              <a:lnSpc>
                <a:spcPct val="95825"/>
              </a:lnSpc>
              <a:spcBef>
                <a:spcPts val="130"/>
              </a:spcBef>
            </a:pPr>
            <a:r>
              <a:rPr sz="2600" dirty="0" smtClean="0">
                <a:latin typeface="Times New Roman"/>
                <a:cs typeface="Times New Roman"/>
              </a:rPr>
              <a:t>fuel.</a:t>
            </a:r>
            <a:endParaRPr sz="2600">
              <a:latin typeface="Times New Roman"/>
              <a:cs typeface="Times New Roman"/>
            </a:endParaRPr>
          </a:p>
        </p:txBody>
      </p:sp>
      <p:sp>
        <p:nvSpPr>
          <p:cNvPr id="3" name="object 3"/>
          <p:cNvSpPr txBox="1"/>
          <p:nvPr/>
        </p:nvSpPr>
        <p:spPr>
          <a:xfrm>
            <a:off x="2681520" y="1573529"/>
            <a:ext cx="141181" cy="1524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347705" y="1573529"/>
            <a:ext cx="142951"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0" name="object 10"/>
          <p:cNvSpPr/>
          <p:nvPr/>
        </p:nvSpPr>
        <p:spPr>
          <a:xfrm>
            <a:off x="457200" y="1117092"/>
            <a:ext cx="7938516" cy="0"/>
          </a:xfrm>
          <a:custGeom>
            <a:avLst/>
            <a:gdLst/>
            <a:ahLst/>
            <a:cxnLst/>
            <a:rect l="l" t="t" r="r" b="b"/>
            <a:pathLst>
              <a:path w="7938516">
                <a:moveTo>
                  <a:pt x="0" y="0"/>
                </a:moveTo>
                <a:lnTo>
                  <a:pt x="7938516" y="0"/>
                </a:lnTo>
              </a:path>
            </a:pathLst>
          </a:custGeom>
          <a:ln w="56133">
            <a:solidFill>
              <a:srgbClr val="04607A"/>
            </a:solidFill>
          </a:ln>
        </p:spPr>
        <p:txBody>
          <a:bodyPr wrap="square" lIns="0" tIns="0" rIns="0" bIns="0" rtlCol="0">
            <a:noAutofit/>
          </a:bodyPr>
          <a:lstStyle/>
          <a:p>
            <a:endParaRPr/>
          </a:p>
        </p:txBody>
      </p:sp>
      <p:sp>
        <p:nvSpPr>
          <p:cNvPr id="11" name="object 11"/>
          <p:cNvSpPr/>
          <p:nvPr/>
        </p:nvSpPr>
        <p:spPr>
          <a:xfrm>
            <a:off x="6096000" y="3521962"/>
            <a:ext cx="3048000" cy="3336036"/>
          </a:xfrm>
          <a:prstGeom prst="rect">
            <a:avLst/>
          </a:prstGeom>
          <a:blipFill>
            <a:blip r:embed="rId7" cstate="print"/>
            <a:stretch>
              <a:fillRect/>
            </a:stretch>
          </a:blipFill>
        </p:spPr>
        <p:txBody>
          <a:bodyPr wrap="square" lIns="0" tIns="0" rIns="0" bIns="0" rtlCol="0">
            <a:noAutofit/>
          </a:bodyPr>
          <a:lstStyle/>
          <a:p>
            <a:endParaRPr/>
          </a:p>
        </p:txBody>
      </p:sp>
      <p:sp>
        <p:nvSpPr>
          <p:cNvPr id="12" name="object 12"/>
          <p:cNvSpPr/>
          <p:nvPr/>
        </p:nvSpPr>
        <p:spPr>
          <a:xfrm>
            <a:off x="7182611" y="1143000"/>
            <a:ext cx="1961388" cy="2357628"/>
          </a:xfrm>
          <a:prstGeom prst="rect">
            <a:avLst/>
          </a:prstGeom>
          <a:blipFill>
            <a:blip r:embed="rId8" cstate="print"/>
            <a:stretch>
              <a:fillRect/>
            </a:stretch>
          </a:blipFill>
        </p:spPr>
        <p:txBody>
          <a:bodyPr wrap="square" lIns="0" tIns="0" rIns="0" bIns="0" rtlCol="0">
            <a:noAutofit/>
          </a:bodyPr>
          <a:lstStyle/>
          <a:p>
            <a:endParaRPr/>
          </a:p>
        </p:txBody>
      </p:sp>
      <p:sp>
        <p:nvSpPr>
          <p:cNvPr id="4" name="object 4"/>
          <p:cNvSpPr txBox="1"/>
          <p:nvPr/>
        </p:nvSpPr>
        <p:spPr>
          <a:xfrm>
            <a:off x="444500" y="554858"/>
            <a:ext cx="8049323" cy="596900"/>
          </a:xfrm>
          <a:prstGeom prst="rect">
            <a:avLst/>
          </a:prstGeom>
        </p:spPr>
        <p:txBody>
          <a:bodyPr wrap="square" lIns="0" tIns="29813" rIns="0" bIns="0" rtlCol="0">
            <a:noAutofit/>
          </a:bodyPr>
          <a:lstStyle/>
          <a:p>
            <a:pPr marL="12700">
              <a:lnSpc>
                <a:spcPts val="4695"/>
              </a:lnSpc>
            </a:pPr>
            <a:r>
              <a:rPr sz="4500" b="1" i="1" dirty="0" smtClean="0">
                <a:solidFill>
                  <a:srgbClr val="04607A"/>
                </a:solidFill>
                <a:latin typeface="Times New Roman"/>
                <a:cs typeface="Times New Roman"/>
              </a:rPr>
              <a:t>BOILER </a:t>
            </a:r>
            <a:r>
              <a:rPr sz="4500" b="1" dirty="0" smtClean="0">
                <a:solidFill>
                  <a:srgbClr val="04607A"/>
                </a:solidFill>
                <a:latin typeface="Times New Roman"/>
                <a:cs typeface="Times New Roman"/>
              </a:rPr>
              <a:t>MAIN </a:t>
            </a:r>
            <a:r>
              <a:rPr sz="4500" b="1" i="1" dirty="0" smtClean="0">
                <a:solidFill>
                  <a:srgbClr val="04607A"/>
                </a:solidFill>
                <a:latin typeface="Times New Roman"/>
                <a:cs typeface="Times New Roman"/>
              </a:rPr>
              <a:t>COMPONENTS</a:t>
            </a:r>
            <a:endParaRPr sz="4500">
              <a:latin typeface="Times New Roman"/>
              <a:cs typeface="Times New Roman"/>
            </a:endParaRPr>
          </a:p>
        </p:txBody>
      </p:sp>
      <p:sp>
        <p:nvSpPr>
          <p:cNvPr id="3" name="object 3"/>
          <p:cNvSpPr txBox="1"/>
          <p:nvPr/>
        </p:nvSpPr>
        <p:spPr>
          <a:xfrm>
            <a:off x="535940" y="2021538"/>
            <a:ext cx="5169004" cy="1941321"/>
          </a:xfrm>
          <a:prstGeom prst="rect">
            <a:avLst/>
          </a:prstGeom>
        </p:spPr>
        <p:txBody>
          <a:bodyPr wrap="square" lIns="0" tIns="17526" rIns="0" bIns="0" rtlCol="0">
            <a:noAutofit/>
          </a:bodyPr>
          <a:lstStyle/>
          <a:p>
            <a:pPr marL="12700" marR="19698">
              <a:lnSpc>
                <a:spcPts val="2760"/>
              </a:lnSpc>
            </a:pPr>
            <a:r>
              <a:rPr sz="2450" dirty="0" smtClean="0">
                <a:solidFill>
                  <a:srgbClr val="0AD0D9"/>
                </a:solidFill>
                <a:latin typeface="Wingdings"/>
                <a:cs typeface="Wingdings"/>
              </a:rPr>
              <a:t></a:t>
            </a:r>
            <a:r>
              <a:rPr sz="2450" spc="-27" dirty="0" smtClean="0">
                <a:solidFill>
                  <a:srgbClr val="0AD0D9"/>
                </a:solidFill>
                <a:latin typeface="Times New Roman"/>
                <a:cs typeface="Times New Roman"/>
              </a:rPr>
              <a:t> </a:t>
            </a:r>
            <a:r>
              <a:rPr sz="2600" b="1" spc="-27" dirty="0" smtClean="0">
                <a:latin typeface="Times New Roman"/>
                <a:cs typeface="Times New Roman"/>
              </a:rPr>
              <a:t>SAFETY VALVE </a:t>
            </a:r>
            <a:r>
              <a:rPr sz="2600" spc="-27" dirty="0" smtClean="0">
                <a:latin typeface="Times New Roman"/>
                <a:cs typeface="Times New Roman"/>
              </a:rPr>
              <a:t>- A spring loaded</a:t>
            </a:r>
            <a:endParaRPr sz="2600">
              <a:latin typeface="Times New Roman"/>
              <a:cs typeface="Times New Roman"/>
            </a:endParaRPr>
          </a:p>
          <a:p>
            <a:pPr marL="287019">
              <a:lnSpc>
                <a:spcPct val="100041"/>
              </a:lnSpc>
            </a:pPr>
            <a:r>
              <a:rPr sz="2600" dirty="0" smtClean="0">
                <a:latin typeface="Times New Roman"/>
                <a:cs typeface="Times New Roman"/>
              </a:rPr>
              <a:t>valve</a:t>
            </a:r>
            <a:r>
              <a:rPr sz="2600" spc="-14" dirty="0" smtClean="0">
                <a:latin typeface="Times New Roman"/>
                <a:cs typeface="Times New Roman"/>
              </a:rPr>
              <a:t> </a:t>
            </a:r>
            <a:r>
              <a:rPr sz="2600" spc="0" dirty="0" smtClean="0">
                <a:latin typeface="Times New Roman"/>
                <a:cs typeface="Times New Roman"/>
              </a:rPr>
              <a:t>that</a:t>
            </a:r>
            <a:r>
              <a:rPr sz="2600" spc="-4" dirty="0" smtClean="0">
                <a:latin typeface="Times New Roman"/>
                <a:cs typeface="Times New Roman"/>
              </a:rPr>
              <a:t> </a:t>
            </a:r>
            <a:r>
              <a:rPr sz="2600" spc="0" dirty="0" smtClean="0">
                <a:latin typeface="Times New Roman"/>
                <a:cs typeface="Times New Roman"/>
              </a:rPr>
              <a:t>automa</a:t>
            </a:r>
            <a:r>
              <a:rPr sz="2600" spc="-9" dirty="0" smtClean="0">
                <a:latin typeface="Times New Roman"/>
                <a:cs typeface="Times New Roman"/>
              </a:rPr>
              <a:t>t</a:t>
            </a:r>
            <a:r>
              <a:rPr sz="2600" spc="0" dirty="0" smtClean="0">
                <a:latin typeface="Times New Roman"/>
                <a:cs typeface="Times New Roman"/>
              </a:rPr>
              <a:t>i</a:t>
            </a:r>
            <a:r>
              <a:rPr sz="2600" spc="-9" dirty="0" smtClean="0">
                <a:latin typeface="Times New Roman"/>
                <a:cs typeface="Times New Roman"/>
              </a:rPr>
              <a:t>c</a:t>
            </a:r>
            <a:r>
              <a:rPr sz="2600" spc="0" dirty="0" smtClean="0">
                <a:latin typeface="Times New Roman"/>
                <a:cs typeface="Times New Roman"/>
              </a:rPr>
              <a:t>a</a:t>
            </a:r>
            <a:r>
              <a:rPr sz="2600" spc="-9" dirty="0" smtClean="0">
                <a:latin typeface="Times New Roman"/>
                <a:cs typeface="Times New Roman"/>
              </a:rPr>
              <a:t>l</a:t>
            </a:r>
            <a:r>
              <a:rPr sz="2600" spc="0" dirty="0" smtClean="0">
                <a:latin typeface="Times New Roman"/>
                <a:cs typeface="Times New Roman"/>
              </a:rPr>
              <a:t>ly o</a:t>
            </a:r>
            <a:r>
              <a:rPr sz="2600" spc="9" dirty="0" smtClean="0">
                <a:latin typeface="Times New Roman"/>
                <a:cs typeface="Times New Roman"/>
              </a:rPr>
              <a:t>p</a:t>
            </a:r>
            <a:r>
              <a:rPr sz="2600" spc="0" dirty="0" smtClean="0">
                <a:latin typeface="Times New Roman"/>
                <a:cs typeface="Times New Roman"/>
              </a:rPr>
              <a:t>ens</a:t>
            </a:r>
            <a:r>
              <a:rPr sz="2600" spc="-14" dirty="0" smtClean="0">
                <a:latin typeface="Times New Roman"/>
                <a:cs typeface="Times New Roman"/>
              </a:rPr>
              <a:t> </a:t>
            </a:r>
            <a:r>
              <a:rPr sz="2600" spc="0" dirty="0" smtClean="0">
                <a:latin typeface="Times New Roman"/>
                <a:cs typeface="Times New Roman"/>
              </a:rPr>
              <a:t>w</a:t>
            </a:r>
            <a:r>
              <a:rPr sz="2600" spc="9" dirty="0" smtClean="0">
                <a:latin typeface="Times New Roman"/>
                <a:cs typeface="Times New Roman"/>
              </a:rPr>
              <a:t>h</a:t>
            </a:r>
            <a:r>
              <a:rPr sz="2600" spc="0" dirty="0" smtClean="0">
                <a:latin typeface="Times New Roman"/>
                <a:cs typeface="Times New Roman"/>
              </a:rPr>
              <a:t>en pres</a:t>
            </a:r>
            <a:r>
              <a:rPr sz="2600" spc="-9" dirty="0" smtClean="0">
                <a:latin typeface="Times New Roman"/>
                <a:cs typeface="Times New Roman"/>
              </a:rPr>
              <a:t>s</a:t>
            </a:r>
            <a:r>
              <a:rPr sz="2600" spc="0" dirty="0" smtClean="0">
                <a:latin typeface="Times New Roman"/>
                <a:cs typeface="Times New Roman"/>
              </a:rPr>
              <a:t>ure</a:t>
            </a:r>
            <a:r>
              <a:rPr sz="2600" spc="-14" dirty="0" smtClean="0">
                <a:latin typeface="Times New Roman"/>
                <a:cs typeface="Times New Roman"/>
              </a:rPr>
              <a:t> </a:t>
            </a:r>
            <a:r>
              <a:rPr sz="2600" spc="0" dirty="0" smtClean="0">
                <a:latin typeface="Times New Roman"/>
                <a:cs typeface="Times New Roman"/>
              </a:rPr>
              <a:t>a</a:t>
            </a:r>
            <a:r>
              <a:rPr sz="2600" spc="-9" dirty="0" smtClean="0">
                <a:latin typeface="Times New Roman"/>
                <a:cs typeface="Times New Roman"/>
              </a:rPr>
              <a:t>t</a:t>
            </a:r>
            <a:r>
              <a:rPr sz="2600" spc="0" dirty="0" smtClean="0">
                <a:latin typeface="Times New Roman"/>
                <a:cs typeface="Times New Roman"/>
              </a:rPr>
              <a:t>t</a:t>
            </a:r>
            <a:r>
              <a:rPr sz="2600" spc="-9" dirty="0" smtClean="0">
                <a:latin typeface="Times New Roman"/>
                <a:cs typeface="Times New Roman"/>
              </a:rPr>
              <a:t>a</a:t>
            </a:r>
            <a:r>
              <a:rPr sz="2600" spc="0" dirty="0" smtClean="0">
                <a:latin typeface="Times New Roman"/>
                <a:cs typeface="Times New Roman"/>
              </a:rPr>
              <a:t>ins t</a:t>
            </a:r>
            <a:r>
              <a:rPr sz="2600" spc="4" dirty="0" smtClean="0">
                <a:latin typeface="Times New Roman"/>
                <a:cs typeface="Times New Roman"/>
              </a:rPr>
              <a:t>h</a:t>
            </a:r>
            <a:r>
              <a:rPr sz="2600" spc="0" dirty="0" smtClean="0">
                <a:latin typeface="Times New Roman"/>
                <a:cs typeface="Times New Roman"/>
              </a:rPr>
              <a:t>e va</a:t>
            </a:r>
            <a:r>
              <a:rPr sz="2600" spc="-9" dirty="0" smtClean="0">
                <a:latin typeface="Times New Roman"/>
                <a:cs typeface="Times New Roman"/>
              </a:rPr>
              <a:t>l</a:t>
            </a:r>
            <a:r>
              <a:rPr sz="2600" spc="0" dirty="0" smtClean="0">
                <a:latin typeface="Times New Roman"/>
                <a:cs typeface="Times New Roman"/>
              </a:rPr>
              <a:t>ve</a:t>
            </a:r>
            <a:r>
              <a:rPr sz="2600" spc="-25" dirty="0" smtClean="0">
                <a:latin typeface="Times New Roman"/>
                <a:cs typeface="Times New Roman"/>
              </a:rPr>
              <a:t> </a:t>
            </a:r>
            <a:r>
              <a:rPr sz="2600" spc="0" dirty="0" smtClean="0">
                <a:latin typeface="Times New Roman"/>
                <a:cs typeface="Times New Roman"/>
              </a:rPr>
              <a:t>s</a:t>
            </a:r>
            <a:r>
              <a:rPr sz="2600" spc="-9" dirty="0" smtClean="0">
                <a:latin typeface="Times New Roman"/>
                <a:cs typeface="Times New Roman"/>
              </a:rPr>
              <a:t>e</a:t>
            </a:r>
            <a:r>
              <a:rPr sz="2600" spc="0" dirty="0" smtClean="0">
                <a:latin typeface="Times New Roman"/>
                <a:cs typeface="Times New Roman"/>
              </a:rPr>
              <a:t>t</a:t>
            </a:r>
            <a:r>
              <a:rPr sz="2600" spc="-9" dirty="0" smtClean="0">
                <a:latin typeface="Times New Roman"/>
                <a:cs typeface="Times New Roman"/>
              </a:rPr>
              <a:t>t</a:t>
            </a:r>
            <a:r>
              <a:rPr sz="2600" spc="0" dirty="0" smtClean="0">
                <a:latin typeface="Times New Roman"/>
                <a:cs typeface="Times New Roman"/>
              </a:rPr>
              <a:t>in</a:t>
            </a:r>
            <a:r>
              <a:rPr sz="2600" spc="4" dirty="0" smtClean="0">
                <a:latin typeface="Times New Roman"/>
                <a:cs typeface="Times New Roman"/>
              </a:rPr>
              <a:t>g</a:t>
            </a:r>
            <a:r>
              <a:rPr sz="2600" spc="0" dirty="0" smtClean="0">
                <a:latin typeface="Times New Roman"/>
                <a:cs typeface="Times New Roman"/>
              </a:rPr>
              <a:t>. Used</a:t>
            </a:r>
            <a:r>
              <a:rPr sz="2600" spc="-9" dirty="0" smtClean="0">
                <a:latin typeface="Times New Roman"/>
                <a:cs typeface="Times New Roman"/>
              </a:rPr>
              <a:t> </a:t>
            </a:r>
            <a:r>
              <a:rPr sz="2600" spc="0" dirty="0" smtClean="0">
                <a:latin typeface="Times New Roman"/>
                <a:cs typeface="Times New Roman"/>
              </a:rPr>
              <a:t>to prevent</a:t>
            </a:r>
            <a:r>
              <a:rPr sz="2600" spc="-25" dirty="0" smtClean="0">
                <a:latin typeface="Times New Roman"/>
                <a:cs typeface="Times New Roman"/>
              </a:rPr>
              <a:t> </a:t>
            </a:r>
            <a:r>
              <a:rPr sz="2600" spc="0" dirty="0" smtClean="0">
                <a:latin typeface="Times New Roman"/>
                <a:cs typeface="Times New Roman"/>
              </a:rPr>
              <a:t>exce</a:t>
            </a:r>
            <a:r>
              <a:rPr sz="2600" spc="-9" dirty="0" smtClean="0">
                <a:latin typeface="Times New Roman"/>
                <a:cs typeface="Times New Roman"/>
              </a:rPr>
              <a:t>s</a:t>
            </a:r>
            <a:r>
              <a:rPr sz="2600" spc="0" dirty="0" smtClean="0">
                <a:latin typeface="Times New Roman"/>
                <a:cs typeface="Times New Roman"/>
              </a:rPr>
              <a:t>s</a:t>
            </a:r>
            <a:r>
              <a:rPr sz="2600" spc="-9" dirty="0" smtClean="0">
                <a:latin typeface="Times New Roman"/>
                <a:cs typeface="Times New Roman"/>
              </a:rPr>
              <a:t>i</a:t>
            </a:r>
            <a:r>
              <a:rPr sz="2600" spc="0" dirty="0" smtClean="0">
                <a:latin typeface="Times New Roman"/>
                <a:cs typeface="Times New Roman"/>
              </a:rPr>
              <a:t>ve</a:t>
            </a:r>
            <a:r>
              <a:rPr sz="2600" spc="-9" dirty="0" smtClean="0">
                <a:latin typeface="Times New Roman"/>
                <a:cs typeface="Times New Roman"/>
              </a:rPr>
              <a:t> </a:t>
            </a:r>
            <a:r>
              <a:rPr sz="2600" spc="0" dirty="0" smtClean="0">
                <a:latin typeface="Times New Roman"/>
                <a:cs typeface="Times New Roman"/>
              </a:rPr>
              <a:t>pres</a:t>
            </a:r>
            <a:r>
              <a:rPr sz="2600" spc="-9" dirty="0" smtClean="0">
                <a:latin typeface="Times New Roman"/>
                <a:cs typeface="Times New Roman"/>
              </a:rPr>
              <a:t>s</a:t>
            </a:r>
            <a:r>
              <a:rPr sz="2600" spc="0" dirty="0" smtClean="0">
                <a:latin typeface="Times New Roman"/>
                <a:cs typeface="Times New Roman"/>
              </a:rPr>
              <a:t>ure from</a:t>
            </a:r>
            <a:r>
              <a:rPr sz="2600" spc="-9"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u</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di</a:t>
            </a:r>
            <a:r>
              <a:rPr sz="2600" spc="4" dirty="0" smtClean="0">
                <a:latin typeface="Times New Roman"/>
                <a:cs typeface="Times New Roman"/>
              </a:rPr>
              <a:t>n</a:t>
            </a:r>
            <a:r>
              <a:rPr sz="2600" spc="0" dirty="0" smtClean="0">
                <a:latin typeface="Times New Roman"/>
                <a:cs typeface="Times New Roman"/>
              </a:rPr>
              <a:t>g</a:t>
            </a:r>
            <a:r>
              <a:rPr sz="2600" spc="-19" dirty="0" smtClean="0">
                <a:latin typeface="Times New Roman"/>
                <a:cs typeface="Times New Roman"/>
              </a:rPr>
              <a:t> </a:t>
            </a:r>
            <a:r>
              <a:rPr sz="2600" spc="0" dirty="0" smtClean="0">
                <a:latin typeface="Times New Roman"/>
                <a:cs typeface="Times New Roman"/>
              </a:rPr>
              <a:t>up in a</a:t>
            </a:r>
            <a:r>
              <a:rPr sz="2600" spc="-4"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a:t>
            </a:r>
            <a:r>
              <a:rPr sz="2600" spc="-150" dirty="0" smtClean="0">
                <a:latin typeface="Times New Roman"/>
                <a:cs typeface="Times New Roman"/>
              </a:rPr>
              <a:t>r</a:t>
            </a:r>
            <a:r>
              <a:rPr sz="2600" spc="0" dirty="0" smtClean="0">
                <a:latin typeface="Times New Roman"/>
                <a:cs typeface="Times New Roman"/>
              </a:rPr>
              <a:t>.</a:t>
            </a:r>
            <a:endParaRPr sz="2600">
              <a:latin typeface="Times New Roman"/>
              <a:cs typeface="Times New Roman"/>
            </a:endParaRPr>
          </a:p>
        </p:txBody>
      </p:sp>
      <p:sp>
        <p:nvSpPr>
          <p:cNvPr id="2" name="object 2"/>
          <p:cNvSpPr txBox="1"/>
          <p:nvPr/>
        </p:nvSpPr>
        <p:spPr>
          <a:xfrm>
            <a:off x="535940" y="5032971"/>
            <a:ext cx="5410751" cy="1149163"/>
          </a:xfrm>
          <a:prstGeom prst="rect">
            <a:avLst/>
          </a:prstGeom>
        </p:spPr>
        <p:txBody>
          <a:bodyPr wrap="square" lIns="0" tIns="17526" rIns="0" bIns="0" rtlCol="0">
            <a:noAutofit/>
          </a:bodyPr>
          <a:lstStyle/>
          <a:p>
            <a:pPr marL="12700" marR="44254">
              <a:lnSpc>
                <a:spcPts val="2760"/>
              </a:lnSpc>
            </a:pPr>
            <a:r>
              <a:rPr sz="2450" dirty="0" smtClean="0">
                <a:solidFill>
                  <a:srgbClr val="0AD0D9"/>
                </a:solidFill>
                <a:latin typeface="Wingdings"/>
                <a:cs typeface="Wingdings"/>
              </a:rPr>
              <a:t></a:t>
            </a:r>
            <a:r>
              <a:rPr sz="2450" spc="-22" dirty="0" smtClean="0">
                <a:solidFill>
                  <a:srgbClr val="0AD0D9"/>
                </a:solidFill>
                <a:latin typeface="Times New Roman"/>
                <a:cs typeface="Times New Roman"/>
              </a:rPr>
              <a:t> </a:t>
            </a:r>
            <a:r>
              <a:rPr sz="2600" b="1" spc="-22" dirty="0" smtClean="0">
                <a:latin typeface="Times New Roman"/>
                <a:cs typeface="Times New Roman"/>
              </a:rPr>
              <a:t>STEAM SEPARATOR </a:t>
            </a:r>
            <a:r>
              <a:rPr sz="2600" spc="-22" dirty="0" smtClean="0">
                <a:latin typeface="Times New Roman"/>
                <a:cs typeface="Times New Roman"/>
              </a:rPr>
              <a:t>- A device</a:t>
            </a:r>
            <a:endParaRPr sz="2600">
              <a:latin typeface="Times New Roman"/>
              <a:cs typeface="Times New Roman"/>
            </a:endParaRPr>
          </a:p>
          <a:p>
            <a:pPr marL="287019">
              <a:lnSpc>
                <a:spcPct val="100041"/>
              </a:lnSpc>
            </a:pPr>
            <a:r>
              <a:rPr sz="2600" dirty="0" smtClean="0">
                <a:latin typeface="Times New Roman"/>
                <a:cs typeface="Times New Roman"/>
              </a:rPr>
              <a:t>for</a:t>
            </a:r>
            <a:r>
              <a:rPr sz="2600" spc="-14" dirty="0" smtClean="0">
                <a:latin typeface="Times New Roman"/>
                <a:cs typeface="Times New Roman"/>
              </a:rPr>
              <a:t> </a:t>
            </a:r>
            <a:r>
              <a:rPr sz="2600" spc="0" dirty="0" smtClean="0">
                <a:latin typeface="Times New Roman"/>
                <a:cs typeface="Times New Roman"/>
              </a:rPr>
              <a:t>re</a:t>
            </a:r>
            <a:r>
              <a:rPr sz="2600" spc="-14" dirty="0" smtClean="0">
                <a:latin typeface="Times New Roman"/>
                <a:cs typeface="Times New Roman"/>
              </a:rPr>
              <a:t>m</a:t>
            </a:r>
            <a:r>
              <a:rPr sz="2600" spc="0" dirty="0" smtClean="0">
                <a:latin typeface="Times New Roman"/>
                <a:cs typeface="Times New Roman"/>
              </a:rPr>
              <a:t>o</a:t>
            </a:r>
            <a:r>
              <a:rPr sz="2600" spc="9" dirty="0" smtClean="0">
                <a:latin typeface="Times New Roman"/>
                <a:cs typeface="Times New Roman"/>
              </a:rPr>
              <a:t>v</a:t>
            </a:r>
            <a:r>
              <a:rPr sz="2600" spc="0" dirty="0" smtClean="0">
                <a:latin typeface="Times New Roman"/>
                <a:cs typeface="Times New Roman"/>
              </a:rPr>
              <a:t>ing</a:t>
            </a:r>
            <a:r>
              <a:rPr sz="2600" spc="-9" dirty="0" smtClean="0">
                <a:latin typeface="Times New Roman"/>
                <a:cs typeface="Times New Roman"/>
              </a:rPr>
              <a:t> </a:t>
            </a:r>
            <a:r>
              <a:rPr sz="2600" spc="0" dirty="0" smtClean="0">
                <a:latin typeface="Times New Roman"/>
                <a:cs typeface="Times New Roman"/>
              </a:rPr>
              <a:t>the</a:t>
            </a:r>
            <a:r>
              <a:rPr sz="2600" spc="-14" dirty="0" smtClean="0">
                <a:latin typeface="Times New Roman"/>
                <a:cs typeface="Times New Roman"/>
              </a:rPr>
              <a:t> </a:t>
            </a:r>
            <a:r>
              <a:rPr sz="2600" spc="0" dirty="0" smtClean="0">
                <a:latin typeface="Times New Roman"/>
                <a:cs typeface="Times New Roman"/>
              </a:rPr>
              <a:t>entr</a:t>
            </a:r>
            <a:r>
              <a:rPr sz="2600" spc="-9" dirty="0" smtClean="0">
                <a:latin typeface="Times New Roman"/>
                <a:cs typeface="Times New Roman"/>
              </a:rPr>
              <a:t>a</a:t>
            </a:r>
            <a:r>
              <a:rPr sz="2600" spc="0" dirty="0" smtClean="0">
                <a:latin typeface="Times New Roman"/>
                <a:cs typeface="Times New Roman"/>
              </a:rPr>
              <a:t>ined</a:t>
            </a:r>
            <a:r>
              <a:rPr sz="2600" spc="-9" dirty="0" smtClean="0">
                <a:latin typeface="Times New Roman"/>
                <a:cs typeface="Times New Roman"/>
              </a:rPr>
              <a:t> </a:t>
            </a:r>
            <a:r>
              <a:rPr sz="2600" spc="0" dirty="0" smtClean="0">
                <a:latin typeface="Times New Roman"/>
                <a:cs typeface="Times New Roman"/>
              </a:rPr>
              <a:t>water</a:t>
            </a:r>
            <a:r>
              <a:rPr sz="2600" spc="-19" dirty="0" smtClean="0">
                <a:latin typeface="Times New Roman"/>
                <a:cs typeface="Times New Roman"/>
              </a:rPr>
              <a:t> </a:t>
            </a:r>
            <a:r>
              <a:rPr sz="2600" spc="0" dirty="0" smtClean="0">
                <a:latin typeface="Times New Roman"/>
                <a:cs typeface="Times New Roman"/>
              </a:rPr>
              <a:t>from s</a:t>
            </a:r>
            <a:r>
              <a:rPr sz="2600" spc="-9" dirty="0" smtClean="0">
                <a:latin typeface="Times New Roman"/>
                <a:cs typeface="Times New Roman"/>
              </a:rPr>
              <a:t>t</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m.</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p:nvPr/>
        </p:nvSpPr>
        <p:spPr>
          <a:xfrm>
            <a:off x="0" y="0"/>
            <a:ext cx="9143999" cy="1028967"/>
          </a:xfrm>
          <a:prstGeom prst="rect">
            <a:avLst/>
          </a:prstGeom>
          <a:blipFill>
            <a:blip r:embed="rId2" cstate="print"/>
            <a:stretch>
              <a:fillRect/>
            </a:stretch>
          </a:blipFill>
        </p:spPr>
        <p:txBody>
          <a:bodyPr wrap="square" lIns="0" tIns="0" rIns="0" bIns="0" rtlCol="0">
            <a:noAutofit/>
          </a:bodyPr>
          <a:lstStyle/>
          <a:p>
            <a:endParaRPr/>
          </a:p>
        </p:txBody>
      </p:sp>
      <p:sp>
        <p:nvSpPr>
          <p:cNvPr id="10" name="object 10"/>
          <p:cNvSpPr/>
          <p:nvPr/>
        </p:nvSpPr>
        <p:spPr>
          <a:xfrm>
            <a:off x="4401959" y="0"/>
            <a:ext cx="4742040" cy="599936"/>
          </a:xfrm>
          <a:prstGeom prst="rect">
            <a:avLst/>
          </a:prstGeom>
          <a:blipFill>
            <a:blip r:embed="rId3" cstate="print"/>
            <a:stretch>
              <a:fillRect/>
            </a:stretch>
          </a:blipFill>
        </p:spPr>
        <p:txBody>
          <a:bodyPr wrap="square" lIns="0" tIns="0" rIns="0" bIns="0" rtlCol="0">
            <a:noAutofit/>
          </a:bodyPr>
          <a:lstStyle/>
          <a:p>
            <a:endParaRPr/>
          </a:p>
        </p:txBody>
      </p:sp>
      <p:sp>
        <p:nvSpPr>
          <p:cNvPr id="11" name="object 11"/>
          <p:cNvSpPr/>
          <p:nvPr/>
        </p:nvSpPr>
        <p:spPr>
          <a:xfrm>
            <a:off x="0" y="0"/>
            <a:ext cx="9088207" cy="1020572"/>
          </a:xfrm>
          <a:prstGeom prst="rect">
            <a:avLst/>
          </a:prstGeom>
          <a:blipFill>
            <a:blip r:embed="rId4" cstate="print"/>
            <a:stretch>
              <a:fillRect/>
            </a:stretch>
          </a:blipFill>
        </p:spPr>
        <p:txBody>
          <a:bodyPr wrap="square" lIns="0" tIns="0" rIns="0" bIns="0" rtlCol="0">
            <a:noAutofit/>
          </a:bodyPr>
          <a:lstStyle/>
          <a:p>
            <a:endParaRPr/>
          </a:p>
        </p:txBody>
      </p:sp>
      <p:sp>
        <p:nvSpPr>
          <p:cNvPr id="12" name="object 12"/>
          <p:cNvSpPr/>
          <p:nvPr/>
        </p:nvSpPr>
        <p:spPr>
          <a:xfrm>
            <a:off x="-828" y="52324"/>
            <a:ext cx="9145590" cy="901826"/>
          </a:xfrm>
          <a:prstGeom prst="rect">
            <a:avLst/>
          </a:prstGeom>
          <a:blipFill>
            <a:blip r:embed="rId5" cstate="print"/>
            <a:stretch>
              <a:fillRect/>
            </a:stretch>
          </a:blipFill>
        </p:spPr>
        <p:txBody>
          <a:bodyPr wrap="square" lIns="0" tIns="0" rIns="0" bIns="0" rtlCol="0">
            <a:noAutofit/>
          </a:bodyPr>
          <a:lstStyle/>
          <a:p>
            <a:endParaRPr/>
          </a:p>
        </p:txBody>
      </p:sp>
      <p:sp>
        <p:nvSpPr>
          <p:cNvPr id="13" name="object 13"/>
          <p:cNvSpPr/>
          <p:nvPr/>
        </p:nvSpPr>
        <p:spPr>
          <a:xfrm>
            <a:off x="5715000" y="1066800"/>
            <a:ext cx="3429000" cy="2403348"/>
          </a:xfrm>
          <a:prstGeom prst="rect">
            <a:avLst/>
          </a:prstGeom>
          <a:blipFill>
            <a:blip r:embed="rId6" cstate="print"/>
            <a:stretch>
              <a:fillRect/>
            </a:stretch>
          </a:blipFill>
        </p:spPr>
        <p:txBody>
          <a:bodyPr wrap="square" lIns="0" tIns="0" rIns="0" bIns="0" rtlCol="0">
            <a:noAutofit/>
          </a:bodyPr>
          <a:lstStyle/>
          <a:p>
            <a:endParaRPr/>
          </a:p>
        </p:txBody>
      </p:sp>
      <p:sp>
        <p:nvSpPr>
          <p:cNvPr id="14" name="object 14"/>
          <p:cNvSpPr/>
          <p:nvPr/>
        </p:nvSpPr>
        <p:spPr>
          <a:xfrm>
            <a:off x="5257800" y="4190999"/>
            <a:ext cx="3505200" cy="2667000"/>
          </a:xfrm>
          <a:prstGeom prst="rect">
            <a:avLst/>
          </a:prstGeom>
          <a:blipFill>
            <a:blip r:embed="rId7" cstate="print"/>
            <a:stretch>
              <a:fillRect/>
            </a:stretch>
          </a:blipFill>
        </p:spPr>
        <p:txBody>
          <a:bodyPr wrap="square" lIns="0" tIns="0" rIns="0" bIns="0" rtlCol="0">
            <a:noAutofit/>
          </a:bodyPr>
          <a:lstStyle/>
          <a:p>
            <a:endParaRPr/>
          </a:p>
        </p:txBody>
      </p:sp>
      <p:sp>
        <p:nvSpPr>
          <p:cNvPr id="7" name="object 7"/>
          <p:cNvSpPr txBox="1"/>
          <p:nvPr/>
        </p:nvSpPr>
        <p:spPr>
          <a:xfrm>
            <a:off x="444500" y="554858"/>
            <a:ext cx="3905885" cy="596900"/>
          </a:xfrm>
          <a:prstGeom prst="rect">
            <a:avLst/>
          </a:prstGeom>
        </p:spPr>
        <p:txBody>
          <a:bodyPr wrap="square" lIns="0" tIns="29813" rIns="0" bIns="0" rtlCol="0">
            <a:noAutofit/>
          </a:bodyPr>
          <a:lstStyle/>
          <a:p>
            <a:pPr marL="12700">
              <a:lnSpc>
                <a:spcPts val="4695"/>
              </a:lnSpc>
            </a:pPr>
            <a:r>
              <a:rPr sz="4500" b="1" i="1" u="heavy" dirty="0" smtClean="0">
                <a:solidFill>
                  <a:srgbClr val="04607A"/>
                </a:solidFill>
                <a:latin typeface="Times New Roman"/>
                <a:cs typeface="Times New Roman"/>
              </a:rPr>
              <a:t>BOILER MAIN</a:t>
            </a:r>
            <a:endParaRPr sz="4500">
              <a:latin typeface="Times New Roman"/>
              <a:cs typeface="Times New Roman"/>
            </a:endParaRPr>
          </a:p>
        </p:txBody>
      </p:sp>
      <p:sp>
        <p:nvSpPr>
          <p:cNvPr id="6" name="object 6"/>
          <p:cNvSpPr txBox="1"/>
          <p:nvPr/>
        </p:nvSpPr>
        <p:spPr>
          <a:xfrm>
            <a:off x="444500" y="1240413"/>
            <a:ext cx="4689064" cy="1929713"/>
          </a:xfrm>
          <a:prstGeom prst="rect">
            <a:avLst/>
          </a:prstGeom>
        </p:spPr>
        <p:txBody>
          <a:bodyPr wrap="square" lIns="0" tIns="29813" rIns="0" bIns="0" rtlCol="0">
            <a:noAutofit/>
          </a:bodyPr>
          <a:lstStyle/>
          <a:p>
            <a:pPr marL="12700" marR="44254">
              <a:lnSpc>
                <a:spcPts val="4695"/>
              </a:lnSpc>
            </a:pPr>
            <a:r>
              <a:rPr sz="4500" b="1" i="1" u="heavy" dirty="0" smtClean="0">
                <a:solidFill>
                  <a:srgbClr val="04607A"/>
                </a:solidFill>
                <a:latin typeface="Times New Roman"/>
                <a:cs typeface="Times New Roman"/>
              </a:rPr>
              <a:t>COMPONENTS</a:t>
            </a:r>
            <a:endParaRPr sz="4500">
              <a:latin typeface="Times New Roman"/>
              <a:cs typeface="Times New Roman"/>
            </a:endParaRPr>
          </a:p>
          <a:p>
            <a:pPr marL="378459" indent="-274319">
              <a:lnSpc>
                <a:spcPct val="100041"/>
              </a:lnSpc>
              <a:spcBef>
                <a:spcPts val="987"/>
              </a:spcBef>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b="1" spc="0" dirty="0" smtClean="0">
                <a:latin typeface="Times New Roman"/>
                <a:cs typeface="Times New Roman"/>
              </a:rPr>
              <a:t>S</a:t>
            </a:r>
            <a:r>
              <a:rPr sz="2600" b="1" spc="9" dirty="0" smtClean="0">
                <a:latin typeface="Times New Roman"/>
                <a:cs typeface="Times New Roman"/>
              </a:rPr>
              <a:t>T</a:t>
            </a:r>
            <a:r>
              <a:rPr sz="2600" b="1" spc="0" dirty="0" smtClean="0">
                <a:latin typeface="Times New Roman"/>
                <a:cs typeface="Times New Roman"/>
              </a:rPr>
              <a:t>R</a:t>
            </a:r>
            <a:r>
              <a:rPr sz="2600" b="1" spc="9" dirty="0" smtClean="0">
                <a:latin typeface="Times New Roman"/>
                <a:cs typeface="Times New Roman"/>
              </a:rPr>
              <a:t>A</a:t>
            </a:r>
            <a:r>
              <a:rPr sz="2600" b="1" spc="0" dirty="0" smtClean="0">
                <a:latin typeface="Times New Roman"/>
                <a:cs typeface="Times New Roman"/>
              </a:rPr>
              <a:t>INER</a:t>
            </a:r>
            <a:r>
              <a:rPr sz="2600" b="1" spc="-34" dirty="0" smtClean="0">
                <a:latin typeface="Times New Roman"/>
                <a:cs typeface="Times New Roman"/>
              </a:rPr>
              <a:t> </a:t>
            </a:r>
            <a:r>
              <a:rPr sz="2600" spc="0" dirty="0" smtClean="0">
                <a:latin typeface="Times New Roman"/>
                <a:cs typeface="Times New Roman"/>
              </a:rPr>
              <a:t>-</a:t>
            </a:r>
            <a:r>
              <a:rPr sz="2600" spc="-150" dirty="0" smtClean="0">
                <a:latin typeface="Times New Roman"/>
                <a:cs typeface="Times New Roman"/>
              </a:rPr>
              <a:t> </a:t>
            </a:r>
            <a:r>
              <a:rPr sz="2600" spc="0" dirty="0" smtClean="0">
                <a:latin typeface="Times New Roman"/>
                <a:cs typeface="Times New Roman"/>
              </a:rPr>
              <a:t>A</a:t>
            </a:r>
            <a:r>
              <a:rPr sz="2600" spc="-134" dirty="0" smtClean="0">
                <a:latin typeface="Times New Roman"/>
                <a:cs typeface="Times New Roman"/>
              </a:rPr>
              <a:t> </a:t>
            </a:r>
            <a:r>
              <a:rPr sz="2600" spc="0" dirty="0" smtClean="0">
                <a:latin typeface="Times New Roman"/>
                <a:cs typeface="Times New Roman"/>
              </a:rPr>
              <a:t>device,</a:t>
            </a:r>
            <a:r>
              <a:rPr sz="2600" spc="-34" dirty="0" smtClean="0">
                <a:latin typeface="Times New Roman"/>
                <a:cs typeface="Times New Roman"/>
              </a:rPr>
              <a:t> </a:t>
            </a:r>
            <a:r>
              <a:rPr sz="2600" spc="0" dirty="0" smtClean="0">
                <a:latin typeface="Times New Roman"/>
                <a:cs typeface="Times New Roman"/>
              </a:rPr>
              <a:t>such</a:t>
            </a:r>
            <a:r>
              <a:rPr sz="2600" spc="-9" dirty="0" smtClean="0">
                <a:latin typeface="Times New Roman"/>
                <a:cs typeface="Times New Roman"/>
              </a:rPr>
              <a:t> </a:t>
            </a:r>
            <a:r>
              <a:rPr sz="2600" spc="0" dirty="0" smtClean="0">
                <a:latin typeface="Times New Roman"/>
                <a:cs typeface="Times New Roman"/>
              </a:rPr>
              <a:t>as a </a:t>
            </a:r>
            <a:r>
              <a:rPr sz="2600" spc="-9" dirty="0" smtClean="0">
                <a:latin typeface="Times New Roman"/>
                <a:cs typeface="Times New Roman"/>
              </a:rPr>
              <a:t>f</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t</a:t>
            </a:r>
            <a:r>
              <a:rPr sz="2600" spc="-9" dirty="0" smtClean="0">
                <a:latin typeface="Times New Roman"/>
                <a:cs typeface="Times New Roman"/>
              </a:rPr>
              <a:t>e</a:t>
            </a:r>
            <a:r>
              <a:rPr sz="2600" spc="-109" dirty="0" smtClean="0">
                <a:latin typeface="Times New Roman"/>
                <a:cs typeface="Times New Roman"/>
              </a:rPr>
              <a:t>r</a:t>
            </a:r>
            <a:r>
              <a:rPr sz="2600" spc="0" dirty="0" smtClean="0">
                <a:latin typeface="Times New Roman"/>
                <a:cs typeface="Times New Roman"/>
              </a:rPr>
              <a:t>, to r</a:t>
            </a:r>
            <a:r>
              <a:rPr sz="2600" spc="-9" dirty="0" smtClean="0">
                <a:latin typeface="Times New Roman"/>
                <a:cs typeface="Times New Roman"/>
              </a:rPr>
              <a:t>e</a:t>
            </a:r>
            <a:r>
              <a:rPr sz="2600" spc="0" dirty="0" smtClean="0">
                <a:latin typeface="Times New Roman"/>
                <a:cs typeface="Times New Roman"/>
              </a:rPr>
              <a:t>t</a:t>
            </a:r>
            <a:r>
              <a:rPr sz="2600" spc="-9" dirty="0" smtClean="0">
                <a:latin typeface="Times New Roman"/>
                <a:cs typeface="Times New Roman"/>
              </a:rPr>
              <a:t>a</a:t>
            </a:r>
            <a:r>
              <a:rPr sz="2600" spc="0" dirty="0" smtClean="0">
                <a:latin typeface="Times New Roman"/>
                <a:cs typeface="Times New Roman"/>
              </a:rPr>
              <a:t>in solid par</a:t>
            </a:r>
            <a:r>
              <a:rPr sz="2600" spc="-9" dirty="0" smtClean="0">
                <a:latin typeface="Times New Roman"/>
                <a:cs typeface="Times New Roman"/>
              </a:rPr>
              <a:t>t</a:t>
            </a:r>
            <a:r>
              <a:rPr sz="2600" spc="0" dirty="0" smtClean="0">
                <a:latin typeface="Times New Roman"/>
                <a:cs typeface="Times New Roman"/>
              </a:rPr>
              <a:t>i</a:t>
            </a:r>
            <a:r>
              <a:rPr sz="2600" spc="-9" dirty="0" smtClean="0">
                <a:latin typeface="Times New Roman"/>
                <a:cs typeface="Times New Roman"/>
              </a:rPr>
              <a:t>c</a:t>
            </a:r>
            <a:r>
              <a:rPr sz="2600" spc="0" dirty="0" smtClean="0">
                <a:latin typeface="Times New Roman"/>
                <a:cs typeface="Times New Roman"/>
              </a:rPr>
              <a:t>l</a:t>
            </a:r>
            <a:r>
              <a:rPr sz="2600" spc="-9" dirty="0" smtClean="0">
                <a:latin typeface="Times New Roman"/>
                <a:cs typeface="Times New Roman"/>
              </a:rPr>
              <a:t>e</a:t>
            </a:r>
            <a:r>
              <a:rPr sz="2600" spc="0" dirty="0" smtClean="0">
                <a:latin typeface="Times New Roman"/>
                <a:cs typeface="Times New Roman"/>
              </a:rPr>
              <a:t>s a</a:t>
            </a:r>
            <a:r>
              <a:rPr sz="2600" spc="-9" dirty="0" smtClean="0">
                <a:latin typeface="Times New Roman"/>
                <a:cs typeface="Times New Roman"/>
              </a:rPr>
              <a:t>l</a:t>
            </a:r>
            <a:r>
              <a:rPr sz="2600" spc="0" dirty="0" smtClean="0">
                <a:latin typeface="Times New Roman"/>
                <a:cs typeface="Times New Roman"/>
              </a:rPr>
              <a:t>lo</a:t>
            </a:r>
            <a:r>
              <a:rPr sz="2600" spc="4" dirty="0" smtClean="0">
                <a:latin typeface="Times New Roman"/>
                <a:cs typeface="Times New Roman"/>
              </a:rPr>
              <a:t>w</a:t>
            </a:r>
            <a:r>
              <a:rPr sz="2600" spc="0" dirty="0" smtClean="0">
                <a:latin typeface="Times New Roman"/>
                <a:cs typeface="Times New Roman"/>
              </a:rPr>
              <a:t>ing</a:t>
            </a:r>
            <a:r>
              <a:rPr sz="2600" spc="-19" dirty="0" smtClean="0">
                <a:latin typeface="Times New Roman"/>
                <a:cs typeface="Times New Roman"/>
              </a:rPr>
              <a:t> </a:t>
            </a:r>
            <a:r>
              <a:rPr sz="2600" spc="0" dirty="0" smtClean="0">
                <a:latin typeface="Times New Roman"/>
                <a:cs typeface="Times New Roman"/>
              </a:rPr>
              <a:t>a </a:t>
            </a:r>
            <a:r>
              <a:rPr sz="2600" spc="-9" dirty="0" smtClean="0">
                <a:latin typeface="Times New Roman"/>
                <a:cs typeface="Times New Roman"/>
              </a:rPr>
              <a:t>l</a:t>
            </a:r>
            <a:r>
              <a:rPr sz="2600" spc="0" dirty="0" smtClean="0">
                <a:latin typeface="Times New Roman"/>
                <a:cs typeface="Times New Roman"/>
              </a:rPr>
              <a:t>iq</a:t>
            </a:r>
            <a:r>
              <a:rPr sz="2600" spc="4" dirty="0" smtClean="0">
                <a:latin typeface="Times New Roman"/>
                <a:cs typeface="Times New Roman"/>
              </a:rPr>
              <a:t>u</a:t>
            </a:r>
            <a:r>
              <a:rPr sz="2600" spc="0" dirty="0" smtClean="0">
                <a:latin typeface="Times New Roman"/>
                <a:cs typeface="Times New Roman"/>
              </a:rPr>
              <a:t>id to pas</a:t>
            </a:r>
            <a:r>
              <a:rPr sz="2600" spc="-9" dirty="0" smtClean="0">
                <a:latin typeface="Times New Roman"/>
                <a:cs typeface="Times New Roman"/>
              </a:rPr>
              <a:t>s</a:t>
            </a:r>
            <a:r>
              <a:rPr sz="2600" spc="0" dirty="0" smtClean="0">
                <a:latin typeface="Times New Roman"/>
                <a:cs typeface="Times New Roman"/>
              </a:rPr>
              <a:t>.</a:t>
            </a:r>
            <a:endParaRPr sz="2600">
              <a:latin typeface="Times New Roman"/>
              <a:cs typeface="Times New Roman"/>
            </a:endParaRPr>
          </a:p>
        </p:txBody>
      </p:sp>
      <p:sp>
        <p:nvSpPr>
          <p:cNvPr id="5" name="object 5"/>
          <p:cNvSpPr txBox="1"/>
          <p:nvPr/>
        </p:nvSpPr>
        <p:spPr>
          <a:xfrm>
            <a:off x="535940" y="4716224"/>
            <a:ext cx="3695656" cy="356107"/>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7" dirty="0" smtClean="0">
                <a:solidFill>
                  <a:srgbClr val="0AD0D9"/>
                </a:solidFill>
                <a:latin typeface="Times New Roman"/>
                <a:cs typeface="Times New Roman"/>
              </a:rPr>
              <a:t> </a:t>
            </a:r>
            <a:r>
              <a:rPr sz="2600" b="1" spc="-7" dirty="0" smtClean="0">
                <a:latin typeface="Times New Roman"/>
                <a:cs typeface="Times New Roman"/>
              </a:rPr>
              <a:t>SIGHT GLASS</a:t>
            </a:r>
            <a:r>
              <a:rPr sz="2600" spc="-7" dirty="0" smtClean="0">
                <a:latin typeface="Times New Roman"/>
                <a:cs typeface="Times New Roman"/>
              </a:rPr>
              <a:t>- </a:t>
            </a:r>
            <a:endParaRPr sz="2600" dirty="0">
              <a:latin typeface="Times New Roman"/>
              <a:cs typeface="Times New Roman"/>
            </a:endParaRPr>
          </a:p>
        </p:txBody>
      </p:sp>
      <p:sp>
        <p:nvSpPr>
          <p:cNvPr id="4" name="object 4"/>
          <p:cNvSpPr txBox="1"/>
          <p:nvPr/>
        </p:nvSpPr>
        <p:spPr>
          <a:xfrm>
            <a:off x="4238274" y="4716224"/>
            <a:ext cx="645146" cy="356107"/>
          </a:xfrm>
          <a:prstGeom prst="rect">
            <a:avLst/>
          </a:prstGeom>
        </p:spPr>
        <p:txBody>
          <a:bodyPr wrap="square" lIns="0" tIns="17526" rIns="0" bIns="0" rtlCol="0">
            <a:noAutofit/>
          </a:bodyPr>
          <a:lstStyle/>
          <a:p>
            <a:pPr marL="12700">
              <a:lnSpc>
                <a:spcPts val="2760"/>
              </a:lnSpc>
            </a:pPr>
            <a:endParaRPr sz="2600" dirty="0">
              <a:latin typeface="Times New Roman"/>
              <a:cs typeface="Times New Roman"/>
            </a:endParaRPr>
          </a:p>
        </p:txBody>
      </p:sp>
      <p:sp>
        <p:nvSpPr>
          <p:cNvPr id="3" name="object 3"/>
          <p:cNvSpPr txBox="1"/>
          <p:nvPr/>
        </p:nvSpPr>
        <p:spPr>
          <a:xfrm>
            <a:off x="810260" y="5112219"/>
            <a:ext cx="4234921" cy="1149163"/>
          </a:xfrm>
          <a:prstGeom prst="rect">
            <a:avLst/>
          </a:prstGeom>
        </p:spPr>
        <p:txBody>
          <a:bodyPr wrap="square" lIns="0" tIns="17526" rIns="0" bIns="0" rtlCol="0">
            <a:noAutofit/>
          </a:bodyPr>
          <a:lstStyle/>
          <a:p>
            <a:pPr marL="12700" marR="44254">
              <a:lnSpc>
                <a:spcPts val="2760"/>
              </a:lnSpc>
            </a:pPr>
            <a:r>
              <a:rPr sz="2600" spc="-2" dirty="0" smtClean="0">
                <a:latin typeface="Times New Roman"/>
                <a:cs typeface="Times New Roman"/>
              </a:rPr>
              <a:t>used on steam boilers to give a</a:t>
            </a:r>
            <a:endParaRPr sz="2600">
              <a:latin typeface="Times New Roman"/>
              <a:cs typeface="Times New Roman"/>
            </a:endParaRPr>
          </a:p>
          <a:p>
            <a:pPr marL="12700">
              <a:lnSpc>
                <a:spcPct val="100041"/>
              </a:lnSpc>
            </a:pPr>
            <a:r>
              <a:rPr sz="2600" dirty="0" smtClean="0">
                <a:latin typeface="Times New Roman"/>
                <a:cs typeface="Times New Roman"/>
              </a:rPr>
              <a:t>visible</a:t>
            </a:r>
            <a:r>
              <a:rPr sz="2600" spc="-4" dirty="0" smtClean="0">
                <a:latin typeface="Times New Roman"/>
                <a:cs typeface="Times New Roman"/>
              </a:rPr>
              <a:t> </a:t>
            </a:r>
            <a:r>
              <a:rPr sz="2600" spc="0" dirty="0" smtClean="0">
                <a:latin typeface="Times New Roman"/>
                <a:cs typeface="Times New Roman"/>
              </a:rPr>
              <a:t>indica</a:t>
            </a:r>
            <a:r>
              <a:rPr sz="2600" spc="-9" dirty="0" smtClean="0">
                <a:latin typeface="Times New Roman"/>
                <a:cs typeface="Times New Roman"/>
              </a:rPr>
              <a:t>t</a:t>
            </a:r>
            <a:r>
              <a:rPr sz="2600" spc="0" dirty="0" smtClean="0">
                <a:latin typeface="Times New Roman"/>
                <a:cs typeface="Times New Roman"/>
              </a:rPr>
              <a:t>ion</a:t>
            </a:r>
            <a:r>
              <a:rPr sz="2600" spc="-9" dirty="0" smtClean="0">
                <a:latin typeface="Times New Roman"/>
                <a:cs typeface="Times New Roman"/>
              </a:rPr>
              <a:t> </a:t>
            </a:r>
            <a:r>
              <a:rPr sz="2600" spc="0" dirty="0" smtClean="0">
                <a:latin typeface="Times New Roman"/>
                <a:cs typeface="Times New Roman"/>
              </a:rPr>
              <a:t>of the</a:t>
            </a:r>
            <a:r>
              <a:rPr sz="2600" spc="-14"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a:t>
            </a:r>
            <a:r>
              <a:rPr sz="2600" spc="-29" dirty="0" smtClean="0">
                <a:latin typeface="Times New Roman"/>
                <a:cs typeface="Times New Roman"/>
              </a:rPr>
              <a:t>'</a:t>
            </a:r>
            <a:r>
              <a:rPr sz="2600" spc="0" dirty="0" smtClean="0">
                <a:latin typeface="Times New Roman"/>
                <a:cs typeface="Times New Roman"/>
              </a:rPr>
              <a:t>s water</a:t>
            </a:r>
            <a:r>
              <a:rPr sz="2600" spc="-19" dirty="0" smtClean="0">
                <a:latin typeface="Times New Roman"/>
                <a:cs typeface="Times New Roman"/>
              </a:rPr>
              <a:t> </a:t>
            </a:r>
            <a:r>
              <a:rPr sz="2600" spc="0" dirty="0" smtClean="0">
                <a:latin typeface="Times New Roman"/>
                <a:cs typeface="Times New Roman"/>
              </a:rPr>
              <a:t>l</a:t>
            </a:r>
            <a:r>
              <a:rPr sz="2600" spc="-9" dirty="0" smtClean="0">
                <a:latin typeface="Times New Roman"/>
                <a:cs typeface="Times New Roman"/>
              </a:rPr>
              <a:t>e</a:t>
            </a:r>
            <a:r>
              <a:rPr sz="2600" spc="0" dirty="0" smtClean="0">
                <a:latin typeface="Times New Roman"/>
                <a:cs typeface="Times New Roman"/>
              </a:rPr>
              <a:t>vel</a:t>
            </a:r>
            <a:endParaRPr sz="2600">
              <a:latin typeface="Times New Roman"/>
              <a:cs typeface="Times New Roman"/>
            </a:endParaRPr>
          </a:p>
        </p:txBody>
      </p:sp>
      <p:sp>
        <p:nvSpPr>
          <p:cNvPr id="2" name="object 2"/>
          <p:cNvSpPr txBox="1"/>
          <p:nvPr/>
        </p:nvSpPr>
        <p:spPr>
          <a:xfrm>
            <a:off x="2584894" y="887729"/>
            <a:ext cx="142875"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9" name="object 9"/>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0" name="object 10"/>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2" name="object 12"/>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3" name="object 13"/>
          <p:cNvSpPr/>
          <p:nvPr/>
        </p:nvSpPr>
        <p:spPr>
          <a:xfrm>
            <a:off x="6400800" y="1066800"/>
            <a:ext cx="2353055" cy="3134868"/>
          </a:xfrm>
          <a:prstGeom prst="rect">
            <a:avLst/>
          </a:prstGeom>
          <a:blipFill>
            <a:blip r:embed="rId7" cstate="print"/>
            <a:stretch>
              <a:fillRect/>
            </a:stretch>
          </a:blipFill>
        </p:spPr>
        <p:txBody>
          <a:bodyPr wrap="square" lIns="0" tIns="0" rIns="0" bIns="0" rtlCol="0">
            <a:noAutofit/>
          </a:bodyPr>
          <a:lstStyle/>
          <a:p>
            <a:endParaRPr/>
          </a:p>
        </p:txBody>
      </p:sp>
      <p:sp>
        <p:nvSpPr>
          <p:cNvPr id="14" name="object 14"/>
          <p:cNvSpPr/>
          <p:nvPr/>
        </p:nvSpPr>
        <p:spPr>
          <a:xfrm>
            <a:off x="5419344" y="4876799"/>
            <a:ext cx="3724655" cy="1981200"/>
          </a:xfrm>
          <a:prstGeom prst="rect">
            <a:avLst/>
          </a:prstGeom>
          <a:blipFill>
            <a:blip r:embed="rId8" cstate="print"/>
            <a:stretch>
              <a:fillRect/>
            </a:stretch>
          </a:blipFill>
        </p:spPr>
        <p:txBody>
          <a:bodyPr wrap="square" lIns="0" tIns="0" rIns="0" bIns="0" rtlCol="0">
            <a:noAutofit/>
          </a:bodyPr>
          <a:lstStyle/>
          <a:p>
            <a:endParaRPr/>
          </a:p>
        </p:txBody>
      </p:sp>
      <p:sp>
        <p:nvSpPr>
          <p:cNvPr id="7" name="object 7"/>
          <p:cNvSpPr txBox="1"/>
          <p:nvPr/>
        </p:nvSpPr>
        <p:spPr>
          <a:xfrm>
            <a:off x="444500" y="554858"/>
            <a:ext cx="4000817" cy="596900"/>
          </a:xfrm>
          <a:prstGeom prst="rect">
            <a:avLst/>
          </a:prstGeom>
        </p:spPr>
        <p:txBody>
          <a:bodyPr wrap="square" lIns="0" tIns="29813" rIns="0" bIns="0" rtlCol="0">
            <a:noAutofit/>
          </a:bodyPr>
          <a:lstStyle/>
          <a:p>
            <a:pPr marL="12700">
              <a:lnSpc>
                <a:spcPts val="4695"/>
              </a:lnSpc>
            </a:pPr>
            <a:r>
              <a:rPr sz="4500" b="1" u="heavy" spc="0" dirty="0" smtClean="0">
                <a:solidFill>
                  <a:srgbClr val="04607A"/>
                </a:solidFill>
                <a:latin typeface="Times New Roman"/>
                <a:cs typeface="Times New Roman"/>
              </a:rPr>
              <a:t>BOILER </a:t>
            </a:r>
            <a:r>
              <a:rPr sz="4500" b="1" i="1" u="heavy" spc="0" dirty="0" smtClean="0">
                <a:solidFill>
                  <a:srgbClr val="04607A"/>
                </a:solidFill>
                <a:latin typeface="Times New Roman"/>
                <a:cs typeface="Times New Roman"/>
              </a:rPr>
              <a:t>MAIN</a:t>
            </a:r>
            <a:endParaRPr sz="4500">
              <a:latin typeface="Times New Roman"/>
              <a:cs typeface="Times New Roman"/>
            </a:endParaRPr>
          </a:p>
        </p:txBody>
      </p:sp>
      <p:sp>
        <p:nvSpPr>
          <p:cNvPr id="6" name="object 6"/>
          <p:cNvSpPr txBox="1"/>
          <p:nvPr/>
        </p:nvSpPr>
        <p:spPr>
          <a:xfrm>
            <a:off x="444500" y="1240413"/>
            <a:ext cx="4209295" cy="597204"/>
          </a:xfrm>
          <a:prstGeom prst="rect">
            <a:avLst/>
          </a:prstGeom>
        </p:spPr>
        <p:txBody>
          <a:bodyPr wrap="square" lIns="0" tIns="29813" rIns="0" bIns="0" rtlCol="0">
            <a:noAutofit/>
          </a:bodyPr>
          <a:lstStyle/>
          <a:p>
            <a:pPr marL="12700">
              <a:lnSpc>
                <a:spcPts val="4695"/>
              </a:lnSpc>
            </a:pPr>
            <a:r>
              <a:rPr sz="4500" b="1" u="heavy" dirty="0" smtClean="0">
                <a:solidFill>
                  <a:srgbClr val="04607A"/>
                </a:solidFill>
                <a:latin typeface="Times New Roman"/>
                <a:cs typeface="Times New Roman"/>
              </a:rPr>
              <a:t>COMPONENTS</a:t>
            </a:r>
            <a:endParaRPr sz="4500">
              <a:latin typeface="Times New Roman"/>
              <a:cs typeface="Times New Roman"/>
            </a:endParaRPr>
          </a:p>
        </p:txBody>
      </p:sp>
      <p:sp>
        <p:nvSpPr>
          <p:cNvPr id="5" name="object 5"/>
          <p:cNvSpPr txBox="1"/>
          <p:nvPr/>
        </p:nvSpPr>
        <p:spPr>
          <a:xfrm>
            <a:off x="810260" y="1941664"/>
            <a:ext cx="4113882" cy="4081974"/>
          </a:xfrm>
          <a:prstGeom prst="rect">
            <a:avLst/>
          </a:prstGeom>
        </p:spPr>
        <p:txBody>
          <a:bodyPr wrap="square" lIns="0" tIns="17526" rIns="0" bIns="0" rtlCol="0">
            <a:noAutofit/>
          </a:bodyPr>
          <a:lstStyle/>
          <a:p>
            <a:pPr marL="12700" marR="44254">
              <a:lnSpc>
                <a:spcPts val="2760"/>
              </a:lnSpc>
            </a:pPr>
            <a:r>
              <a:rPr sz="2600" b="1" dirty="0" smtClean="0">
                <a:latin typeface="Times New Roman"/>
                <a:cs typeface="Times New Roman"/>
              </a:rPr>
              <a:t>Ash Pit</a:t>
            </a:r>
            <a:endParaRPr sz="2600">
              <a:latin typeface="Times New Roman"/>
              <a:cs typeface="Times New Roman"/>
            </a:endParaRPr>
          </a:p>
          <a:p>
            <a:pPr marL="12700">
              <a:lnSpc>
                <a:spcPts val="2989"/>
              </a:lnSpc>
              <a:spcBef>
                <a:spcPts val="395"/>
              </a:spcBef>
            </a:pPr>
            <a:r>
              <a:rPr sz="2600" spc="0" dirty="0" smtClean="0">
                <a:latin typeface="Times New Roman"/>
                <a:cs typeface="Times New Roman"/>
              </a:rPr>
              <a:t>The ash pit is the space where </a:t>
            </a:r>
            <a:endParaRPr sz="2600">
              <a:latin typeface="Times New Roman"/>
              <a:cs typeface="Times New Roman"/>
            </a:endParaRPr>
          </a:p>
          <a:p>
            <a:pPr marL="12700">
              <a:lnSpc>
                <a:spcPts val="2989"/>
              </a:lnSpc>
            </a:pPr>
            <a:r>
              <a:rPr sz="2600" spc="-2" dirty="0" smtClean="0">
                <a:latin typeface="Times New Roman"/>
                <a:cs typeface="Times New Roman"/>
              </a:rPr>
              <a:t>ashes accumulate under the </a:t>
            </a:r>
            <a:endParaRPr sz="2600">
              <a:latin typeface="Times New Roman"/>
              <a:cs typeface="Times New Roman"/>
            </a:endParaRPr>
          </a:p>
          <a:p>
            <a:pPr marL="12700">
              <a:lnSpc>
                <a:spcPts val="2989"/>
              </a:lnSpc>
            </a:pPr>
            <a:r>
              <a:rPr sz="2600" dirty="0" smtClean="0">
                <a:latin typeface="Times New Roman"/>
                <a:cs typeface="Times New Roman"/>
              </a:rPr>
              <a:t>fi</a:t>
            </a:r>
            <a:r>
              <a:rPr sz="2600" spc="-9" dirty="0" smtClean="0">
                <a:latin typeface="Times New Roman"/>
                <a:cs typeface="Times New Roman"/>
              </a:rPr>
              <a:t>r</a:t>
            </a:r>
            <a:r>
              <a:rPr sz="2600" spc="0" dirty="0" smtClean="0">
                <a:latin typeface="Times New Roman"/>
                <a:cs typeface="Times New Roman"/>
              </a:rPr>
              <a:t>e.</a:t>
            </a:r>
            <a:r>
              <a:rPr sz="2600" spc="-54" dirty="0" smtClean="0">
                <a:latin typeface="Times New Roman"/>
                <a:cs typeface="Times New Roman"/>
              </a:rPr>
              <a:t> </a:t>
            </a:r>
            <a:r>
              <a:rPr sz="2600" spc="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a</a:t>
            </a:r>
            <a:r>
              <a:rPr sz="2600" spc="-9" dirty="0" smtClean="0">
                <a:latin typeface="Times New Roman"/>
                <a:cs typeface="Times New Roman"/>
              </a:rPr>
              <a:t>s</a:t>
            </a:r>
            <a:r>
              <a:rPr sz="2600" spc="0" dirty="0" smtClean="0">
                <a:latin typeface="Times New Roman"/>
                <a:cs typeface="Times New Roman"/>
              </a:rPr>
              <a:t>hes </a:t>
            </a:r>
            <a:r>
              <a:rPr sz="2600" spc="-9" dirty="0" smtClean="0">
                <a:latin typeface="Times New Roman"/>
                <a:cs typeface="Times New Roman"/>
              </a:rPr>
              <a:t>f</a:t>
            </a:r>
            <a:r>
              <a:rPr sz="2600" spc="0" dirty="0" smtClean="0">
                <a:latin typeface="Times New Roman"/>
                <a:cs typeface="Times New Roman"/>
              </a:rPr>
              <a:t>a</a:t>
            </a:r>
            <a:r>
              <a:rPr sz="2600" spc="-9" dirty="0" smtClean="0">
                <a:latin typeface="Times New Roman"/>
                <a:cs typeface="Times New Roman"/>
              </a:rPr>
              <a:t>l</a:t>
            </a:r>
            <a:r>
              <a:rPr sz="2600" spc="0" dirty="0" smtClean="0">
                <a:latin typeface="Times New Roman"/>
                <a:cs typeface="Times New Roman"/>
              </a:rPr>
              <a:t>l thr</a:t>
            </a:r>
            <a:r>
              <a:rPr sz="2600" spc="9" dirty="0" smtClean="0">
                <a:latin typeface="Times New Roman"/>
                <a:cs typeface="Times New Roman"/>
              </a:rPr>
              <a:t>o</a:t>
            </a:r>
            <a:r>
              <a:rPr sz="2600" spc="0" dirty="0" smtClean="0">
                <a:latin typeface="Times New Roman"/>
                <a:cs typeface="Times New Roman"/>
              </a:rPr>
              <a:t>u</a:t>
            </a:r>
            <a:r>
              <a:rPr sz="2600" spc="9" dirty="0" smtClean="0">
                <a:latin typeface="Times New Roman"/>
                <a:cs typeface="Times New Roman"/>
              </a:rPr>
              <a:t>g</a:t>
            </a:r>
            <a:r>
              <a:rPr sz="2600" spc="0" dirty="0" smtClean="0">
                <a:latin typeface="Times New Roman"/>
                <a:cs typeface="Times New Roman"/>
              </a:rPr>
              <a:t>h</a:t>
            </a:r>
            <a:r>
              <a:rPr sz="2600" spc="-34" dirty="0" smtClean="0">
                <a:latin typeface="Times New Roman"/>
                <a:cs typeface="Times New Roman"/>
              </a:rPr>
              <a:t> </a:t>
            </a:r>
            <a:r>
              <a:rPr sz="2600" spc="0" dirty="0" smtClean="0">
                <a:latin typeface="Times New Roman"/>
                <a:cs typeface="Times New Roman"/>
              </a:rPr>
              <a:t>the </a:t>
            </a:r>
            <a:endParaRPr sz="2600">
              <a:latin typeface="Times New Roman"/>
              <a:cs typeface="Times New Roman"/>
            </a:endParaRPr>
          </a:p>
          <a:p>
            <a:pPr marL="12700">
              <a:lnSpc>
                <a:spcPts val="2989"/>
              </a:lnSpc>
            </a:pPr>
            <a:r>
              <a:rPr sz="2600" spc="-2" dirty="0" smtClean="0">
                <a:latin typeface="Times New Roman"/>
                <a:cs typeface="Times New Roman"/>
              </a:rPr>
              <a:t>fire grate into a (often) </a:t>
            </a:r>
            <a:endParaRPr sz="2600">
              <a:latin typeface="Times New Roman"/>
              <a:cs typeface="Times New Roman"/>
            </a:endParaRPr>
          </a:p>
          <a:p>
            <a:pPr marL="12700">
              <a:lnSpc>
                <a:spcPts val="2989"/>
              </a:lnSpc>
            </a:pPr>
            <a:r>
              <a:rPr sz="2600" spc="0" dirty="0" smtClean="0">
                <a:latin typeface="Times New Roman"/>
                <a:cs typeface="Times New Roman"/>
              </a:rPr>
              <a:t>removable box.</a:t>
            </a:r>
            <a:endParaRPr sz="2600">
              <a:latin typeface="Times New Roman"/>
              <a:cs typeface="Times New Roman"/>
            </a:endParaRPr>
          </a:p>
          <a:p>
            <a:pPr marL="12700" marR="44254">
              <a:lnSpc>
                <a:spcPct val="95825"/>
              </a:lnSpc>
            </a:pPr>
            <a:r>
              <a:rPr sz="2600" b="1" dirty="0" smtClean="0">
                <a:latin typeface="Times New Roman"/>
                <a:cs typeface="Times New Roman"/>
              </a:rPr>
              <a:t>Grate</a:t>
            </a:r>
            <a:endParaRPr sz="2600">
              <a:latin typeface="Times New Roman"/>
              <a:cs typeface="Times New Roman"/>
            </a:endParaRPr>
          </a:p>
          <a:p>
            <a:pPr marL="12700" marR="5291">
              <a:lnSpc>
                <a:spcPts val="2989"/>
              </a:lnSpc>
              <a:spcBef>
                <a:spcPts val="530"/>
              </a:spcBef>
            </a:pPr>
            <a:r>
              <a:rPr sz="260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Grate</a:t>
            </a:r>
            <a:r>
              <a:rPr sz="2600" spc="-19" dirty="0" smtClean="0">
                <a:latin typeface="Times New Roman"/>
                <a:cs typeface="Times New Roman"/>
              </a:rPr>
              <a:t> </a:t>
            </a:r>
            <a:r>
              <a:rPr sz="2600" spc="0" dirty="0" smtClean="0">
                <a:latin typeface="Times New Roman"/>
                <a:cs typeface="Times New Roman"/>
              </a:rPr>
              <a:t>is a </a:t>
            </a:r>
            <a:r>
              <a:rPr sz="2600" spc="-14" dirty="0" smtClean="0">
                <a:latin typeface="Times New Roman"/>
                <a:cs typeface="Times New Roman"/>
              </a:rPr>
              <a:t>s</a:t>
            </a:r>
            <a:r>
              <a:rPr sz="2600" spc="0" dirty="0" smtClean="0">
                <a:latin typeface="Times New Roman"/>
                <a:cs typeface="Times New Roman"/>
              </a:rPr>
              <a:t>er</a:t>
            </a:r>
            <a:r>
              <a:rPr sz="2600" spc="-9" dirty="0" smtClean="0">
                <a:latin typeface="Times New Roman"/>
                <a:cs typeface="Times New Roman"/>
              </a:rPr>
              <a:t>i</a:t>
            </a:r>
            <a:r>
              <a:rPr sz="2600" spc="0" dirty="0" smtClean="0">
                <a:latin typeface="Times New Roman"/>
                <a:cs typeface="Times New Roman"/>
              </a:rPr>
              <a:t>es of</a:t>
            </a:r>
            <a:r>
              <a:rPr sz="2600" spc="-9" dirty="0" smtClean="0">
                <a:latin typeface="Times New Roman"/>
                <a:cs typeface="Times New Roman"/>
              </a:rPr>
              <a:t> </a:t>
            </a:r>
            <a:r>
              <a:rPr sz="2600" spc="0" dirty="0" smtClean="0">
                <a:latin typeface="Times New Roman"/>
                <a:cs typeface="Times New Roman"/>
              </a:rPr>
              <a:t>bars</a:t>
            </a:r>
            <a:r>
              <a:rPr sz="2600" spc="-9" dirty="0" smtClean="0">
                <a:latin typeface="Times New Roman"/>
                <a:cs typeface="Times New Roman"/>
              </a:rPr>
              <a:t> </a:t>
            </a:r>
            <a:r>
              <a:rPr sz="2600" spc="0" dirty="0" smtClean="0">
                <a:latin typeface="Times New Roman"/>
                <a:cs typeface="Times New Roman"/>
              </a:rPr>
              <a:t>or </a:t>
            </a:r>
            <a:endParaRPr sz="2600">
              <a:latin typeface="Times New Roman"/>
              <a:cs typeface="Times New Roman"/>
            </a:endParaRPr>
          </a:p>
          <a:p>
            <a:pPr marL="12700" marR="5291">
              <a:lnSpc>
                <a:spcPts val="2989"/>
              </a:lnSpc>
            </a:pPr>
            <a:r>
              <a:rPr sz="2600" spc="-1" dirty="0" smtClean="0">
                <a:latin typeface="Times New Roman"/>
                <a:cs typeface="Times New Roman"/>
              </a:rPr>
              <a:t>narrow plates in the bottom of </a:t>
            </a:r>
            <a:endParaRPr sz="2600">
              <a:latin typeface="Times New Roman"/>
              <a:cs typeface="Times New Roman"/>
            </a:endParaRPr>
          </a:p>
          <a:p>
            <a:pPr marL="12700" marR="5291">
              <a:lnSpc>
                <a:spcPts val="2989"/>
              </a:lnSpc>
            </a:pPr>
            <a:r>
              <a:rPr sz="2600" spc="-4" dirty="0" smtClean="0">
                <a:latin typeface="Times New Roman"/>
                <a:cs typeface="Times New Roman"/>
              </a:rPr>
              <a:t>the fire box. The ashes fall </a:t>
            </a:r>
            <a:endParaRPr sz="2600">
              <a:latin typeface="Times New Roman"/>
              <a:cs typeface="Times New Roman"/>
            </a:endParaRPr>
          </a:p>
          <a:p>
            <a:pPr marL="12700" marR="5291">
              <a:lnSpc>
                <a:spcPts val="2989"/>
              </a:lnSpc>
            </a:pPr>
            <a:r>
              <a:rPr sz="2600" spc="-1" dirty="0" smtClean="0">
                <a:latin typeface="Times New Roman"/>
                <a:cs typeface="Times New Roman"/>
              </a:rPr>
              <a:t>through the grate into the ash </a:t>
            </a:r>
            <a:endParaRPr sz="2600">
              <a:latin typeface="Times New Roman"/>
              <a:cs typeface="Times New Roman"/>
            </a:endParaRPr>
          </a:p>
          <a:p>
            <a:pPr marL="12700" marR="5291">
              <a:lnSpc>
                <a:spcPts val="2989"/>
              </a:lnSpc>
            </a:pPr>
            <a:r>
              <a:rPr sz="2600" dirty="0" smtClean="0">
                <a:latin typeface="Times New Roman"/>
                <a:cs typeface="Times New Roman"/>
              </a:rPr>
              <a:t>pit.</a:t>
            </a:r>
            <a:endParaRPr sz="2600">
              <a:latin typeface="Times New Roman"/>
              <a:cs typeface="Times New Roman"/>
            </a:endParaRPr>
          </a:p>
        </p:txBody>
      </p:sp>
      <p:sp>
        <p:nvSpPr>
          <p:cNvPr id="4" name="object 4"/>
          <p:cNvSpPr txBox="1"/>
          <p:nvPr/>
        </p:nvSpPr>
        <p:spPr>
          <a:xfrm>
            <a:off x="535940" y="1956652"/>
            <a:ext cx="246631" cy="736208"/>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a:p>
            <a:pPr marL="12700" marR="214">
              <a:lnSpc>
                <a:spcPct val="89274"/>
              </a:lnSpc>
              <a:spcBef>
                <a:spcPts val="369"/>
              </a:spcBef>
            </a:pPr>
            <a:r>
              <a:rPr sz="2450" dirty="0" smtClean="0">
                <a:solidFill>
                  <a:srgbClr val="0AD0D9"/>
                </a:solidFill>
                <a:latin typeface="Wingdings"/>
                <a:cs typeface="Wingdings"/>
              </a:rPr>
              <a:t></a:t>
            </a:r>
            <a:endParaRPr sz="2450">
              <a:latin typeface="Wingdings"/>
              <a:cs typeface="Wingdings"/>
            </a:endParaRPr>
          </a:p>
        </p:txBody>
      </p:sp>
      <p:sp>
        <p:nvSpPr>
          <p:cNvPr id="3" name="object 3"/>
          <p:cNvSpPr txBox="1"/>
          <p:nvPr/>
        </p:nvSpPr>
        <p:spPr>
          <a:xfrm>
            <a:off x="535940" y="4017978"/>
            <a:ext cx="246416" cy="735583"/>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a:p>
            <a:pPr marL="12700">
              <a:lnSpc>
                <a:spcPct val="89274"/>
              </a:lnSpc>
              <a:spcBef>
                <a:spcPts val="369"/>
              </a:spcBef>
            </a:pPr>
            <a:r>
              <a:rPr sz="2450" dirty="0" smtClean="0">
                <a:solidFill>
                  <a:srgbClr val="0AD0D9"/>
                </a:solidFill>
                <a:latin typeface="Wingdings"/>
                <a:cs typeface="Wingdings"/>
              </a:rPr>
              <a:t></a:t>
            </a:r>
            <a:endParaRPr sz="2450">
              <a:latin typeface="Wingdings"/>
              <a:cs typeface="Wingdings"/>
            </a:endParaRPr>
          </a:p>
        </p:txBody>
      </p:sp>
      <p:sp>
        <p:nvSpPr>
          <p:cNvPr id="2" name="object 2"/>
          <p:cNvSpPr txBox="1"/>
          <p:nvPr/>
        </p:nvSpPr>
        <p:spPr>
          <a:xfrm>
            <a:off x="2680335" y="887729"/>
            <a:ext cx="142366"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8" name="object 8"/>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9" name="object 9"/>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0" name="object 10"/>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1" name="object 11"/>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2" name="object 12"/>
          <p:cNvSpPr/>
          <p:nvPr/>
        </p:nvSpPr>
        <p:spPr>
          <a:xfrm>
            <a:off x="6172200" y="1905000"/>
            <a:ext cx="2514600" cy="2116836"/>
          </a:xfrm>
          <a:prstGeom prst="rect">
            <a:avLst/>
          </a:prstGeom>
          <a:blipFill>
            <a:blip r:embed="rId7" cstate="print"/>
            <a:stretch>
              <a:fillRect/>
            </a:stretch>
          </a:blipFill>
        </p:spPr>
        <p:txBody>
          <a:bodyPr wrap="square" lIns="0" tIns="0" rIns="0" bIns="0" rtlCol="0">
            <a:noAutofit/>
          </a:bodyPr>
          <a:lstStyle/>
          <a:p>
            <a:endParaRPr/>
          </a:p>
        </p:txBody>
      </p:sp>
      <p:sp>
        <p:nvSpPr>
          <p:cNvPr id="13" name="object 13"/>
          <p:cNvSpPr/>
          <p:nvPr/>
        </p:nvSpPr>
        <p:spPr>
          <a:xfrm>
            <a:off x="6019800" y="4437887"/>
            <a:ext cx="2667000" cy="2420112"/>
          </a:xfrm>
          <a:prstGeom prst="rect">
            <a:avLst/>
          </a:prstGeom>
          <a:blipFill>
            <a:blip r:embed="rId8" cstate="print"/>
            <a:stretch>
              <a:fillRect/>
            </a:stretch>
          </a:blipFill>
        </p:spPr>
        <p:txBody>
          <a:bodyPr wrap="square" lIns="0" tIns="0" rIns="0" bIns="0" rtlCol="0">
            <a:noAutofit/>
          </a:bodyPr>
          <a:lstStyle/>
          <a:p>
            <a:endParaRPr/>
          </a:p>
        </p:txBody>
      </p:sp>
      <p:sp>
        <p:nvSpPr>
          <p:cNvPr id="6" name="object 6"/>
          <p:cNvSpPr txBox="1"/>
          <p:nvPr/>
        </p:nvSpPr>
        <p:spPr>
          <a:xfrm>
            <a:off x="444500" y="1226942"/>
            <a:ext cx="8240204" cy="596900"/>
          </a:xfrm>
          <a:prstGeom prst="rect">
            <a:avLst/>
          </a:prstGeom>
        </p:spPr>
        <p:txBody>
          <a:bodyPr wrap="square" lIns="0" tIns="29813" rIns="0" bIns="0" rtlCol="0">
            <a:noAutofit/>
          </a:bodyPr>
          <a:lstStyle/>
          <a:p>
            <a:pPr marL="12700">
              <a:lnSpc>
                <a:spcPts val="4695"/>
              </a:lnSpc>
            </a:pPr>
            <a:r>
              <a:rPr sz="4500" b="1" u="heavy" dirty="0" smtClean="0">
                <a:solidFill>
                  <a:srgbClr val="04607A"/>
                </a:solidFill>
                <a:latin typeface="Times New Roman"/>
                <a:cs typeface="Times New Roman"/>
              </a:rPr>
              <a:t>BOILER </a:t>
            </a:r>
            <a:r>
              <a:rPr sz="4500" b="1" i="1" u="heavy" dirty="0" smtClean="0">
                <a:solidFill>
                  <a:srgbClr val="04607A"/>
                </a:solidFill>
                <a:latin typeface="Times New Roman"/>
                <a:cs typeface="Times New Roman"/>
              </a:rPr>
              <a:t>MAIN </a:t>
            </a:r>
            <a:r>
              <a:rPr sz="4500" b="1" u="heavy" dirty="0" smtClean="0">
                <a:solidFill>
                  <a:srgbClr val="04607A"/>
                </a:solidFill>
                <a:latin typeface="Times New Roman"/>
                <a:cs typeface="Times New Roman"/>
              </a:rPr>
              <a:t>COMPONENTS</a:t>
            </a:r>
            <a:endParaRPr sz="4500">
              <a:latin typeface="Times New Roman"/>
              <a:cs typeface="Times New Roman"/>
            </a:endParaRPr>
          </a:p>
        </p:txBody>
      </p:sp>
      <p:sp>
        <p:nvSpPr>
          <p:cNvPr id="5" name="object 5"/>
          <p:cNvSpPr txBox="1"/>
          <p:nvPr/>
        </p:nvSpPr>
        <p:spPr>
          <a:xfrm>
            <a:off x="535940" y="1985301"/>
            <a:ext cx="4029137" cy="991916"/>
          </a:xfrm>
          <a:prstGeom prst="rect">
            <a:avLst/>
          </a:prstGeom>
        </p:spPr>
        <p:txBody>
          <a:bodyPr wrap="square" lIns="0" tIns="16033" rIns="0" bIns="0" rtlCol="0">
            <a:noAutofit/>
          </a:bodyPr>
          <a:lstStyle/>
          <a:p>
            <a:pPr marL="12700" marR="45720">
              <a:lnSpc>
                <a:spcPts val="2525"/>
              </a:lnSpc>
            </a:pPr>
            <a:r>
              <a:rPr sz="2300" dirty="0" smtClean="0">
                <a:solidFill>
                  <a:srgbClr val="0AD0D9"/>
                </a:solidFill>
                <a:latin typeface="Wingdings"/>
                <a:cs typeface="Wingdings"/>
              </a:rPr>
              <a:t></a:t>
            </a:r>
            <a:r>
              <a:rPr sz="2300" spc="342" dirty="0" smtClean="0">
                <a:solidFill>
                  <a:srgbClr val="0AD0D9"/>
                </a:solidFill>
                <a:latin typeface="Times New Roman"/>
                <a:cs typeface="Times New Roman"/>
              </a:rPr>
              <a:t> </a:t>
            </a:r>
            <a:r>
              <a:rPr sz="2400" b="1" spc="-11" dirty="0" smtClean="0">
                <a:latin typeface="Constantia"/>
                <a:cs typeface="Constantia"/>
              </a:rPr>
              <a:t>Pressure Gauge. </a:t>
            </a:r>
            <a:r>
              <a:rPr sz="2400" spc="-11" dirty="0" smtClean="0">
                <a:latin typeface="Constantia"/>
                <a:cs typeface="Constantia"/>
              </a:rPr>
              <a:t>This</a:t>
            </a:r>
            <a:endParaRPr sz="2400">
              <a:latin typeface="Constantia"/>
              <a:cs typeface="Constantia"/>
            </a:endParaRPr>
          </a:p>
          <a:p>
            <a:pPr marL="287019">
              <a:lnSpc>
                <a:spcPts val="2595"/>
              </a:lnSpc>
              <a:spcBef>
                <a:spcPts val="3"/>
              </a:spcBef>
            </a:pPr>
            <a:r>
              <a:rPr sz="2400" spc="-12" dirty="0" smtClean="0">
                <a:latin typeface="Constantia"/>
                <a:cs typeface="Constantia"/>
              </a:rPr>
              <a:t>indicates the pressure of the</a:t>
            </a:r>
            <a:endParaRPr sz="2400">
              <a:latin typeface="Constantia"/>
              <a:cs typeface="Constantia"/>
            </a:endParaRPr>
          </a:p>
          <a:p>
            <a:pPr marL="287019" marR="45720">
              <a:lnSpc>
                <a:spcPts val="2590"/>
              </a:lnSpc>
            </a:pPr>
            <a:r>
              <a:rPr sz="2400" spc="-19" dirty="0" smtClean="0">
                <a:latin typeface="Constantia"/>
                <a:cs typeface="Constantia"/>
              </a:rPr>
              <a:t>steam in the boiler.</a:t>
            </a:r>
            <a:endParaRPr sz="2400">
              <a:latin typeface="Constantia"/>
              <a:cs typeface="Constantia"/>
            </a:endParaRPr>
          </a:p>
        </p:txBody>
      </p:sp>
      <p:sp>
        <p:nvSpPr>
          <p:cNvPr id="4" name="object 4"/>
          <p:cNvSpPr txBox="1"/>
          <p:nvPr/>
        </p:nvSpPr>
        <p:spPr>
          <a:xfrm>
            <a:off x="535940" y="4253891"/>
            <a:ext cx="4325099" cy="1979173"/>
          </a:xfrm>
          <a:prstGeom prst="rect">
            <a:avLst/>
          </a:prstGeom>
        </p:spPr>
        <p:txBody>
          <a:bodyPr wrap="square" lIns="0" tIns="16002" rIns="0" bIns="0" rtlCol="0">
            <a:noAutofit/>
          </a:bodyPr>
          <a:lstStyle/>
          <a:p>
            <a:pPr marR="200144" algn="ctr">
              <a:lnSpc>
                <a:spcPts val="2520"/>
              </a:lnSpc>
            </a:pPr>
            <a:r>
              <a:rPr sz="2300" dirty="0" smtClean="0">
                <a:solidFill>
                  <a:srgbClr val="0AD0D9"/>
                </a:solidFill>
                <a:latin typeface="Wingdings"/>
                <a:cs typeface="Wingdings"/>
              </a:rPr>
              <a:t></a:t>
            </a:r>
            <a:r>
              <a:rPr sz="2300" spc="342" dirty="0" smtClean="0">
                <a:solidFill>
                  <a:srgbClr val="0AD0D9"/>
                </a:solidFill>
                <a:latin typeface="Times New Roman"/>
                <a:cs typeface="Times New Roman"/>
              </a:rPr>
              <a:t> </a:t>
            </a:r>
            <a:r>
              <a:rPr sz="2400" b="1" spc="-8" dirty="0" smtClean="0">
                <a:latin typeface="Constantia"/>
                <a:cs typeface="Constantia"/>
              </a:rPr>
              <a:t>Fusible Plug . </a:t>
            </a:r>
            <a:r>
              <a:rPr sz="2400" spc="-8" dirty="0" smtClean="0">
                <a:latin typeface="Constantia"/>
                <a:cs typeface="Constantia"/>
              </a:rPr>
              <a:t>A fusible plug</a:t>
            </a:r>
            <a:endParaRPr sz="2400">
              <a:latin typeface="Constantia"/>
              <a:cs typeface="Constantia"/>
            </a:endParaRPr>
          </a:p>
          <a:p>
            <a:pPr marL="287019">
              <a:lnSpc>
                <a:spcPts val="2590"/>
              </a:lnSpc>
              <a:spcBef>
                <a:spcPts val="3"/>
              </a:spcBef>
            </a:pPr>
            <a:r>
              <a:rPr sz="2400" spc="-24" dirty="0" smtClean="0">
                <a:latin typeface="Constantia"/>
                <a:cs typeface="Constantia"/>
              </a:rPr>
              <a:t>operates as a safety valve when</a:t>
            </a:r>
            <a:endParaRPr sz="2400">
              <a:latin typeface="Constantia"/>
              <a:cs typeface="Constantia"/>
            </a:endParaRPr>
          </a:p>
          <a:p>
            <a:pPr marL="287019" marR="45720">
              <a:lnSpc>
                <a:spcPts val="2590"/>
              </a:lnSpc>
            </a:pPr>
            <a:r>
              <a:rPr sz="2400" spc="-12" dirty="0" smtClean="0">
                <a:latin typeface="Constantia"/>
                <a:cs typeface="Constantia"/>
              </a:rPr>
              <a:t>dangerous temperatures,</a:t>
            </a:r>
            <a:endParaRPr sz="2400">
              <a:latin typeface="Constantia"/>
              <a:cs typeface="Constantia"/>
            </a:endParaRPr>
          </a:p>
          <a:p>
            <a:pPr marL="287019" marR="45720">
              <a:lnSpc>
                <a:spcPts val="2595"/>
              </a:lnSpc>
              <a:spcBef>
                <a:spcPts val="0"/>
              </a:spcBef>
            </a:pPr>
            <a:r>
              <a:rPr sz="2400" spc="-15" dirty="0" smtClean="0">
                <a:latin typeface="Constantia"/>
                <a:cs typeface="Constantia"/>
              </a:rPr>
              <a:t>rather than dangerous</a:t>
            </a:r>
            <a:endParaRPr sz="2400">
              <a:latin typeface="Constantia"/>
              <a:cs typeface="Constantia"/>
            </a:endParaRPr>
          </a:p>
          <a:p>
            <a:pPr marL="287019" marR="45720">
              <a:lnSpc>
                <a:spcPts val="2590"/>
              </a:lnSpc>
            </a:pPr>
            <a:r>
              <a:rPr sz="2400" spc="-14" dirty="0" smtClean="0">
                <a:latin typeface="Constantia"/>
                <a:cs typeface="Constantia"/>
              </a:rPr>
              <a:t>pressures, are reached in a</a:t>
            </a:r>
            <a:endParaRPr sz="2400">
              <a:latin typeface="Constantia"/>
              <a:cs typeface="Constantia"/>
            </a:endParaRPr>
          </a:p>
          <a:p>
            <a:pPr marL="287019" marR="45720">
              <a:lnSpc>
                <a:spcPts val="2590"/>
              </a:lnSpc>
            </a:pPr>
            <a:r>
              <a:rPr sz="2400" spc="-7" dirty="0" smtClean="0">
                <a:latin typeface="Constantia"/>
                <a:cs typeface="Constantia"/>
              </a:rPr>
              <a:t>closed vessel.</a:t>
            </a:r>
            <a:endParaRPr sz="2400">
              <a:latin typeface="Constantia"/>
              <a:cs typeface="Constantia"/>
            </a:endParaRPr>
          </a:p>
        </p:txBody>
      </p:sp>
      <p:sp>
        <p:nvSpPr>
          <p:cNvPr id="3" name="object 3"/>
          <p:cNvSpPr txBox="1"/>
          <p:nvPr/>
        </p:nvSpPr>
        <p:spPr>
          <a:xfrm>
            <a:off x="2680335" y="1559814"/>
            <a:ext cx="142366" cy="1524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346892" y="1559814"/>
            <a:ext cx="143446"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9" name="object 9"/>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0" name="object 10"/>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2" name="object 12"/>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3" name="object 13"/>
          <p:cNvSpPr/>
          <p:nvPr/>
        </p:nvSpPr>
        <p:spPr>
          <a:xfrm>
            <a:off x="6324600" y="1905000"/>
            <a:ext cx="1743455" cy="2322576"/>
          </a:xfrm>
          <a:prstGeom prst="rect">
            <a:avLst/>
          </a:prstGeom>
          <a:blipFill>
            <a:blip r:embed="rId7" cstate="print"/>
            <a:stretch>
              <a:fillRect/>
            </a:stretch>
          </a:blipFill>
        </p:spPr>
        <p:txBody>
          <a:bodyPr wrap="square" lIns="0" tIns="0" rIns="0" bIns="0" rtlCol="0">
            <a:noAutofit/>
          </a:bodyPr>
          <a:lstStyle/>
          <a:p>
            <a:endParaRPr/>
          </a:p>
        </p:txBody>
      </p:sp>
      <p:sp>
        <p:nvSpPr>
          <p:cNvPr id="14" name="object 14"/>
          <p:cNvSpPr/>
          <p:nvPr/>
        </p:nvSpPr>
        <p:spPr>
          <a:xfrm>
            <a:off x="6172200" y="4571999"/>
            <a:ext cx="2286000" cy="2286000"/>
          </a:xfrm>
          <a:prstGeom prst="rect">
            <a:avLst/>
          </a:prstGeom>
          <a:blipFill>
            <a:blip r:embed="rId8" cstate="print"/>
            <a:stretch>
              <a:fillRect/>
            </a:stretch>
          </a:blipFill>
        </p:spPr>
        <p:txBody>
          <a:bodyPr wrap="square" lIns="0" tIns="0" rIns="0" bIns="0" rtlCol="0">
            <a:noAutofit/>
          </a:bodyPr>
          <a:lstStyle/>
          <a:p>
            <a:endParaRPr/>
          </a:p>
        </p:txBody>
      </p:sp>
      <p:sp>
        <p:nvSpPr>
          <p:cNvPr id="7" name="object 7"/>
          <p:cNvSpPr txBox="1"/>
          <p:nvPr/>
        </p:nvSpPr>
        <p:spPr>
          <a:xfrm>
            <a:off x="444500" y="1226942"/>
            <a:ext cx="8240204" cy="596900"/>
          </a:xfrm>
          <a:prstGeom prst="rect">
            <a:avLst/>
          </a:prstGeom>
        </p:spPr>
        <p:txBody>
          <a:bodyPr wrap="square" lIns="0" tIns="29813" rIns="0" bIns="0" rtlCol="0">
            <a:noAutofit/>
          </a:bodyPr>
          <a:lstStyle/>
          <a:p>
            <a:pPr marL="12700">
              <a:lnSpc>
                <a:spcPts val="4695"/>
              </a:lnSpc>
            </a:pPr>
            <a:r>
              <a:rPr sz="4500" b="1" u="heavy" dirty="0" smtClean="0">
                <a:solidFill>
                  <a:srgbClr val="04607A"/>
                </a:solidFill>
                <a:latin typeface="Times New Roman"/>
                <a:cs typeface="Times New Roman"/>
              </a:rPr>
              <a:t>BOILER </a:t>
            </a:r>
            <a:r>
              <a:rPr sz="4500" b="1" i="1" u="heavy" dirty="0" smtClean="0">
                <a:solidFill>
                  <a:srgbClr val="04607A"/>
                </a:solidFill>
                <a:latin typeface="Times New Roman"/>
                <a:cs typeface="Times New Roman"/>
              </a:rPr>
              <a:t>MAIN </a:t>
            </a:r>
            <a:r>
              <a:rPr sz="4500" b="1" u="heavy" dirty="0" smtClean="0">
                <a:solidFill>
                  <a:srgbClr val="04607A"/>
                </a:solidFill>
                <a:latin typeface="Times New Roman"/>
                <a:cs typeface="Times New Roman"/>
              </a:rPr>
              <a:t>COMPONENTS</a:t>
            </a:r>
            <a:endParaRPr sz="4500">
              <a:latin typeface="Times New Roman"/>
              <a:cs typeface="Times New Roman"/>
            </a:endParaRPr>
          </a:p>
        </p:txBody>
      </p:sp>
      <p:sp>
        <p:nvSpPr>
          <p:cNvPr id="6" name="object 6"/>
          <p:cNvSpPr txBox="1"/>
          <p:nvPr/>
        </p:nvSpPr>
        <p:spPr>
          <a:xfrm>
            <a:off x="535940" y="2027380"/>
            <a:ext cx="246416" cy="339343"/>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p:txBody>
      </p:sp>
      <p:sp>
        <p:nvSpPr>
          <p:cNvPr id="5" name="object 5"/>
          <p:cNvSpPr txBox="1"/>
          <p:nvPr/>
        </p:nvSpPr>
        <p:spPr>
          <a:xfrm>
            <a:off x="810260" y="2030153"/>
            <a:ext cx="3834821" cy="4081348"/>
          </a:xfrm>
          <a:prstGeom prst="rect">
            <a:avLst/>
          </a:prstGeom>
        </p:spPr>
        <p:txBody>
          <a:bodyPr wrap="square" lIns="0" tIns="17176" rIns="0" bIns="0" rtlCol="0">
            <a:noAutofit/>
          </a:bodyPr>
          <a:lstStyle/>
          <a:p>
            <a:pPr marL="12700" marR="49606">
              <a:lnSpc>
                <a:spcPts val="2705"/>
              </a:lnSpc>
            </a:pPr>
            <a:r>
              <a:rPr sz="2600" b="1" spc="-23" dirty="0" smtClean="0">
                <a:latin typeface="Constantia"/>
                <a:cs typeface="Constantia"/>
              </a:rPr>
              <a:t>Feed Check Valve</a:t>
            </a:r>
            <a:r>
              <a:rPr sz="2600" spc="-23" dirty="0" smtClean="0">
                <a:latin typeface="Constantia"/>
                <a:cs typeface="Constantia"/>
              </a:rPr>
              <a:t>. The</a:t>
            </a:r>
            <a:endParaRPr sz="2600">
              <a:latin typeface="Constantia"/>
              <a:cs typeface="Constantia"/>
            </a:endParaRPr>
          </a:p>
          <a:p>
            <a:pPr marL="12700">
              <a:lnSpc>
                <a:spcPts val="3120"/>
              </a:lnSpc>
              <a:spcBef>
                <a:spcPts val="20"/>
              </a:spcBef>
            </a:pPr>
            <a:r>
              <a:rPr sz="2600" spc="-18" dirty="0" smtClean="0">
                <a:latin typeface="Constantia"/>
                <a:cs typeface="Constantia"/>
              </a:rPr>
              <a:t>high pressure feed water is</a:t>
            </a:r>
            <a:endParaRPr sz="2600">
              <a:latin typeface="Constantia"/>
              <a:cs typeface="Constantia"/>
            </a:endParaRPr>
          </a:p>
          <a:p>
            <a:pPr marL="12700" marR="49606">
              <a:lnSpc>
                <a:spcPts val="3120"/>
              </a:lnSpc>
            </a:pPr>
            <a:r>
              <a:rPr sz="2600" spc="-11" dirty="0" smtClean="0">
                <a:latin typeface="Constantia"/>
                <a:cs typeface="Constantia"/>
              </a:rPr>
              <a:t>supplied to the boiler</a:t>
            </a:r>
            <a:endParaRPr sz="2600">
              <a:latin typeface="Constantia"/>
              <a:cs typeface="Constantia"/>
            </a:endParaRPr>
          </a:p>
          <a:p>
            <a:pPr marL="12700" marR="49606">
              <a:lnSpc>
                <a:spcPts val="3120"/>
              </a:lnSpc>
            </a:pPr>
            <a:r>
              <a:rPr sz="2600" spc="-19" dirty="0" smtClean="0">
                <a:latin typeface="Constantia"/>
                <a:cs typeface="Constantia"/>
              </a:rPr>
              <a:t>through this valve. This</a:t>
            </a:r>
            <a:endParaRPr sz="2600">
              <a:latin typeface="Constantia"/>
              <a:cs typeface="Constantia"/>
            </a:endParaRPr>
          </a:p>
          <a:p>
            <a:pPr marL="12700" marR="49606">
              <a:lnSpc>
                <a:spcPts val="3120"/>
              </a:lnSpc>
            </a:pPr>
            <a:r>
              <a:rPr sz="2600" spc="-26" dirty="0" smtClean="0">
                <a:latin typeface="Constantia"/>
                <a:cs typeface="Constantia"/>
              </a:rPr>
              <a:t>valve opens towards the</a:t>
            </a:r>
            <a:endParaRPr sz="2600">
              <a:latin typeface="Constantia"/>
              <a:cs typeface="Constantia"/>
            </a:endParaRPr>
          </a:p>
          <a:p>
            <a:pPr marL="12700" marR="49606">
              <a:lnSpc>
                <a:spcPts val="3120"/>
              </a:lnSpc>
            </a:pPr>
            <a:r>
              <a:rPr sz="2600" spc="-17" dirty="0" smtClean="0">
                <a:latin typeface="Constantia"/>
                <a:cs typeface="Constantia"/>
              </a:rPr>
              <a:t>boiler only and feeds the</a:t>
            </a:r>
            <a:endParaRPr sz="2600">
              <a:latin typeface="Constantia"/>
              <a:cs typeface="Constantia"/>
            </a:endParaRPr>
          </a:p>
          <a:p>
            <a:pPr marL="12700" marR="49606">
              <a:lnSpc>
                <a:spcPts val="3120"/>
              </a:lnSpc>
            </a:pPr>
            <a:r>
              <a:rPr sz="2600" spc="-31" dirty="0" smtClean="0">
                <a:latin typeface="Constantia"/>
                <a:cs typeface="Constantia"/>
              </a:rPr>
              <a:t>water to the boiler.</a:t>
            </a:r>
            <a:endParaRPr sz="2600">
              <a:latin typeface="Constantia"/>
              <a:cs typeface="Constantia"/>
            </a:endParaRPr>
          </a:p>
          <a:p>
            <a:pPr marL="12700" marR="49606">
              <a:lnSpc>
                <a:spcPct val="101725"/>
              </a:lnSpc>
              <a:spcBef>
                <a:spcPts val="414"/>
              </a:spcBef>
            </a:pPr>
            <a:r>
              <a:rPr sz="2600" b="1" spc="-30" dirty="0" smtClean="0">
                <a:latin typeface="Constantia"/>
                <a:cs typeface="Constantia"/>
              </a:rPr>
              <a:t>Steam Stop Valve</a:t>
            </a:r>
            <a:r>
              <a:rPr sz="2600" spc="-30" dirty="0" smtClean="0">
                <a:latin typeface="Constantia"/>
                <a:cs typeface="Constantia"/>
              </a:rPr>
              <a:t>.</a:t>
            </a:r>
            <a:endParaRPr sz="2600">
              <a:latin typeface="Constantia"/>
              <a:cs typeface="Constantia"/>
            </a:endParaRPr>
          </a:p>
          <a:p>
            <a:pPr marL="12700" marR="587823">
              <a:lnSpc>
                <a:spcPts val="3120"/>
              </a:lnSpc>
              <a:spcBef>
                <a:spcPts val="759"/>
              </a:spcBef>
            </a:pPr>
            <a:r>
              <a:rPr sz="2600" spc="-15" dirty="0" smtClean="0">
                <a:latin typeface="Constantia"/>
                <a:cs typeface="Constantia"/>
              </a:rPr>
              <a:t>It regulates the flow of steam supply outside.</a:t>
            </a:r>
            <a:endParaRPr sz="2600">
              <a:latin typeface="Constantia"/>
              <a:cs typeface="Constantia"/>
            </a:endParaRPr>
          </a:p>
        </p:txBody>
      </p:sp>
      <p:sp>
        <p:nvSpPr>
          <p:cNvPr id="4" name="object 4"/>
          <p:cNvSpPr txBox="1"/>
          <p:nvPr/>
        </p:nvSpPr>
        <p:spPr>
          <a:xfrm>
            <a:off x="535940" y="4880319"/>
            <a:ext cx="246631" cy="815406"/>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a:p>
            <a:pPr marL="12700" marR="214">
              <a:lnSpc>
                <a:spcPct val="89274"/>
              </a:lnSpc>
              <a:spcBef>
                <a:spcPts val="996"/>
              </a:spcBef>
            </a:pPr>
            <a:r>
              <a:rPr sz="2450" dirty="0" smtClean="0">
                <a:solidFill>
                  <a:srgbClr val="0AD0D9"/>
                </a:solidFill>
                <a:latin typeface="Wingdings"/>
                <a:cs typeface="Wingdings"/>
              </a:rPr>
              <a:t></a:t>
            </a:r>
            <a:endParaRPr sz="2450">
              <a:latin typeface="Wingdings"/>
              <a:cs typeface="Wingdings"/>
            </a:endParaRPr>
          </a:p>
        </p:txBody>
      </p:sp>
      <p:sp>
        <p:nvSpPr>
          <p:cNvPr id="3" name="object 3"/>
          <p:cNvSpPr txBox="1"/>
          <p:nvPr/>
        </p:nvSpPr>
        <p:spPr>
          <a:xfrm>
            <a:off x="2680335" y="1559814"/>
            <a:ext cx="142366" cy="1524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346892" y="1559814"/>
            <a:ext cx="143446" cy="1524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9" name="object 9"/>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0" name="object 10"/>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2" name="object 12"/>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3" name="object 13"/>
          <p:cNvSpPr/>
          <p:nvPr/>
        </p:nvSpPr>
        <p:spPr>
          <a:xfrm>
            <a:off x="5334000" y="1524000"/>
            <a:ext cx="3601211" cy="4800600"/>
          </a:xfrm>
          <a:prstGeom prst="rect">
            <a:avLst/>
          </a:prstGeom>
          <a:blipFill>
            <a:blip r:embed="rId7" cstate="print"/>
            <a:stretch>
              <a:fillRect/>
            </a:stretch>
          </a:blipFill>
        </p:spPr>
        <p:txBody>
          <a:bodyPr wrap="square" lIns="0" tIns="0" rIns="0" bIns="0" rtlCol="0">
            <a:noAutofit/>
          </a:bodyPr>
          <a:lstStyle/>
          <a:p>
            <a:endParaRPr/>
          </a:p>
        </p:txBody>
      </p:sp>
      <p:sp>
        <p:nvSpPr>
          <p:cNvPr id="7" name="object 7"/>
          <p:cNvSpPr txBox="1"/>
          <p:nvPr/>
        </p:nvSpPr>
        <p:spPr>
          <a:xfrm>
            <a:off x="444500" y="569340"/>
            <a:ext cx="5533697" cy="596900"/>
          </a:xfrm>
          <a:prstGeom prst="rect">
            <a:avLst/>
          </a:prstGeom>
        </p:spPr>
        <p:txBody>
          <a:bodyPr wrap="square" lIns="0" tIns="29210" rIns="0" bIns="0" rtlCol="0">
            <a:noAutofit/>
          </a:bodyPr>
          <a:lstStyle/>
          <a:p>
            <a:pPr marL="12700">
              <a:lnSpc>
                <a:spcPts val="4600"/>
              </a:lnSpc>
            </a:pPr>
            <a:r>
              <a:rPr sz="4500" b="1" spc="-8" dirty="0" smtClean="0">
                <a:solidFill>
                  <a:srgbClr val="04607A"/>
                </a:solidFill>
                <a:latin typeface="Calibri"/>
                <a:cs typeface="Calibri"/>
              </a:rPr>
              <a:t>Type of fire tube boiler</a:t>
            </a:r>
            <a:endParaRPr sz="4500">
              <a:latin typeface="Calibri"/>
              <a:cs typeface="Calibri"/>
            </a:endParaRPr>
          </a:p>
        </p:txBody>
      </p:sp>
      <p:sp>
        <p:nvSpPr>
          <p:cNvPr id="6" name="object 6"/>
          <p:cNvSpPr txBox="1"/>
          <p:nvPr/>
        </p:nvSpPr>
        <p:spPr>
          <a:xfrm>
            <a:off x="810260" y="1947450"/>
            <a:ext cx="4297631" cy="3621777"/>
          </a:xfrm>
          <a:prstGeom prst="rect">
            <a:avLst/>
          </a:prstGeom>
        </p:spPr>
        <p:txBody>
          <a:bodyPr wrap="square" lIns="0" tIns="14255" rIns="0" bIns="0" rtlCol="0">
            <a:noAutofit/>
          </a:bodyPr>
          <a:lstStyle/>
          <a:p>
            <a:pPr marL="12700" marR="33301">
              <a:lnSpc>
                <a:spcPts val="2245"/>
              </a:lnSpc>
            </a:pPr>
            <a:r>
              <a:rPr sz="2100" b="1" dirty="0" smtClean="0">
                <a:latin typeface="Times New Roman"/>
                <a:cs typeface="Times New Roman"/>
              </a:rPr>
              <a:t>Cochran Boiler</a:t>
            </a:r>
            <a:endParaRPr sz="2100">
              <a:latin typeface="Times New Roman"/>
              <a:cs typeface="Times New Roman"/>
            </a:endParaRPr>
          </a:p>
          <a:p>
            <a:pPr marL="12700">
              <a:lnSpc>
                <a:spcPts val="2020"/>
              </a:lnSpc>
              <a:spcBef>
                <a:spcPts val="438"/>
              </a:spcBef>
            </a:pPr>
            <a:r>
              <a:rPr sz="2100" dirty="0" smtClean="0">
                <a:latin typeface="Times New Roman"/>
                <a:cs typeface="Times New Roman"/>
              </a:rPr>
              <a:t>It </a:t>
            </a:r>
            <a:r>
              <a:rPr sz="2100" spc="4" dirty="0" smtClean="0">
                <a:latin typeface="Times New Roman"/>
                <a:cs typeface="Times New Roman"/>
              </a:rPr>
              <a:t>i</a:t>
            </a:r>
            <a:r>
              <a:rPr sz="2100" spc="0" dirty="0" smtClean="0">
                <a:latin typeface="Times New Roman"/>
                <a:cs typeface="Times New Roman"/>
              </a:rPr>
              <a:t>s</a:t>
            </a:r>
            <a:r>
              <a:rPr sz="2100" spc="-9" dirty="0" smtClean="0">
                <a:latin typeface="Times New Roman"/>
                <a:cs typeface="Times New Roman"/>
              </a:rPr>
              <a:t> </a:t>
            </a:r>
            <a:r>
              <a:rPr sz="2100" spc="0" dirty="0" smtClean="0">
                <a:latin typeface="Times New Roman"/>
                <a:cs typeface="Times New Roman"/>
              </a:rPr>
              <a:t>a </a:t>
            </a:r>
            <a:r>
              <a:rPr sz="2100" spc="-25" dirty="0" smtClean="0">
                <a:latin typeface="Times New Roman"/>
                <a:cs typeface="Times New Roman"/>
              </a:rPr>
              <a:t>m</a:t>
            </a:r>
            <a:r>
              <a:rPr sz="2100" spc="0" dirty="0" smtClean="0">
                <a:latin typeface="Times New Roman"/>
                <a:cs typeface="Times New Roman"/>
              </a:rPr>
              <a:t>u</a:t>
            </a:r>
            <a:r>
              <a:rPr sz="2100" spc="9" dirty="0" smtClean="0">
                <a:latin typeface="Times New Roman"/>
                <a:cs typeface="Times New Roman"/>
              </a:rPr>
              <a:t>l</a:t>
            </a:r>
            <a:r>
              <a:rPr sz="2100" spc="0" dirty="0" smtClean="0">
                <a:latin typeface="Times New Roman"/>
                <a:cs typeface="Times New Roman"/>
              </a:rPr>
              <a:t>t</a:t>
            </a:r>
            <a:r>
              <a:rPr sz="2100" spc="14" dirty="0" smtClean="0">
                <a:latin typeface="Times New Roman"/>
                <a:cs typeface="Times New Roman"/>
              </a:rPr>
              <a:t>i</a:t>
            </a:r>
            <a:r>
              <a:rPr sz="2100" spc="-4" dirty="0" smtClean="0">
                <a:latin typeface="Times New Roman"/>
                <a:cs typeface="Times New Roman"/>
              </a:rPr>
              <a:t>-</a:t>
            </a:r>
            <a:r>
              <a:rPr sz="2100" spc="0" dirty="0" smtClean="0">
                <a:latin typeface="Times New Roman"/>
                <a:cs typeface="Times New Roman"/>
              </a:rPr>
              <a:t>t</a:t>
            </a:r>
            <a:r>
              <a:rPr sz="2100" spc="9" dirty="0" smtClean="0">
                <a:latin typeface="Times New Roman"/>
                <a:cs typeface="Times New Roman"/>
              </a:rPr>
              <a:t>u</a:t>
            </a:r>
            <a:r>
              <a:rPr sz="2100" spc="0" dirty="0" smtClean="0">
                <a:latin typeface="Times New Roman"/>
                <a:cs typeface="Times New Roman"/>
              </a:rPr>
              <a:t>b</a:t>
            </a:r>
            <a:r>
              <a:rPr sz="2100" spc="9" dirty="0" smtClean="0">
                <a:latin typeface="Times New Roman"/>
                <a:cs typeface="Times New Roman"/>
              </a:rPr>
              <a:t>u</a:t>
            </a:r>
            <a:r>
              <a:rPr sz="2100" spc="0" dirty="0" smtClean="0">
                <a:latin typeface="Times New Roman"/>
                <a:cs typeface="Times New Roman"/>
              </a:rPr>
              <a:t>l</a:t>
            </a:r>
            <a:r>
              <a:rPr sz="2100" spc="4" dirty="0" smtClean="0">
                <a:latin typeface="Times New Roman"/>
                <a:cs typeface="Times New Roman"/>
              </a:rPr>
              <a:t>a</a:t>
            </a:r>
            <a:r>
              <a:rPr sz="2100" spc="0" dirty="0" smtClean="0">
                <a:latin typeface="Times New Roman"/>
                <a:cs typeface="Times New Roman"/>
              </a:rPr>
              <a:t>r</a:t>
            </a:r>
            <a:r>
              <a:rPr sz="2100" spc="9" dirty="0" smtClean="0">
                <a:latin typeface="Times New Roman"/>
                <a:cs typeface="Times New Roman"/>
              </a:rPr>
              <a:t> </a:t>
            </a:r>
            <a:r>
              <a:rPr sz="2100" spc="0" dirty="0" smtClean="0">
                <a:latin typeface="Times New Roman"/>
                <a:cs typeface="Times New Roman"/>
              </a:rPr>
              <a:t>v</a:t>
            </a:r>
            <a:r>
              <a:rPr sz="2100" spc="9" dirty="0" smtClean="0">
                <a:latin typeface="Times New Roman"/>
                <a:cs typeface="Times New Roman"/>
              </a:rPr>
              <a:t>e</a:t>
            </a:r>
            <a:r>
              <a:rPr sz="2100" spc="0" dirty="0" smtClean="0">
                <a:latin typeface="Times New Roman"/>
                <a:cs typeface="Times New Roman"/>
              </a:rPr>
              <a:t>rti</a:t>
            </a:r>
            <a:r>
              <a:rPr sz="2100" spc="4" dirty="0" smtClean="0">
                <a:latin typeface="Times New Roman"/>
                <a:cs typeface="Times New Roman"/>
              </a:rPr>
              <a:t>c</a:t>
            </a:r>
            <a:r>
              <a:rPr sz="2100" spc="0" dirty="0" smtClean="0">
                <a:latin typeface="Times New Roman"/>
                <a:cs typeface="Times New Roman"/>
              </a:rPr>
              <a:t>al</a:t>
            </a:r>
            <a:r>
              <a:rPr sz="2100" spc="4" dirty="0" smtClean="0">
                <a:latin typeface="Times New Roman"/>
                <a:cs typeface="Times New Roman"/>
              </a:rPr>
              <a:t> </a:t>
            </a:r>
            <a:r>
              <a:rPr sz="2100" spc="0" dirty="0" smtClean="0">
                <a:latin typeface="Times New Roman"/>
                <a:cs typeface="Times New Roman"/>
              </a:rPr>
              <a:t>fire t</a:t>
            </a:r>
            <a:r>
              <a:rPr sz="2100" spc="9" dirty="0" smtClean="0">
                <a:latin typeface="Times New Roman"/>
                <a:cs typeface="Times New Roman"/>
              </a:rPr>
              <a:t>u</a:t>
            </a:r>
            <a:r>
              <a:rPr sz="2100" spc="0" dirty="0" smtClean="0">
                <a:latin typeface="Times New Roman"/>
                <a:cs typeface="Times New Roman"/>
              </a:rPr>
              <a:t>be b</a:t>
            </a:r>
            <a:r>
              <a:rPr sz="2100" spc="9" dirty="0" smtClean="0">
                <a:latin typeface="Times New Roman"/>
                <a:cs typeface="Times New Roman"/>
              </a:rPr>
              <a:t>o</a:t>
            </a:r>
            <a:r>
              <a:rPr sz="2100" spc="0" dirty="0" smtClean="0">
                <a:latin typeface="Times New Roman"/>
                <a:cs typeface="Times New Roman"/>
              </a:rPr>
              <a:t>i</a:t>
            </a:r>
            <a:r>
              <a:rPr sz="2100" spc="4" dirty="0" smtClean="0">
                <a:latin typeface="Times New Roman"/>
                <a:cs typeface="Times New Roman"/>
              </a:rPr>
              <a:t>l</a:t>
            </a:r>
            <a:r>
              <a:rPr sz="2100" spc="0" dirty="0" smtClean="0">
                <a:latin typeface="Times New Roman"/>
                <a:cs typeface="Times New Roman"/>
              </a:rPr>
              <a:t>er</a:t>
            </a:r>
            <a:r>
              <a:rPr sz="2100" spc="-9" dirty="0" smtClean="0">
                <a:latin typeface="Times New Roman"/>
                <a:cs typeface="Times New Roman"/>
              </a:rPr>
              <a:t> </a:t>
            </a:r>
            <a:r>
              <a:rPr sz="2100" spc="0" dirty="0" smtClean="0">
                <a:latin typeface="Times New Roman"/>
                <a:cs typeface="Times New Roman"/>
              </a:rPr>
              <a:t>h</a:t>
            </a:r>
            <a:r>
              <a:rPr sz="2100" spc="9" dirty="0" smtClean="0">
                <a:latin typeface="Times New Roman"/>
                <a:cs typeface="Times New Roman"/>
              </a:rPr>
              <a:t>a</a:t>
            </a:r>
            <a:r>
              <a:rPr sz="2100" spc="0" dirty="0" smtClean="0">
                <a:latin typeface="Times New Roman"/>
                <a:cs typeface="Times New Roman"/>
              </a:rPr>
              <a:t>v</a:t>
            </a:r>
            <a:r>
              <a:rPr sz="2100" spc="9" dirty="0" smtClean="0">
                <a:latin typeface="Times New Roman"/>
                <a:cs typeface="Times New Roman"/>
              </a:rPr>
              <a:t>i</a:t>
            </a:r>
            <a:r>
              <a:rPr sz="2100" spc="0" dirty="0" smtClean="0">
                <a:latin typeface="Times New Roman"/>
                <a:cs typeface="Times New Roman"/>
              </a:rPr>
              <a:t>ng</a:t>
            </a:r>
            <a:r>
              <a:rPr sz="2100" spc="-9" dirty="0" smtClean="0">
                <a:latin typeface="Times New Roman"/>
                <a:cs typeface="Times New Roman"/>
              </a:rPr>
              <a:t> </a:t>
            </a:r>
            <a:r>
              <a:rPr sz="2100" spc="0" dirty="0" smtClean="0">
                <a:latin typeface="Times New Roman"/>
                <a:cs typeface="Times New Roman"/>
              </a:rPr>
              <a:t>a n</a:t>
            </a:r>
            <a:r>
              <a:rPr sz="2100" spc="9" dirty="0" smtClean="0">
                <a:latin typeface="Times New Roman"/>
                <a:cs typeface="Times New Roman"/>
              </a:rPr>
              <a:t>u</a:t>
            </a:r>
            <a:r>
              <a:rPr sz="2100" spc="-25" dirty="0" smtClean="0">
                <a:latin typeface="Times New Roman"/>
                <a:cs typeface="Times New Roman"/>
              </a:rPr>
              <a:t>m</a:t>
            </a:r>
            <a:r>
              <a:rPr sz="2100" spc="0" dirty="0" smtClean="0">
                <a:latin typeface="Times New Roman"/>
                <a:cs typeface="Times New Roman"/>
              </a:rPr>
              <a:t>b</a:t>
            </a:r>
            <a:r>
              <a:rPr sz="2100" spc="9" dirty="0" smtClean="0">
                <a:latin typeface="Times New Roman"/>
                <a:cs typeface="Times New Roman"/>
              </a:rPr>
              <a:t>e</a:t>
            </a:r>
            <a:r>
              <a:rPr sz="2100" spc="0" dirty="0" smtClean="0">
                <a:latin typeface="Times New Roman"/>
                <a:cs typeface="Times New Roman"/>
              </a:rPr>
              <a:t>r</a:t>
            </a:r>
            <a:r>
              <a:rPr sz="2100" spc="9" dirty="0" smtClean="0">
                <a:latin typeface="Times New Roman"/>
                <a:cs typeface="Times New Roman"/>
              </a:rPr>
              <a:t> </a:t>
            </a:r>
            <a:r>
              <a:rPr sz="2100" spc="0" dirty="0" smtClean="0">
                <a:latin typeface="Times New Roman"/>
                <a:cs typeface="Times New Roman"/>
              </a:rPr>
              <a:t>of </a:t>
            </a:r>
            <a:r>
              <a:rPr sz="2100" spc="9" dirty="0" smtClean="0">
                <a:latin typeface="Times New Roman"/>
                <a:cs typeface="Times New Roman"/>
              </a:rPr>
              <a:t>h</a:t>
            </a:r>
            <a:r>
              <a:rPr sz="2100" spc="0" dirty="0" smtClean="0">
                <a:latin typeface="Times New Roman"/>
                <a:cs typeface="Times New Roman"/>
              </a:rPr>
              <a:t>or</a:t>
            </a:r>
            <a:r>
              <a:rPr sz="2100" spc="4" dirty="0" smtClean="0">
                <a:latin typeface="Times New Roman"/>
                <a:cs typeface="Times New Roman"/>
              </a:rPr>
              <a:t>i</a:t>
            </a:r>
            <a:r>
              <a:rPr sz="2100" spc="0" dirty="0" smtClean="0">
                <a:latin typeface="Times New Roman"/>
                <a:cs typeface="Times New Roman"/>
              </a:rPr>
              <a:t>z</a:t>
            </a:r>
            <a:r>
              <a:rPr sz="2100" spc="9" dirty="0" smtClean="0">
                <a:latin typeface="Times New Roman"/>
                <a:cs typeface="Times New Roman"/>
              </a:rPr>
              <a:t>o</a:t>
            </a:r>
            <a:r>
              <a:rPr sz="2100" spc="0" dirty="0" smtClean="0">
                <a:latin typeface="Times New Roman"/>
                <a:cs typeface="Times New Roman"/>
              </a:rPr>
              <a:t>n</a:t>
            </a:r>
            <a:r>
              <a:rPr sz="2100" spc="9" dirty="0" smtClean="0">
                <a:latin typeface="Times New Roman"/>
                <a:cs typeface="Times New Roman"/>
              </a:rPr>
              <a:t>t</a:t>
            </a:r>
            <a:r>
              <a:rPr sz="2100" spc="0" dirty="0" smtClean="0">
                <a:latin typeface="Times New Roman"/>
                <a:cs typeface="Times New Roman"/>
              </a:rPr>
              <a:t>al fire </a:t>
            </a:r>
            <a:r>
              <a:rPr sz="2100" spc="4" dirty="0" smtClean="0">
                <a:latin typeface="Times New Roman"/>
                <a:cs typeface="Times New Roman"/>
              </a:rPr>
              <a:t>t</a:t>
            </a:r>
            <a:r>
              <a:rPr sz="2100" spc="0" dirty="0" smtClean="0">
                <a:latin typeface="Times New Roman"/>
                <a:cs typeface="Times New Roman"/>
              </a:rPr>
              <a:t>u</a:t>
            </a:r>
            <a:r>
              <a:rPr sz="2100" spc="9" dirty="0" smtClean="0">
                <a:latin typeface="Times New Roman"/>
                <a:cs typeface="Times New Roman"/>
              </a:rPr>
              <a:t>b</a:t>
            </a:r>
            <a:r>
              <a:rPr sz="2100" spc="0" dirty="0" smtClean="0">
                <a:latin typeface="Times New Roman"/>
                <a:cs typeface="Times New Roman"/>
              </a:rPr>
              <a:t>es.</a:t>
            </a:r>
            <a:r>
              <a:rPr sz="2100" spc="-39" dirty="0" smtClean="0">
                <a:latin typeface="Times New Roman"/>
                <a:cs typeface="Times New Roman"/>
              </a:rPr>
              <a:t> </a:t>
            </a:r>
            <a:r>
              <a:rPr sz="2100" spc="0" dirty="0" smtClean="0">
                <a:latin typeface="Times New Roman"/>
                <a:cs typeface="Times New Roman"/>
              </a:rPr>
              <a:t>T</a:t>
            </a:r>
            <a:r>
              <a:rPr sz="2100" spc="4" dirty="0" smtClean="0">
                <a:latin typeface="Times New Roman"/>
                <a:cs typeface="Times New Roman"/>
              </a:rPr>
              <a:t>h</a:t>
            </a:r>
            <a:r>
              <a:rPr sz="2100" spc="0" dirty="0" smtClean="0">
                <a:latin typeface="Times New Roman"/>
                <a:cs typeface="Times New Roman"/>
              </a:rPr>
              <a:t>is is</a:t>
            </a:r>
            <a:r>
              <a:rPr sz="2100" spc="-9" dirty="0" smtClean="0">
                <a:latin typeface="Times New Roman"/>
                <a:cs typeface="Times New Roman"/>
              </a:rPr>
              <a:t> </a:t>
            </a:r>
            <a:r>
              <a:rPr sz="2100" spc="0" dirty="0" smtClean="0">
                <a:latin typeface="Times New Roman"/>
                <a:cs typeface="Times New Roman"/>
              </a:rPr>
              <a:t>t</a:t>
            </a:r>
            <a:r>
              <a:rPr sz="2100" spc="9" dirty="0" smtClean="0">
                <a:latin typeface="Times New Roman"/>
                <a:cs typeface="Times New Roman"/>
              </a:rPr>
              <a:t>h</a:t>
            </a:r>
            <a:r>
              <a:rPr sz="2100" spc="0" dirty="0" smtClean="0">
                <a:latin typeface="Times New Roman"/>
                <a:cs typeface="Times New Roman"/>
              </a:rPr>
              <a:t>e </a:t>
            </a:r>
            <a:r>
              <a:rPr sz="2100" spc="-25" dirty="0" smtClean="0">
                <a:latin typeface="Times New Roman"/>
                <a:cs typeface="Times New Roman"/>
              </a:rPr>
              <a:t>m</a:t>
            </a:r>
            <a:r>
              <a:rPr sz="2100" spc="0" dirty="0" smtClean="0">
                <a:latin typeface="Times New Roman"/>
                <a:cs typeface="Times New Roman"/>
              </a:rPr>
              <a:t>o</a:t>
            </a:r>
            <a:r>
              <a:rPr sz="2100" spc="9" dirty="0" smtClean="0">
                <a:latin typeface="Times New Roman"/>
                <a:cs typeface="Times New Roman"/>
              </a:rPr>
              <a:t>d</a:t>
            </a:r>
            <a:r>
              <a:rPr sz="2100" spc="0" dirty="0" smtClean="0">
                <a:latin typeface="Times New Roman"/>
                <a:cs typeface="Times New Roman"/>
              </a:rPr>
              <a:t>ifi</a:t>
            </a:r>
            <a:r>
              <a:rPr sz="2100" spc="4" dirty="0" smtClean="0">
                <a:latin typeface="Times New Roman"/>
                <a:cs typeface="Times New Roman"/>
              </a:rPr>
              <a:t>c</a:t>
            </a:r>
            <a:r>
              <a:rPr sz="2100" spc="0" dirty="0" smtClean="0">
                <a:latin typeface="Times New Roman"/>
                <a:cs typeface="Times New Roman"/>
              </a:rPr>
              <a:t>a</a:t>
            </a:r>
            <a:r>
              <a:rPr sz="2100" spc="4" dirty="0" smtClean="0">
                <a:latin typeface="Times New Roman"/>
                <a:cs typeface="Times New Roman"/>
              </a:rPr>
              <a:t>t</a:t>
            </a:r>
            <a:r>
              <a:rPr sz="2100" spc="0" dirty="0" smtClean="0">
                <a:latin typeface="Times New Roman"/>
                <a:cs typeface="Times New Roman"/>
              </a:rPr>
              <a:t>i</a:t>
            </a:r>
            <a:r>
              <a:rPr sz="2100" spc="9" dirty="0" smtClean="0">
                <a:latin typeface="Times New Roman"/>
                <a:cs typeface="Times New Roman"/>
              </a:rPr>
              <a:t>o</a:t>
            </a:r>
            <a:r>
              <a:rPr sz="2100" spc="0" dirty="0" smtClean="0">
                <a:latin typeface="Times New Roman"/>
                <a:cs typeface="Times New Roman"/>
              </a:rPr>
              <a:t>n</a:t>
            </a:r>
            <a:r>
              <a:rPr sz="2100" spc="4" dirty="0" smtClean="0">
                <a:latin typeface="Times New Roman"/>
                <a:cs typeface="Times New Roman"/>
              </a:rPr>
              <a:t> </a:t>
            </a:r>
            <a:r>
              <a:rPr sz="2100" spc="0" dirty="0" smtClean="0">
                <a:latin typeface="Times New Roman"/>
                <a:cs typeface="Times New Roman"/>
              </a:rPr>
              <a:t>of a si</a:t>
            </a:r>
            <a:r>
              <a:rPr sz="2100" spc="-19" dirty="0" smtClean="0">
                <a:latin typeface="Times New Roman"/>
                <a:cs typeface="Times New Roman"/>
              </a:rPr>
              <a:t>m</a:t>
            </a:r>
            <a:r>
              <a:rPr sz="2100" spc="0" dirty="0" smtClean="0">
                <a:latin typeface="Times New Roman"/>
                <a:cs typeface="Times New Roman"/>
              </a:rPr>
              <a:t>p</a:t>
            </a:r>
            <a:r>
              <a:rPr sz="2100" spc="9" dirty="0" smtClean="0">
                <a:latin typeface="Times New Roman"/>
                <a:cs typeface="Times New Roman"/>
              </a:rPr>
              <a:t>l</a:t>
            </a:r>
            <a:r>
              <a:rPr sz="2100" spc="0" dirty="0" smtClean="0">
                <a:latin typeface="Times New Roman"/>
                <a:cs typeface="Times New Roman"/>
              </a:rPr>
              <a:t>e</a:t>
            </a:r>
            <a:r>
              <a:rPr sz="2100" spc="14" dirty="0" smtClean="0">
                <a:latin typeface="Times New Roman"/>
                <a:cs typeface="Times New Roman"/>
              </a:rPr>
              <a:t> </a:t>
            </a:r>
            <a:r>
              <a:rPr sz="2100" spc="0" dirty="0" smtClean="0">
                <a:latin typeface="Times New Roman"/>
                <a:cs typeface="Times New Roman"/>
              </a:rPr>
              <a:t>v</a:t>
            </a:r>
            <a:r>
              <a:rPr sz="2100" spc="9" dirty="0" smtClean="0">
                <a:latin typeface="Times New Roman"/>
                <a:cs typeface="Times New Roman"/>
              </a:rPr>
              <a:t>e</a:t>
            </a:r>
            <a:r>
              <a:rPr sz="2100" spc="0" dirty="0" smtClean="0">
                <a:latin typeface="Times New Roman"/>
                <a:cs typeface="Times New Roman"/>
              </a:rPr>
              <a:t>rti</a:t>
            </a:r>
            <a:r>
              <a:rPr sz="2100" spc="4" dirty="0" smtClean="0">
                <a:latin typeface="Times New Roman"/>
                <a:cs typeface="Times New Roman"/>
              </a:rPr>
              <a:t>c</a:t>
            </a:r>
            <a:r>
              <a:rPr sz="2100" spc="0" dirty="0" smtClean="0">
                <a:latin typeface="Times New Roman"/>
                <a:cs typeface="Times New Roman"/>
              </a:rPr>
              <a:t>al</a:t>
            </a:r>
            <a:r>
              <a:rPr sz="2100" spc="4" dirty="0" smtClean="0">
                <a:latin typeface="Times New Roman"/>
                <a:cs typeface="Times New Roman"/>
              </a:rPr>
              <a:t> b</a:t>
            </a:r>
            <a:r>
              <a:rPr sz="2100" spc="0" dirty="0" smtClean="0">
                <a:latin typeface="Times New Roman"/>
                <a:cs typeface="Times New Roman"/>
              </a:rPr>
              <a:t>o</a:t>
            </a:r>
            <a:r>
              <a:rPr sz="2100" spc="9" dirty="0" smtClean="0">
                <a:latin typeface="Times New Roman"/>
                <a:cs typeface="Times New Roman"/>
              </a:rPr>
              <a:t>i</a:t>
            </a:r>
            <a:r>
              <a:rPr sz="2100" spc="0" dirty="0" smtClean="0">
                <a:latin typeface="Times New Roman"/>
                <a:cs typeface="Times New Roman"/>
              </a:rPr>
              <a:t>l</a:t>
            </a:r>
            <a:r>
              <a:rPr sz="2100" spc="4" dirty="0" smtClean="0">
                <a:latin typeface="Times New Roman"/>
                <a:cs typeface="Times New Roman"/>
              </a:rPr>
              <a:t>e</a:t>
            </a:r>
            <a:r>
              <a:rPr sz="2100" spc="0" dirty="0" smtClean="0">
                <a:latin typeface="Times New Roman"/>
                <a:cs typeface="Times New Roman"/>
              </a:rPr>
              <a:t>r</a:t>
            </a:r>
            <a:r>
              <a:rPr sz="2100" spc="-14" dirty="0" smtClean="0">
                <a:latin typeface="Times New Roman"/>
                <a:cs typeface="Times New Roman"/>
              </a:rPr>
              <a:t> </a:t>
            </a:r>
            <a:r>
              <a:rPr sz="2100" spc="0" dirty="0" smtClean="0">
                <a:latin typeface="Times New Roman"/>
                <a:cs typeface="Times New Roman"/>
              </a:rPr>
              <a:t>where</a:t>
            </a:r>
            <a:r>
              <a:rPr sz="2100" spc="4" dirty="0" smtClean="0">
                <a:latin typeface="Times New Roman"/>
                <a:cs typeface="Times New Roman"/>
              </a:rPr>
              <a:t> </a:t>
            </a:r>
            <a:r>
              <a:rPr sz="2100" spc="0" dirty="0" smtClean="0">
                <a:latin typeface="Times New Roman"/>
                <a:cs typeface="Times New Roman"/>
              </a:rPr>
              <a:t>t</a:t>
            </a:r>
            <a:r>
              <a:rPr sz="2100" spc="9" dirty="0" smtClean="0">
                <a:latin typeface="Times New Roman"/>
                <a:cs typeface="Times New Roman"/>
              </a:rPr>
              <a:t>h</a:t>
            </a:r>
            <a:r>
              <a:rPr sz="2100" spc="0" dirty="0" smtClean="0">
                <a:latin typeface="Times New Roman"/>
                <a:cs typeface="Times New Roman"/>
              </a:rPr>
              <a:t>e h</a:t>
            </a:r>
            <a:r>
              <a:rPr sz="2100" spc="9" dirty="0" smtClean="0">
                <a:latin typeface="Times New Roman"/>
                <a:cs typeface="Times New Roman"/>
              </a:rPr>
              <a:t>e</a:t>
            </a:r>
            <a:r>
              <a:rPr sz="2100" spc="0" dirty="0" smtClean="0">
                <a:latin typeface="Times New Roman"/>
                <a:cs typeface="Times New Roman"/>
              </a:rPr>
              <a:t>a</a:t>
            </a:r>
            <a:r>
              <a:rPr sz="2100" spc="4" dirty="0" smtClean="0">
                <a:latin typeface="Times New Roman"/>
                <a:cs typeface="Times New Roman"/>
              </a:rPr>
              <a:t>t</a:t>
            </a:r>
            <a:r>
              <a:rPr sz="2100" spc="0" dirty="0" smtClean="0">
                <a:latin typeface="Times New Roman"/>
                <a:cs typeface="Times New Roman"/>
              </a:rPr>
              <a:t>i</a:t>
            </a:r>
            <a:r>
              <a:rPr sz="2100" spc="9" dirty="0" smtClean="0">
                <a:latin typeface="Times New Roman"/>
                <a:cs typeface="Times New Roman"/>
              </a:rPr>
              <a:t>n</a:t>
            </a:r>
            <a:r>
              <a:rPr sz="2100" spc="0" dirty="0" smtClean="0">
                <a:latin typeface="Times New Roman"/>
                <a:cs typeface="Times New Roman"/>
              </a:rPr>
              <a:t>g surface</a:t>
            </a:r>
            <a:r>
              <a:rPr sz="2100" spc="4" dirty="0" smtClean="0">
                <a:latin typeface="Times New Roman"/>
                <a:cs typeface="Times New Roman"/>
              </a:rPr>
              <a:t> h</a:t>
            </a:r>
            <a:r>
              <a:rPr sz="2100" spc="0" dirty="0" smtClean="0">
                <a:latin typeface="Times New Roman"/>
                <a:cs typeface="Times New Roman"/>
              </a:rPr>
              <a:t>as</a:t>
            </a:r>
            <a:r>
              <a:rPr sz="2100" spc="-4" dirty="0" smtClean="0">
                <a:latin typeface="Times New Roman"/>
                <a:cs typeface="Times New Roman"/>
              </a:rPr>
              <a:t> </a:t>
            </a:r>
            <a:r>
              <a:rPr sz="2100" spc="0" dirty="0" smtClean="0">
                <a:latin typeface="Times New Roman"/>
                <a:cs typeface="Times New Roman"/>
              </a:rPr>
              <a:t>b</a:t>
            </a:r>
            <a:r>
              <a:rPr sz="2100" spc="9" dirty="0" smtClean="0">
                <a:latin typeface="Times New Roman"/>
                <a:cs typeface="Times New Roman"/>
              </a:rPr>
              <a:t>e</a:t>
            </a:r>
            <a:r>
              <a:rPr sz="2100" spc="0" dirty="0" smtClean="0">
                <a:latin typeface="Times New Roman"/>
                <a:cs typeface="Times New Roman"/>
              </a:rPr>
              <a:t>en i</a:t>
            </a:r>
            <a:r>
              <a:rPr sz="2100" spc="9" dirty="0" smtClean="0">
                <a:latin typeface="Times New Roman"/>
                <a:cs typeface="Times New Roman"/>
              </a:rPr>
              <a:t>n</a:t>
            </a:r>
            <a:r>
              <a:rPr sz="2100" spc="0" dirty="0" smtClean="0">
                <a:latin typeface="Times New Roman"/>
                <a:cs typeface="Times New Roman"/>
              </a:rPr>
              <a:t>cre</a:t>
            </a:r>
            <a:r>
              <a:rPr sz="2100" spc="4" dirty="0" smtClean="0">
                <a:latin typeface="Times New Roman"/>
                <a:cs typeface="Times New Roman"/>
              </a:rPr>
              <a:t>a</a:t>
            </a:r>
            <a:r>
              <a:rPr sz="2100" spc="0" dirty="0" smtClean="0">
                <a:latin typeface="Times New Roman"/>
                <a:cs typeface="Times New Roman"/>
              </a:rPr>
              <a:t>sed by </a:t>
            </a:r>
            <a:r>
              <a:rPr sz="2100" spc="-19" dirty="0" smtClean="0">
                <a:latin typeface="Times New Roman"/>
                <a:cs typeface="Times New Roman"/>
              </a:rPr>
              <a:t>m</a:t>
            </a:r>
            <a:r>
              <a:rPr sz="2100" spc="0" dirty="0" smtClean="0">
                <a:latin typeface="Times New Roman"/>
                <a:cs typeface="Times New Roman"/>
              </a:rPr>
              <a:t>e</a:t>
            </a:r>
            <a:r>
              <a:rPr sz="2100" spc="4" dirty="0" smtClean="0">
                <a:latin typeface="Times New Roman"/>
                <a:cs typeface="Times New Roman"/>
              </a:rPr>
              <a:t>a</a:t>
            </a:r>
            <a:r>
              <a:rPr sz="2100" spc="0" dirty="0" smtClean="0">
                <a:latin typeface="Times New Roman"/>
                <a:cs typeface="Times New Roman"/>
              </a:rPr>
              <a:t>ns</a:t>
            </a:r>
            <a:r>
              <a:rPr sz="2100" spc="29" dirty="0" smtClean="0">
                <a:latin typeface="Times New Roman"/>
                <a:cs typeface="Times New Roman"/>
              </a:rPr>
              <a:t> </a:t>
            </a:r>
            <a:r>
              <a:rPr sz="2100" spc="0" dirty="0" smtClean="0">
                <a:latin typeface="Times New Roman"/>
                <a:cs typeface="Times New Roman"/>
              </a:rPr>
              <a:t>of a </a:t>
            </a:r>
            <a:r>
              <a:rPr sz="2100" spc="9" dirty="0" smtClean="0">
                <a:latin typeface="Times New Roman"/>
                <a:cs typeface="Times New Roman"/>
              </a:rPr>
              <a:t>n</a:t>
            </a:r>
            <a:r>
              <a:rPr sz="2100" spc="0" dirty="0" smtClean="0">
                <a:latin typeface="Times New Roman"/>
                <a:cs typeface="Times New Roman"/>
              </a:rPr>
              <a:t>u</a:t>
            </a:r>
            <a:r>
              <a:rPr sz="2100" spc="-19" dirty="0" smtClean="0">
                <a:latin typeface="Times New Roman"/>
                <a:cs typeface="Times New Roman"/>
              </a:rPr>
              <a:t>m</a:t>
            </a:r>
            <a:r>
              <a:rPr sz="2100" spc="0" dirty="0" smtClean="0">
                <a:latin typeface="Times New Roman"/>
                <a:cs typeface="Times New Roman"/>
              </a:rPr>
              <a:t>b</a:t>
            </a:r>
            <a:r>
              <a:rPr sz="2100" spc="4" dirty="0" smtClean="0">
                <a:latin typeface="Times New Roman"/>
                <a:cs typeface="Times New Roman"/>
              </a:rPr>
              <a:t>e</a:t>
            </a:r>
            <a:r>
              <a:rPr sz="2100" spc="0" dirty="0" smtClean="0">
                <a:latin typeface="Times New Roman"/>
                <a:cs typeface="Times New Roman"/>
              </a:rPr>
              <a:t>r</a:t>
            </a:r>
            <a:r>
              <a:rPr sz="2100" spc="9" dirty="0" smtClean="0">
                <a:latin typeface="Times New Roman"/>
                <a:cs typeface="Times New Roman"/>
              </a:rPr>
              <a:t> </a:t>
            </a:r>
            <a:r>
              <a:rPr sz="2100" spc="0" dirty="0" smtClean="0">
                <a:latin typeface="Times New Roman"/>
                <a:cs typeface="Times New Roman"/>
              </a:rPr>
              <a:t>of fire </a:t>
            </a:r>
            <a:r>
              <a:rPr sz="2100" spc="4" dirty="0" smtClean="0">
                <a:latin typeface="Times New Roman"/>
                <a:cs typeface="Times New Roman"/>
              </a:rPr>
              <a:t>t</a:t>
            </a:r>
            <a:r>
              <a:rPr sz="2100" spc="0" dirty="0" smtClean="0">
                <a:latin typeface="Times New Roman"/>
                <a:cs typeface="Times New Roman"/>
              </a:rPr>
              <a:t>u</a:t>
            </a:r>
            <a:r>
              <a:rPr sz="2100" spc="9" dirty="0" smtClean="0">
                <a:latin typeface="Times New Roman"/>
                <a:cs typeface="Times New Roman"/>
              </a:rPr>
              <a:t>b</a:t>
            </a:r>
            <a:r>
              <a:rPr sz="2100" spc="0" dirty="0" smtClean="0">
                <a:latin typeface="Times New Roman"/>
                <a:cs typeface="Times New Roman"/>
              </a:rPr>
              <a:t>es.</a:t>
            </a:r>
            <a:endParaRPr sz="2100">
              <a:latin typeface="Times New Roman"/>
              <a:cs typeface="Times New Roman"/>
            </a:endParaRPr>
          </a:p>
          <a:p>
            <a:pPr marL="12700" marR="937983">
              <a:lnSpc>
                <a:spcPts val="2020"/>
              </a:lnSpc>
              <a:spcBef>
                <a:spcPts val="502"/>
              </a:spcBef>
            </a:pPr>
            <a:r>
              <a:rPr sz="2100" spc="1" dirty="0" smtClean="0">
                <a:latin typeface="Times New Roman"/>
                <a:cs typeface="Times New Roman"/>
              </a:rPr>
              <a:t>It is very compact and requires minimum floor area.</a:t>
            </a:r>
            <a:endParaRPr sz="2100">
              <a:latin typeface="Times New Roman"/>
              <a:cs typeface="Times New Roman"/>
            </a:endParaRPr>
          </a:p>
          <a:p>
            <a:pPr marL="12700" marR="176288">
              <a:lnSpc>
                <a:spcPts val="2020"/>
              </a:lnSpc>
              <a:spcBef>
                <a:spcPts val="500"/>
              </a:spcBef>
            </a:pPr>
            <a:r>
              <a:rPr sz="2100" dirty="0" smtClean="0">
                <a:latin typeface="Times New Roman"/>
                <a:cs typeface="Times New Roman"/>
              </a:rPr>
              <a:t>Any type </a:t>
            </a:r>
            <a:r>
              <a:rPr sz="2100" spc="4" dirty="0" smtClean="0">
                <a:latin typeface="Times New Roman"/>
                <a:cs typeface="Times New Roman"/>
              </a:rPr>
              <a:t>o</a:t>
            </a:r>
            <a:r>
              <a:rPr sz="2100" spc="0" dirty="0" smtClean="0">
                <a:latin typeface="Times New Roman"/>
                <a:cs typeface="Times New Roman"/>
              </a:rPr>
              <a:t>f</a:t>
            </a:r>
            <a:r>
              <a:rPr sz="2100" spc="-14" dirty="0" smtClean="0">
                <a:latin typeface="Times New Roman"/>
                <a:cs typeface="Times New Roman"/>
              </a:rPr>
              <a:t> </a:t>
            </a:r>
            <a:r>
              <a:rPr sz="2100" spc="0" dirty="0" smtClean="0">
                <a:latin typeface="Times New Roman"/>
                <a:cs typeface="Times New Roman"/>
              </a:rPr>
              <a:t>fu</a:t>
            </a:r>
            <a:r>
              <a:rPr sz="2100" spc="4" dirty="0" smtClean="0">
                <a:latin typeface="Times New Roman"/>
                <a:cs typeface="Times New Roman"/>
              </a:rPr>
              <a:t>e</a:t>
            </a:r>
            <a:r>
              <a:rPr sz="2100" spc="0" dirty="0" smtClean="0">
                <a:latin typeface="Times New Roman"/>
                <a:cs typeface="Times New Roman"/>
              </a:rPr>
              <a:t>l c</a:t>
            </a:r>
            <a:r>
              <a:rPr sz="2100" spc="4" dirty="0" smtClean="0">
                <a:latin typeface="Times New Roman"/>
                <a:cs typeface="Times New Roman"/>
              </a:rPr>
              <a:t>a</a:t>
            </a:r>
            <a:r>
              <a:rPr sz="2100" spc="0" dirty="0" smtClean="0">
                <a:latin typeface="Times New Roman"/>
                <a:cs typeface="Times New Roman"/>
              </a:rPr>
              <a:t>n be </a:t>
            </a:r>
            <a:r>
              <a:rPr sz="2100" spc="4" dirty="0" smtClean="0">
                <a:latin typeface="Times New Roman"/>
                <a:cs typeface="Times New Roman"/>
              </a:rPr>
              <a:t>u</a:t>
            </a:r>
            <a:r>
              <a:rPr sz="2100" spc="0" dirty="0" smtClean="0">
                <a:latin typeface="Times New Roman"/>
                <a:cs typeface="Times New Roman"/>
              </a:rPr>
              <a:t>sed</a:t>
            </a:r>
            <a:r>
              <a:rPr sz="2100" spc="-14" dirty="0" smtClean="0">
                <a:latin typeface="Times New Roman"/>
                <a:cs typeface="Times New Roman"/>
              </a:rPr>
              <a:t> </a:t>
            </a:r>
            <a:r>
              <a:rPr sz="2100" spc="0" dirty="0" smtClean="0">
                <a:latin typeface="Times New Roman"/>
                <a:cs typeface="Times New Roman"/>
              </a:rPr>
              <a:t>with</a:t>
            </a:r>
            <a:r>
              <a:rPr sz="2100" spc="9" dirty="0" smtClean="0">
                <a:latin typeface="Times New Roman"/>
                <a:cs typeface="Times New Roman"/>
              </a:rPr>
              <a:t> </a:t>
            </a:r>
            <a:r>
              <a:rPr sz="2100" spc="4" dirty="0" smtClean="0">
                <a:latin typeface="Times New Roman"/>
                <a:cs typeface="Times New Roman"/>
              </a:rPr>
              <a:t>t</a:t>
            </a:r>
            <a:r>
              <a:rPr sz="2100" spc="0" dirty="0" smtClean="0">
                <a:latin typeface="Times New Roman"/>
                <a:cs typeface="Times New Roman"/>
              </a:rPr>
              <a:t>h</a:t>
            </a:r>
            <a:r>
              <a:rPr sz="2100" spc="9" dirty="0" smtClean="0">
                <a:latin typeface="Times New Roman"/>
                <a:cs typeface="Times New Roman"/>
              </a:rPr>
              <a:t>i</a:t>
            </a:r>
            <a:r>
              <a:rPr sz="2100" spc="0" dirty="0" smtClean="0">
                <a:latin typeface="Times New Roman"/>
                <a:cs typeface="Times New Roman"/>
              </a:rPr>
              <a:t>s b</a:t>
            </a:r>
            <a:r>
              <a:rPr sz="2100" spc="9" dirty="0" smtClean="0">
                <a:latin typeface="Times New Roman"/>
                <a:cs typeface="Times New Roman"/>
              </a:rPr>
              <a:t>o</a:t>
            </a:r>
            <a:r>
              <a:rPr sz="2100" spc="0" dirty="0" smtClean="0">
                <a:latin typeface="Times New Roman"/>
                <a:cs typeface="Times New Roman"/>
              </a:rPr>
              <a:t>i</a:t>
            </a:r>
            <a:r>
              <a:rPr sz="2100" spc="4" dirty="0" smtClean="0">
                <a:latin typeface="Times New Roman"/>
                <a:cs typeface="Times New Roman"/>
              </a:rPr>
              <a:t>l</a:t>
            </a:r>
            <a:r>
              <a:rPr sz="2100" spc="0" dirty="0" smtClean="0">
                <a:latin typeface="Times New Roman"/>
                <a:cs typeface="Times New Roman"/>
              </a:rPr>
              <a:t>e</a:t>
            </a:r>
            <a:r>
              <a:rPr sz="2100" spc="-119" dirty="0" smtClean="0">
                <a:latin typeface="Times New Roman"/>
                <a:cs typeface="Times New Roman"/>
              </a:rPr>
              <a:t>r</a:t>
            </a:r>
            <a:r>
              <a:rPr sz="2100" spc="0" dirty="0" smtClean="0">
                <a:latin typeface="Times New Roman"/>
                <a:cs typeface="Times New Roman"/>
              </a:rPr>
              <a:t>.</a:t>
            </a:r>
            <a:endParaRPr sz="2100">
              <a:latin typeface="Times New Roman"/>
              <a:cs typeface="Times New Roman"/>
            </a:endParaRPr>
          </a:p>
          <a:p>
            <a:pPr marL="12700" marR="33301">
              <a:lnSpc>
                <a:spcPts val="2350"/>
              </a:lnSpc>
              <a:spcBef>
                <a:spcPts val="171"/>
              </a:spcBef>
            </a:pPr>
            <a:r>
              <a:rPr sz="2100" spc="-4" dirty="0" smtClean="0">
                <a:latin typeface="Times New Roman"/>
                <a:cs typeface="Times New Roman"/>
              </a:rPr>
              <a:t>Well suited for small capacity</a:t>
            </a:r>
            <a:endParaRPr sz="2100">
              <a:latin typeface="Times New Roman"/>
              <a:cs typeface="Times New Roman"/>
            </a:endParaRPr>
          </a:p>
          <a:p>
            <a:pPr marL="12700" marR="33301">
              <a:lnSpc>
                <a:spcPts val="2080"/>
              </a:lnSpc>
            </a:pPr>
            <a:r>
              <a:rPr sz="2100" dirty="0" smtClean="0">
                <a:latin typeface="Times New Roman"/>
                <a:cs typeface="Times New Roman"/>
              </a:rPr>
              <a:t>requirements.</a:t>
            </a:r>
            <a:endParaRPr sz="2100">
              <a:latin typeface="Times New Roman"/>
              <a:cs typeface="Times New Roman"/>
            </a:endParaRPr>
          </a:p>
        </p:txBody>
      </p:sp>
      <p:sp>
        <p:nvSpPr>
          <p:cNvPr id="5" name="object 5"/>
          <p:cNvSpPr txBox="1"/>
          <p:nvPr/>
        </p:nvSpPr>
        <p:spPr>
          <a:xfrm>
            <a:off x="535940" y="1959694"/>
            <a:ext cx="203715" cy="599048"/>
          </a:xfrm>
          <a:prstGeom prst="rect">
            <a:avLst/>
          </a:prstGeom>
        </p:spPr>
        <p:txBody>
          <a:bodyPr wrap="square" lIns="0" tIns="12985" rIns="0" bIns="0" rtlCol="0">
            <a:noAutofit/>
          </a:bodyPr>
          <a:lstStyle/>
          <a:p>
            <a:pPr marL="12700">
              <a:lnSpc>
                <a:spcPts val="2045"/>
              </a:lnSpc>
            </a:pPr>
            <a:r>
              <a:rPr sz="2000" dirty="0" smtClean="0">
                <a:solidFill>
                  <a:srgbClr val="0AD0D9"/>
                </a:solidFill>
                <a:latin typeface="Wingdings"/>
                <a:cs typeface="Wingdings"/>
              </a:rPr>
              <a:t></a:t>
            </a:r>
            <a:endParaRPr sz="2000">
              <a:latin typeface="Wingdings"/>
              <a:cs typeface="Wingdings"/>
            </a:endParaRPr>
          </a:p>
          <a:p>
            <a:pPr marL="12700" marR="214">
              <a:lnSpc>
                <a:spcPct val="89274"/>
              </a:lnSpc>
              <a:spcBef>
                <a:spcPts val="277"/>
              </a:spcBef>
            </a:pPr>
            <a:r>
              <a:rPr sz="2000" dirty="0" smtClean="0">
                <a:solidFill>
                  <a:srgbClr val="0AD0D9"/>
                </a:solidFill>
                <a:latin typeface="Wingdings"/>
                <a:cs typeface="Wingdings"/>
              </a:rPr>
              <a:t></a:t>
            </a:r>
            <a:endParaRPr sz="2000">
              <a:latin typeface="Wingdings"/>
              <a:cs typeface="Wingdings"/>
            </a:endParaRPr>
          </a:p>
        </p:txBody>
      </p:sp>
      <p:sp>
        <p:nvSpPr>
          <p:cNvPr id="4" name="object 4"/>
          <p:cNvSpPr txBox="1"/>
          <p:nvPr/>
        </p:nvSpPr>
        <p:spPr>
          <a:xfrm>
            <a:off x="535940" y="3880813"/>
            <a:ext cx="203500" cy="278383"/>
          </a:xfrm>
          <a:prstGeom prst="rect">
            <a:avLst/>
          </a:prstGeom>
        </p:spPr>
        <p:txBody>
          <a:bodyPr wrap="square" lIns="0" tIns="12954" rIns="0" bIns="0" rtlCol="0">
            <a:noAutofit/>
          </a:bodyPr>
          <a:lstStyle/>
          <a:p>
            <a:pPr marL="12700">
              <a:lnSpc>
                <a:spcPts val="2039"/>
              </a:lnSpc>
            </a:pPr>
            <a:r>
              <a:rPr sz="2000" dirty="0" smtClean="0">
                <a:solidFill>
                  <a:srgbClr val="0AD0D9"/>
                </a:solidFill>
                <a:latin typeface="Wingdings"/>
                <a:cs typeface="Wingdings"/>
              </a:rPr>
              <a:t></a:t>
            </a:r>
            <a:endParaRPr sz="2000">
              <a:latin typeface="Wingdings"/>
              <a:cs typeface="Wingdings"/>
            </a:endParaRPr>
          </a:p>
        </p:txBody>
      </p:sp>
      <p:sp>
        <p:nvSpPr>
          <p:cNvPr id="3" name="object 3"/>
          <p:cNvSpPr txBox="1"/>
          <p:nvPr/>
        </p:nvSpPr>
        <p:spPr>
          <a:xfrm>
            <a:off x="535940" y="4456885"/>
            <a:ext cx="203500" cy="278383"/>
          </a:xfrm>
          <a:prstGeom prst="rect">
            <a:avLst/>
          </a:prstGeom>
        </p:spPr>
        <p:txBody>
          <a:bodyPr wrap="square" lIns="0" tIns="12954" rIns="0" bIns="0" rtlCol="0">
            <a:noAutofit/>
          </a:bodyPr>
          <a:lstStyle/>
          <a:p>
            <a:pPr marL="12700">
              <a:lnSpc>
                <a:spcPts val="2039"/>
              </a:lnSpc>
            </a:pPr>
            <a:r>
              <a:rPr sz="2000" dirty="0" smtClean="0">
                <a:solidFill>
                  <a:srgbClr val="0AD0D9"/>
                </a:solidFill>
                <a:latin typeface="Wingdings"/>
                <a:cs typeface="Wingdings"/>
              </a:rPr>
              <a:t></a:t>
            </a:r>
            <a:endParaRPr sz="2000">
              <a:latin typeface="Wingdings"/>
              <a:cs typeface="Wingdings"/>
            </a:endParaRPr>
          </a:p>
        </p:txBody>
      </p:sp>
      <p:sp>
        <p:nvSpPr>
          <p:cNvPr id="2" name="object 2"/>
          <p:cNvSpPr txBox="1"/>
          <p:nvPr/>
        </p:nvSpPr>
        <p:spPr>
          <a:xfrm>
            <a:off x="535940" y="5032713"/>
            <a:ext cx="203715" cy="278688"/>
          </a:xfrm>
          <a:prstGeom prst="rect">
            <a:avLst/>
          </a:prstGeom>
        </p:spPr>
        <p:txBody>
          <a:bodyPr wrap="square" lIns="0" tIns="12985" rIns="0" bIns="0" rtlCol="0">
            <a:noAutofit/>
          </a:bodyPr>
          <a:lstStyle/>
          <a:p>
            <a:pPr marL="12700">
              <a:lnSpc>
                <a:spcPts val="2045"/>
              </a:lnSpc>
            </a:pPr>
            <a:r>
              <a:rPr sz="2000" dirty="0" smtClean="0">
                <a:solidFill>
                  <a:srgbClr val="0AD0D9"/>
                </a:solidFill>
                <a:latin typeface="Wingdings"/>
                <a:cs typeface="Wingdings"/>
              </a:rPr>
              <a:t></a:t>
            </a:r>
            <a:endParaRPr sz="2000">
              <a:latin typeface="Wingdings"/>
              <a:cs typeface="Wingding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7" name="object 7"/>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8" name="object 8"/>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9" name="object 9"/>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0" name="object 10"/>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5" name="object 5"/>
          <p:cNvSpPr txBox="1"/>
          <p:nvPr/>
        </p:nvSpPr>
        <p:spPr>
          <a:xfrm>
            <a:off x="444500" y="569340"/>
            <a:ext cx="5533697" cy="596900"/>
          </a:xfrm>
          <a:prstGeom prst="rect">
            <a:avLst/>
          </a:prstGeom>
        </p:spPr>
        <p:txBody>
          <a:bodyPr wrap="square" lIns="0" tIns="29210" rIns="0" bIns="0" rtlCol="0">
            <a:noAutofit/>
          </a:bodyPr>
          <a:lstStyle/>
          <a:p>
            <a:pPr marL="12700">
              <a:lnSpc>
                <a:spcPts val="4600"/>
              </a:lnSpc>
            </a:pPr>
            <a:r>
              <a:rPr sz="4500" b="1" spc="-8" dirty="0" smtClean="0">
                <a:solidFill>
                  <a:srgbClr val="04607A"/>
                </a:solidFill>
                <a:latin typeface="Calibri"/>
                <a:cs typeface="Calibri"/>
              </a:rPr>
              <a:t>Type of fire tube boiler</a:t>
            </a:r>
            <a:endParaRPr sz="4500">
              <a:latin typeface="Calibri"/>
              <a:cs typeface="Calibri"/>
            </a:endParaRPr>
          </a:p>
        </p:txBody>
      </p:sp>
      <p:sp>
        <p:nvSpPr>
          <p:cNvPr id="4" name="object 4"/>
          <p:cNvSpPr txBox="1"/>
          <p:nvPr/>
        </p:nvSpPr>
        <p:spPr>
          <a:xfrm>
            <a:off x="535940" y="2021538"/>
            <a:ext cx="5647599" cy="831595"/>
          </a:xfrm>
          <a:prstGeom prst="rect">
            <a:avLst/>
          </a:prstGeom>
        </p:spPr>
        <p:txBody>
          <a:bodyPr wrap="square" lIns="0" tIns="17526" rIns="0" bIns="0" rtlCol="0">
            <a:noAutofit/>
          </a:bodyPr>
          <a:lstStyle/>
          <a:p>
            <a:pPr marL="12700" marR="49606">
              <a:lnSpc>
                <a:spcPts val="2760"/>
              </a:lnSpc>
            </a:pPr>
            <a:r>
              <a:rPr sz="2450" dirty="0" smtClean="0">
                <a:solidFill>
                  <a:srgbClr val="0AD0D9"/>
                </a:solidFill>
                <a:latin typeface="Wingdings"/>
                <a:cs typeface="Wingdings"/>
              </a:rPr>
              <a:t></a:t>
            </a:r>
            <a:r>
              <a:rPr sz="2450" spc="6" dirty="0" smtClean="0">
                <a:solidFill>
                  <a:srgbClr val="0AD0D9"/>
                </a:solidFill>
                <a:latin typeface="Times New Roman"/>
                <a:cs typeface="Times New Roman"/>
              </a:rPr>
              <a:t> </a:t>
            </a:r>
            <a:r>
              <a:rPr sz="2600" b="1" spc="6" dirty="0" smtClean="0">
                <a:latin typeface="Times New Roman"/>
                <a:cs typeface="Times New Roman"/>
              </a:rPr>
              <a:t>Lancashire Boiler</a:t>
            </a:r>
            <a:endParaRPr sz="2600">
              <a:latin typeface="Times New Roman"/>
              <a:cs typeface="Times New Roman"/>
            </a:endParaRPr>
          </a:p>
          <a:p>
            <a:pPr marL="12700">
              <a:lnSpc>
                <a:spcPct val="95825"/>
              </a:lnSpc>
              <a:spcBef>
                <a:spcPts val="616"/>
              </a:spcBef>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It</a:t>
            </a:r>
            <a:r>
              <a:rPr sz="2600" spc="-9" dirty="0" smtClean="0">
                <a:latin typeface="Times New Roman"/>
                <a:cs typeface="Times New Roman"/>
              </a:rPr>
              <a:t> </a:t>
            </a:r>
            <a:r>
              <a:rPr sz="2600" spc="0" dirty="0" smtClean="0">
                <a:latin typeface="Times New Roman"/>
                <a:cs typeface="Times New Roman"/>
              </a:rPr>
              <a:t>is s</a:t>
            </a:r>
            <a:r>
              <a:rPr sz="2600" spc="-9" dirty="0" smtClean="0">
                <a:latin typeface="Times New Roman"/>
                <a:cs typeface="Times New Roman"/>
              </a:rPr>
              <a:t>t</a:t>
            </a:r>
            <a:r>
              <a:rPr sz="2600" spc="0" dirty="0" smtClean="0">
                <a:latin typeface="Times New Roman"/>
                <a:cs typeface="Times New Roman"/>
              </a:rPr>
              <a:t>a</a:t>
            </a:r>
            <a:r>
              <a:rPr sz="2600" spc="-9" dirty="0" smtClean="0">
                <a:latin typeface="Times New Roman"/>
                <a:cs typeface="Times New Roman"/>
              </a:rPr>
              <a:t>t</a:t>
            </a:r>
            <a:r>
              <a:rPr sz="2600" spc="0" dirty="0" smtClean="0">
                <a:latin typeface="Times New Roman"/>
                <a:cs typeface="Times New Roman"/>
              </a:rPr>
              <a:t>io</a:t>
            </a:r>
            <a:r>
              <a:rPr sz="2600" spc="4" dirty="0" smtClean="0">
                <a:latin typeface="Times New Roman"/>
                <a:cs typeface="Times New Roman"/>
              </a:rPr>
              <a:t>n</a:t>
            </a:r>
            <a:r>
              <a:rPr sz="2600" spc="0" dirty="0" smtClean="0">
                <a:latin typeface="Times New Roman"/>
                <a:cs typeface="Times New Roman"/>
              </a:rPr>
              <a:t>ary f</a:t>
            </a:r>
            <a:r>
              <a:rPr sz="2600" spc="-9" dirty="0" smtClean="0">
                <a:latin typeface="Times New Roman"/>
                <a:cs typeface="Times New Roman"/>
              </a:rPr>
              <a:t>i</a:t>
            </a:r>
            <a:r>
              <a:rPr sz="2600" spc="0" dirty="0" smtClean="0">
                <a:latin typeface="Times New Roman"/>
                <a:cs typeface="Times New Roman"/>
              </a:rPr>
              <a:t>re</a:t>
            </a:r>
            <a:r>
              <a:rPr sz="2600" spc="-9" dirty="0" smtClean="0">
                <a:latin typeface="Times New Roman"/>
                <a:cs typeface="Times New Roman"/>
              </a:rPr>
              <a:t> </a:t>
            </a:r>
            <a:r>
              <a:rPr sz="2600" spc="0" dirty="0" smtClean="0">
                <a:latin typeface="Times New Roman"/>
                <a:cs typeface="Times New Roman"/>
              </a:rPr>
              <a:t>tu</a:t>
            </a:r>
            <a:r>
              <a:rPr sz="2600" spc="4" dirty="0" smtClean="0">
                <a:latin typeface="Times New Roman"/>
                <a:cs typeface="Times New Roman"/>
              </a:rPr>
              <a:t>b</a:t>
            </a:r>
            <a:r>
              <a:rPr sz="2600" spc="0" dirty="0" smtClean="0">
                <a:latin typeface="Times New Roman"/>
                <a:cs typeface="Times New Roman"/>
              </a:rPr>
              <a:t>e,</a:t>
            </a:r>
            <a:r>
              <a:rPr sz="2600" spc="-19" dirty="0" smtClean="0">
                <a:latin typeface="Times New Roman"/>
                <a:cs typeface="Times New Roman"/>
              </a:rPr>
              <a:t> </a:t>
            </a:r>
            <a:r>
              <a:rPr sz="2600" spc="0" dirty="0" smtClean="0">
                <a:latin typeface="Times New Roman"/>
                <a:cs typeface="Times New Roman"/>
              </a:rPr>
              <a:t>inte</a:t>
            </a:r>
            <a:r>
              <a:rPr sz="2600" spc="-9" dirty="0" smtClean="0">
                <a:latin typeface="Times New Roman"/>
                <a:cs typeface="Times New Roman"/>
              </a:rPr>
              <a:t>r</a:t>
            </a:r>
            <a:r>
              <a:rPr sz="2600" spc="0" dirty="0" smtClean="0">
                <a:latin typeface="Times New Roman"/>
                <a:cs typeface="Times New Roman"/>
              </a:rPr>
              <a:t>nally f</a:t>
            </a:r>
            <a:r>
              <a:rPr sz="2600" spc="-9" dirty="0" smtClean="0">
                <a:latin typeface="Times New Roman"/>
                <a:cs typeface="Times New Roman"/>
              </a:rPr>
              <a:t>i</a:t>
            </a:r>
            <a:r>
              <a:rPr sz="2600" spc="0" dirty="0" smtClean="0">
                <a:latin typeface="Times New Roman"/>
                <a:cs typeface="Times New Roman"/>
              </a:rPr>
              <a:t>red,</a:t>
            </a:r>
            <a:endParaRPr sz="2600">
              <a:latin typeface="Times New Roman"/>
              <a:cs typeface="Times New Roman"/>
            </a:endParaRPr>
          </a:p>
        </p:txBody>
      </p:sp>
      <p:sp>
        <p:nvSpPr>
          <p:cNvPr id="3" name="object 3"/>
          <p:cNvSpPr txBox="1"/>
          <p:nvPr/>
        </p:nvSpPr>
        <p:spPr>
          <a:xfrm>
            <a:off x="6188894" y="2497026"/>
            <a:ext cx="1499034" cy="356107"/>
          </a:xfrm>
          <a:prstGeom prst="rect">
            <a:avLst/>
          </a:prstGeom>
        </p:spPr>
        <p:txBody>
          <a:bodyPr wrap="square" lIns="0" tIns="17526" rIns="0" bIns="0" rtlCol="0">
            <a:noAutofit/>
          </a:bodyPr>
          <a:lstStyle/>
          <a:p>
            <a:pPr marL="12700">
              <a:lnSpc>
                <a:spcPts val="2760"/>
              </a:lnSpc>
            </a:pPr>
            <a:r>
              <a:rPr sz="2600" dirty="0" smtClean="0">
                <a:latin typeface="Times New Roman"/>
                <a:cs typeface="Times New Roman"/>
              </a:rPr>
              <a:t>horizontal,</a:t>
            </a:r>
            <a:endParaRPr sz="2600">
              <a:latin typeface="Times New Roman"/>
              <a:cs typeface="Times New Roman"/>
            </a:endParaRPr>
          </a:p>
        </p:txBody>
      </p:sp>
      <p:sp>
        <p:nvSpPr>
          <p:cNvPr id="2" name="object 2"/>
          <p:cNvSpPr txBox="1"/>
          <p:nvPr/>
        </p:nvSpPr>
        <p:spPr>
          <a:xfrm>
            <a:off x="535940" y="2893266"/>
            <a:ext cx="7958857" cy="2416869"/>
          </a:xfrm>
          <a:prstGeom prst="rect">
            <a:avLst/>
          </a:prstGeom>
        </p:spPr>
        <p:txBody>
          <a:bodyPr wrap="square" lIns="0" tIns="17526" rIns="0" bIns="0" rtlCol="0">
            <a:noAutofit/>
          </a:bodyPr>
          <a:lstStyle/>
          <a:p>
            <a:pPr marL="287019" marR="44254">
              <a:lnSpc>
                <a:spcPts val="2760"/>
              </a:lnSpc>
            </a:pPr>
            <a:r>
              <a:rPr sz="2600" spc="-5" dirty="0" smtClean="0">
                <a:latin typeface="Times New Roman"/>
                <a:cs typeface="Times New Roman"/>
              </a:rPr>
              <a:t>natural circulation boiler. This is a widely used boiler</a:t>
            </a:r>
            <a:endParaRPr sz="2600">
              <a:latin typeface="Times New Roman"/>
              <a:cs typeface="Times New Roman"/>
            </a:endParaRPr>
          </a:p>
          <a:p>
            <a:pPr marL="287019" marR="44254">
              <a:lnSpc>
                <a:spcPct val="95825"/>
              </a:lnSpc>
            </a:pPr>
            <a:r>
              <a:rPr sz="2600" spc="-2" dirty="0" smtClean="0">
                <a:latin typeface="Times New Roman"/>
                <a:cs typeface="Times New Roman"/>
              </a:rPr>
              <a:t>because of its good steaming quality and its ability to</a:t>
            </a:r>
            <a:endParaRPr sz="2600">
              <a:latin typeface="Times New Roman"/>
              <a:cs typeface="Times New Roman"/>
            </a:endParaRPr>
          </a:p>
          <a:p>
            <a:pPr marL="287019" marR="44254">
              <a:lnSpc>
                <a:spcPct val="95825"/>
              </a:lnSpc>
              <a:spcBef>
                <a:spcPts val="130"/>
              </a:spcBef>
            </a:pPr>
            <a:r>
              <a:rPr sz="2600" spc="-7" dirty="0" smtClean="0">
                <a:latin typeface="Times New Roman"/>
                <a:cs typeface="Times New Roman"/>
              </a:rPr>
              <a:t>burn coal of inferior quality.</a:t>
            </a:r>
            <a:endParaRPr sz="2600">
              <a:latin typeface="Times New Roman"/>
              <a:cs typeface="Times New Roman"/>
            </a:endParaRPr>
          </a:p>
          <a:p>
            <a:pPr marL="287019" indent="-274319">
              <a:lnSpc>
                <a:spcPct val="100041"/>
              </a:lnSpc>
              <a:spcBef>
                <a:spcPts val="754"/>
              </a:spcBef>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is</a:t>
            </a:r>
            <a:r>
              <a:rPr sz="2600" spc="-4" dirty="0" smtClean="0">
                <a:latin typeface="Times New Roman"/>
                <a:cs typeface="Times New Roman"/>
              </a:rPr>
              <a:t> </a:t>
            </a:r>
            <a:r>
              <a:rPr sz="2600" spc="0" dirty="0" smtClean="0">
                <a:latin typeface="Times New Roman"/>
                <a:cs typeface="Times New Roman"/>
              </a:rPr>
              <a:t>b</a:t>
            </a:r>
            <a:r>
              <a:rPr sz="2600" spc="4"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a:t>
            </a:r>
            <a:r>
              <a:rPr sz="2600" spc="-19" dirty="0" smtClean="0">
                <a:latin typeface="Times New Roman"/>
                <a:cs typeface="Times New Roman"/>
              </a:rPr>
              <a:t> </a:t>
            </a:r>
            <a:r>
              <a:rPr sz="2600" spc="0" dirty="0" smtClean="0">
                <a:latin typeface="Times New Roman"/>
                <a:cs typeface="Times New Roman"/>
              </a:rPr>
              <a:t>is s</a:t>
            </a:r>
            <a:r>
              <a:rPr sz="2600" spc="-9" dirty="0" smtClean="0">
                <a:latin typeface="Times New Roman"/>
                <a:cs typeface="Times New Roman"/>
              </a:rPr>
              <a:t>e</a:t>
            </a:r>
            <a:r>
              <a:rPr sz="2600" spc="0" dirty="0" smtClean="0">
                <a:latin typeface="Times New Roman"/>
                <a:cs typeface="Times New Roman"/>
              </a:rPr>
              <a:t>t in </a:t>
            </a:r>
            <a:r>
              <a:rPr sz="2600" spc="9" dirty="0" smtClean="0">
                <a:latin typeface="Times New Roman"/>
                <a:cs typeface="Times New Roman"/>
              </a:rPr>
              <a:t>b</a:t>
            </a:r>
            <a:r>
              <a:rPr sz="2600" spc="0" dirty="0" smtClean="0">
                <a:latin typeface="Times New Roman"/>
                <a:cs typeface="Times New Roman"/>
              </a:rPr>
              <a:t>ri</a:t>
            </a:r>
            <a:r>
              <a:rPr sz="2600" spc="-9" dirty="0" smtClean="0">
                <a:latin typeface="Times New Roman"/>
                <a:cs typeface="Times New Roman"/>
              </a:rPr>
              <a:t>c</a:t>
            </a:r>
            <a:r>
              <a:rPr sz="2600" spc="0" dirty="0" smtClean="0">
                <a:latin typeface="Times New Roman"/>
                <a:cs typeface="Times New Roman"/>
              </a:rPr>
              <a:t>k</a:t>
            </a:r>
            <a:r>
              <a:rPr sz="2600" spc="9" dirty="0" smtClean="0">
                <a:latin typeface="Times New Roman"/>
                <a:cs typeface="Times New Roman"/>
              </a:rPr>
              <a:t>w</a:t>
            </a:r>
            <a:r>
              <a:rPr sz="2600" spc="0" dirty="0" smtClean="0">
                <a:latin typeface="Times New Roman"/>
                <a:cs typeface="Times New Roman"/>
              </a:rPr>
              <a:t>ork</a:t>
            </a:r>
            <a:r>
              <a:rPr sz="2600" spc="-39" dirty="0" smtClean="0">
                <a:latin typeface="Times New Roman"/>
                <a:cs typeface="Times New Roman"/>
              </a:rPr>
              <a:t> </a:t>
            </a:r>
            <a:r>
              <a:rPr sz="2600" spc="0" dirty="0" smtClean="0">
                <a:latin typeface="Times New Roman"/>
                <a:cs typeface="Times New Roman"/>
              </a:rPr>
              <a:t>form</a:t>
            </a:r>
            <a:r>
              <a:rPr sz="2600" spc="-9" dirty="0" smtClean="0">
                <a:latin typeface="Times New Roman"/>
                <a:cs typeface="Times New Roman"/>
              </a:rPr>
              <a:t>i</a:t>
            </a:r>
            <a:r>
              <a:rPr sz="2600" spc="0" dirty="0" smtClean="0">
                <a:latin typeface="Times New Roman"/>
                <a:cs typeface="Times New Roman"/>
              </a:rPr>
              <a:t>ng exte</a:t>
            </a:r>
            <a:r>
              <a:rPr sz="2600" spc="-9" dirty="0" smtClean="0">
                <a:latin typeface="Times New Roman"/>
                <a:cs typeface="Times New Roman"/>
              </a:rPr>
              <a:t>r</a:t>
            </a:r>
            <a:r>
              <a:rPr sz="2600" spc="0" dirty="0" smtClean="0">
                <a:latin typeface="Times New Roman"/>
                <a:cs typeface="Times New Roman"/>
              </a:rPr>
              <a:t>nal </a:t>
            </a:r>
            <a:r>
              <a:rPr sz="2600" spc="-9" dirty="0" smtClean="0">
                <a:latin typeface="Times New Roman"/>
                <a:cs typeface="Times New Roman"/>
              </a:rPr>
              <a:t>f</a:t>
            </a:r>
            <a:r>
              <a:rPr sz="2600" spc="0" dirty="0" smtClean="0">
                <a:latin typeface="Times New Roman"/>
                <a:cs typeface="Times New Roman"/>
              </a:rPr>
              <a:t>lue</a:t>
            </a:r>
            <a:r>
              <a:rPr sz="2600" spc="-14" dirty="0" smtClean="0">
                <a:latin typeface="Times New Roman"/>
                <a:cs typeface="Times New Roman"/>
              </a:rPr>
              <a:t> </a:t>
            </a:r>
            <a:r>
              <a:rPr sz="2600" spc="0" dirty="0" smtClean="0">
                <a:latin typeface="Times New Roman"/>
                <a:cs typeface="Times New Roman"/>
              </a:rPr>
              <a:t>so that</a:t>
            </a:r>
            <a:r>
              <a:rPr sz="2600" spc="-4" dirty="0" smtClean="0">
                <a:latin typeface="Times New Roman"/>
                <a:cs typeface="Times New Roman"/>
              </a:rPr>
              <a:t> </a:t>
            </a:r>
            <a:r>
              <a:rPr sz="2600" spc="0" dirty="0" smtClean="0">
                <a:latin typeface="Times New Roman"/>
                <a:cs typeface="Times New Roman"/>
              </a:rPr>
              <a:t>the </a:t>
            </a:r>
            <a:r>
              <a:rPr sz="2600" spc="-9" dirty="0" smtClean="0">
                <a:latin typeface="Times New Roman"/>
                <a:cs typeface="Times New Roman"/>
              </a:rPr>
              <a:t>e</a:t>
            </a:r>
            <a:r>
              <a:rPr sz="2600" spc="0" dirty="0" smtClean="0">
                <a:latin typeface="Times New Roman"/>
                <a:cs typeface="Times New Roman"/>
              </a:rPr>
              <a:t>xternal</a:t>
            </a:r>
            <a:r>
              <a:rPr sz="2600" spc="-19" dirty="0" smtClean="0">
                <a:latin typeface="Times New Roman"/>
                <a:cs typeface="Times New Roman"/>
              </a:rPr>
              <a:t> </a:t>
            </a:r>
            <a:r>
              <a:rPr sz="2600" spc="0" dirty="0" smtClean="0">
                <a:latin typeface="Times New Roman"/>
                <a:cs typeface="Times New Roman"/>
              </a:rPr>
              <a:t>part</a:t>
            </a:r>
            <a:r>
              <a:rPr sz="2600" spc="-4" dirty="0" smtClean="0">
                <a:latin typeface="Times New Roman"/>
                <a:cs typeface="Times New Roman"/>
              </a:rPr>
              <a:t> </a:t>
            </a:r>
            <a:r>
              <a:rPr sz="2600" spc="0" dirty="0" smtClean="0">
                <a:latin typeface="Times New Roman"/>
                <a:cs typeface="Times New Roman"/>
              </a:rPr>
              <a:t>of</a:t>
            </a:r>
            <a:r>
              <a:rPr sz="2600" spc="-9" dirty="0" smtClean="0">
                <a:latin typeface="Times New Roman"/>
                <a:cs typeface="Times New Roman"/>
              </a:rPr>
              <a:t> </a:t>
            </a:r>
            <a:r>
              <a:rPr sz="2600" spc="0" dirty="0" smtClean="0">
                <a:latin typeface="Times New Roman"/>
                <a:cs typeface="Times New Roman"/>
              </a:rPr>
              <a:t>the </a:t>
            </a:r>
            <a:r>
              <a:rPr sz="2600" spc="-9" dirty="0" smtClean="0">
                <a:latin typeface="Times New Roman"/>
                <a:cs typeface="Times New Roman"/>
              </a:rPr>
              <a:t>s</a:t>
            </a:r>
            <a:r>
              <a:rPr sz="2600" spc="0" dirty="0" smtClean="0">
                <a:latin typeface="Times New Roman"/>
                <a:cs typeface="Times New Roman"/>
              </a:rPr>
              <a:t>hell</a:t>
            </a:r>
            <a:r>
              <a:rPr sz="2600" spc="-4" dirty="0" smtClean="0">
                <a:latin typeface="Times New Roman"/>
                <a:cs typeface="Times New Roman"/>
              </a:rPr>
              <a:t> </a:t>
            </a:r>
            <a:r>
              <a:rPr sz="2600" spc="0" dirty="0" smtClean="0">
                <a:latin typeface="Times New Roman"/>
                <a:cs typeface="Times New Roman"/>
              </a:rPr>
              <a:t>forms</a:t>
            </a:r>
            <a:r>
              <a:rPr sz="2600" spc="-4" dirty="0" smtClean="0">
                <a:latin typeface="Times New Roman"/>
                <a:cs typeface="Times New Roman"/>
              </a:rPr>
              <a:t> </a:t>
            </a:r>
            <a:r>
              <a:rPr sz="2600" spc="0" dirty="0" smtClean="0">
                <a:latin typeface="Times New Roman"/>
                <a:cs typeface="Times New Roman"/>
              </a:rPr>
              <a:t>part</a:t>
            </a:r>
            <a:r>
              <a:rPr sz="2600" spc="-19" dirty="0" smtClean="0">
                <a:latin typeface="Times New Roman"/>
                <a:cs typeface="Times New Roman"/>
              </a:rPr>
              <a:t> </a:t>
            </a:r>
            <a:r>
              <a:rPr sz="2600" spc="0" dirty="0" smtClean="0">
                <a:latin typeface="Times New Roman"/>
                <a:cs typeface="Times New Roman"/>
              </a:rPr>
              <a:t>of the</a:t>
            </a:r>
            <a:r>
              <a:rPr sz="2600" spc="-14" dirty="0" smtClean="0">
                <a:latin typeface="Times New Roman"/>
                <a:cs typeface="Times New Roman"/>
              </a:rPr>
              <a:t> </a:t>
            </a:r>
            <a:r>
              <a:rPr sz="2600" spc="0" dirty="0" smtClean="0">
                <a:latin typeface="Times New Roman"/>
                <a:cs typeface="Times New Roman"/>
              </a:rPr>
              <a:t>heat</a:t>
            </a:r>
            <a:r>
              <a:rPr sz="2600" spc="-9" dirty="0" smtClean="0">
                <a:latin typeface="Times New Roman"/>
                <a:cs typeface="Times New Roman"/>
              </a:rPr>
              <a:t>i</a:t>
            </a:r>
            <a:r>
              <a:rPr sz="2600" spc="0" dirty="0" smtClean="0">
                <a:latin typeface="Times New Roman"/>
                <a:cs typeface="Times New Roman"/>
              </a:rPr>
              <a:t>ng sur</a:t>
            </a:r>
            <a:r>
              <a:rPr sz="2600" spc="-9" dirty="0" smtClean="0">
                <a:latin typeface="Times New Roman"/>
                <a:cs typeface="Times New Roman"/>
              </a:rPr>
              <a:t>f</a:t>
            </a:r>
            <a:r>
              <a:rPr sz="2600" spc="0" dirty="0" smtClean="0">
                <a:latin typeface="Times New Roman"/>
                <a:cs typeface="Times New Roman"/>
              </a:rPr>
              <a:t>a</a:t>
            </a:r>
            <a:r>
              <a:rPr sz="2600" spc="-9" dirty="0" smtClean="0">
                <a:latin typeface="Times New Roman"/>
                <a:cs typeface="Times New Roman"/>
              </a:rPr>
              <a:t>c</a:t>
            </a:r>
            <a:r>
              <a:rPr sz="2600" spc="0" dirty="0" smtClean="0">
                <a:latin typeface="Times New Roman"/>
                <a:cs typeface="Times New Roman"/>
              </a:rPr>
              <a:t>e.</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4" name="object 4"/>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6" name="object 6"/>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7" name="object 7"/>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8" name="object 8"/>
          <p:cNvSpPr/>
          <p:nvPr/>
        </p:nvSpPr>
        <p:spPr>
          <a:xfrm>
            <a:off x="39624" y="2514598"/>
            <a:ext cx="9104376" cy="4343400"/>
          </a:xfrm>
          <a:prstGeom prst="rect">
            <a:avLst/>
          </a:prstGeom>
          <a:blipFill>
            <a:blip r:embed="rId7" cstate="print"/>
            <a:stretch>
              <a:fillRect/>
            </a:stretch>
          </a:blipFill>
        </p:spPr>
        <p:txBody>
          <a:bodyPr wrap="square" lIns="0" tIns="0" rIns="0" bIns="0" rtlCol="0">
            <a:noAutofit/>
          </a:bodyPr>
          <a:lstStyle/>
          <a:p>
            <a:endParaRPr/>
          </a:p>
        </p:txBody>
      </p:sp>
      <p:sp>
        <p:nvSpPr>
          <p:cNvPr id="2" name="object 2"/>
          <p:cNvSpPr txBox="1"/>
          <p:nvPr/>
        </p:nvSpPr>
        <p:spPr>
          <a:xfrm>
            <a:off x="444500" y="517905"/>
            <a:ext cx="4510677" cy="647192"/>
          </a:xfrm>
          <a:prstGeom prst="rect">
            <a:avLst/>
          </a:prstGeom>
        </p:spPr>
        <p:txBody>
          <a:bodyPr wrap="square" lIns="0" tIns="31718" rIns="0" bIns="0" rtlCol="0">
            <a:noAutofit/>
          </a:bodyPr>
          <a:lstStyle/>
          <a:p>
            <a:pPr marL="12700">
              <a:lnSpc>
                <a:spcPts val="4995"/>
              </a:lnSpc>
            </a:pPr>
            <a:r>
              <a:rPr sz="4900" b="1" spc="-4" dirty="0" smtClean="0">
                <a:solidFill>
                  <a:srgbClr val="04607A"/>
                </a:solidFill>
                <a:latin typeface="Calibri"/>
                <a:cs typeface="Calibri"/>
              </a:rPr>
              <a:t>Lancashire Boiler</a:t>
            </a:r>
            <a:endParaRPr sz="4900">
              <a:latin typeface="Calibri"/>
              <a:cs typeface="Calibri"/>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9" name="object 9"/>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10" name="object 10"/>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2" name="object 12"/>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3" name="object 13"/>
          <p:cNvSpPr/>
          <p:nvPr/>
        </p:nvSpPr>
        <p:spPr>
          <a:xfrm>
            <a:off x="4114800" y="2514600"/>
            <a:ext cx="5029200" cy="3505200"/>
          </a:xfrm>
          <a:prstGeom prst="rect">
            <a:avLst/>
          </a:prstGeom>
          <a:blipFill>
            <a:blip r:embed="rId7" cstate="print"/>
            <a:stretch>
              <a:fillRect/>
            </a:stretch>
          </a:blipFill>
        </p:spPr>
        <p:txBody>
          <a:bodyPr wrap="square" lIns="0" tIns="0" rIns="0" bIns="0" rtlCol="0">
            <a:noAutofit/>
          </a:bodyPr>
          <a:lstStyle/>
          <a:p>
            <a:endParaRPr/>
          </a:p>
        </p:txBody>
      </p:sp>
      <p:sp>
        <p:nvSpPr>
          <p:cNvPr id="7" name="object 7"/>
          <p:cNvSpPr txBox="1"/>
          <p:nvPr/>
        </p:nvSpPr>
        <p:spPr>
          <a:xfrm>
            <a:off x="444500" y="569340"/>
            <a:ext cx="2792841" cy="596900"/>
          </a:xfrm>
          <a:prstGeom prst="rect">
            <a:avLst/>
          </a:prstGeom>
        </p:spPr>
        <p:txBody>
          <a:bodyPr wrap="square" lIns="0" tIns="29210" rIns="0" bIns="0" rtlCol="0">
            <a:noAutofit/>
          </a:bodyPr>
          <a:lstStyle/>
          <a:p>
            <a:pPr marL="12700">
              <a:lnSpc>
                <a:spcPts val="4600"/>
              </a:lnSpc>
            </a:pPr>
            <a:r>
              <a:rPr sz="4500" b="1" spc="-16" dirty="0" smtClean="0">
                <a:solidFill>
                  <a:srgbClr val="04607A"/>
                </a:solidFill>
                <a:latin typeface="Calibri"/>
                <a:cs typeface="Calibri"/>
              </a:rPr>
              <a:t>Type of fire</a:t>
            </a:r>
            <a:endParaRPr sz="4500">
              <a:latin typeface="Calibri"/>
              <a:cs typeface="Calibri"/>
            </a:endParaRPr>
          </a:p>
        </p:txBody>
      </p:sp>
      <p:sp>
        <p:nvSpPr>
          <p:cNvPr id="6" name="object 6"/>
          <p:cNvSpPr txBox="1"/>
          <p:nvPr/>
        </p:nvSpPr>
        <p:spPr>
          <a:xfrm>
            <a:off x="3252851" y="569340"/>
            <a:ext cx="1210313" cy="596900"/>
          </a:xfrm>
          <a:prstGeom prst="rect">
            <a:avLst/>
          </a:prstGeom>
        </p:spPr>
        <p:txBody>
          <a:bodyPr wrap="square" lIns="0" tIns="29210" rIns="0" bIns="0" rtlCol="0">
            <a:noAutofit/>
          </a:bodyPr>
          <a:lstStyle/>
          <a:p>
            <a:pPr marL="12700">
              <a:lnSpc>
                <a:spcPts val="4600"/>
              </a:lnSpc>
            </a:pPr>
            <a:r>
              <a:rPr sz="4500" b="1" dirty="0" smtClean="0">
                <a:solidFill>
                  <a:srgbClr val="04607A"/>
                </a:solidFill>
                <a:latin typeface="Calibri"/>
                <a:cs typeface="Calibri"/>
              </a:rPr>
              <a:t>tube</a:t>
            </a:r>
            <a:endParaRPr sz="4500">
              <a:latin typeface="Calibri"/>
              <a:cs typeface="Calibri"/>
            </a:endParaRPr>
          </a:p>
        </p:txBody>
      </p:sp>
      <p:sp>
        <p:nvSpPr>
          <p:cNvPr id="5" name="object 5"/>
          <p:cNvSpPr txBox="1"/>
          <p:nvPr/>
        </p:nvSpPr>
        <p:spPr>
          <a:xfrm>
            <a:off x="4481576" y="569340"/>
            <a:ext cx="1496621" cy="596900"/>
          </a:xfrm>
          <a:prstGeom prst="rect">
            <a:avLst/>
          </a:prstGeom>
        </p:spPr>
        <p:txBody>
          <a:bodyPr wrap="square" lIns="0" tIns="29210" rIns="0" bIns="0" rtlCol="0">
            <a:noAutofit/>
          </a:bodyPr>
          <a:lstStyle/>
          <a:p>
            <a:pPr marL="12700">
              <a:lnSpc>
                <a:spcPts val="4600"/>
              </a:lnSpc>
            </a:pPr>
            <a:r>
              <a:rPr sz="4500" b="1" dirty="0" smtClean="0">
                <a:solidFill>
                  <a:srgbClr val="04607A"/>
                </a:solidFill>
                <a:latin typeface="Calibri"/>
                <a:cs typeface="Calibri"/>
              </a:rPr>
              <a:t>boiler</a:t>
            </a:r>
            <a:endParaRPr sz="4500">
              <a:latin typeface="Calibri"/>
              <a:cs typeface="Calibri"/>
            </a:endParaRPr>
          </a:p>
        </p:txBody>
      </p:sp>
      <p:sp>
        <p:nvSpPr>
          <p:cNvPr id="4" name="object 4"/>
          <p:cNvSpPr txBox="1"/>
          <p:nvPr/>
        </p:nvSpPr>
        <p:spPr>
          <a:xfrm>
            <a:off x="810260" y="2021538"/>
            <a:ext cx="3255005" cy="4850539"/>
          </a:xfrm>
          <a:prstGeom prst="rect">
            <a:avLst/>
          </a:prstGeom>
        </p:spPr>
        <p:txBody>
          <a:bodyPr wrap="square" lIns="0" tIns="17526" rIns="0" bIns="0" rtlCol="0">
            <a:noAutofit/>
          </a:bodyPr>
          <a:lstStyle/>
          <a:p>
            <a:pPr marL="12700" marR="39873">
              <a:lnSpc>
                <a:spcPts val="2760"/>
              </a:lnSpc>
            </a:pPr>
            <a:r>
              <a:rPr sz="2600" b="1" spc="2" dirty="0" smtClean="0">
                <a:latin typeface="Times New Roman"/>
                <a:cs typeface="Times New Roman"/>
              </a:rPr>
              <a:t>LOCOMOTIVE</a:t>
            </a:r>
            <a:endParaRPr sz="2600">
              <a:latin typeface="Times New Roman"/>
              <a:cs typeface="Times New Roman"/>
            </a:endParaRPr>
          </a:p>
          <a:p>
            <a:pPr marL="12700" marR="256946">
              <a:lnSpc>
                <a:spcPts val="2989"/>
              </a:lnSpc>
            </a:pPr>
            <a:r>
              <a:rPr sz="2600" b="1" dirty="0" smtClean="0">
                <a:latin typeface="Times New Roman"/>
                <a:cs typeface="Times New Roman"/>
              </a:rPr>
              <a:t>BOILER. </a:t>
            </a:r>
            <a:r>
              <a:rPr sz="2400" dirty="0" smtClean="0">
                <a:latin typeface="Times New Roman"/>
                <a:cs typeface="Times New Roman"/>
              </a:rPr>
              <a:t>Locomotive </a:t>
            </a:r>
            <a:endParaRPr sz="2400">
              <a:latin typeface="Times New Roman"/>
              <a:cs typeface="Times New Roman"/>
            </a:endParaRPr>
          </a:p>
          <a:p>
            <a:pPr marL="12700" marR="256946">
              <a:lnSpc>
                <a:spcPts val="2759"/>
              </a:lnSpc>
              <a:spcBef>
                <a:spcPts val="415"/>
              </a:spcBef>
            </a:pPr>
            <a:r>
              <a:rPr sz="2400" spc="-2" dirty="0" smtClean="0">
                <a:latin typeface="Times New Roman"/>
                <a:cs typeface="Times New Roman"/>
              </a:rPr>
              <a:t>boiler is a horizontal </a:t>
            </a:r>
            <a:endParaRPr sz="2400">
              <a:latin typeface="Times New Roman"/>
              <a:cs typeface="Times New Roman"/>
            </a:endParaRPr>
          </a:p>
          <a:p>
            <a:pPr marL="12700" marR="256946">
              <a:lnSpc>
                <a:spcPts val="2759"/>
              </a:lnSpc>
              <a:spcBef>
                <a:spcPts val="383"/>
              </a:spcBef>
            </a:pPr>
            <a:r>
              <a:rPr sz="2400" spc="0" dirty="0" smtClean="0">
                <a:latin typeface="Times New Roman"/>
                <a:cs typeface="Times New Roman"/>
              </a:rPr>
              <a:t>fire tube type</a:t>
            </a:r>
            <a:endParaRPr sz="2400">
              <a:latin typeface="Times New Roman"/>
              <a:cs typeface="Times New Roman"/>
            </a:endParaRPr>
          </a:p>
          <a:p>
            <a:pPr marL="12700" marR="39873">
              <a:lnSpc>
                <a:spcPts val="2515"/>
              </a:lnSpc>
              <a:spcBef>
                <a:spcPts val="509"/>
              </a:spcBef>
            </a:pPr>
            <a:r>
              <a:rPr sz="2400" spc="-9" dirty="0" smtClean="0">
                <a:latin typeface="Times New Roman"/>
                <a:cs typeface="Times New Roman"/>
              </a:rPr>
              <a:t>mobile boiler. The main</a:t>
            </a:r>
            <a:endParaRPr sz="2400">
              <a:latin typeface="Times New Roman"/>
              <a:cs typeface="Times New Roman"/>
            </a:endParaRPr>
          </a:p>
          <a:p>
            <a:pPr marL="12700">
              <a:lnSpc>
                <a:spcPct val="100041"/>
              </a:lnSpc>
            </a:pPr>
            <a:r>
              <a:rPr sz="2400" dirty="0" smtClean="0">
                <a:latin typeface="Times New Roman"/>
                <a:cs typeface="Times New Roman"/>
              </a:rPr>
              <a:t>re</a:t>
            </a:r>
            <a:r>
              <a:rPr sz="2400" spc="4" dirty="0" smtClean="0">
                <a:latin typeface="Times New Roman"/>
                <a:cs typeface="Times New Roman"/>
              </a:rPr>
              <a:t>q</a:t>
            </a:r>
            <a:r>
              <a:rPr sz="2400" spc="0" dirty="0" smtClean="0">
                <a:latin typeface="Times New Roman"/>
                <a:cs typeface="Times New Roman"/>
              </a:rPr>
              <a:t>ui</a:t>
            </a:r>
            <a:r>
              <a:rPr sz="2400" spc="4" dirty="0" smtClean="0">
                <a:latin typeface="Times New Roman"/>
                <a:cs typeface="Times New Roman"/>
              </a:rPr>
              <a:t>r</a:t>
            </a:r>
            <a:r>
              <a:rPr sz="2400" spc="0" dirty="0" smtClean="0">
                <a:latin typeface="Times New Roman"/>
                <a:cs typeface="Times New Roman"/>
              </a:rPr>
              <a:t>e</a:t>
            </a:r>
            <a:r>
              <a:rPr sz="2400" spc="-14" dirty="0" smtClean="0">
                <a:latin typeface="Times New Roman"/>
                <a:cs typeface="Times New Roman"/>
              </a:rPr>
              <a:t>m</a:t>
            </a:r>
            <a:r>
              <a:rPr sz="2400" spc="0" dirty="0" smtClean="0">
                <a:latin typeface="Times New Roman"/>
                <a:cs typeface="Times New Roman"/>
              </a:rPr>
              <a:t>ent</a:t>
            </a:r>
            <a:r>
              <a:rPr sz="2400" spc="-14" dirty="0" smtClean="0">
                <a:latin typeface="Times New Roman"/>
                <a:cs typeface="Times New Roman"/>
              </a:rPr>
              <a:t> </a:t>
            </a:r>
            <a:r>
              <a:rPr sz="2400" spc="0" dirty="0" smtClean="0">
                <a:latin typeface="Times New Roman"/>
                <a:cs typeface="Times New Roman"/>
              </a:rPr>
              <a:t>of this boiler is that</a:t>
            </a:r>
            <a:r>
              <a:rPr sz="2400" spc="-19" dirty="0" smtClean="0">
                <a:latin typeface="Times New Roman"/>
                <a:cs typeface="Times New Roman"/>
              </a:rPr>
              <a:t> </a:t>
            </a:r>
            <a:r>
              <a:rPr sz="2400" spc="0" dirty="0" smtClean="0">
                <a:latin typeface="Times New Roman"/>
                <a:cs typeface="Times New Roman"/>
              </a:rPr>
              <a:t>it shou</a:t>
            </a:r>
            <a:r>
              <a:rPr sz="2400" spc="4" dirty="0" smtClean="0">
                <a:latin typeface="Times New Roman"/>
                <a:cs typeface="Times New Roman"/>
              </a:rPr>
              <a:t>l</a:t>
            </a:r>
            <a:r>
              <a:rPr sz="2400" spc="0" dirty="0" smtClean="0">
                <a:latin typeface="Times New Roman"/>
                <a:cs typeface="Times New Roman"/>
              </a:rPr>
              <a:t>d</a:t>
            </a:r>
            <a:r>
              <a:rPr sz="2400" spc="-9" dirty="0" smtClean="0">
                <a:latin typeface="Times New Roman"/>
                <a:cs typeface="Times New Roman"/>
              </a:rPr>
              <a:t> </a:t>
            </a:r>
            <a:r>
              <a:rPr sz="2400" spc="0" dirty="0" smtClean="0">
                <a:latin typeface="Times New Roman"/>
                <a:cs typeface="Times New Roman"/>
              </a:rPr>
              <a:t>produ</a:t>
            </a:r>
            <a:r>
              <a:rPr sz="2400" spc="4" dirty="0" smtClean="0">
                <a:latin typeface="Times New Roman"/>
                <a:cs typeface="Times New Roman"/>
              </a:rPr>
              <a:t>c</a:t>
            </a:r>
            <a:r>
              <a:rPr sz="2400" spc="0" dirty="0" smtClean="0">
                <a:latin typeface="Times New Roman"/>
                <a:cs typeface="Times New Roman"/>
              </a:rPr>
              <a:t>e st</a:t>
            </a:r>
            <a:r>
              <a:rPr sz="2400" spc="4" dirty="0" smtClean="0">
                <a:latin typeface="Times New Roman"/>
                <a:cs typeface="Times New Roman"/>
              </a:rPr>
              <a:t>e</a:t>
            </a:r>
            <a:r>
              <a:rPr sz="2400" spc="0" dirty="0" smtClean="0">
                <a:latin typeface="Times New Roman"/>
                <a:cs typeface="Times New Roman"/>
              </a:rPr>
              <a:t>am</a:t>
            </a:r>
            <a:r>
              <a:rPr sz="2400" spc="-14" dirty="0" smtClean="0">
                <a:latin typeface="Times New Roman"/>
                <a:cs typeface="Times New Roman"/>
              </a:rPr>
              <a:t> </a:t>
            </a:r>
            <a:r>
              <a:rPr sz="2400" spc="0" dirty="0" smtClean="0">
                <a:latin typeface="Times New Roman"/>
                <a:cs typeface="Times New Roman"/>
              </a:rPr>
              <a:t>at</a:t>
            </a:r>
            <a:r>
              <a:rPr sz="2400" spc="-14" dirty="0" smtClean="0">
                <a:latin typeface="Times New Roman"/>
                <a:cs typeface="Times New Roman"/>
              </a:rPr>
              <a:t> </a:t>
            </a:r>
            <a:r>
              <a:rPr sz="2400" spc="0" dirty="0" smtClean="0">
                <a:latin typeface="Times New Roman"/>
                <a:cs typeface="Times New Roman"/>
              </a:rPr>
              <a:t>a ve</a:t>
            </a:r>
            <a:r>
              <a:rPr sz="2400" spc="4" dirty="0" smtClean="0">
                <a:latin typeface="Times New Roman"/>
                <a:cs typeface="Times New Roman"/>
              </a:rPr>
              <a:t>r</a:t>
            </a:r>
            <a:r>
              <a:rPr sz="2400" spc="0" dirty="0" smtClean="0">
                <a:latin typeface="Times New Roman"/>
                <a:cs typeface="Times New Roman"/>
              </a:rPr>
              <a:t>y</a:t>
            </a:r>
            <a:r>
              <a:rPr sz="2400" spc="-9" dirty="0" smtClean="0">
                <a:latin typeface="Times New Roman"/>
                <a:cs typeface="Times New Roman"/>
              </a:rPr>
              <a:t> </a:t>
            </a:r>
            <a:r>
              <a:rPr sz="2400" spc="0" dirty="0" smtClean="0">
                <a:latin typeface="Times New Roman"/>
                <a:cs typeface="Times New Roman"/>
              </a:rPr>
              <a:t>high</a:t>
            </a:r>
            <a:r>
              <a:rPr sz="2400" spc="-4" dirty="0" smtClean="0">
                <a:latin typeface="Times New Roman"/>
                <a:cs typeface="Times New Roman"/>
              </a:rPr>
              <a:t> </a:t>
            </a:r>
            <a:r>
              <a:rPr sz="2400" spc="0" dirty="0" smtClean="0">
                <a:latin typeface="Times New Roman"/>
                <a:cs typeface="Times New Roman"/>
              </a:rPr>
              <a:t>ra</a:t>
            </a:r>
            <a:r>
              <a:rPr sz="2400" spc="9" dirty="0" smtClean="0">
                <a:latin typeface="Times New Roman"/>
                <a:cs typeface="Times New Roman"/>
              </a:rPr>
              <a:t>t</a:t>
            </a:r>
            <a:r>
              <a:rPr sz="2400" spc="0" dirty="0" smtClean="0">
                <a:latin typeface="Times New Roman"/>
                <a:cs typeface="Times New Roman"/>
              </a:rPr>
              <a:t>e. Theref</a:t>
            </a:r>
            <a:r>
              <a:rPr sz="2400" spc="-4" dirty="0" smtClean="0">
                <a:latin typeface="Times New Roman"/>
                <a:cs typeface="Times New Roman"/>
              </a:rPr>
              <a:t>o</a:t>
            </a:r>
            <a:r>
              <a:rPr sz="2400" spc="0" dirty="0" smtClean="0">
                <a:latin typeface="Times New Roman"/>
                <a:cs typeface="Times New Roman"/>
              </a:rPr>
              <a:t>re,</a:t>
            </a:r>
            <a:r>
              <a:rPr sz="2400" spc="-19" dirty="0" smtClean="0">
                <a:latin typeface="Times New Roman"/>
                <a:cs typeface="Times New Roman"/>
              </a:rPr>
              <a:t> </a:t>
            </a:r>
            <a:r>
              <a:rPr sz="2400" spc="0" dirty="0" smtClean="0">
                <a:latin typeface="Times New Roman"/>
                <a:cs typeface="Times New Roman"/>
              </a:rPr>
              <a:t>this boiler re</a:t>
            </a:r>
            <a:r>
              <a:rPr sz="2400" spc="4" dirty="0" smtClean="0">
                <a:latin typeface="Times New Roman"/>
                <a:cs typeface="Times New Roman"/>
              </a:rPr>
              <a:t>q</a:t>
            </a:r>
            <a:r>
              <a:rPr sz="2400" spc="0" dirty="0" smtClean="0">
                <a:latin typeface="Times New Roman"/>
                <a:cs typeface="Times New Roman"/>
              </a:rPr>
              <a:t>ui</a:t>
            </a:r>
            <a:r>
              <a:rPr sz="2400" spc="4" dirty="0" smtClean="0">
                <a:latin typeface="Times New Roman"/>
                <a:cs typeface="Times New Roman"/>
              </a:rPr>
              <a:t>r</a:t>
            </a:r>
            <a:r>
              <a:rPr sz="2400" spc="0" dirty="0" smtClean="0">
                <a:latin typeface="Times New Roman"/>
                <a:cs typeface="Times New Roman"/>
              </a:rPr>
              <a:t>es</a:t>
            </a:r>
            <a:r>
              <a:rPr sz="2400" spc="-19" dirty="0" smtClean="0">
                <a:latin typeface="Times New Roman"/>
                <a:cs typeface="Times New Roman"/>
              </a:rPr>
              <a:t> </a:t>
            </a:r>
            <a:r>
              <a:rPr sz="2400" spc="0" dirty="0" smtClean="0">
                <a:latin typeface="Times New Roman"/>
                <a:cs typeface="Times New Roman"/>
              </a:rPr>
              <a:t>a</a:t>
            </a:r>
            <a:r>
              <a:rPr sz="2400" spc="-9" dirty="0" smtClean="0">
                <a:latin typeface="Times New Roman"/>
                <a:cs typeface="Times New Roman"/>
              </a:rPr>
              <a:t> </a:t>
            </a:r>
            <a:r>
              <a:rPr sz="2400" spc="0" dirty="0" smtClean="0">
                <a:latin typeface="Times New Roman"/>
                <a:cs typeface="Times New Roman"/>
              </a:rPr>
              <a:t>la</a:t>
            </a:r>
            <a:r>
              <a:rPr sz="2400" spc="-34" dirty="0" smtClean="0">
                <a:latin typeface="Times New Roman"/>
                <a:cs typeface="Times New Roman"/>
              </a:rPr>
              <a:t>r</a:t>
            </a:r>
            <a:r>
              <a:rPr sz="2400" spc="0" dirty="0" smtClean="0">
                <a:latin typeface="Times New Roman"/>
                <a:cs typeface="Times New Roman"/>
              </a:rPr>
              <a:t>ge</a:t>
            </a:r>
            <a:r>
              <a:rPr sz="2400" spc="-9" dirty="0" smtClean="0">
                <a:latin typeface="Times New Roman"/>
                <a:cs typeface="Times New Roman"/>
              </a:rPr>
              <a:t> </a:t>
            </a:r>
            <a:r>
              <a:rPr sz="2400" spc="0" dirty="0" smtClean="0">
                <a:latin typeface="Times New Roman"/>
                <a:cs typeface="Times New Roman"/>
              </a:rPr>
              <a:t>a</a:t>
            </a:r>
            <a:r>
              <a:rPr sz="2400" spc="-14" dirty="0" smtClean="0">
                <a:latin typeface="Times New Roman"/>
                <a:cs typeface="Times New Roman"/>
              </a:rPr>
              <a:t>m</a:t>
            </a:r>
            <a:r>
              <a:rPr sz="2400" spc="0" dirty="0" smtClean="0">
                <a:latin typeface="Times New Roman"/>
                <a:cs typeface="Times New Roman"/>
              </a:rPr>
              <a:t>ount of hea</a:t>
            </a:r>
            <a:r>
              <a:rPr sz="2400" spc="4" dirty="0" smtClean="0">
                <a:latin typeface="Times New Roman"/>
                <a:cs typeface="Times New Roman"/>
              </a:rPr>
              <a:t>t</a:t>
            </a:r>
            <a:r>
              <a:rPr sz="2400" spc="0" dirty="0" smtClean="0">
                <a:latin typeface="Times New Roman"/>
                <a:cs typeface="Times New Roman"/>
              </a:rPr>
              <a:t>ing</a:t>
            </a:r>
            <a:r>
              <a:rPr sz="2400" spc="-29" dirty="0" smtClean="0">
                <a:latin typeface="Times New Roman"/>
                <a:cs typeface="Times New Roman"/>
              </a:rPr>
              <a:t> </a:t>
            </a:r>
            <a:r>
              <a:rPr sz="2400" spc="0" dirty="0" smtClean="0">
                <a:latin typeface="Times New Roman"/>
                <a:cs typeface="Times New Roman"/>
              </a:rPr>
              <a:t>su</a:t>
            </a:r>
            <a:r>
              <a:rPr sz="2400" spc="4" dirty="0" smtClean="0">
                <a:latin typeface="Times New Roman"/>
                <a:cs typeface="Times New Roman"/>
              </a:rPr>
              <a:t>r</a:t>
            </a:r>
            <a:r>
              <a:rPr sz="2400" spc="0" dirty="0" smtClean="0">
                <a:latin typeface="Times New Roman"/>
                <a:cs typeface="Times New Roman"/>
              </a:rPr>
              <a:t>face and</a:t>
            </a:r>
            <a:r>
              <a:rPr sz="2400" spc="-9" dirty="0" smtClean="0">
                <a:latin typeface="Times New Roman"/>
                <a:cs typeface="Times New Roman"/>
              </a:rPr>
              <a:t> </a:t>
            </a:r>
            <a:r>
              <a:rPr sz="2400" spc="0" dirty="0" smtClean="0">
                <a:latin typeface="Times New Roman"/>
                <a:cs typeface="Times New Roman"/>
              </a:rPr>
              <a:t>la</a:t>
            </a:r>
            <a:r>
              <a:rPr sz="2400" spc="-34" dirty="0" smtClean="0">
                <a:latin typeface="Times New Roman"/>
                <a:cs typeface="Times New Roman"/>
              </a:rPr>
              <a:t>r</a:t>
            </a:r>
            <a:r>
              <a:rPr sz="2400" spc="0" dirty="0" smtClean="0">
                <a:latin typeface="Times New Roman"/>
                <a:cs typeface="Times New Roman"/>
              </a:rPr>
              <a:t>ge gr</a:t>
            </a:r>
            <a:r>
              <a:rPr sz="2400" spc="4" dirty="0" smtClean="0">
                <a:latin typeface="Times New Roman"/>
                <a:cs typeface="Times New Roman"/>
              </a:rPr>
              <a:t>a</a:t>
            </a:r>
            <a:r>
              <a:rPr sz="2400" spc="0" dirty="0" smtClean="0">
                <a:latin typeface="Times New Roman"/>
                <a:cs typeface="Times New Roman"/>
              </a:rPr>
              <a:t>te</a:t>
            </a:r>
            <a:r>
              <a:rPr sz="2400" spc="-14" dirty="0" smtClean="0">
                <a:latin typeface="Times New Roman"/>
                <a:cs typeface="Times New Roman"/>
              </a:rPr>
              <a:t> </a:t>
            </a:r>
            <a:r>
              <a:rPr sz="2400" spc="0" dirty="0" smtClean="0">
                <a:latin typeface="Times New Roman"/>
                <a:cs typeface="Times New Roman"/>
              </a:rPr>
              <a:t>ar</a:t>
            </a:r>
            <a:r>
              <a:rPr sz="2400" spc="4" dirty="0" smtClean="0">
                <a:latin typeface="Times New Roman"/>
                <a:cs typeface="Times New Roman"/>
              </a:rPr>
              <a:t>e</a:t>
            </a:r>
            <a:r>
              <a:rPr sz="2400" spc="0" dirty="0" smtClean="0">
                <a:latin typeface="Times New Roman"/>
                <a:cs typeface="Times New Roman"/>
              </a:rPr>
              <a:t>a</a:t>
            </a:r>
            <a:r>
              <a:rPr sz="2400" spc="-19" dirty="0" smtClean="0">
                <a:latin typeface="Times New Roman"/>
                <a:cs typeface="Times New Roman"/>
              </a:rPr>
              <a:t> </a:t>
            </a:r>
            <a:r>
              <a:rPr sz="2400" spc="0" dirty="0" smtClean="0">
                <a:latin typeface="Times New Roman"/>
                <a:cs typeface="Times New Roman"/>
              </a:rPr>
              <a:t>to</a:t>
            </a:r>
            <a:r>
              <a:rPr sz="2400" spc="-4" dirty="0" smtClean="0">
                <a:latin typeface="Times New Roman"/>
                <a:cs typeface="Times New Roman"/>
              </a:rPr>
              <a:t> </a:t>
            </a:r>
            <a:r>
              <a:rPr sz="2400" spc="0" dirty="0" smtClean="0">
                <a:latin typeface="Times New Roman"/>
                <a:cs typeface="Times New Roman"/>
              </a:rPr>
              <a:t>burn </a:t>
            </a:r>
            <a:r>
              <a:rPr sz="2400" spc="4" dirty="0" smtClean="0">
                <a:latin typeface="Times New Roman"/>
                <a:cs typeface="Times New Roman"/>
              </a:rPr>
              <a:t>c</a:t>
            </a:r>
            <a:r>
              <a:rPr sz="2400" spc="0" dirty="0" smtClean="0">
                <a:latin typeface="Times New Roman"/>
                <a:cs typeface="Times New Roman"/>
              </a:rPr>
              <a:t>oal</a:t>
            </a:r>
            <a:r>
              <a:rPr sz="2400" spc="-14" dirty="0" smtClean="0">
                <a:latin typeface="Times New Roman"/>
                <a:cs typeface="Times New Roman"/>
              </a:rPr>
              <a:t> </a:t>
            </a:r>
            <a:r>
              <a:rPr sz="2400" spc="0" dirty="0" smtClean="0">
                <a:latin typeface="Times New Roman"/>
                <a:cs typeface="Times New Roman"/>
              </a:rPr>
              <a:t>at</a:t>
            </a:r>
            <a:endParaRPr sz="2400">
              <a:latin typeface="Times New Roman"/>
              <a:cs typeface="Times New Roman"/>
            </a:endParaRPr>
          </a:p>
          <a:p>
            <a:pPr marL="12700" marR="39873">
              <a:lnSpc>
                <a:spcPct val="95825"/>
              </a:lnSpc>
            </a:pPr>
            <a:r>
              <a:rPr sz="2400" spc="-1" dirty="0" smtClean="0">
                <a:latin typeface="Times New Roman"/>
                <a:cs typeface="Times New Roman"/>
              </a:rPr>
              <a:t>a rapid rate.</a:t>
            </a:r>
            <a:endParaRPr sz="2400">
              <a:latin typeface="Times New Roman"/>
              <a:cs typeface="Times New Roman"/>
            </a:endParaRPr>
          </a:p>
        </p:txBody>
      </p:sp>
      <p:sp>
        <p:nvSpPr>
          <p:cNvPr id="3" name="object 3"/>
          <p:cNvSpPr txBox="1"/>
          <p:nvPr/>
        </p:nvSpPr>
        <p:spPr>
          <a:xfrm>
            <a:off x="535940" y="2036524"/>
            <a:ext cx="246416" cy="339343"/>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p:txBody>
      </p:sp>
      <p:sp>
        <p:nvSpPr>
          <p:cNvPr id="2" name="object 2"/>
          <p:cNvSpPr txBox="1"/>
          <p:nvPr/>
        </p:nvSpPr>
        <p:spPr>
          <a:xfrm>
            <a:off x="535940" y="2897277"/>
            <a:ext cx="229250" cy="314960"/>
          </a:xfrm>
          <a:prstGeom prst="rect">
            <a:avLst/>
          </a:prstGeom>
        </p:spPr>
        <p:txBody>
          <a:bodyPr wrap="square" lIns="0" tIns="14700" rIns="0" bIns="0" rtlCol="0">
            <a:noAutofit/>
          </a:bodyPr>
          <a:lstStyle/>
          <a:p>
            <a:pPr marL="12700">
              <a:lnSpc>
                <a:spcPts val="2315"/>
              </a:lnSpc>
            </a:pPr>
            <a:r>
              <a:rPr sz="2300" dirty="0" smtClean="0">
                <a:solidFill>
                  <a:srgbClr val="0AD0D9"/>
                </a:solidFill>
                <a:latin typeface="Wingdings"/>
                <a:cs typeface="Wingdings"/>
              </a:rPr>
              <a:t></a:t>
            </a:r>
            <a:endParaRPr sz="2300">
              <a:latin typeface="Wingdings"/>
              <a:cs typeface="Wingding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0" name="object 10"/>
          <p:cNvSpPr/>
          <p:nvPr/>
        </p:nvSpPr>
        <p:spPr>
          <a:xfrm>
            <a:off x="5495544" y="1524000"/>
            <a:ext cx="3648455" cy="4953000"/>
          </a:xfrm>
          <a:prstGeom prst="rect">
            <a:avLst/>
          </a:prstGeom>
          <a:blipFill>
            <a:blip r:embed="rId7" cstate="print"/>
            <a:stretch>
              <a:fillRect/>
            </a:stretch>
          </a:blipFill>
        </p:spPr>
        <p:txBody>
          <a:bodyPr wrap="square" lIns="0" tIns="0" rIns="0" bIns="0" rtlCol="0">
            <a:noAutofit/>
          </a:bodyPr>
          <a:lstStyle/>
          <a:p>
            <a:endParaRPr/>
          </a:p>
        </p:txBody>
      </p:sp>
      <p:sp>
        <p:nvSpPr>
          <p:cNvPr id="4" name="object 4"/>
          <p:cNvSpPr txBox="1"/>
          <p:nvPr/>
        </p:nvSpPr>
        <p:spPr>
          <a:xfrm>
            <a:off x="444500" y="569340"/>
            <a:ext cx="6106095" cy="596900"/>
          </a:xfrm>
          <a:prstGeom prst="rect">
            <a:avLst/>
          </a:prstGeom>
        </p:spPr>
        <p:txBody>
          <a:bodyPr wrap="square" lIns="0" tIns="29210" rIns="0" bIns="0" rtlCol="0">
            <a:noAutofit/>
          </a:bodyPr>
          <a:lstStyle/>
          <a:p>
            <a:pPr marL="12700">
              <a:lnSpc>
                <a:spcPts val="4600"/>
              </a:lnSpc>
            </a:pPr>
            <a:r>
              <a:rPr sz="4500" b="1" spc="-12" dirty="0" smtClean="0">
                <a:solidFill>
                  <a:srgbClr val="04607A"/>
                </a:solidFill>
                <a:latin typeface="Calibri"/>
                <a:cs typeface="Calibri"/>
              </a:rPr>
              <a:t>Type of water tube boiler</a:t>
            </a:r>
            <a:endParaRPr sz="4500">
              <a:latin typeface="Calibri"/>
              <a:cs typeface="Calibri"/>
            </a:endParaRPr>
          </a:p>
        </p:txBody>
      </p:sp>
      <p:sp>
        <p:nvSpPr>
          <p:cNvPr id="3" name="object 3"/>
          <p:cNvSpPr txBox="1"/>
          <p:nvPr/>
        </p:nvSpPr>
        <p:spPr>
          <a:xfrm>
            <a:off x="810260" y="2021538"/>
            <a:ext cx="4687614" cy="4002100"/>
          </a:xfrm>
          <a:prstGeom prst="rect">
            <a:avLst/>
          </a:prstGeom>
        </p:spPr>
        <p:txBody>
          <a:bodyPr wrap="square" lIns="0" tIns="17526" rIns="0" bIns="0" rtlCol="0">
            <a:noAutofit/>
          </a:bodyPr>
          <a:lstStyle/>
          <a:p>
            <a:pPr marL="12700" marR="44254">
              <a:lnSpc>
                <a:spcPts val="2760"/>
              </a:lnSpc>
            </a:pPr>
            <a:r>
              <a:rPr sz="2600" b="1" spc="-1" dirty="0" smtClean="0">
                <a:latin typeface="Times New Roman"/>
                <a:cs typeface="Times New Roman"/>
              </a:rPr>
              <a:t>Simple vertical boiler</a:t>
            </a:r>
            <a:endParaRPr sz="2600">
              <a:latin typeface="Times New Roman"/>
              <a:cs typeface="Times New Roman"/>
            </a:endParaRPr>
          </a:p>
          <a:p>
            <a:pPr marL="12700">
              <a:lnSpc>
                <a:spcPct val="100041"/>
              </a:lnSpc>
              <a:spcBef>
                <a:spcPts val="616"/>
              </a:spcBef>
            </a:pPr>
            <a:r>
              <a:rPr sz="2600" dirty="0" smtClean="0">
                <a:latin typeface="Times New Roman"/>
                <a:cs typeface="Times New Roman"/>
              </a:rPr>
              <a:t>A</a:t>
            </a:r>
            <a:r>
              <a:rPr sz="2600" spc="-154" dirty="0" smtClean="0">
                <a:latin typeface="Times New Roman"/>
                <a:cs typeface="Times New Roman"/>
              </a:rPr>
              <a:t> </a:t>
            </a:r>
            <a:r>
              <a:rPr sz="2600" spc="0" dirty="0" smtClean="0">
                <a:latin typeface="Times New Roman"/>
                <a:cs typeface="Times New Roman"/>
              </a:rPr>
              <a:t>vert</a:t>
            </a:r>
            <a:r>
              <a:rPr sz="2600" spc="-9" dirty="0" smtClean="0">
                <a:latin typeface="Times New Roman"/>
                <a:cs typeface="Times New Roman"/>
              </a:rPr>
              <a:t>i</a:t>
            </a:r>
            <a:r>
              <a:rPr sz="2600" spc="0" dirty="0" smtClean="0">
                <a:latin typeface="Times New Roman"/>
                <a:cs typeface="Times New Roman"/>
              </a:rPr>
              <a:t>c</a:t>
            </a:r>
            <a:r>
              <a:rPr sz="2600" spc="-9" dirty="0" smtClean="0">
                <a:latin typeface="Times New Roman"/>
                <a:cs typeface="Times New Roman"/>
              </a:rPr>
              <a:t>a</a:t>
            </a:r>
            <a:r>
              <a:rPr sz="2600" spc="0" dirty="0" smtClean="0">
                <a:latin typeface="Times New Roman"/>
                <a:cs typeface="Times New Roman"/>
              </a:rPr>
              <a:t>l </a:t>
            </a:r>
            <a:r>
              <a:rPr sz="2600" spc="9" dirty="0" smtClean="0">
                <a:latin typeface="Times New Roman"/>
                <a:cs typeface="Times New Roman"/>
              </a:rPr>
              <a:t>b</a:t>
            </a:r>
            <a:r>
              <a:rPr sz="2600" spc="0" dirty="0" smtClean="0">
                <a:latin typeface="Times New Roman"/>
                <a:cs typeface="Times New Roman"/>
              </a:rPr>
              <a:t>oiler</a:t>
            </a:r>
            <a:r>
              <a:rPr sz="2600" spc="-25" dirty="0" smtClean="0">
                <a:latin typeface="Times New Roman"/>
                <a:cs typeface="Times New Roman"/>
              </a:rPr>
              <a:t> </a:t>
            </a:r>
            <a:r>
              <a:rPr sz="2600" spc="0" dirty="0" smtClean="0">
                <a:latin typeface="Times New Roman"/>
                <a:cs typeface="Times New Roman"/>
              </a:rPr>
              <a:t>is a </a:t>
            </a:r>
            <a:r>
              <a:rPr sz="2600" spc="-9" dirty="0" smtClean="0">
                <a:latin typeface="Times New Roman"/>
                <a:cs typeface="Times New Roman"/>
              </a:rPr>
              <a:t>t</a:t>
            </a:r>
            <a:r>
              <a:rPr sz="2600" spc="0" dirty="0" smtClean="0">
                <a:latin typeface="Times New Roman"/>
                <a:cs typeface="Times New Roman"/>
              </a:rPr>
              <a:t>y</a:t>
            </a:r>
            <a:r>
              <a:rPr sz="2600" spc="9" dirty="0" smtClean="0">
                <a:latin typeface="Times New Roman"/>
                <a:cs typeface="Times New Roman"/>
              </a:rPr>
              <a:t>p</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of</a:t>
            </a:r>
            <a:r>
              <a:rPr sz="2600" spc="-9" dirty="0" smtClean="0">
                <a:latin typeface="Times New Roman"/>
                <a:cs typeface="Times New Roman"/>
              </a:rPr>
              <a:t> </a:t>
            </a:r>
            <a:r>
              <a:rPr sz="2600" spc="0" dirty="0" smtClean="0">
                <a:latin typeface="Times New Roman"/>
                <a:cs typeface="Times New Roman"/>
              </a:rPr>
              <a:t>wate</a:t>
            </a:r>
            <a:r>
              <a:rPr sz="2600" spc="-44" dirty="0" smtClean="0">
                <a:latin typeface="Times New Roman"/>
                <a:cs typeface="Times New Roman"/>
              </a:rPr>
              <a:t>r</a:t>
            </a:r>
            <a:r>
              <a:rPr sz="2600" spc="0" dirty="0" smtClean="0">
                <a:latin typeface="Times New Roman"/>
                <a:cs typeface="Times New Roman"/>
              </a:rPr>
              <a:t>- tu</a:t>
            </a:r>
            <a:r>
              <a:rPr sz="2600" spc="4" dirty="0" smtClean="0">
                <a:latin typeface="Times New Roman"/>
                <a:cs typeface="Times New Roman"/>
              </a:rPr>
              <a:t>b</a:t>
            </a:r>
            <a:r>
              <a:rPr sz="2600" spc="0" dirty="0" smtClean="0">
                <a:latin typeface="Times New Roman"/>
                <a:cs typeface="Times New Roman"/>
              </a:rPr>
              <a:t>e</a:t>
            </a:r>
            <a:r>
              <a:rPr sz="2600" spc="-14"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a:t>
            </a:r>
            <a:r>
              <a:rPr sz="2600" spc="-19" dirty="0" smtClean="0">
                <a:latin typeface="Times New Roman"/>
                <a:cs typeface="Times New Roman"/>
              </a:rPr>
              <a:t> </a:t>
            </a:r>
            <a:r>
              <a:rPr sz="2600" spc="0" dirty="0" smtClean="0">
                <a:latin typeface="Times New Roman"/>
                <a:cs typeface="Times New Roman"/>
              </a:rPr>
              <a:t>w</a:t>
            </a:r>
            <a:r>
              <a:rPr sz="2600" spc="9" dirty="0" smtClean="0">
                <a:latin typeface="Times New Roman"/>
                <a:cs typeface="Times New Roman"/>
              </a:rPr>
              <a:t>h</a:t>
            </a:r>
            <a:r>
              <a:rPr sz="2600" spc="0" dirty="0" smtClean="0">
                <a:latin typeface="Times New Roman"/>
                <a:cs typeface="Times New Roman"/>
              </a:rPr>
              <a:t>ere</a:t>
            </a:r>
            <a:r>
              <a:rPr sz="2600" spc="-25" dirty="0" smtClean="0">
                <a:latin typeface="Times New Roman"/>
                <a:cs typeface="Times New Roman"/>
              </a:rPr>
              <a:t> </a:t>
            </a:r>
            <a:r>
              <a:rPr sz="2600" spc="0" dirty="0" smtClean="0">
                <a:latin typeface="Times New Roman"/>
                <a:cs typeface="Times New Roman"/>
              </a:rPr>
              <a:t>the boiler</a:t>
            </a:r>
            <a:r>
              <a:rPr sz="2600" spc="-19" dirty="0" smtClean="0">
                <a:latin typeface="Times New Roman"/>
                <a:cs typeface="Times New Roman"/>
              </a:rPr>
              <a:t> </a:t>
            </a:r>
            <a:r>
              <a:rPr sz="2600" spc="0" dirty="0" smtClean="0">
                <a:latin typeface="Times New Roman"/>
                <a:cs typeface="Times New Roman"/>
              </a:rPr>
              <a:t>barr</a:t>
            </a:r>
            <a:r>
              <a:rPr sz="2600" spc="-9" dirty="0" smtClean="0">
                <a:latin typeface="Times New Roman"/>
                <a:cs typeface="Times New Roman"/>
              </a:rPr>
              <a:t>e</a:t>
            </a:r>
            <a:r>
              <a:rPr sz="2600" spc="0" dirty="0" smtClean="0">
                <a:latin typeface="Times New Roman"/>
                <a:cs typeface="Times New Roman"/>
              </a:rPr>
              <a:t>l is ori</a:t>
            </a:r>
            <a:r>
              <a:rPr sz="2600" spc="-9" dirty="0" smtClean="0">
                <a:latin typeface="Times New Roman"/>
                <a:cs typeface="Times New Roman"/>
              </a:rPr>
              <a:t>e</a:t>
            </a:r>
            <a:r>
              <a:rPr sz="2600" spc="0" dirty="0" smtClean="0">
                <a:latin typeface="Times New Roman"/>
                <a:cs typeface="Times New Roman"/>
              </a:rPr>
              <a:t>nted</a:t>
            </a:r>
            <a:r>
              <a:rPr sz="2600" spc="-25" dirty="0" smtClean="0">
                <a:latin typeface="Times New Roman"/>
                <a:cs typeface="Times New Roman"/>
              </a:rPr>
              <a:t> </a:t>
            </a:r>
            <a:r>
              <a:rPr sz="2600" spc="0" dirty="0" smtClean="0">
                <a:latin typeface="Times New Roman"/>
                <a:cs typeface="Times New Roman"/>
              </a:rPr>
              <a:t>ver</a:t>
            </a:r>
            <a:r>
              <a:rPr sz="2600" spc="-9" dirty="0" smtClean="0">
                <a:latin typeface="Times New Roman"/>
                <a:cs typeface="Times New Roman"/>
              </a:rPr>
              <a:t>t</a:t>
            </a:r>
            <a:r>
              <a:rPr sz="2600" spc="0" dirty="0" smtClean="0">
                <a:latin typeface="Times New Roman"/>
                <a:cs typeface="Times New Roman"/>
              </a:rPr>
              <a:t>i</a:t>
            </a:r>
            <a:r>
              <a:rPr sz="2600" spc="-9" dirty="0" smtClean="0">
                <a:latin typeface="Times New Roman"/>
                <a:cs typeface="Times New Roman"/>
              </a:rPr>
              <a:t>c</a:t>
            </a:r>
            <a:r>
              <a:rPr sz="2600" spc="0" dirty="0" smtClean="0">
                <a:latin typeface="Times New Roman"/>
                <a:cs typeface="Times New Roman"/>
              </a:rPr>
              <a:t>a</a:t>
            </a:r>
            <a:r>
              <a:rPr sz="2600" spc="-9" dirty="0" smtClean="0">
                <a:latin typeface="Times New Roman"/>
                <a:cs typeface="Times New Roman"/>
              </a:rPr>
              <a:t>l</a:t>
            </a:r>
            <a:r>
              <a:rPr sz="2600" spc="0" dirty="0" smtClean="0">
                <a:latin typeface="Times New Roman"/>
                <a:cs typeface="Times New Roman"/>
              </a:rPr>
              <a:t>ly </a:t>
            </a:r>
            <a:r>
              <a:rPr sz="2600" spc="-9" dirty="0" smtClean="0">
                <a:latin typeface="Times New Roman"/>
                <a:cs typeface="Times New Roman"/>
              </a:rPr>
              <a:t>i</a:t>
            </a:r>
            <a:r>
              <a:rPr sz="2600" spc="0" dirty="0" smtClean="0">
                <a:latin typeface="Times New Roman"/>
                <a:cs typeface="Times New Roman"/>
              </a:rPr>
              <a:t>nst</a:t>
            </a:r>
            <a:r>
              <a:rPr sz="2600" spc="-9" dirty="0" smtClean="0">
                <a:latin typeface="Times New Roman"/>
                <a:cs typeface="Times New Roman"/>
              </a:rPr>
              <a:t>e</a:t>
            </a:r>
            <a:r>
              <a:rPr sz="2600" spc="0" dirty="0" smtClean="0">
                <a:latin typeface="Times New Roman"/>
                <a:cs typeface="Times New Roman"/>
              </a:rPr>
              <a:t>ad of</a:t>
            </a:r>
            <a:r>
              <a:rPr sz="2600" spc="-14" dirty="0" smtClean="0">
                <a:latin typeface="Times New Roman"/>
                <a:cs typeface="Times New Roman"/>
              </a:rPr>
              <a:t> </a:t>
            </a:r>
            <a:r>
              <a:rPr sz="2600" spc="0" dirty="0" smtClean="0">
                <a:latin typeface="Times New Roman"/>
                <a:cs typeface="Times New Roman"/>
              </a:rPr>
              <a:t>the more</a:t>
            </a:r>
            <a:r>
              <a:rPr sz="2600" spc="-4" dirty="0" smtClean="0">
                <a:latin typeface="Times New Roman"/>
                <a:cs typeface="Times New Roman"/>
              </a:rPr>
              <a:t> </a:t>
            </a:r>
            <a:r>
              <a:rPr sz="2600" spc="0" dirty="0" smtClean="0">
                <a:latin typeface="Times New Roman"/>
                <a:cs typeface="Times New Roman"/>
              </a:rPr>
              <a:t>co</a:t>
            </a:r>
            <a:r>
              <a:rPr sz="2600" spc="-9" dirty="0" smtClean="0">
                <a:latin typeface="Times New Roman"/>
                <a:cs typeface="Times New Roman"/>
              </a:rPr>
              <a:t>m</a:t>
            </a:r>
            <a:r>
              <a:rPr sz="2600" spc="0" dirty="0" smtClean="0">
                <a:latin typeface="Times New Roman"/>
                <a:cs typeface="Times New Roman"/>
              </a:rPr>
              <a:t>mon</a:t>
            </a:r>
            <a:r>
              <a:rPr sz="2600" spc="-9" dirty="0" smtClean="0">
                <a:latin typeface="Times New Roman"/>
                <a:cs typeface="Times New Roman"/>
              </a:rPr>
              <a:t> </a:t>
            </a:r>
            <a:r>
              <a:rPr sz="2600" spc="0" dirty="0" smtClean="0">
                <a:latin typeface="Times New Roman"/>
                <a:cs typeface="Times New Roman"/>
              </a:rPr>
              <a:t>h</a:t>
            </a:r>
            <a:r>
              <a:rPr sz="2600" spc="9" dirty="0" smtClean="0">
                <a:latin typeface="Times New Roman"/>
                <a:cs typeface="Times New Roman"/>
              </a:rPr>
              <a:t>o</a:t>
            </a:r>
            <a:r>
              <a:rPr sz="2600" spc="0" dirty="0" smtClean="0">
                <a:latin typeface="Times New Roman"/>
                <a:cs typeface="Times New Roman"/>
              </a:rPr>
              <a:t>ri</a:t>
            </a:r>
            <a:r>
              <a:rPr sz="2600" spc="-9" dirty="0" smtClean="0">
                <a:latin typeface="Times New Roman"/>
                <a:cs typeface="Times New Roman"/>
              </a:rPr>
              <a:t>z</a:t>
            </a:r>
            <a:r>
              <a:rPr sz="2600" spc="0" dirty="0" smtClean="0">
                <a:latin typeface="Times New Roman"/>
                <a:cs typeface="Times New Roman"/>
              </a:rPr>
              <a:t>o</a:t>
            </a:r>
            <a:r>
              <a:rPr sz="2600" spc="9" dirty="0" smtClean="0">
                <a:latin typeface="Times New Roman"/>
                <a:cs typeface="Times New Roman"/>
              </a:rPr>
              <a:t>n</a:t>
            </a:r>
            <a:r>
              <a:rPr sz="2600" spc="0" dirty="0" smtClean="0">
                <a:latin typeface="Times New Roman"/>
                <a:cs typeface="Times New Roman"/>
              </a:rPr>
              <a:t>t</a:t>
            </a:r>
            <a:r>
              <a:rPr sz="2600" spc="-9" dirty="0" smtClean="0">
                <a:latin typeface="Times New Roman"/>
                <a:cs typeface="Times New Roman"/>
              </a:rPr>
              <a:t>a</a:t>
            </a:r>
            <a:r>
              <a:rPr sz="2600" spc="0" dirty="0" smtClean="0">
                <a:latin typeface="Times New Roman"/>
                <a:cs typeface="Times New Roman"/>
              </a:rPr>
              <a:t>l orienta</a:t>
            </a:r>
            <a:r>
              <a:rPr sz="2600" spc="-9" dirty="0" smtClean="0">
                <a:latin typeface="Times New Roman"/>
                <a:cs typeface="Times New Roman"/>
              </a:rPr>
              <a:t>t</a:t>
            </a:r>
            <a:r>
              <a:rPr sz="2600" spc="0" dirty="0" smtClean="0">
                <a:latin typeface="Times New Roman"/>
                <a:cs typeface="Times New Roman"/>
              </a:rPr>
              <a:t>io</a:t>
            </a:r>
            <a:r>
              <a:rPr sz="2600" spc="4" dirty="0" smtClean="0">
                <a:latin typeface="Times New Roman"/>
                <a:cs typeface="Times New Roman"/>
              </a:rPr>
              <a:t>n</a:t>
            </a:r>
            <a:r>
              <a:rPr sz="2600" spc="0" dirty="0" smtClean="0">
                <a:latin typeface="Times New Roman"/>
                <a:cs typeface="Times New Roman"/>
              </a:rPr>
              <a:t>.</a:t>
            </a:r>
            <a:r>
              <a:rPr sz="2600" spc="-64" dirty="0" smtClean="0">
                <a:latin typeface="Times New Roman"/>
                <a:cs typeface="Times New Roman"/>
              </a:rPr>
              <a:t> </a:t>
            </a:r>
            <a:r>
              <a:rPr sz="2600" spc="-279" dirty="0" smtClean="0">
                <a:latin typeface="Times New Roman"/>
                <a:cs typeface="Times New Roman"/>
              </a:rPr>
              <a:t>V</a:t>
            </a:r>
            <a:r>
              <a:rPr sz="2600" spc="0" dirty="0" smtClean="0">
                <a:latin typeface="Times New Roman"/>
                <a:cs typeface="Times New Roman"/>
              </a:rPr>
              <a:t>er</a:t>
            </a:r>
            <a:r>
              <a:rPr sz="2600" spc="-9" dirty="0" smtClean="0">
                <a:latin typeface="Times New Roman"/>
                <a:cs typeface="Times New Roman"/>
              </a:rPr>
              <a:t>t</a:t>
            </a:r>
            <a:r>
              <a:rPr sz="2600" spc="0" dirty="0" smtClean="0">
                <a:latin typeface="Times New Roman"/>
                <a:cs typeface="Times New Roman"/>
              </a:rPr>
              <a:t>i</a:t>
            </a:r>
            <a:r>
              <a:rPr sz="2600" spc="-9" dirty="0" smtClean="0">
                <a:latin typeface="Times New Roman"/>
                <a:cs typeface="Times New Roman"/>
              </a:rPr>
              <a:t>c</a:t>
            </a:r>
            <a:r>
              <a:rPr sz="2600" spc="0" dirty="0" smtClean="0">
                <a:latin typeface="Times New Roman"/>
                <a:cs typeface="Times New Roman"/>
              </a:rPr>
              <a:t>al</a:t>
            </a:r>
            <a:r>
              <a:rPr sz="2600" spc="-4" dirty="0" smtClean="0">
                <a:latin typeface="Times New Roman"/>
                <a:cs typeface="Times New Roman"/>
              </a:rPr>
              <a:t> </a:t>
            </a:r>
            <a:r>
              <a:rPr sz="2600" spc="0" dirty="0" smtClean="0">
                <a:latin typeface="Times New Roman"/>
                <a:cs typeface="Times New Roman"/>
              </a:rPr>
              <a:t>b</a:t>
            </a:r>
            <a:r>
              <a:rPr sz="2600" spc="4"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ers</a:t>
            </a:r>
            <a:r>
              <a:rPr sz="2600" spc="-9" dirty="0" smtClean="0">
                <a:latin typeface="Times New Roman"/>
                <a:cs typeface="Times New Roman"/>
              </a:rPr>
              <a:t> </a:t>
            </a:r>
            <a:r>
              <a:rPr sz="2600" spc="0" dirty="0" smtClean="0">
                <a:latin typeface="Times New Roman"/>
                <a:cs typeface="Times New Roman"/>
              </a:rPr>
              <a:t>were used</a:t>
            </a:r>
            <a:r>
              <a:rPr sz="2600" spc="-9" dirty="0" smtClean="0">
                <a:latin typeface="Times New Roman"/>
                <a:cs typeface="Times New Roman"/>
              </a:rPr>
              <a:t> </a:t>
            </a:r>
            <a:r>
              <a:rPr sz="2600" spc="0" dirty="0" smtClean="0">
                <a:latin typeface="Times New Roman"/>
                <a:cs typeface="Times New Roman"/>
              </a:rPr>
              <a:t>for</a:t>
            </a:r>
            <a:r>
              <a:rPr sz="2600" spc="-14" dirty="0" smtClean="0">
                <a:latin typeface="Times New Roman"/>
                <a:cs typeface="Times New Roman"/>
              </a:rPr>
              <a:t> </a:t>
            </a:r>
            <a:r>
              <a:rPr sz="2600" spc="0" dirty="0" smtClean="0">
                <a:latin typeface="Times New Roman"/>
                <a:cs typeface="Times New Roman"/>
              </a:rPr>
              <a:t>a va</a:t>
            </a:r>
            <a:r>
              <a:rPr sz="2600" spc="-9" dirty="0" smtClean="0">
                <a:latin typeface="Times New Roman"/>
                <a:cs typeface="Times New Roman"/>
              </a:rPr>
              <a:t>r</a:t>
            </a:r>
            <a:r>
              <a:rPr sz="2600" spc="0" dirty="0" smtClean="0">
                <a:latin typeface="Times New Roman"/>
                <a:cs typeface="Times New Roman"/>
              </a:rPr>
              <a:t>i</a:t>
            </a:r>
            <a:r>
              <a:rPr sz="2600" spc="-9" dirty="0" smtClean="0">
                <a:latin typeface="Times New Roman"/>
                <a:cs typeface="Times New Roman"/>
              </a:rPr>
              <a:t>e</a:t>
            </a:r>
            <a:r>
              <a:rPr sz="2600" spc="0" dirty="0" smtClean="0">
                <a:latin typeface="Times New Roman"/>
                <a:cs typeface="Times New Roman"/>
              </a:rPr>
              <a:t>ty of</a:t>
            </a:r>
            <a:r>
              <a:rPr sz="2600" spc="-9" dirty="0" smtClean="0">
                <a:latin typeface="Times New Roman"/>
                <a:cs typeface="Times New Roman"/>
              </a:rPr>
              <a:t> </a:t>
            </a:r>
            <a:r>
              <a:rPr sz="2600" spc="0" dirty="0" smtClean="0">
                <a:latin typeface="Times New Roman"/>
                <a:cs typeface="Times New Roman"/>
              </a:rPr>
              <a:t>s</a:t>
            </a:r>
            <a:r>
              <a:rPr sz="2600" spc="-9" dirty="0" smtClean="0">
                <a:latin typeface="Times New Roman"/>
                <a:cs typeface="Times New Roman"/>
              </a:rPr>
              <a:t>t</a:t>
            </a:r>
            <a:r>
              <a:rPr sz="2600" spc="0" dirty="0" smtClean="0">
                <a:latin typeface="Times New Roman"/>
                <a:cs typeface="Times New Roman"/>
              </a:rPr>
              <a:t>e</a:t>
            </a:r>
            <a:r>
              <a:rPr sz="2600" spc="-9" dirty="0" smtClean="0">
                <a:latin typeface="Times New Roman"/>
                <a:cs typeface="Times New Roman"/>
              </a:rPr>
              <a:t>a</a:t>
            </a:r>
            <a:r>
              <a:rPr sz="2600" spc="-4" dirty="0" smtClean="0">
                <a:latin typeface="Times New Roman"/>
                <a:cs typeface="Times New Roman"/>
              </a:rPr>
              <a:t>m</a:t>
            </a:r>
            <a:r>
              <a:rPr sz="2600" spc="0" dirty="0" smtClean="0">
                <a:latin typeface="Times New Roman"/>
                <a:cs typeface="Times New Roman"/>
              </a:rPr>
              <a:t>- p</a:t>
            </a:r>
            <a:r>
              <a:rPr sz="2600" spc="9" dirty="0" smtClean="0">
                <a:latin typeface="Times New Roman"/>
                <a:cs typeface="Times New Roman"/>
              </a:rPr>
              <a:t>o</a:t>
            </a:r>
            <a:r>
              <a:rPr sz="2600" spc="0" dirty="0" smtClean="0">
                <a:latin typeface="Times New Roman"/>
                <a:cs typeface="Times New Roman"/>
              </a:rPr>
              <a:t>wer</a:t>
            </a:r>
            <a:r>
              <a:rPr sz="2600" spc="-9" dirty="0" smtClean="0">
                <a:latin typeface="Times New Roman"/>
                <a:cs typeface="Times New Roman"/>
              </a:rPr>
              <a:t>e</a:t>
            </a:r>
            <a:r>
              <a:rPr sz="2600" spc="0" dirty="0" smtClean="0">
                <a:latin typeface="Times New Roman"/>
                <a:cs typeface="Times New Roman"/>
              </a:rPr>
              <a:t>d</a:t>
            </a:r>
            <a:r>
              <a:rPr sz="2600" spc="-29" dirty="0" smtClean="0">
                <a:latin typeface="Times New Roman"/>
                <a:cs typeface="Times New Roman"/>
              </a:rPr>
              <a:t> </a:t>
            </a:r>
            <a:r>
              <a:rPr sz="2600" spc="0" dirty="0" smtClean="0">
                <a:latin typeface="Times New Roman"/>
                <a:cs typeface="Times New Roman"/>
              </a:rPr>
              <a:t>vehic</a:t>
            </a:r>
            <a:r>
              <a:rPr sz="2600" spc="-9" dirty="0" smtClean="0">
                <a:latin typeface="Times New Roman"/>
                <a:cs typeface="Times New Roman"/>
              </a:rPr>
              <a:t>l</a:t>
            </a:r>
            <a:r>
              <a:rPr sz="2600" spc="0" dirty="0" smtClean="0">
                <a:latin typeface="Times New Roman"/>
                <a:cs typeface="Times New Roman"/>
              </a:rPr>
              <a:t>es</a:t>
            </a:r>
            <a:r>
              <a:rPr sz="2600" spc="-9" dirty="0" smtClean="0">
                <a:latin typeface="Times New Roman"/>
                <a:cs typeface="Times New Roman"/>
              </a:rPr>
              <a:t> a</a:t>
            </a:r>
            <a:r>
              <a:rPr sz="2600" spc="0" dirty="0" smtClean="0">
                <a:latin typeface="Times New Roman"/>
                <a:cs typeface="Times New Roman"/>
              </a:rPr>
              <a:t>nd</a:t>
            </a:r>
            <a:r>
              <a:rPr sz="2600" spc="-19" dirty="0" smtClean="0">
                <a:latin typeface="Times New Roman"/>
                <a:cs typeface="Times New Roman"/>
              </a:rPr>
              <a:t> </a:t>
            </a:r>
            <a:r>
              <a:rPr sz="2600" spc="0" dirty="0" smtClean="0">
                <a:latin typeface="Times New Roman"/>
                <a:cs typeface="Times New Roman"/>
              </a:rPr>
              <a:t>other</a:t>
            </a:r>
            <a:r>
              <a:rPr sz="2600" spc="-19" dirty="0" smtClean="0">
                <a:latin typeface="Times New Roman"/>
                <a:cs typeface="Times New Roman"/>
              </a:rPr>
              <a:t> </a:t>
            </a:r>
            <a:r>
              <a:rPr sz="2600" spc="-9" dirty="0" smtClean="0">
                <a:latin typeface="Times New Roman"/>
                <a:cs typeface="Times New Roman"/>
              </a:rPr>
              <a:t>m</a:t>
            </a:r>
            <a:r>
              <a:rPr sz="2600" spc="0" dirty="0" smtClean="0">
                <a:latin typeface="Times New Roman"/>
                <a:cs typeface="Times New Roman"/>
              </a:rPr>
              <a:t>o</a:t>
            </a:r>
            <a:r>
              <a:rPr sz="2600" spc="9" dirty="0" smtClean="0">
                <a:latin typeface="Times New Roman"/>
                <a:cs typeface="Times New Roman"/>
              </a:rPr>
              <a:t>b</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 m</a:t>
            </a:r>
            <a:r>
              <a:rPr sz="2600" spc="-9" dirty="0" smtClean="0">
                <a:latin typeface="Times New Roman"/>
                <a:cs typeface="Times New Roman"/>
              </a:rPr>
              <a:t>a</a:t>
            </a:r>
            <a:r>
              <a:rPr sz="2600" spc="0" dirty="0" smtClean="0">
                <a:latin typeface="Times New Roman"/>
                <a:cs typeface="Times New Roman"/>
              </a:rPr>
              <a:t>chines,</a:t>
            </a:r>
            <a:r>
              <a:rPr sz="2600" spc="-4" dirty="0" smtClean="0">
                <a:latin typeface="Times New Roman"/>
                <a:cs typeface="Times New Roman"/>
              </a:rPr>
              <a:t> </a:t>
            </a:r>
            <a:r>
              <a:rPr sz="2600" spc="0" dirty="0" smtClean="0">
                <a:latin typeface="Times New Roman"/>
                <a:cs typeface="Times New Roman"/>
              </a:rPr>
              <a:t>inc</a:t>
            </a:r>
            <a:r>
              <a:rPr sz="2600" spc="-9" dirty="0" smtClean="0">
                <a:latin typeface="Times New Roman"/>
                <a:cs typeface="Times New Roman"/>
              </a:rPr>
              <a:t>l</a:t>
            </a:r>
            <a:r>
              <a:rPr sz="2600" spc="0" dirty="0" smtClean="0">
                <a:latin typeface="Times New Roman"/>
                <a:cs typeface="Times New Roman"/>
              </a:rPr>
              <a:t>u</a:t>
            </a:r>
            <a:r>
              <a:rPr sz="2600" spc="9" dirty="0" smtClean="0">
                <a:latin typeface="Times New Roman"/>
                <a:cs typeface="Times New Roman"/>
              </a:rPr>
              <a:t>d</a:t>
            </a:r>
            <a:r>
              <a:rPr sz="2600" spc="0" dirty="0" smtClean="0">
                <a:latin typeface="Times New Roman"/>
                <a:cs typeface="Times New Roman"/>
              </a:rPr>
              <a:t>ing</a:t>
            </a:r>
            <a:r>
              <a:rPr sz="2600" spc="-19" dirty="0" smtClean="0">
                <a:latin typeface="Times New Roman"/>
                <a:cs typeface="Times New Roman"/>
              </a:rPr>
              <a:t> </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rly</a:t>
            </a:r>
            <a:r>
              <a:rPr sz="2600" spc="-14" dirty="0" smtClean="0">
                <a:latin typeface="Times New Roman"/>
                <a:cs typeface="Times New Roman"/>
              </a:rPr>
              <a:t> </a:t>
            </a:r>
            <a:r>
              <a:rPr sz="2600" spc="0" dirty="0" smtClean="0">
                <a:latin typeface="Times New Roman"/>
                <a:cs typeface="Times New Roman"/>
              </a:rPr>
              <a:t>s</a:t>
            </a:r>
            <a:r>
              <a:rPr sz="2600" spc="-9" dirty="0" smtClean="0">
                <a:latin typeface="Times New Roman"/>
                <a:cs typeface="Times New Roman"/>
              </a:rPr>
              <a:t>t</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m locomotive</a:t>
            </a:r>
            <a:r>
              <a:rPr sz="2600" spc="-9" dirty="0" smtClean="0">
                <a:latin typeface="Times New Roman"/>
                <a:cs typeface="Times New Roman"/>
              </a:rPr>
              <a:t>s</a:t>
            </a:r>
            <a:r>
              <a:rPr sz="2600" spc="0" dirty="0" smtClean="0">
                <a:latin typeface="Times New Roman"/>
                <a:cs typeface="Times New Roman"/>
              </a:rPr>
              <a:t>.</a:t>
            </a:r>
            <a:endParaRPr sz="2600">
              <a:latin typeface="Times New Roman"/>
              <a:cs typeface="Times New Roman"/>
            </a:endParaRPr>
          </a:p>
        </p:txBody>
      </p:sp>
      <p:sp>
        <p:nvSpPr>
          <p:cNvPr id="2" name="object 2"/>
          <p:cNvSpPr txBox="1"/>
          <p:nvPr/>
        </p:nvSpPr>
        <p:spPr>
          <a:xfrm>
            <a:off x="535940" y="2036524"/>
            <a:ext cx="246416" cy="814831"/>
          </a:xfrm>
          <a:prstGeom prst="rect">
            <a:avLst/>
          </a:prstGeom>
        </p:spPr>
        <p:txBody>
          <a:bodyPr wrap="square" lIns="0" tIns="15906" rIns="0" bIns="0" rtlCol="0">
            <a:noAutofit/>
          </a:bodyPr>
          <a:lstStyle/>
          <a:p>
            <a:pPr marL="12700">
              <a:lnSpc>
                <a:spcPts val="2505"/>
              </a:lnSpc>
            </a:pPr>
            <a:r>
              <a:rPr sz="2450" dirty="0" smtClean="0">
                <a:solidFill>
                  <a:srgbClr val="0AD0D9"/>
                </a:solidFill>
                <a:latin typeface="Wingdings"/>
                <a:cs typeface="Wingdings"/>
              </a:rPr>
              <a:t></a:t>
            </a:r>
            <a:endParaRPr sz="2450">
              <a:latin typeface="Wingdings"/>
              <a:cs typeface="Wingdings"/>
            </a:endParaRPr>
          </a:p>
          <a:p>
            <a:pPr marL="12700">
              <a:lnSpc>
                <a:spcPct val="89274"/>
              </a:lnSpc>
              <a:spcBef>
                <a:spcPts val="994"/>
              </a:spcBef>
            </a:pPr>
            <a:r>
              <a:rPr sz="2450" dirty="0" smtClean="0">
                <a:solidFill>
                  <a:srgbClr val="0AD0D9"/>
                </a:solidFill>
                <a:latin typeface="Wingdings"/>
                <a:cs typeface="Wingdings"/>
              </a:rPr>
              <a:t></a:t>
            </a:r>
            <a:endParaRPr sz="2450">
              <a:latin typeface="Wingdings"/>
              <a:cs typeface="Wingding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5058105" y="2209798"/>
            <a:ext cx="4085894" cy="4648200"/>
          </a:xfrm>
          <a:prstGeom prst="rect">
            <a:avLst/>
          </a:prstGeom>
        </p:spPr>
        <p:txBody>
          <a:bodyPr wrap="square" lIns="0" tIns="4442" rIns="0" bIns="0" rtlCol="0">
            <a:noAutofit/>
          </a:bodyPr>
          <a:lstStyle/>
          <a:p>
            <a:pPr>
              <a:lnSpc>
                <a:spcPts val="750"/>
              </a:lnSpc>
            </a:pPr>
            <a:endParaRPr sz="750"/>
          </a:p>
          <a:p>
            <a:pPr>
              <a:lnSpc>
                <a:spcPct val="101725"/>
              </a:lnSpc>
              <a:spcBef>
                <a:spcPts val="2000"/>
              </a:spcBef>
            </a:pPr>
            <a:r>
              <a:rPr sz="2400" dirty="0" smtClean="0">
                <a:latin typeface="Constantia"/>
                <a:cs typeface="Constantia"/>
              </a:rPr>
              <a:t>o</a:t>
            </a:r>
            <a:endParaRPr sz="2400">
              <a:latin typeface="Constantia"/>
              <a:cs typeface="Constantia"/>
            </a:endParaRPr>
          </a:p>
        </p:txBody>
      </p:sp>
      <p:sp>
        <p:nvSpPr>
          <p:cNvPr id="7" name="object 7"/>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8" name="object 8"/>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9" name="object 9"/>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10" name="object 10"/>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1" name="object 11"/>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2" name="object 12"/>
          <p:cNvSpPr/>
          <p:nvPr/>
        </p:nvSpPr>
        <p:spPr>
          <a:xfrm>
            <a:off x="5181600" y="2209798"/>
            <a:ext cx="3962400" cy="4648200"/>
          </a:xfrm>
          <a:prstGeom prst="rect">
            <a:avLst/>
          </a:prstGeom>
          <a:blipFill>
            <a:blip r:embed="rId7" cstate="print"/>
            <a:stretch>
              <a:fillRect/>
            </a:stretch>
          </a:blipFill>
        </p:spPr>
        <p:txBody>
          <a:bodyPr wrap="square" lIns="0" tIns="0" rIns="0" bIns="0" rtlCol="0">
            <a:noAutofit/>
          </a:bodyPr>
          <a:lstStyle/>
          <a:p>
            <a:endParaRPr/>
          </a:p>
        </p:txBody>
      </p:sp>
      <p:sp>
        <p:nvSpPr>
          <p:cNvPr id="6" name="object 6"/>
          <p:cNvSpPr txBox="1"/>
          <p:nvPr/>
        </p:nvSpPr>
        <p:spPr>
          <a:xfrm>
            <a:off x="444500" y="1190142"/>
            <a:ext cx="5100673" cy="661212"/>
          </a:xfrm>
          <a:prstGeom prst="rect">
            <a:avLst/>
          </a:prstGeom>
        </p:spPr>
        <p:txBody>
          <a:bodyPr wrap="square" lIns="0" tIns="32416" rIns="0" bIns="0" rtlCol="0">
            <a:noAutofit/>
          </a:bodyPr>
          <a:lstStyle/>
          <a:p>
            <a:pPr marL="12700">
              <a:lnSpc>
                <a:spcPts val="5105"/>
              </a:lnSpc>
            </a:pPr>
            <a:r>
              <a:rPr sz="5000" b="1" spc="-21" dirty="0" smtClean="0">
                <a:solidFill>
                  <a:srgbClr val="04607A"/>
                </a:solidFill>
                <a:latin typeface="Calibri"/>
                <a:cs typeface="Calibri"/>
              </a:rPr>
              <a:t>Type of water tube</a:t>
            </a:r>
            <a:endParaRPr sz="5000">
              <a:latin typeface="Calibri"/>
              <a:cs typeface="Calibri"/>
            </a:endParaRPr>
          </a:p>
        </p:txBody>
      </p:sp>
      <p:sp>
        <p:nvSpPr>
          <p:cNvPr id="5" name="object 5"/>
          <p:cNvSpPr txBox="1"/>
          <p:nvPr/>
        </p:nvSpPr>
        <p:spPr>
          <a:xfrm>
            <a:off x="5568515" y="1190142"/>
            <a:ext cx="1658731" cy="661212"/>
          </a:xfrm>
          <a:prstGeom prst="rect">
            <a:avLst/>
          </a:prstGeom>
        </p:spPr>
        <p:txBody>
          <a:bodyPr wrap="square" lIns="0" tIns="32416" rIns="0" bIns="0" rtlCol="0">
            <a:noAutofit/>
          </a:bodyPr>
          <a:lstStyle/>
          <a:p>
            <a:pPr marL="12700">
              <a:lnSpc>
                <a:spcPts val="5105"/>
              </a:lnSpc>
            </a:pPr>
            <a:r>
              <a:rPr sz="5000" b="1" spc="-4" dirty="0" smtClean="0">
                <a:solidFill>
                  <a:srgbClr val="04607A"/>
                </a:solidFill>
                <a:latin typeface="Calibri"/>
                <a:cs typeface="Calibri"/>
              </a:rPr>
              <a:t>boiler</a:t>
            </a:r>
            <a:endParaRPr sz="5000">
              <a:latin typeface="Calibri"/>
              <a:cs typeface="Calibri"/>
            </a:endParaRPr>
          </a:p>
        </p:txBody>
      </p:sp>
      <p:sp>
        <p:nvSpPr>
          <p:cNvPr id="4" name="object 4"/>
          <p:cNvSpPr txBox="1"/>
          <p:nvPr/>
        </p:nvSpPr>
        <p:spPr>
          <a:xfrm>
            <a:off x="535940" y="1956345"/>
            <a:ext cx="229464" cy="681344"/>
          </a:xfrm>
          <a:prstGeom prst="rect">
            <a:avLst/>
          </a:prstGeom>
        </p:spPr>
        <p:txBody>
          <a:bodyPr wrap="square" lIns="0" tIns="14731" rIns="0" bIns="0" rtlCol="0">
            <a:noAutofit/>
          </a:bodyPr>
          <a:lstStyle/>
          <a:p>
            <a:pPr marL="12700">
              <a:lnSpc>
                <a:spcPts val="2320"/>
              </a:lnSpc>
            </a:pPr>
            <a:r>
              <a:rPr sz="2300" dirty="0" smtClean="0">
                <a:solidFill>
                  <a:srgbClr val="0AD0D9"/>
                </a:solidFill>
                <a:latin typeface="Wingdings"/>
                <a:cs typeface="Wingdings"/>
              </a:rPr>
              <a:t></a:t>
            </a:r>
            <a:endParaRPr sz="2300">
              <a:latin typeface="Wingdings"/>
              <a:cs typeface="Wingdings"/>
            </a:endParaRPr>
          </a:p>
          <a:p>
            <a:pPr marL="12700" marR="214">
              <a:lnSpc>
                <a:spcPct val="89274"/>
              </a:lnSpc>
              <a:spcBef>
                <a:spcPts val="354"/>
              </a:spcBef>
            </a:pPr>
            <a:r>
              <a:rPr sz="2300" dirty="0" smtClean="0">
                <a:solidFill>
                  <a:srgbClr val="0AD0D9"/>
                </a:solidFill>
                <a:latin typeface="Wingdings"/>
                <a:cs typeface="Wingdings"/>
              </a:rPr>
              <a:t></a:t>
            </a:r>
            <a:endParaRPr sz="2300">
              <a:latin typeface="Wingdings"/>
              <a:cs typeface="Wingdings"/>
            </a:endParaRPr>
          </a:p>
        </p:txBody>
      </p:sp>
      <p:sp>
        <p:nvSpPr>
          <p:cNvPr id="3" name="object 3"/>
          <p:cNvSpPr txBox="1"/>
          <p:nvPr/>
        </p:nvSpPr>
        <p:spPr>
          <a:xfrm>
            <a:off x="810260" y="1959083"/>
            <a:ext cx="4330168" cy="4281602"/>
          </a:xfrm>
          <a:prstGeom prst="rect">
            <a:avLst/>
          </a:prstGeom>
        </p:spPr>
        <p:txBody>
          <a:bodyPr wrap="square" lIns="0" tIns="15875" rIns="0" bIns="0" rtlCol="0">
            <a:noAutofit/>
          </a:bodyPr>
          <a:lstStyle/>
          <a:p>
            <a:pPr marL="12700" marR="43110">
              <a:lnSpc>
                <a:spcPts val="2500"/>
              </a:lnSpc>
            </a:pPr>
            <a:r>
              <a:rPr sz="2400" b="1" spc="-1" dirty="0" smtClean="0">
                <a:latin typeface="Constantia"/>
                <a:cs typeface="Constantia"/>
              </a:rPr>
              <a:t>Stirling boiler</a:t>
            </a:r>
            <a:endParaRPr sz="2400">
              <a:latin typeface="Constantia"/>
              <a:cs typeface="Constantia"/>
            </a:endParaRPr>
          </a:p>
          <a:p>
            <a:pPr marL="12700" marR="22542">
              <a:lnSpc>
                <a:spcPts val="2929"/>
              </a:lnSpc>
              <a:spcBef>
                <a:spcPts val="325"/>
              </a:spcBef>
            </a:pPr>
            <a:r>
              <a:rPr sz="2400" spc="-12" dirty="0" smtClean="0">
                <a:latin typeface="Constantia"/>
                <a:cs typeface="Constantia"/>
              </a:rPr>
              <a:t>The Stirling boiler is an early </a:t>
            </a:r>
            <a:endParaRPr sz="2400">
              <a:latin typeface="Constantia"/>
              <a:cs typeface="Constantia"/>
            </a:endParaRPr>
          </a:p>
          <a:p>
            <a:pPr marL="12700" marR="22542">
              <a:lnSpc>
                <a:spcPts val="2929"/>
              </a:lnSpc>
            </a:pPr>
            <a:r>
              <a:rPr sz="2400" spc="-9" dirty="0" smtClean="0">
                <a:latin typeface="Constantia"/>
                <a:cs typeface="Constantia"/>
              </a:rPr>
              <a:t>f</a:t>
            </a:r>
            <a:r>
              <a:rPr sz="2400" spc="0" dirty="0" smtClean="0">
                <a:latin typeface="Constantia"/>
                <a:cs typeface="Constantia"/>
              </a:rPr>
              <a:t>orm</a:t>
            </a:r>
            <a:r>
              <a:rPr sz="2400" spc="-94" dirty="0" smtClean="0">
                <a:latin typeface="Constantia"/>
                <a:cs typeface="Constantia"/>
              </a:rPr>
              <a:t> </a:t>
            </a:r>
            <a:r>
              <a:rPr sz="2400" spc="0" dirty="0" smtClean="0">
                <a:latin typeface="Constantia"/>
                <a:cs typeface="Constantia"/>
              </a:rPr>
              <a:t>of</a:t>
            </a:r>
            <a:r>
              <a:rPr sz="2400" spc="-14" dirty="0" smtClean="0">
                <a:latin typeface="Constantia"/>
                <a:cs typeface="Constantia"/>
              </a:rPr>
              <a:t> </a:t>
            </a:r>
            <a:r>
              <a:rPr sz="2400" spc="-25" dirty="0" smtClean="0">
                <a:latin typeface="Constantia"/>
                <a:cs typeface="Constantia"/>
              </a:rPr>
              <a:t>w</a:t>
            </a:r>
            <a:r>
              <a:rPr sz="2400" spc="0" dirty="0" smtClean="0">
                <a:latin typeface="Constantia"/>
                <a:cs typeface="Constantia"/>
              </a:rPr>
              <a:t>a</a:t>
            </a:r>
            <a:r>
              <a:rPr sz="2400" spc="-29" dirty="0" smtClean="0">
                <a:latin typeface="Constantia"/>
                <a:cs typeface="Constantia"/>
              </a:rPr>
              <a:t>t</a:t>
            </a:r>
            <a:r>
              <a:rPr sz="2400" spc="0" dirty="0" smtClean="0">
                <a:latin typeface="Constantia"/>
                <a:cs typeface="Constantia"/>
              </a:rPr>
              <a:t>e</a:t>
            </a:r>
            <a:r>
              <a:rPr sz="2400" spc="4" dirty="0" smtClean="0">
                <a:latin typeface="Constantia"/>
                <a:cs typeface="Constantia"/>
              </a:rPr>
              <a:t>r</a:t>
            </a:r>
            <a:r>
              <a:rPr sz="2400" spc="0" dirty="0" smtClean="0">
                <a:latin typeface="Constantia"/>
                <a:cs typeface="Constantia"/>
              </a:rPr>
              <a:t>-tube</a:t>
            </a:r>
            <a:r>
              <a:rPr sz="2400" spc="-44" dirty="0" smtClean="0">
                <a:latin typeface="Constantia"/>
                <a:cs typeface="Constantia"/>
              </a:rPr>
              <a:t> </a:t>
            </a:r>
            <a:r>
              <a:rPr sz="2400" spc="0" dirty="0" smtClean="0">
                <a:latin typeface="Constantia"/>
                <a:cs typeface="Constantia"/>
              </a:rPr>
              <a:t>b</a:t>
            </a:r>
            <a:r>
              <a:rPr sz="2400" spc="-4" dirty="0" smtClean="0">
                <a:latin typeface="Constantia"/>
                <a:cs typeface="Constantia"/>
              </a:rPr>
              <a:t>o</a:t>
            </a:r>
            <a:r>
              <a:rPr sz="2400" spc="0" dirty="0" smtClean="0">
                <a:latin typeface="Constantia"/>
                <a:cs typeface="Constantia"/>
              </a:rPr>
              <a:t>ile</a:t>
            </a:r>
            <a:r>
              <a:rPr sz="2400" spc="-179" dirty="0" smtClean="0">
                <a:latin typeface="Constantia"/>
                <a:cs typeface="Constantia"/>
              </a:rPr>
              <a:t>r</a:t>
            </a:r>
            <a:r>
              <a:rPr sz="2400" spc="0" dirty="0" smtClean="0">
                <a:latin typeface="Constantia"/>
                <a:cs typeface="Constantia"/>
              </a:rPr>
              <a:t>,</a:t>
            </a:r>
            <a:r>
              <a:rPr sz="2400" spc="-39" dirty="0" smtClean="0">
                <a:latin typeface="Constantia"/>
                <a:cs typeface="Constantia"/>
              </a:rPr>
              <a:t> </a:t>
            </a:r>
            <a:r>
              <a:rPr sz="2400" spc="0" dirty="0" smtClean="0">
                <a:latin typeface="Constantia"/>
                <a:cs typeface="Constantia"/>
              </a:rPr>
              <a:t>used</a:t>
            </a:r>
            <a:r>
              <a:rPr sz="2400" spc="-14" dirty="0" smtClean="0">
                <a:latin typeface="Constantia"/>
                <a:cs typeface="Constantia"/>
              </a:rPr>
              <a:t> </a:t>
            </a:r>
            <a:r>
              <a:rPr sz="2400" spc="0" dirty="0" smtClean="0">
                <a:latin typeface="Constantia"/>
                <a:cs typeface="Constantia"/>
              </a:rPr>
              <a:t>t </a:t>
            </a:r>
            <a:endParaRPr sz="2400">
              <a:latin typeface="Constantia"/>
              <a:cs typeface="Constantia"/>
            </a:endParaRPr>
          </a:p>
          <a:p>
            <a:pPr marL="12700" marR="22542">
              <a:lnSpc>
                <a:spcPts val="2929"/>
              </a:lnSpc>
            </a:pPr>
            <a:r>
              <a:rPr sz="2400" spc="-15" dirty="0" smtClean="0">
                <a:latin typeface="Constantia"/>
                <a:cs typeface="Constantia"/>
              </a:rPr>
              <a:t>generate steam in large land- </a:t>
            </a:r>
            <a:endParaRPr sz="2400">
              <a:latin typeface="Constantia"/>
              <a:cs typeface="Constantia"/>
            </a:endParaRPr>
          </a:p>
          <a:p>
            <a:pPr marL="12700" marR="22542">
              <a:lnSpc>
                <a:spcPts val="2929"/>
              </a:lnSpc>
            </a:pPr>
            <a:r>
              <a:rPr sz="2400" spc="-5" dirty="0" smtClean="0">
                <a:latin typeface="Constantia"/>
                <a:cs typeface="Constantia"/>
              </a:rPr>
              <a:t>based stationary plants.</a:t>
            </a:r>
            <a:endParaRPr sz="2400">
              <a:latin typeface="Constantia"/>
              <a:cs typeface="Constantia"/>
            </a:endParaRPr>
          </a:p>
          <a:p>
            <a:pPr marL="12700">
              <a:lnSpc>
                <a:spcPts val="2929"/>
              </a:lnSpc>
            </a:pPr>
            <a:r>
              <a:rPr sz="2400" spc="-11" dirty="0" smtClean="0">
                <a:latin typeface="Constantia"/>
                <a:cs typeface="Constantia"/>
              </a:rPr>
              <a:t>Stirling boilers are one of the </a:t>
            </a:r>
            <a:endParaRPr sz="2400">
              <a:latin typeface="Constantia"/>
              <a:cs typeface="Constantia"/>
            </a:endParaRPr>
          </a:p>
          <a:p>
            <a:pPr marL="12700">
              <a:lnSpc>
                <a:spcPts val="2929"/>
              </a:lnSpc>
            </a:pPr>
            <a:r>
              <a:rPr sz="2400" spc="-20" dirty="0" smtClean="0">
                <a:latin typeface="Constantia"/>
                <a:cs typeface="Constantia"/>
              </a:rPr>
              <a:t>larger arrangements for a water- </a:t>
            </a:r>
            <a:endParaRPr sz="2400">
              <a:latin typeface="Constantia"/>
              <a:cs typeface="Constantia"/>
            </a:endParaRPr>
          </a:p>
          <a:p>
            <a:pPr marL="12700">
              <a:lnSpc>
                <a:spcPts val="2929"/>
              </a:lnSpc>
            </a:pPr>
            <a:r>
              <a:rPr sz="2400" spc="-19" dirty="0" smtClean="0">
                <a:latin typeface="Constantia"/>
                <a:cs typeface="Constantia"/>
              </a:rPr>
              <a:t>tube boiler. They consist of a </a:t>
            </a:r>
            <a:endParaRPr sz="2400">
              <a:latin typeface="Constantia"/>
              <a:cs typeface="Constantia"/>
            </a:endParaRPr>
          </a:p>
          <a:p>
            <a:pPr marL="12700">
              <a:lnSpc>
                <a:spcPts val="2929"/>
              </a:lnSpc>
            </a:pPr>
            <a:r>
              <a:rPr sz="2400" spc="-14" dirty="0" smtClean="0">
                <a:latin typeface="Constantia"/>
                <a:cs typeface="Constantia"/>
              </a:rPr>
              <a:t>large brick-built chamber with a </a:t>
            </a:r>
            <a:endParaRPr sz="2400">
              <a:latin typeface="Constantia"/>
              <a:cs typeface="Constantia"/>
            </a:endParaRPr>
          </a:p>
          <a:p>
            <a:pPr marL="12700">
              <a:lnSpc>
                <a:spcPts val="2929"/>
              </a:lnSpc>
            </a:pPr>
            <a:r>
              <a:rPr sz="2400" spc="-11" dirty="0" smtClean="0">
                <a:latin typeface="Constantia"/>
                <a:cs typeface="Constantia"/>
              </a:rPr>
              <a:t>sinuous gas path through it, </a:t>
            </a:r>
            <a:endParaRPr sz="2400">
              <a:latin typeface="Constantia"/>
              <a:cs typeface="Constantia"/>
            </a:endParaRPr>
          </a:p>
          <a:p>
            <a:pPr marL="12700">
              <a:lnSpc>
                <a:spcPts val="2929"/>
              </a:lnSpc>
            </a:pPr>
            <a:r>
              <a:rPr sz="2400" dirty="0" smtClean="0">
                <a:latin typeface="Constantia"/>
                <a:cs typeface="Constantia"/>
              </a:rPr>
              <a:t>passing</a:t>
            </a:r>
            <a:r>
              <a:rPr sz="2400" spc="-59" dirty="0" smtClean="0">
                <a:latin typeface="Constantia"/>
                <a:cs typeface="Constantia"/>
              </a:rPr>
              <a:t> </a:t>
            </a:r>
            <a:r>
              <a:rPr sz="2400" spc="-39" dirty="0" smtClean="0">
                <a:latin typeface="Constantia"/>
                <a:cs typeface="Constantia"/>
              </a:rPr>
              <a:t>o</a:t>
            </a:r>
            <a:r>
              <a:rPr sz="2400" spc="-54" dirty="0" smtClean="0">
                <a:latin typeface="Constantia"/>
                <a:cs typeface="Constantia"/>
              </a:rPr>
              <a:t>v</a:t>
            </a:r>
            <a:r>
              <a:rPr sz="2400" spc="0" dirty="0" smtClean="0">
                <a:latin typeface="Constantia"/>
                <a:cs typeface="Constantia"/>
              </a:rPr>
              <a:t>er</a:t>
            </a:r>
            <a:r>
              <a:rPr sz="2400" spc="-75" dirty="0" smtClean="0">
                <a:latin typeface="Constantia"/>
                <a:cs typeface="Constantia"/>
              </a:rPr>
              <a:t> </a:t>
            </a:r>
            <a:r>
              <a:rPr sz="2400" spc="-9" dirty="0" smtClean="0">
                <a:latin typeface="Constantia"/>
                <a:cs typeface="Constantia"/>
              </a:rPr>
              <a:t>n</a:t>
            </a:r>
            <a:r>
              <a:rPr sz="2400" spc="0" dirty="0" smtClean="0">
                <a:latin typeface="Constantia"/>
                <a:cs typeface="Constantia"/>
              </a:rPr>
              <a:t>ea</a:t>
            </a:r>
            <a:r>
              <a:rPr sz="2400" spc="9" dirty="0" smtClean="0">
                <a:latin typeface="Constantia"/>
                <a:cs typeface="Constantia"/>
              </a:rPr>
              <a:t>r</a:t>
            </a:r>
            <a:r>
              <a:rPr sz="2400" spc="0" dirty="0" smtClean="0">
                <a:latin typeface="Constantia"/>
                <a:cs typeface="Constantia"/>
              </a:rPr>
              <a:t>-</a:t>
            </a:r>
            <a:r>
              <a:rPr sz="2400" spc="-54" dirty="0" smtClean="0">
                <a:latin typeface="Constantia"/>
                <a:cs typeface="Constantia"/>
              </a:rPr>
              <a:t>v</a:t>
            </a:r>
            <a:r>
              <a:rPr sz="2400" spc="0" dirty="0" smtClean="0">
                <a:latin typeface="Constantia"/>
                <a:cs typeface="Constantia"/>
              </a:rPr>
              <a:t>er</a:t>
            </a:r>
            <a:r>
              <a:rPr sz="2400" spc="4" dirty="0" smtClean="0">
                <a:latin typeface="Constantia"/>
                <a:cs typeface="Constantia"/>
              </a:rPr>
              <a:t>t</a:t>
            </a:r>
            <a:r>
              <a:rPr sz="2400" spc="0" dirty="0" smtClean="0">
                <a:latin typeface="Constantia"/>
                <a:cs typeface="Constantia"/>
              </a:rPr>
              <a:t>ical</a:t>
            </a:r>
            <a:r>
              <a:rPr sz="2400" spc="-54" dirty="0" smtClean="0">
                <a:latin typeface="Constantia"/>
                <a:cs typeface="Constantia"/>
              </a:rPr>
              <a:t> </a:t>
            </a:r>
            <a:r>
              <a:rPr sz="2400" spc="-29" dirty="0" smtClean="0">
                <a:latin typeface="Constantia"/>
                <a:cs typeface="Constantia"/>
              </a:rPr>
              <a:t>w</a:t>
            </a:r>
            <a:r>
              <a:rPr sz="2400" spc="0" dirty="0" smtClean="0">
                <a:latin typeface="Constantia"/>
                <a:cs typeface="Constantia"/>
              </a:rPr>
              <a:t>a</a:t>
            </a:r>
            <a:r>
              <a:rPr sz="2400" spc="-34" dirty="0" smtClean="0">
                <a:latin typeface="Constantia"/>
                <a:cs typeface="Constantia"/>
              </a:rPr>
              <a:t>t</a:t>
            </a:r>
            <a:r>
              <a:rPr sz="2400" spc="0" dirty="0" smtClean="0">
                <a:latin typeface="Constantia"/>
                <a:cs typeface="Constantia"/>
              </a:rPr>
              <a:t>e</a:t>
            </a:r>
            <a:r>
              <a:rPr sz="2400" spc="4" dirty="0" smtClean="0">
                <a:latin typeface="Constantia"/>
                <a:cs typeface="Constantia"/>
              </a:rPr>
              <a:t>r</a:t>
            </a:r>
            <a:r>
              <a:rPr sz="2400" spc="0" dirty="0" smtClean="0">
                <a:latin typeface="Constantia"/>
                <a:cs typeface="Constantia"/>
              </a:rPr>
              <a:t>- </a:t>
            </a:r>
            <a:endParaRPr sz="2400">
              <a:latin typeface="Constantia"/>
              <a:cs typeface="Constantia"/>
            </a:endParaRPr>
          </a:p>
          <a:p>
            <a:pPr marL="12700">
              <a:lnSpc>
                <a:spcPts val="2929"/>
              </a:lnSpc>
            </a:pPr>
            <a:r>
              <a:rPr sz="2400" spc="-8" dirty="0" smtClean="0">
                <a:latin typeface="Constantia"/>
                <a:cs typeface="Constantia"/>
              </a:rPr>
              <a:t>tubes that zigzag between </a:t>
            </a:r>
            <a:endParaRPr sz="2400">
              <a:latin typeface="Constantia"/>
              <a:cs typeface="Constantia"/>
            </a:endParaRPr>
          </a:p>
          <a:p>
            <a:pPr marL="12700">
              <a:lnSpc>
                <a:spcPts val="2929"/>
              </a:lnSpc>
            </a:pPr>
            <a:r>
              <a:rPr sz="2400" spc="-12" dirty="0" smtClean="0">
                <a:latin typeface="Constantia"/>
                <a:cs typeface="Constantia"/>
              </a:rPr>
              <a:t>multiple steam drums and mud </a:t>
            </a:r>
            <a:endParaRPr sz="2400">
              <a:latin typeface="Constantia"/>
              <a:cs typeface="Constantia"/>
            </a:endParaRPr>
          </a:p>
          <a:p>
            <a:pPr marL="12700">
              <a:lnSpc>
                <a:spcPts val="2929"/>
              </a:lnSpc>
            </a:pPr>
            <a:r>
              <a:rPr sz="2400" spc="-5" dirty="0" smtClean="0">
                <a:latin typeface="Constantia"/>
                <a:cs typeface="Constantia"/>
              </a:rPr>
              <a:t>drums.</a:t>
            </a:r>
            <a:endParaRPr sz="2400">
              <a:latin typeface="Constantia"/>
              <a:cs typeface="Constantia"/>
            </a:endParaRPr>
          </a:p>
        </p:txBody>
      </p:sp>
      <p:sp>
        <p:nvSpPr>
          <p:cNvPr id="2" name="object 2"/>
          <p:cNvSpPr txBox="1"/>
          <p:nvPr/>
        </p:nvSpPr>
        <p:spPr>
          <a:xfrm>
            <a:off x="535940" y="3566070"/>
            <a:ext cx="229464" cy="315264"/>
          </a:xfrm>
          <a:prstGeom prst="rect">
            <a:avLst/>
          </a:prstGeom>
        </p:spPr>
        <p:txBody>
          <a:bodyPr wrap="square" lIns="0" tIns="14731" rIns="0" bIns="0" rtlCol="0">
            <a:noAutofit/>
          </a:bodyPr>
          <a:lstStyle/>
          <a:p>
            <a:pPr marL="12700">
              <a:lnSpc>
                <a:spcPts val="2320"/>
              </a:lnSpc>
            </a:pPr>
            <a:r>
              <a:rPr sz="2300" dirty="0" smtClean="0">
                <a:solidFill>
                  <a:srgbClr val="0AD0D9"/>
                </a:solidFill>
                <a:latin typeface="Wingdings"/>
                <a:cs typeface="Wingdings"/>
              </a:rPr>
              <a:t></a:t>
            </a:r>
            <a:endParaRPr sz="2300">
              <a:latin typeface="Wingdings"/>
              <a:cs typeface="Wingdings"/>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7" name="object 7"/>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8" name="object 8"/>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9" name="object 9"/>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10" name="object 10"/>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1" name="object 11"/>
          <p:cNvSpPr/>
          <p:nvPr/>
        </p:nvSpPr>
        <p:spPr>
          <a:xfrm>
            <a:off x="4419600" y="1828798"/>
            <a:ext cx="4724400" cy="5029200"/>
          </a:xfrm>
          <a:prstGeom prst="rect">
            <a:avLst/>
          </a:prstGeom>
          <a:blipFill>
            <a:blip r:embed="rId7" cstate="print"/>
            <a:stretch>
              <a:fillRect/>
            </a:stretch>
          </a:blipFill>
        </p:spPr>
        <p:txBody>
          <a:bodyPr wrap="square" lIns="0" tIns="0" rIns="0" bIns="0" rtlCol="0">
            <a:noAutofit/>
          </a:bodyPr>
          <a:lstStyle/>
          <a:p>
            <a:endParaRPr/>
          </a:p>
        </p:txBody>
      </p:sp>
      <p:sp>
        <p:nvSpPr>
          <p:cNvPr id="5" name="object 5"/>
          <p:cNvSpPr txBox="1"/>
          <p:nvPr/>
        </p:nvSpPr>
        <p:spPr>
          <a:xfrm>
            <a:off x="444500" y="1190142"/>
            <a:ext cx="5100673" cy="661212"/>
          </a:xfrm>
          <a:prstGeom prst="rect">
            <a:avLst/>
          </a:prstGeom>
        </p:spPr>
        <p:txBody>
          <a:bodyPr wrap="square" lIns="0" tIns="32416" rIns="0" bIns="0" rtlCol="0">
            <a:noAutofit/>
          </a:bodyPr>
          <a:lstStyle/>
          <a:p>
            <a:pPr marL="12700">
              <a:lnSpc>
                <a:spcPts val="5105"/>
              </a:lnSpc>
            </a:pPr>
            <a:r>
              <a:rPr sz="5000" b="1" spc="-21" dirty="0" smtClean="0">
                <a:solidFill>
                  <a:srgbClr val="04607A"/>
                </a:solidFill>
                <a:latin typeface="Calibri"/>
                <a:cs typeface="Calibri"/>
              </a:rPr>
              <a:t>Type of water tube</a:t>
            </a:r>
            <a:endParaRPr sz="5000">
              <a:latin typeface="Calibri"/>
              <a:cs typeface="Calibri"/>
            </a:endParaRPr>
          </a:p>
        </p:txBody>
      </p:sp>
      <p:sp>
        <p:nvSpPr>
          <p:cNvPr id="4" name="object 4"/>
          <p:cNvSpPr txBox="1"/>
          <p:nvPr/>
        </p:nvSpPr>
        <p:spPr>
          <a:xfrm>
            <a:off x="5568515" y="1190142"/>
            <a:ext cx="1658731" cy="661212"/>
          </a:xfrm>
          <a:prstGeom prst="rect">
            <a:avLst/>
          </a:prstGeom>
        </p:spPr>
        <p:txBody>
          <a:bodyPr wrap="square" lIns="0" tIns="32416" rIns="0" bIns="0" rtlCol="0">
            <a:noAutofit/>
          </a:bodyPr>
          <a:lstStyle/>
          <a:p>
            <a:pPr marL="12700">
              <a:lnSpc>
                <a:spcPts val="5105"/>
              </a:lnSpc>
            </a:pPr>
            <a:r>
              <a:rPr sz="5000" b="1" spc="-4" dirty="0" smtClean="0">
                <a:solidFill>
                  <a:srgbClr val="04607A"/>
                </a:solidFill>
                <a:latin typeface="Calibri"/>
                <a:cs typeface="Calibri"/>
              </a:rPr>
              <a:t>boiler</a:t>
            </a:r>
            <a:endParaRPr sz="5000">
              <a:latin typeface="Calibri"/>
              <a:cs typeface="Calibri"/>
            </a:endParaRPr>
          </a:p>
        </p:txBody>
      </p:sp>
      <p:sp>
        <p:nvSpPr>
          <p:cNvPr id="3" name="object 3"/>
          <p:cNvSpPr txBox="1"/>
          <p:nvPr/>
        </p:nvSpPr>
        <p:spPr>
          <a:xfrm>
            <a:off x="535940" y="1957561"/>
            <a:ext cx="212298" cy="626480"/>
          </a:xfrm>
          <a:prstGeom prst="rect">
            <a:avLst/>
          </a:prstGeom>
        </p:spPr>
        <p:txBody>
          <a:bodyPr wrap="square" lIns="0" tIns="13589" rIns="0" bIns="0" rtlCol="0">
            <a:noAutofit/>
          </a:bodyPr>
          <a:lstStyle/>
          <a:p>
            <a:pPr marL="12700">
              <a:lnSpc>
                <a:spcPts val="2140"/>
              </a:lnSpc>
            </a:pPr>
            <a:r>
              <a:rPr sz="2100" dirty="0" smtClean="0">
                <a:solidFill>
                  <a:srgbClr val="0AD0D9"/>
                </a:solidFill>
                <a:latin typeface="Wingdings"/>
                <a:cs typeface="Wingdings"/>
              </a:rPr>
              <a:t></a:t>
            </a:r>
            <a:endParaRPr sz="2100">
              <a:latin typeface="Wingdings"/>
              <a:cs typeface="Wingdings"/>
            </a:endParaRPr>
          </a:p>
          <a:p>
            <a:pPr marL="12700" marR="214">
              <a:lnSpc>
                <a:spcPct val="89274"/>
              </a:lnSpc>
              <a:spcBef>
                <a:spcPts val="327"/>
              </a:spcBef>
            </a:pPr>
            <a:r>
              <a:rPr sz="2100" dirty="0" smtClean="0">
                <a:solidFill>
                  <a:srgbClr val="0AD0D9"/>
                </a:solidFill>
                <a:latin typeface="Wingdings"/>
                <a:cs typeface="Wingdings"/>
              </a:rPr>
              <a:t></a:t>
            </a:r>
            <a:endParaRPr sz="2100">
              <a:latin typeface="Wingdings"/>
              <a:cs typeface="Wingdings"/>
            </a:endParaRPr>
          </a:p>
        </p:txBody>
      </p:sp>
      <p:sp>
        <p:nvSpPr>
          <p:cNvPr id="2" name="object 2"/>
          <p:cNvSpPr txBox="1"/>
          <p:nvPr/>
        </p:nvSpPr>
        <p:spPr>
          <a:xfrm>
            <a:off x="810260" y="1960251"/>
            <a:ext cx="3570069" cy="3591280"/>
          </a:xfrm>
          <a:prstGeom prst="rect">
            <a:avLst/>
          </a:prstGeom>
        </p:spPr>
        <p:txBody>
          <a:bodyPr wrap="square" lIns="0" tIns="14605" rIns="0" bIns="0" rtlCol="0">
            <a:noAutofit/>
          </a:bodyPr>
          <a:lstStyle/>
          <a:p>
            <a:pPr marL="12700" marR="38459">
              <a:lnSpc>
                <a:spcPts val="2300"/>
              </a:lnSpc>
            </a:pPr>
            <a:r>
              <a:rPr sz="2200" b="1" spc="-14" dirty="0" smtClean="0">
                <a:latin typeface="Constantia"/>
                <a:cs typeface="Constantia"/>
              </a:rPr>
              <a:t>Babcock and Wilcox boiler</a:t>
            </a:r>
            <a:endParaRPr sz="2200">
              <a:latin typeface="Constantia"/>
              <a:cs typeface="Constantia"/>
            </a:endParaRPr>
          </a:p>
          <a:p>
            <a:pPr marL="12700">
              <a:lnSpc>
                <a:spcPts val="2685"/>
              </a:lnSpc>
              <a:spcBef>
                <a:spcPts val="299"/>
              </a:spcBef>
            </a:pPr>
            <a:r>
              <a:rPr sz="2200" dirty="0" smtClean="0">
                <a:latin typeface="Constantia"/>
                <a:cs typeface="Constantia"/>
              </a:rPr>
              <a:t>The</a:t>
            </a:r>
            <a:r>
              <a:rPr sz="2200" spc="-81" dirty="0" smtClean="0">
                <a:latin typeface="Constantia"/>
                <a:cs typeface="Constantia"/>
              </a:rPr>
              <a:t> </a:t>
            </a:r>
            <a:r>
              <a:rPr sz="2200" spc="0" dirty="0" smtClean="0">
                <a:latin typeface="Constantia"/>
                <a:cs typeface="Constantia"/>
              </a:rPr>
              <a:t>longi</a:t>
            </a:r>
            <a:r>
              <a:rPr sz="2200" spc="9" dirty="0" smtClean="0">
                <a:latin typeface="Constantia"/>
                <a:cs typeface="Constantia"/>
              </a:rPr>
              <a:t>t</a:t>
            </a:r>
            <a:r>
              <a:rPr sz="2200" spc="0" dirty="0" smtClean="0">
                <a:latin typeface="Constantia"/>
                <a:cs typeface="Constantia"/>
              </a:rPr>
              <a:t>udi</a:t>
            </a:r>
            <a:r>
              <a:rPr sz="2200" spc="4" dirty="0" smtClean="0">
                <a:latin typeface="Constantia"/>
                <a:cs typeface="Constantia"/>
              </a:rPr>
              <a:t>n</a:t>
            </a:r>
            <a:r>
              <a:rPr sz="2200" spc="0" dirty="0" smtClean="0">
                <a:latin typeface="Constantia"/>
                <a:cs typeface="Constantia"/>
              </a:rPr>
              <a:t>al</a:t>
            </a:r>
            <a:r>
              <a:rPr sz="2200" spc="-184" dirty="0" smtClean="0">
                <a:latin typeface="Constantia"/>
                <a:cs typeface="Constantia"/>
              </a:rPr>
              <a:t> </a:t>
            </a:r>
            <a:r>
              <a:rPr sz="2200" spc="0" dirty="0" smtClean="0">
                <a:latin typeface="Constantia"/>
                <a:cs typeface="Constantia"/>
              </a:rPr>
              <a:t>drum</a:t>
            </a:r>
            <a:r>
              <a:rPr sz="2200" spc="-92" dirty="0" smtClean="0">
                <a:latin typeface="Constantia"/>
                <a:cs typeface="Constantia"/>
              </a:rPr>
              <a:t> </a:t>
            </a:r>
            <a:r>
              <a:rPr sz="2200" spc="0" dirty="0" smtClean="0">
                <a:latin typeface="Constantia"/>
                <a:cs typeface="Constantia"/>
              </a:rPr>
              <a:t>boiler </a:t>
            </a:r>
            <a:endParaRPr sz="2200">
              <a:latin typeface="Constantia"/>
              <a:cs typeface="Constantia"/>
            </a:endParaRPr>
          </a:p>
          <a:p>
            <a:pPr marL="12700">
              <a:lnSpc>
                <a:spcPts val="2685"/>
              </a:lnSpc>
            </a:pPr>
            <a:r>
              <a:rPr sz="2200" spc="-25" dirty="0" smtClean="0">
                <a:latin typeface="Constantia"/>
                <a:cs typeface="Constantia"/>
              </a:rPr>
              <a:t>is the generally accepted </a:t>
            </a:r>
            <a:endParaRPr sz="2200">
              <a:latin typeface="Constantia"/>
              <a:cs typeface="Constantia"/>
            </a:endParaRPr>
          </a:p>
          <a:p>
            <a:pPr marL="12700">
              <a:lnSpc>
                <a:spcPts val="2685"/>
              </a:lnSpc>
            </a:pPr>
            <a:r>
              <a:rPr sz="2200" spc="-14" dirty="0" smtClean="0">
                <a:latin typeface="Constantia"/>
                <a:cs typeface="Constantia"/>
              </a:rPr>
              <a:t>standard of Babcock &amp;</a:t>
            </a:r>
            <a:endParaRPr sz="2200">
              <a:latin typeface="Constantia"/>
              <a:cs typeface="Constantia"/>
            </a:endParaRPr>
          </a:p>
          <a:p>
            <a:pPr marL="12700" marR="16080">
              <a:lnSpc>
                <a:spcPts val="2685"/>
              </a:lnSpc>
            </a:pPr>
            <a:r>
              <a:rPr sz="2200" spc="-19" dirty="0" smtClean="0">
                <a:latin typeface="Constantia"/>
                <a:cs typeface="Constantia"/>
              </a:rPr>
              <a:t>Wilcox construction. The </a:t>
            </a:r>
            <a:endParaRPr sz="2200">
              <a:latin typeface="Constantia"/>
              <a:cs typeface="Constantia"/>
            </a:endParaRPr>
          </a:p>
          <a:p>
            <a:pPr marL="12700" marR="16080">
              <a:lnSpc>
                <a:spcPts val="2685"/>
              </a:lnSpc>
            </a:pPr>
            <a:r>
              <a:rPr sz="2200" spc="-17" dirty="0" smtClean="0">
                <a:latin typeface="Constantia"/>
                <a:cs typeface="Constantia"/>
              </a:rPr>
              <a:t>cross drum boiler, though </a:t>
            </a:r>
            <a:endParaRPr sz="2200">
              <a:latin typeface="Constantia"/>
              <a:cs typeface="Constantia"/>
            </a:endParaRPr>
          </a:p>
          <a:p>
            <a:pPr marL="12700" marR="16080">
              <a:lnSpc>
                <a:spcPts val="2685"/>
              </a:lnSpc>
            </a:pPr>
            <a:r>
              <a:rPr sz="2200" spc="-14" dirty="0" smtClean="0">
                <a:latin typeface="Constantia"/>
                <a:cs typeface="Constantia"/>
              </a:rPr>
              <a:t>originally designed to meet </a:t>
            </a:r>
            <a:endParaRPr sz="2200">
              <a:latin typeface="Constantia"/>
              <a:cs typeface="Constantia"/>
            </a:endParaRPr>
          </a:p>
          <a:p>
            <a:pPr marL="12700" marR="16080">
              <a:lnSpc>
                <a:spcPts val="2685"/>
              </a:lnSpc>
            </a:pPr>
            <a:r>
              <a:rPr sz="2200" spc="-20" dirty="0" smtClean="0">
                <a:latin typeface="Constantia"/>
                <a:cs typeface="Constantia"/>
              </a:rPr>
              <a:t>certain conditions of </a:t>
            </a:r>
            <a:endParaRPr sz="2200">
              <a:latin typeface="Constantia"/>
              <a:cs typeface="Constantia"/>
            </a:endParaRPr>
          </a:p>
          <a:p>
            <a:pPr marL="12700" marR="16080">
              <a:lnSpc>
                <a:spcPts val="2685"/>
              </a:lnSpc>
            </a:pPr>
            <a:r>
              <a:rPr sz="2200" spc="-12" dirty="0" smtClean="0">
                <a:latin typeface="Constantia"/>
                <a:cs typeface="Constantia"/>
              </a:rPr>
              <a:t>headroom, has become </a:t>
            </a:r>
            <a:endParaRPr sz="2200">
              <a:latin typeface="Constantia"/>
              <a:cs typeface="Constantia"/>
            </a:endParaRPr>
          </a:p>
          <a:p>
            <a:pPr marL="12700" marR="16080">
              <a:lnSpc>
                <a:spcPts val="2685"/>
              </a:lnSpc>
            </a:pPr>
            <a:r>
              <a:rPr sz="2200" dirty="0" smtClean="0">
                <a:latin typeface="Constantia"/>
                <a:cs typeface="Constantia"/>
              </a:rPr>
              <a:t>po</a:t>
            </a:r>
            <a:r>
              <a:rPr sz="2200" spc="-9" dirty="0" smtClean="0">
                <a:latin typeface="Constantia"/>
                <a:cs typeface="Constantia"/>
              </a:rPr>
              <a:t>p</a:t>
            </a:r>
            <a:r>
              <a:rPr sz="2200" spc="0" dirty="0" smtClean="0">
                <a:latin typeface="Constantia"/>
                <a:cs typeface="Constantia"/>
              </a:rPr>
              <a:t>u</a:t>
            </a:r>
            <a:r>
              <a:rPr sz="2200" spc="-4" dirty="0" smtClean="0">
                <a:latin typeface="Constantia"/>
                <a:cs typeface="Constantia"/>
              </a:rPr>
              <a:t>l</a:t>
            </a:r>
            <a:r>
              <a:rPr sz="2200" spc="0" dirty="0" smtClean="0">
                <a:latin typeface="Constantia"/>
                <a:cs typeface="Constantia"/>
              </a:rPr>
              <a:t>ar</a:t>
            </a:r>
            <a:r>
              <a:rPr sz="2200" spc="-168" dirty="0" smtClean="0">
                <a:latin typeface="Constantia"/>
                <a:cs typeface="Constantia"/>
              </a:rPr>
              <a:t> </a:t>
            </a:r>
            <a:r>
              <a:rPr sz="2200" spc="-9" dirty="0" smtClean="0">
                <a:latin typeface="Constantia"/>
                <a:cs typeface="Constantia"/>
              </a:rPr>
              <a:t>f</a:t>
            </a:r>
            <a:r>
              <a:rPr sz="2200" spc="0" dirty="0" smtClean="0">
                <a:latin typeface="Constantia"/>
                <a:cs typeface="Constantia"/>
              </a:rPr>
              <a:t>or</a:t>
            </a:r>
            <a:r>
              <a:rPr sz="2200" spc="-100" dirty="0" smtClean="0">
                <a:latin typeface="Constantia"/>
                <a:cs typeface="Constantia"/>
              </a:rPr>
              <a:t> </a:t>
            </a:r>
            <a:r>
              <a:rPr sz="2200" spc="0" dirty="0" smtClean="0">
                <a:latin typeface="Constantia"/>
                <a:cs typeface="Constantia"/>
              </a:rPr>
              <a:t>nu</a:t>
            </a:r>
            <a:r>
              <a:rPr sz="2200" spc="9" dirty="0" smtClean="0">
                <a:latin typeface="Constantia"/>
                <a:cs typeface="Constantia"/>
              </a:rPr>
              <a:t>m</a:t>
            </a:r>
            <a:r>
              <a:rPr sz="2200" spc="0" dirty="0" smtClean="0">
                <a:latin typeface="Constantia"/>
                <a:cs typeface="Constantia"/>
              </a:rPr>
              <a:t>e</a:t>
            </a:r>
            <a:r>
              <a:rPr sz="2200" spc="-34" dirty="0" smtClean="0">
                <a:latin typeface="Constantia"/>
                <a:cs typeface="Constantia"/>
              </a:rPr>
              <a:t>r</a:t>
            </a:r>
            <a:r>
              <a:rPr sz="2200" spc="0" dirty="0" smtClean="0">
                <a:latin typeface="Constantia"/>
                <a:cs typeface="Constantia"/>
              </a:rPr>
              <a:t>ous</a:t>
            </a:r>
            <a:r>
              <a:rPr sz="2200" spc="-216" dirty="0" smtClean="0">
                <a:latin typeface="Constantia"/>
                <a:cs typeface="Constantia"/>
              </a:rPr>
              <a:t> </a:t>
            </a:r>
            <a:r>
              <a:rPr sz="2200" spc="0" dirty="0" smtClean="0">
                <a:latin typeface="Constantia"/>
                <a:cs typeface="Constantia"/>
              </a:rPr>
              <a:t>c</a:t>
            </a:r>
            <a:r>
              <a:rPr sz="2200" spc="-9" dirty="0" smtClean="0">
                <a:latin typeface="Constantia"/>
                <a:cs typeface="Constantia"/>
              </a:rPr>
              <a:t>l</a:t>
            </a:r>
            <a:r>
              <a:rPr sz="2200" spc="0" dirty="0" smtClean="0">
                <a:latin typeface="Constantia"/>
                <a:cs typeface="Constantia"/>
              </a:rPr>
              <a:t>asses </a:t>
            </a:r>
            <a:endParaRPr sz="2200">
              <a:latin typeface="Constantia"/>
              <a:cs typeface="Constantia"/>
            </a:endParaRPr>
          </a:p>
          <a:p>
            <a:pPr marL="12700" marR="16080">
              <a:lnSpc>
                <a:spcPts val="2685"/>
              </a:lnSpc>
            </a:pPr>
            <a:r>
              <a:rPr sz="2200" dirty="0" smtClean="0">
                <a:latin typeface="Constantia"/>
                <a:cs typeface="Constantia"/>
              </a:rPr>
              <a:t>of</a:t>
            </a:r>
            <a:r>
              <a:rPr sz="2200" spc="-28" dirty="0" smtClean="0">
                <a:latin typeface="Constantia"/>
                <a:cs typeface="Constantia"/>
              </a:rPr>
              <a:t> </a:t>
            </a:r>
            <a:r>
              <a:rPr sz="2200" spc="-44" dirty="0" smtClean="0">
                <a:latin typeface="Constantia"/>
                <a:cs typeface="Constantia"/>
              </a:rPr>
              <a:t>w</a:t>
            </a:r>
            <a:r>
              <a:rPr sz="2200" spc="0" dirty="0" smtClean="0">
                <a:latin typeface="Constantia"/>
                <a:cs typeface="Constantia"/>
              </a:rPr>
              <a:t>o</a:t>
            </a:r>
            <a:r>
              <a:rPr sz="2200" spc="-25" dirty="0" smtClean="0">
                <a:latin typeface="Constantia"/>
                <a:cs typeface="Constantia"/>
              </a:rPr>
              <a:t>r</a:t>
            </a:r>
            <a:r>
              <a:rPr sz="2200" spc="0" dirty="0" smtClean="0">
                <a:latin typeface="Constantia"/>
                <a:cs typeface="Constantia"/>
              </a:rPr>
              <a:t>k</a:t>
            </a:r>
            <a:r>
              <a:rPr sz="2200" spc="-128" dirty="0" smtClean="0">
                <a:latin typeface="Constantia"/>
                <a:cs typeface="Constantia"/>
              </a:rPr>
              <a:t> </a:t>
            </a:r>
            <a:r>
              <a:rPr sz="2200" spc="-19" dirty="0" smtClean="0">
                <a:latin typeface="Constantia"/>
                <a:cs typeface="Constantia"/>
              </a:rPr>
              <a:t>w</a:t>
            </a:r>
            <a:r>
              <a:rPr sz="2200" spc="0" dirty="0" smtClean="0">
                <a:latin typeface="Constantia"/>
                <a:cs typeface="Constantia"/>
              </a:rPr>
              <a:t>he</a:t>
            </a:r>
            <a:r>
              <a:rPr sz="2200" spc="-34" dirty="0" smtClean="0">
                <a:latin typeface="Constantia"/>
                <a:cs typeface="Constantia"/>
              </a:rPr>
              <a:t>r</a:t>
            </a:r>
            <a:r>
              <a:rPr sz="2200" spc="0" dirty="0" smtClean="0">
                <a:latin typeface="Constantia"/>
                <a:cs typeface="Constantia"/>
              </a:rPr>
              <a:t>e</a:t>
            </a:r>
            <a:r>
              <a:rPr sz="2200" spc="-103" dirty="0" smtClean="0">
                <a:latin typeface="Constantia"/>
                <a:cs typeface="Constantia"/>
              </a:rPr>
              <a:t> </a:t>
            </a:r>
            <a:r>
              <a:rPr sz="2200" spc="0" dirty="0" smtClean="0">
                <a:latin typeface="Constantia"/>
                <a:cs typeface="Constantia"/>
              </a:rPr>
              <a:t>l</a:t>
            </a:r>
            <a:r>
              <a:rPr sz="2200" spc="-50" dirty="0" smtClean="0">
                <a:latin typeface="Constantia"/>
                <a:cs typeface="Constantia"/>
              </a:rPr>
              <a:t>o</a:t>
            </a:r>
            <a:r>
              <a:rPr sz="2200" spc="0" dirty="0" smtClean="0">
                <a:latin typeface="Constantia"/>
                <a:cs typeface="Constantia"/>
              </a:rPr>
              <a:t>w</a:t>
            </a:r>
            <a:r>
              <a:rPr sz="2200" spc="-69" dirty="0" smtClean="0">
                <a:latin typeface="Constantia"/>
                <a:cs typeface="Constantia"/>
              </a:rPr>
              <a:t> </a:t>
            </a:r>
            <a:r>
              <a:rPr sz="2200" spc="0" dirty="0" smtClean="0">
                <a:latin typeface="Constantia"/>
                <a:cs typeface="Constantia"/>
              </a:rPr>
              <a:t>hea</a:t>
            </a:r>
            <a:r>
              <a:rPr sz="2200" spc="4" dirty="0" smtClean="0">
                <a:latin typeface="Constantia"/>
                <a:cs typeface="Constantia"/>
              </a:rPr>
              <a:t>d</a:t>
            </a:r>
            <a:r>
              <a:rPr sz="2200" spc="-39" dirty="0" smtClean="0">
                <a:latin typeface="Constantia"/>
                <a:cs typeface="Constantia"/>
              </a:rPr>
              <a:t>r</a:t>
            </a:r>
            <a:r>
              <a:rPr sz="2200" spc="0" dirty="0" smtClean="0">
                <a:latin typeface="Constantia"/>
                <a:cs typeface="Constantia"/>
              </a:rPr>
              <a:t>oom </a:t>
            </a:r>
            <a:endParaRPr sz="2200">
              <a:latin typeface="Constantia"/>
              <a:cs typeface="Constantia"/>
            </a:endParaRPr>
          </a:p>
          <a:p>
            <a:pPr marL="12700" marR="16080">
              <a:lnSpc>
                <a:spcPts val="2685"/>
              </a:lnSpc>
            </a:pPr>
            <a:r>
              <a:rPr sz="2200" spc="-23" dirty="0" smtClean="0">
                <a:latin typeface="Constantia"/>
                <a:cs typeface="Constantia"/>
              </a:rPr>
              <a:t>is not a requirement which </a:t>
            </a:r>
            <a:endParaRPr sz="2200">
              <a:latin typeface="Constantia"/>
              <a:cs typeface="Constantia"/>
            </a:endParaRPr>
          </a:p>
          <a:p>
            <a:pPr marL="12700" marR="16080">
              <a:lnSpc>
                <a:spcPts val="2685"/>
              </a:lnSpc>
            </a:pPr>
            <a:r>
              <a:rPr sz="2200" spc="-15" dirty="0" smtClean="0">
                <a:latin typeface="Constantia"/>
                <a:cs typeface="Constantia"/>
              </a:rPr>
              <a:t>must be met.</a:t>
            </a:r>
            <a:endParaRPr sz="2200">
              <a:latin typeface="Constantia"/>
              <a:cs typeface="Constanti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0" name="object 10"/>
          <p:cNvSpPr/>
          <p:nvPr/>
        </p:nvSpPr>
        <p:spPr>
          <a:xfrm>
            <a:off x="103633" y="294132"/>
            <a:ext cx="8737092" cy="1257299"/>
          </a:xfrm>
          <a:prstGeom prst="rect">
            <a:avLst/>
          </a:prstGeom>
          <a:blipFill>
            <a:blip r:embed="rId7" cstate="print"/>
            <a:stretch>
              <a:fillRect/>
            </a:stretch>
          </a:blipFill>
        </p:spPr>
        <p:txBody>
          <a:bodyPr wrap="square" lIns="0" tIns="0" rIns="0" bIns="0" rtlCol="0">
            <a:noAutofit/>
          </a:bodyPr>
          <a:lstStyle/>
          <a:p>
            <a:endParaRPr/>
          </a:p>
        </p:txBody>
      </p:sp>
      <p:sp>
        <p:nvSpPr>
          <p:cNvPr id="11" name="object 11"/>
          <p:cNvSpPr/>
          <p:nvPr/>
        </p:nvSpPr>
        <p:spPr>
          <a:xfrm>
            <a:off x="103633" y="979932"/>
            <a:ext cx="6554723" cy="1257300"/>
          </a:xfrm>
          <a:prstGeom prst="rect">
            <a:avLst/>
          </a:prstGeom>
          <a:blipFill>
            <a:blip r:embed="rId8" cstate="print"/>
            <a:stretch>
              <a:fillRect/>
            </a:stretch>
          </a:blipFill>
        </p:spPr>
        <p:txBody>
          <a:bodyPr wrap="square" lIns="0" tIns="0" rIns="0" bIns="0" rtlCol="0">
            <a:noAutofit/>
          </a:bodyPr>
          <a:lstStyle/>
          <a:p>
            <a:endParaRPr/>
          </a:p>
        </p:txBody>
      </p:sp>
      <p:sp>
        <p:nvSpPr>
          <p:cNvPr id="4" name="object 4"/>
          <p:cNvSpPr txBox="1"/>
          <p:nvPr/>
        </p:nvSpPr>
        <p:spPr>
          <a:xfrm>
            <a:off x="444500" y="569340"/>
            <a:ext cx="8173424" cy="2525580"/>
          </a:xfrm>
          <a:prstGeom prst="rect">
            <a:avLst/>
          </a:prstGeom>
        </p:spPr>
        <p:txBody>
          <a:bodyPr wrap="square" lIns="0" tIns="29210" rIns="0" bIns="0" rtlCol="0">
            <a:noAutofit/>
          </a:bodyPr>
          <a:lstStyle/>
          <a:p>
            <a:pPr marL="12700" marR="47761">
              <a:lnSpc>
                <a:spcPts val="4600"/>
              </a:lnSpc>
            </a:pPr>
            <a:r>
              <a:rPr sz="4500" b="1" spc="-22" dirty="0" smtClean="0">
                <a:solidFill>
                  <a:srgbClr val="04607A"/>
                </a:solidFill>
                <a:latin typeface="Calibri"/>
                <a:cs typeface="Calibri"/>
              </a:rPr>
              <a:t>MERITS OF WATER TUBE BOILERS</a:t>
            </a:r>
            <a:endParaRPr sz="4500">
              <a:latin typeface="Calibri"/>
              <a:cs typeface="Calibri"/>
            </a:endParaRPr>
          </a:p>
          <a:p>
            <a:pPr marL="12700" marR="47761">
              <a:lnSpc>
                <a:spcPts val="5400"/>
              </a:lnSpc>
              <a:spcBef>
                <a:spcPts val="39"/>
              </a:spcBef>
            </a:pPr>
            <a:r>
              <a:rPr sz="4500" b="1" spc="-5" dirty="0" smtClean="0">
                <a:solidFill>
                  <a:srgbClr val="04607A"/>
                </a:solidFill>
                <a:latin typeface="Calibri"/>
                <a:cs typeface="Calibri"/>
              </a:rPr>
              <a:t>OVERFIRE TUBE BOILERS</a:t>
            </a:r>
            <a:endParaRPr sz="4500">
              <a:latin typeface="Calibri"/>
              <a:cs typeface="Calibri"/>
            </a:endParaRPr>
          </a:p>
          <a:p>
            <a:pPr marL="378459" indent="-274319">
              <a:lnSpc>
                <a:spcPts val="3205"/>
              </a:lnSpc>
              <a:spcBef>
                <a:spcPts val="759"/>
              </a:spcBef>
            </a:pPr>
            <a:r>
              <a:rPr sz="2450" dirty="0" smtClean="0">
                <a:solidFill>
                  <a:srgbClr val="0AD0D9"/>
                </a:solidFill>
                <a:latin typeface="Wingdings"/>
                <a:cs typeface="Wingdings"/>
              </a:rPr>
              <a:t></a:t>
            </a:r>
            <a:r>
              <a:rPr sz="2450" spc="175" dirty="0" smtClean="0">
                <a:solidFill>
                  <a:srgbClr val="0AD0D9"/>
                </a:solidFill>
                <a:latin typeface="Times New Roman"/>
                <a:cs typeface="Times New Roman"/>
              </a:rPr>
              <a:t> </a:t>
            </a:r>
            <a:r>
              <a:rPr sz="2600" spc="-18" dirty="0" smtClean="0">
                <a:latin typeface="Constantia"/>
                <a:cs typeface="Constantia"/>
              </a:rPr>
              <a:t>1. Generation of steam is much quicker due to small </a:t>
            </a:r>
            <a:endParaRPr sz="2600">
              <a:latin typeface="Constantia"/>
              <a:cs typeface="Constantia"/>
            </a:endParaRPr>
          </a:p>
          <a:p>
            <a:pPr marL="378459">
              <a:lnSpc>
                <a:spcPts val="3173"/>
              </a:lnSpc>
            </a:pPr>
            <a:r>
              <a:rPr sz="2600" spc="-22" dirty="0" smtClean="0">
                <a:latin typeface="Constantia"/>
                <a:cs typeface="Constantia"/>
              </a:rPr>
              <a:t>ratio of water content to steam content. This also helps </a:t>
            </a:r>
            <a:endParaRPr sz="2600">
              <a:latin typeface="Constantia"/>
              <a:cs typeface="Constantia"/>
            </a:endParaRPr>
          </a:p>
          <a:p>
            <a:pPr marL="378459">
              <a:lnSpc>
                <a:spcPts val="3173"/>
              </a:lnSpc>
            </a:pPr>
            <a:r>
              <a:rPr sz="2600" spc="-14" dirty="0" smtClean="0">
                <a:latin typeface="Constantia"/>
                <a:cs typeface="Constantia"/>
              </a:rPr>
              <a:t>in reaching the steaming temperature in short time.</a:t>
            </a:r>
            <a:endParaRPr sz="2600">
              <a:latin typeface="Constantia"/>
              <a:cs typeface="Constantia"/>
            </a:endParaRPr>
          </a:p>
        </p:txBody>
      </p:sp>
      <p:sp>
        <p:nvSpPr>
          <p:cNvPr id="3" name="object 3"/>
          <p:cNvSpPr txBox="1"/>
          <p:nvPr/>
        </p:nvSpPr>
        <p:spPr>
          <a:xfrm>
            <a:off x="535940" y="3630882"/>
            <a:ext cx="7234155" cy="727688"/>
          </a:xfrm>
          <a:prstGeom prst="rect">
            <a:avLst/>
          </a:prstGeom>
        </p:spPr>
        <p:txBody>
          <a:bodyPr wrap="square" lIns="0" tIns="17303" rIns="0" bIns="0" rtlCol="0">
            <a:noAutofit/>
          </a:bodyPr>
          <a:lstStyle/>
          <a:p>
            <a:pPr marL="12700">
              <a:lnSpc>
                <a:spcPts val="2725"/>
              </a:lnSpc>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20" dirty="0" smtClean="0">
                <a:latin typeface="Constantia"/>
                <a:cs typeface="Constantia"/>
              </a:rPr>
              <a:t>2. Its evaporative capacity is larger and the steam</a:t>
            </a:r>
            <a:endParaRPr sz="2600">
              <a:latin typeface="Constantia"/>
              <a:cs typeface="Constantia"/>
            </a:endParaRPr>
          </a:p>
          <a:p>
            <a:pPr marL="287019" marR="50022">
              <a:lnSpc>
                <a:spcPts val="2905"/>
              </a:lnSpc>
              <a:spcBef>
                <a:spcPts val="9"/>
              </a:spcBef>
            </a:pPr>
            <a:r>
              <a:rPr sz="2600" spc="-22" dirty="0" smtClean="0">
                <a:latin typeface="Constantia"/>
                <a:cs typeface="Constantia"/>
              </a:rPr>
              <a:t>pressure range is also high-200 bar.</a:t>
            </a:r>
            <a:endParaRPr sz="2600">
              <a:latin typeface="Constantia"/>
              <a:cs typeface="Constantia"/>
            </a:endParaRPr>
          </a:p>
        </p:txBody>
      </p:sp>
      <p:sp>
        <p:nvSpPr>
          <p:cNvPr id="2" name="object 2"/>
          <p:cNvSpPr txBox="1"/>
          <p:nvPr/>
        </p:nvSpPr>
        <p:spPr>
          <a:xfrm>
            <a:off x="535940" y="4894035"/>
            <a:ext cx="7889721" cy="728312"/>
          </a:xfrm>
          <a:prstGeom prst="rect">
            <a:avLst/>
          </a:prstGeom>
        </p:spPr>
        <p:txBody>
          <a:bodyPr wrap="square" lIns="0" tIns="17303" rIns="0" bIns="0" rtlCol="0">
            <a:noAutofit/>
          </a:bodyPr>
          <a:lstStyle/>
          <a:p>
            <a:pPr marL="12700">
              <a:lnSpc>
                <a:spcPts val="2725"/>
              </a:lnSpc>
            </a:pPr>
            <a:r>
              <a:rPr sz="2450" dirty="0" smtClean="0">
                <a:solidFill>
                  <a:srgbClr val="0AD0D9"/>
                </a:solidFill>
                <a:latin typeface="Wingdings"/>
                <a:cs typeface="Wingdings"/>
              </a:rPr>
              <a:t></a:t>
            </a:r>
            <a:r>
              <a:rPr sz="2450" spc="175" dirty="0" smtClean="0">
                <a:solidFill>
                  <a:srgbClr val="0AD0D9"/>
                </a:solidFill>
                <a:latin typeface="Times New Roman"/>
                <a:cs typeface="Times New Roman"/>
              </a:rPr>
              <a:t> </a:t>
            </a:r>
            <a:r>
              <a:rPr sz="2600" spc="-20" dirty="0" smtClean="0">
                <a:latin typeface="Constantia"/>
                <a:cs typeface="Constantia"/>
              </a:rPr>
              <a:t>3. Heating surfaces are more effective as the hot gases</a:t>
            </a:r>
            <a:endParaRPr sz="2600">
              <a:latin typeface="Constantia"/>
              <a:cs typeface="Constantia"/>
            </a:endParaRPr>
          </a:p>
          <a:p>
            <a:pPr marL="287019" marR="50069">
              <a:lnSpc>
                <a:spcPts val="2905"/>
              </a:lnSpc>
              <a:spcBef>
                <a:spcPts val="9"/>
              </a:spcBef>
            </a:pPr>
            <a:r>
              <a:rPr sz="2600" spc="-24" dirty="0" smtClean="0">
                <a:latin typeface="Constantia"/>
                <a:cs typeface="Constantia"/>
              </a:rPr>
              <a:t>travel at right angles to the direction of water flow.</a:t>
            </a:r>
            <a:endParaRPr sz="2600">
              <a:latin typeface="Constantia"/>
              <a:cs typeface="Constantia"/>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0" name="object 10"/>
          <p:cNvSpPr/>
          <p:nvPr/>
        </p:nvSpPr>
        <p:spPr>
          <a:xfrm>
            <a:off x="103633" y="294132"/>
            <a:ext cx="8737092" cy="1257299"/>
          </a:xfrm>
          <a:prstGeom prst="rect">
            <a:avLst/>
          </a:prstGeom>
          <a:blipFill>
            <a:blip r:embed="rId7" cstate="print"/>
            <a:stretch>
              <a:fillRect/>
            </a:stretch>
          </a:blipFill>
        </p:spPr>
        <p:txBody>
          <a:bodyPr wrap="square" lIns="0" tIns="0" rIns="0" bIns="0" rtlCol="0">
            <a:noAutofit/>
          </a:bodyPr>
          <a:lstStyle/>
          <a:p>
            <a:endParaRPr/>
          </a:p>
        </p:txBody>
      </p:sp>
      <p:sp>
        <p:nvSpPr>
          <p:cNvPr id="11" name="object 11"/>
          <p:cNvSpPr/>
          <p:nvPr/>
        </p:nvSpPr>
        <p:spPr>
          <a:xfrm>
            <a:off x="103633" y="979932"/>
            <a:ext cx="6554723" cy="1257300"/>
          </a:xfrm>
          <a:prstGeom prst="rect">
            <a:avLst/>
          </a:prstGeom>
          <a:blipFill>
            <a:blip r:embed="rId8" cstate="print"/>
            <a:stretch>
              <a:fillRect/>
            </a:stretch>
          </a:blipFill>
        </p:spPr>
        <p:txBody>
          <a:bodyPr wrap="square" lIns="0" tIns="0" rIns="0" bIns="0" rtlCol="0">
            <a:noAutofit/>
          </a:bodyPr>
          <a:lstStyle/>
          <a:p>
            <a:endParaRPr/>
          </a:p>
        </p:txBody>
      </p:sp>
      <p:sp>
        <p:nvSpPr>
          <p:cNvPr id="4" name="object 4"/>
          <p:cNvSpPr txBox="1"/>
          <p:nvPr/>
        </p:nvSpPr>
        <p:spPr>
          <a:xfrm>
            <a:off x="444500" y="569340"/>
            <a:ext cx="7980848" cy="2516965"/>
          </a:xfrm>
          <a:prstGeom prst="rect">
            <a:avLst/>
          </a:prstGeom>
        </p:spPr>
        <p:txBody>
          <a:bodyPr wrap="square" lIns="0" tIns="29210" rIns="0" bIns="0" rtlCol="0">
            <a:noAutofit/>
          </a:bodyPr>
          <a:lstStyle/>
          <a:p>
            <a:pPr marL="12700" marR="4936">
              <a:lnSpc>
                <a:spcPts val="4600"/>
              </a:lnSpc>
            </a:pPr>
            <a:r>
              <a:rPr sz="4500" b="1" spc="-22" dirty="0" smtClean="0">
                <a:solidFill>
                  <a:srgbClr val="04607A"/>
                </a:solidFill>
                <a:latin typeface="Calibri"/>
                <a:cs typeface="Calibri"/>
              </a:rPr>
              <a:t>MERITS OF WATER TUBE BOILERS</a:t>
            </a:r>
            <a:endParaRPr sz="4500">
              <a:latin typeface="Calibri"/>
              <a:cs typeface="Calibri"/>
            </a:endParaRPr>
          </a:p>
          <a:p>
            <a:pPr marL="12700" marR="44254">
              <a:lnSpc>
                <a:spcPts val="5400"/>
              </a:lnSpc>
              <a:spcBef>
                <a:spcPts val="39"/>
              </a:spcBef>
            </a:pPr>
            <a:r>
              <a:rPr sz="4500" b="1" spc="-5" dirty="0" smtClean="0">
                <a:solidFill>
                  <a:srgbClr val="04607A"/>
                </a:solidFill>
                <a:latin typeface="Calibri"/>
                <a:cs typeface="Calibri"/>
              </a:rPr>
              <a:t>OVERFIRE TUBE BOILERS</a:t>
            </a:r>
            <a:endParaRPr sz="4500">
              <a:latin typeface="Calibri"/>
              <a:cs typeface="Calibri"/>
            </a:endParaRPr>
          </a:p>
          <a:p>
            <a:pPr marL="378459" indent="-274319" algn="just">
              <a:lnSpc>
                <a:spcPct val="92950"/>
              </a:lnSpc>
              <a:spcBef>
                <a:spcPts val="786"/>
              </a:spcBef>
            </a:pPr>
            <a:r>
              <a:rPr sz="2450" dirty="0" smtClean="0">
                <a:solidFill>
                  <a:srgbClr val="0AD0D9"/>
                </a:solidFill>
                <a:latin typeface="Wingdings"/>
                <a:cs typeface="Wingdings"/>
              </a:rPr>
              <a:t></a:t>
            </a:r>
            <a:r>
              <a:rPr sz="2450" spc="175" dirty="0" smtClean="0">
                <a:solidFill>
                  <a:srgbClr val="0AD0D9"/>
                </a:solidFill>
                <a:latin typeface="Times New Roman"/>
                <a:cs typeface="Times New Roman"/>
              </a:rPr>
              <a:t> </a:t>
            </a:r>
            <a:r>
              <a:rPr sz="2600" spc="0" dirty="0" smtClean="0">
                <a:latin typeface="Times New Roman"/>
                <a:cs typeface="Times New Roman"/>
              </a:rPr>
              <a:t>4.</a:t>
            </a:r>
            <a:r>
              <a:rPr sz="2600" spc="-50" dirty="0" smtClean="0">
                <a:latin typeface="Times New Roman"/>
                <a:cs typeface="Times New Roman"/>
              </a:rPr>
              <a:t> </a:t>
            </a:r>
            <a:r>
              <a:rPr sz="2600" spc="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e</a:t>
            </a:r>
            <a:r>
              <a:rPr sz="2600" spc="-29" dirty="0" smtClean="0">
                <a:latin typeface="Times New Roman"/>
                <a:cs typeface="Times New Roman"/>
              </a:rPr>
              <a:t> </a:t>
            </a:r>
            <a:r>
              <a:rPr sz="2600" spc="0" dirty="0" smtClean="0">
                <a:latin typeface="Times New Roman"/>
                <a:cs typeface="Times New Roman"/>
              </a:rPr>
              <a:t>co</a:t>
            </a:r>
            <a:r>
              <a:rPr sz="2600" spc="-9" dirty="0" smtClean="0">
                <a:latin typeface="Times New Roman"/>
                <a:cs typeface="Times New Roman"/>
              </a:rPr>
              <a:t>m</a:t>
            </a:r>
            <a:r>
              <a:rPr sz="2600" spc="0" dirty="0" smtClean="0">
                <a:latin typeface="Times New Roman"/>
                <a:cs typeface="Times New Roman"/>
              </a:rPr>
              <a:t>b</a:t>
            </a:r>
            <a:r>
              <a:rPr sz="2600" spc="9" dirty="0" smtClean="0">
                <a:latin typeface="Times New Roman"/>
                <a:cs typeface="Times New Roman"/>
              </a:rPr>
              <a:t>u</a:t>
            </a:r>
            <a:r>
              <a:rPr sz="2600" spc="0" dirty="0" smtClean="0">
                <a:latin typeface="Times New Roman"/>
                <a:cs typeface="Times New Roman"/>
              </a:rPr>
              <a:t>s</a:t>
            </a:r>
            <a:r>
              <a:rPr sz="2600" spc="-9" dirty="0" smtClean="0">
                <a:latin typeface="Times New Roman"/>
                <a:cs typeface="Times New Roman"/>
              </a:rPr>
              <a:t>t</a:t>
            </a:r>
            <a:r>
              <a:rPr sz="2600" spc="0" dirty="0" smtClean="0">
                <a:latin typeface="Times New Roman"/>
                <a:cs typeface="Times New Roman"/>
              </a:rPr>
              <a:t>ion</a:t>
            </a:r>
            <a:r>
              <a:rPr sz="2600" spc="-9" dirty="0" smtClean="0">
                <a:latin typeface="Times New Roman"/>
                <a:cs typeface="Times New Roman"/>
              </a:rPr>
              <a:t> </a:t>
            </a:r>
            <a:r>
              <a:rPr sz="2600" spc="0" dirty="0" smtClean="0">
                <a:latin typeface="Times New Roman"/>
                <a:cs typeface="Times New Roman"/>
              </a:rPr>
              <a:t>e</a:t>
            </a:r>
            <a:r>
              <a:rPr sz="2600" spc="-54" dirty="0" smtClean="0">
                <a:latin typeface="Times New Roman"/>
                <a:cs typeface="Times New Roman"/>
              </a:rPr>
              <a:t>f</a:t>
            </a:r>
            <a:r>
              <a:rPr sz="2600" spc="0" dirty="0" smtClean="0">
                <a:latin typeface="Times New Roman"/>
                <a:cs typeface="Times New Roman"/>
              </a:rPr>
              <a:t>f</a:t>
            </a:r>
            <a:r>
              <a:rPr sz="2600" spc="-9" dirty="0" smtClean="0">
                <a:latin typeface="Times New Roman"/>
                <a:cs typeface="Times New Roman"/>
              </a:rPr>
              <a:t>i</a:t>
            </a:r>
            <a:r>
              <a:rPr sz="2600" spc="0" dirty="0" smtClean="0">
                <a:latin typeface="Times New Roman"/>
                <a:cs typeface="Times New Roman"/>
              </a:rPr>
              <a:t>c</a:t>
            </a:r>
            <a:r>
              <a:rPr sz="2600" spc="-9" dirty="0" smtClean="0">
                <a:latin typeface="Times New Roman"/>
                <a:cs typeface="Times New Roman"/>
              </a:rPr>
              <a:t>i</a:t>
            </a:r>
            <a:r>
              <a:rPr sz="2600" spc="0" dirty="0" smtClean="0">
                <a:latin typeface="Times New Roman"/>
                <a:cs typeface="Times New Roman"/>
              </a:rPr>
              <a:t>ency</a:t>
            </a:r>
            <a:r>
              <a:rPr sz="2600" spc="-14" dirty="0" smtClean="0">
                <a:latin typeface="Times New Roman"/>
                <a:cs typeface="Times New Roman"/>
              </a:rPr>
              <a:t> </a:t>
            </a:r>
            <a:r>
              <a:rPr sz="2600" spc="0" dirty="0" smtClean="0">
                <a:latin typeface="Times New Roman"/>
                <a:cs typeface="Times New Roman"/>
              </a:rPr>
              <a:t>is hig</a:t>
            </a:r>
            <a:r>
              <a:rPr sz="2600" spc="9" dirty="0" smtClean="0">
                <a:latin typeface="Times New Roman"/>
                <a:cs typeface="Times New Roman"/>
              </a:rPr>
              <a:t>h</a:t>
            </a:r>
            <a:r>
              <a:rPr sz="2600" spc="0" dirty="0" smtClean="0">
                <a:latin typeface="Times New Roman"/>
                <a:cs typeface="Times New Roman"/>
              </a:rPr>
              <a:t>er</a:t>
            </a:r>
            <a:r>
              <a:rPr sz="2600" spc="-34" dirty="0" smtClean="0">
                <a:latin typeface="Times New Roman"/>
                <a:cs typeface="Times New Roman"/>
              </a:rPr>
              <a:t> </a:t>
            </a:r>
            <a:r>
              <a:rPr sz="2600" spc="0" dirty="0" smtClean="0">
                <a:latin typeface="Times New Roman"/>
                <a:cs typeface="Times New Roman"/>
              </a:rPr>
              <a:t>bec</a:t>
            </a:r>
            <a:r>
              <a:rPr sz="2600" spc="-9" dirty="0" smtClean="0">
                <a:latin typeface="Times New Roman"/>
                <a:cs typeface="Times New Roman"/>
              </a:rPr>
              <a:t>a</a:t>
            </a:r>
            <a:r>
              <a:rPr sz="2600" spc="0" dirty="0" smtClean="0">
                <a:latin typeface="Times New Roman"/>
                <a:cs typeface="Times New Roman"/>
              </a:rPr>
              <a:t>use</a:t>
            </a:r>
            <a:r>
              <a:rPr sz="2600" spc="-19" dirty="0" smtClean="0">
                <a:latin typeface="Times New Roman"/>
                <a:cs typeface="Times New Roman"/>
              </a:rPr>
              <a:t> </a:t>
            </a:r>
            <a:r>
              <a:rPr sz="2600" spc="0" dirty="0" smtClean="0">
                <a:latin typeface="Times New Roman"/>
                <a:cs typeface="Times New Roman"/>
              </a:rPr>
              <a:t>co</a:t>
            </a:r>
            <a:r>
              <a:rPr sz="2600" spc="-9" dirty="0" smtClean="0">
                <a:latin typeface="Times New Roman"/>
                <a:cs typeface="Times New Roman"/>
              </a:rPr>
              <a:t>m</a:t>
            </a:r>
            <a:r>
              <a:rPr sz="2600" spc="0" dirty="0" smtClean="0">
                <a:latin typeface="Times New Roman"/>
                <a:cs typeface="Times New Roman"/>
              </a:rPr>
              <a:t>ple</a:t>
            </a:r>
            <a:r>
              <a:rPr sz="2600" spc="-9" dirty="0" smtClean="0">
                <a:latin typeface="Times New Roman"/>
                <a:cs typeface="Times New Roman"/>
              </a:rPr>
              <a:t>t</a:t>
            </a:r>
            <a:r>
              <a:rPr sz="2600" spc="0" dirty="0" smtClean="0">
                <a:latin typeface="Times New Roman"/>
                <a:cs typeface="Times New Roman"/>
              </a:rPr>
              <a:t>e combustion</a:t>
            </a:r>
            <a:r>
              <a:rPr sz="2600" spc="-9" dirty="0" smtClean="0">
                <a:latin typeface="Times New Roman"/>
                <a:cs typeface="Times New Roman"/>
              </a:rPr>
              <a:t> </a:t>
            </a:r>
            <a:r>
              <a:rPr sz="2600" spc="0" dirty="0" smtClean="0">
                <a:latin typeface="Times New Roman"/>
                <a:cs typeface="Times New Roman"/>
              </a:rPr>
              <a:t>of</a:t>
            </a:r>
            <a:r>
              <a:rPr sz="2600" spc="-9" dirty="0" smtClean="0">
                <a:latin typeface="Times New Roman"/>
                <a:cs typeface="Times New Roman"/>
              </a:rPr>
              <a:t> </a:t>
            </a:r>
            <a:r>
              <a:rPr sz="2600" spc="0" dirty="0" smtClean="0">
                <a:latin typeface="Times New Roman"/>
                <a:cs typeface="Times New Roman"/>
              </a:rPr>
              <a:t>fuel</a:t>
            </a:r>
            <a:r>
              <a:rPr sz="2600" spc="-4" dirty="0" smtClean="0">
                <a:latin typeface="Times New Roman"/>
                <a:cs typeface="Times New Roman"/>
              </a:rPr>
              <a:t> </a:t>
            </a:r>
            <a:r>
              <a:rPr sz="2600" spc="0" dirty="0" smtClean="0">
                <a:latin typeface="Times New Roman"/>
                <a:cs typeface="Times New Roman"/>
              </a:rPr>
              <a:t>is p</a:t>
            </a:r>
            <a:r>
              <a:rPr sz="2600" spc="9" dirty="0" smtClean="0">
                <a:latin typeface="Times New Roman"/>
                <a:cs typeface="Times New Roman"/>
              </a:rPr>
              <a:t>o</a:t>
            </a:r>
            <a:r>
              <a:rPr sz="2600" spc="0" dirty="0" smtClean="0">
                <a:latin typeface="Times New Roman"/>
                <a:cs typeface="Times New Roman"/>
              </a:rPr>
              <a:t>s</a:t>
            </a:r>
            <a:r>
              <a:rPr sz="2600" spc="-9" dirty="0" smtClean="0">
                <a:latin typeface="Times New Roman"/>
                <a:cs typeface="Times New Roman"/>
              </a:rPr>
              <a:t>s</a:t>
            </a:r>
            <a:r>
              <a:rPr sz="2600" spc="0" dirty="0" smtClean="0">
                <a:latin typeface="Times New Roman"/>
                <a:cs typeface="Times New Roman"/>
              </a:rPr>
              <a:t>ible</a:t>
            </a:r>
            <a:r>
              <a:rPr sz="2600" spc="-19" dirty="0" smtClean="0">
                <a:latin typeface="Times New Roman"/>
                <a:cs typeface="Times New Roman"/>
              </a:rPr>
              <a:t> </a:t>
            </a:r>
            <a:r>
              <a:rPr sz="2600" spc="0" dirty="0" smtClean="0">
                <a:latin typeface="Times New Roman"/>
                <a:cs typeface="Times New Roman"/>
              </a:rPr>
              <a:t>as the</a:t>
            </a:r>
            <a:r>
              <a:rPr sz="2600" spc="-14" dirty="0" smtClean="0">
                <a:latin typeface="Times New Roman"/>
                <a:cs typeface="Times New Roman"/>
              </a:rPr>
              <a:t> </a:t>
            </a:r>
            <a:r>
              <a:rPr sz="2600" spc="0" dirty="0" smtClean="0">
                <a:latin typeface="Times New Roman"/>
                <a:cs typeface="Times New Roman"/>
              </a:rPr>
              <a:t>combustion</a:t>
            </a:r>
            <a:r>
              <a:rPr sz="2600" spc="-9" dirty="0" smtClean="0">
                <a:latin typeface="Times New Roman"/>
                <a:cs typeface="Times New Roman"/>
              </a:rPr>
              <a:t> </a:t>
            </a:r>
            <a:r>
              <a:rPr sz="2600" spc="0" dirty="0" smtClean="0">
                <a:latin typeface="Times New Roman"/>
                <a:cs typeface="Times New Roman"/>
              </a:rPr>
              <a:t>space</a:t>
            </a:r>
            <a:r>
              <a:rPr sz="2600" spc="-25" dirty="0" smtClean="0">
                <a:latin typeface="Times New Roman"/>
                <a:cs typeface="Times New Roman"/>
              </a:rPr>
              <a:t> </a:t>
            </a:r>
            <a:r>
              <a:rPr sz="2600" spc="0" dirty="0" smtClean="0">
                <a:latin typeface="Times New Roman"/>
                <a:cs typeface="Times New Roman"/>
              </a:rPr>
              <a:t>is much</a:t>
            </a:r>
            <a:r>
              <a:rPr sz="2600" spc="-14" dirty="0" smtClean="0">
                <a:latin typeface="Times New Roman"/>
                <a:cs typeface="Times New Roman"/>
              </a:rPr>
              <a:t> </a:t>
            </a:r>
            <a:r>
              <a:rPr sz="2600" spc="0" dirty="0" smtClean="0">
                <a:latin typeface="Times New Roman"/>
                <a:cs typeface="Times New Roman"/>
              </a:rPr>
              <a:t>l</a:t>
            </a:r>
            <a:r>
              <a:rPr sz="2600" spc="-9" dirty="0" smtClean="0">
                <a:latin typeface="Times New Roman"/>
                <a:cs typeface="Times New Roman"/>
              </a:rPr>
              <a:t>a</a:t>
            </a:r>
            <a:r>
              <a:rPr sz="2600" spc="-50" dirty="0" smtClean="0">
                <a:latin typeface="Times New Roman"/>
                <a:cs typeface="Times New Roman"/>
              </a:rPr>
              <a:t>r</a:t>
            </a:r>
            <a:r>
              <a:rPr sz="2600" spc="0" dirty="0" smtClean="0">
                <a:latin typeface="Times New Roman"/>
                <a:cs typeface="Times New Roman"/>
              </a:rPr>
              <a:t>ge</a:t>
            </a:r>
            <a:r>
              <a:rPr sz="2600" spc="-144" dirty="0" smtClean="0">
                <a:latin typeface="Times New Roman"/>
                <a:cs typeface="Times New Roman"/>
              </a:rPr>
              <a:t>r</a:t>
            </a:r>
            <a:r>
              <a:rPr sz="2600" spc="0" dirty="0" smtClean="0">
                <a:latin typeface="Times New Roman"/>
                <a:cs typeface="Times New Roman"/>
              </a:rPr>
              <a:t>.</a:t>
            </a:r>
            <a:endParaRPr sz="2600">
              <a:latin typeface="Times New Roman"/>
              <a:cs typeface="Times New Roman"/>
            </a:endParaRPr>
          </a:p>
        </p:txBody>
      </p:sp>
      <p:sp>
        <p:nvSpPr>
          <p:cNvPr id="3" name="object 3"/>
          <p:cNvSpPr txBox="1"/>
          <p:nvPr/>
        </p:nvSpPr>
        <p:spPr>
          <a:xfrm>
            <a:off x="535940" y="3626564"/>
            <a:ext cx="8016730" cy="1092200"/>
          </a:xfrm>
          <a:prstGeom prst="rect">
            <a:avLst/>
          </a:prstGeom>
        </p:spPr>
        <p:txBody>
          <a:bodyPr wrap="square" lIns="0" tIns="17526" rIns="0" bIns="0" rtlCol="0">
            <a:noAutofit/>
          </a:bodyPr>
          <a:lstStyle/>
          <a:p>
            <a:pPr marL="12700" marR="44254">
              <a:lnSpc>
                <a:spcPts val="2760"/>
              </a:lnSpc>
            </a:pPr>
            <a:r>
              <a:rPr sz="2450" dirty="0" smtClean="0">
                <a:solidFill>
                  <a:srgbClr val="0AD0D9"/>
                </a:solidFill>
                <a:latin typeface="Wingdings"/>
                <a:cs typeface="Wingdings"/>
              </a:rPr>
              <a:t></a:t>
            </a:r>
            <a:r>
              <a:rPr sz="2450" spc="0" dirty="0" smtClean="0">
                <a:solidFill>
                  <a:srgbClr val="0AD0D9"/>
                </a:solidFill>
                <a:latin typeface="Times New Roman"/>
                <a:cs typeface="Times New Roman"/>
              </a:rPr>
              <a:t> </a:t>
            </a:r>
            <a:r>
              <a:rPr sz="2600" spc="0" dirty="0" smtClean="0">
                <a:latin typeface="Times New Roman"/>
                <a:cs typeface="Times New Roman"/>
              </a:rPr>
              <a:t>5. The thermal stresses in the boiler parts are less as</a:t>
            </a:r>
            <a:endParaRPr sz="2600">
              <a:latin typeface="Times New Roman"/>
              <a:cs typeface="Times New Roman"/>
            </a:endParaRPr>
          </a:p>
          <a:p>
            <a:pPr marL="287019">
              <a:lnSpc>
                <a:spcPts val="2900"/>
              </a:lnSpc>
              <a:spcBef>
                <a:spcPts val="17"/>
              </a:spcBef>
            </a:pPr>
            <a:r>
              <a:rPr sz="2600" spc="-4" dirty="0" smtClean="0">
                <a:latin typeface="Times New Roman"/>
                <a:cs typeface="Times New Roman"/>
              </a:rPr>
              <a:t>different parts of the boiler remain at uniform temperature due to quick circulation of water.</a:t>
            </a:r>
            <a:endParaRPr sz="2600">
              <a:latin typeface="Times New Roman"/>
              <a:cs typeface="Times New Roman"/>
            </a:endParaRPr>
          </a:p>
        </p:txBody>
      </p:sp>
      <p:sp>
        <p:nvSpPr>
          <p:cNvPr id="2" name="object 2"/>
          <p:cNvSpPr txBox="1"/>
          <p:nvPr/>
        </p:nvSpPr>
        <p:spPr>
          <a:xfrm>
            <a:off x="535940" y="5257625"/>
            <a:ext cx="7196635" cy="724865"/>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6.</a:t>
            </a:r>
            <a:r>
              <a:rPr sz="2600" spc="-44" dirty="0" smtClean="0">
                <a:latin typeface="Times New Roman"/>
                <a:cs typeface="Times New Roman"/>
              </a:rPr>
              <a:t> </a:t>
            </a:r>
            <a:r>
              <a:rPr sz="2600" spc="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e</a:t>
            </a:r>
            <a:r>
              <a:rPr sz="2600" spc="-29"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er</a:t>
            </a:r>
            <a:r>
              <a:rPr sz="2600" spc="-9" dirty="0" smtClean="0">
                <a:latin typeface="Times New Roman"/>
                <a:cs typeface="Times New Roman"/>
              </a:rPr>
              <a:t> </a:t>
            </a:r>
            <a:r>
              <a:rPr sz="2600" spc="0" dirty="0" smtClean="0">
                <a:latin typeface="Times New Roman"/>
                <a:cs typeface="Times New Roman"/>
              </a:rPr>
              <a:t>c</a:t>
            </a:r>
            <a:r>
              <a:rPr sz="2600" spc="-9" dirty="0" smtClean="0">
                <a:latin typeface="Times New Roman"/>
                <a:cs typeface="Times New Roman"/>
              </a:rPr>
              <a:t>a</a:t>
            </a:r>
            <a:r>
              <a:rPr sz="2600" spc="0" dirty="0" smtClean="0">
                <a:latin typeface="Times New Roman"/>
                <a:cs typeface="Times New Roman"/>
              </a:rPr>
              <a:t>n</a:t>
            </a:r>
            <a:r>
              <a:rPr sz="2600" spc="-4" dirty="0" smtClean="0">
                <a:latin typeface="Times New Roman"/>
                <a:cs typeface="Times New Roman"/>
              </a:rPr>
              <a:t> </a:t>
            </a:r>
            <a:r>
              <a:rPr sz="2600" spc="0" dirty="0" smtClean="0">
                <a:latin typeface="Times New Roman"/>
                <a:cs typeface="Times New Roman"/>
              </a:rPr>
              <a:t>be</a:t>
            </a:r>
            <a:r>
              <a:rPr sz="2600" spc="-9" dirty="0" smtClean="0">
                <a:latin typeface="Times New Roman"/>
                <a:cs typeface="Times New Roman"/>
              </a:rPr>
              <a:t> </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s</a:t>
            </a:r>
            <a:r>
              <a:rPr sz="2600" spc="-9" dirty="0" smtClean="0">
                <a:latin typeface="Times New Roman"/>
                <a:cs typeface="Times New Roman"/>
              </a:rPr>
              <a:t>i</a:t>
            </a:r>
            <a:r>
              <a:rPr sz="2600" spc="0" dirty="0" smtClean="0">
                <a:latin typeface="Times New Roman"/>
                <a:cs typeface="Times New Roman"/>
              </a:rPr>
              <a:t>ly</a:t>
            </a:r>
            <a:r>
              <a:rPr sz="2600" spc="9" dirty="0" smtClean="0">
                <a:latin typeface="Times New Roman"/>
                <a:cs typeface="Times New Roman"/>
              </a:rPr>
              <a:t> </a:t>
            </a:r>
            <a:r>
              <a:rPr sz="2600" spc="0" dirty="0" smtClean="0">
                <a:latin typeface="Times New Roman"/>
                <a:cs typeface="Times New Roman"/>
              </a:rPr>
              <a:t>tr</a:t>
            </a:r>
            <a:r>
              <a:rPr sz="2600" spc="-9" dirty="0" smtClean="0">
                <a:latin typeface="Times New Roman"/>
                <a:cs typeface="Times New Roman"/>
              </a:rPr>
              <a:t>a</a:t>
            </a:r>
            <a:r>
              <a:rPr sz="2600" spc="0" dirty="0" smtClean="0">
                <a:latin typeface="Times New Roman"/>
                <a:cs typeface="Times New Roman"/>
              </a:rPr>
              <a:t>nsp</a:t>
            </a:r>
            <a:r>
              <a:rPr sz="2600" spc="9" dirty="0" smtClean="0">
                <a:latin typeface="Times New Roman"/>
                <a:cs typeface="Times New Roman"/>
              </a:rPr>
              <a:t>o</a:t>
            </a:r>
            <a:r>
              <a:rPr sz="2600" spc="0" dirty="0" smtClean="0">
                <a:latin typeface="Times New Roman"/>
                <a:cs typeface="Times New Roman"/>
              </a:rPr>
              <a:t>rt</a:t>
            </a:r>
            <a:r>
              <a:rPr sz="2600" spc="-9" dirty="0" smtClean="0">
                <a:latin typeface="Times New Roman"/>
                <a:cs typeface="Times New Roman"/>
              </a:rPr>
              <a:t>e</a:t>
            </a:r>
            <a:r>
              <a:rPr sz="2600" spc="0" dirty="0" smtClean="0">
                <a:latin typeface="Times New Roman"/>
                <a:cs typeface="Times New Roman"/>
              </a:rPr>
              <a:t>d</a:t>
            </a:r>
            <a:r>
              <a:rPr sz="2600" spc="-19" dirty="0" smtClean="0">
                <a:latin typeface="Times New Roman"/>
                <a:cs typeface="Times New Roman"/>
              </a:rPr>
              <a:t> </a:t>
            </a:r>
            <a:r>
              <a:rPr sz="2600" spc="0" dirty="0" smtClean="0">
                <a:latin typeface="Times New Roman"/>
                <a:cs typeface="Times New Roman"/>
              </a:rPr>
              <a:t>and</a:t>
            </a:r>
            <a:r>
              <a:rPr sz="2600" spc="-19" dirty="0" smtClean="0">
                <a:latin typeface="Times New Roman"/>
                <a:cs typeface="Times New Roman"/>
              </a:rPr>
              <a:t> </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s</a:t>
            </a:r>
            <a:r>
              <a:rPr sz="2600" spc="-9" dirty="0" smtClean="0">
                <a:latin typeface="Times New Roman"/>
                <a:cs typeface="Times New Roman"/>
              </a:rPr>
              <a:t>i</a:t>
            </a:r>
            <a:r>
              <a:rPr sz="2600" spc="0" dirty="0" smtClean="0">
                <a:latin typeface="Times New Roman"/>
                <a:cs typeface="Times New Roman"/>
              </a:rPr>
              <a:t>ly</a:t>
            </a:r>
            <a:r>
              <a:rPr sz="2600" spc="9" dirty="0" smtClean="0">
                <a:latin typeface="Times New Roman"/>
                <a:cs typeface="Times New Roman"/>
              </a:rPr>
              <a:t> </a:t>
            </a:r>
            <a:r>
              <a:rPr sz="2600" spc="0" dirty="0" smtClean="0">
                <a:latin typeface="Times New Roman"/>
                <a:cs typeface="Times New Roman"/>
              </a:rPr>
              <a:t>i</a:t>
            </a:r>
            <a:r>
              <a:rPr sz="2600" spc="-9" dirty="0" smtClean="0">
                <a:latin typeface="Times New Roman"/>
                <a:cs typeface="Times New Roman"/>
              </a:rPr>
              <a:t>t</a:t>
            </a:r>
            <a:r>
              <a:rPr sz="2600" spc="0" dirty="0" smtClean="0">
                <a:latin typeface="Times New Roman"/>
                <a:cs typeface="Times New Roman"/>
              </a:rPr>
              <a:t>s</a:t>
            </a:r>
            <a:endParaRPr sz="2600">
              <a:latin typeface="Times New Roman"/>
              <a:cs typeface="Times New Roman"/>
            </a:endParaRPr>
          </a:p>
          <a:p>
            <a:pPr marL="287019" marR="49606">
              <a:lnSpc>
                <a:spcPts val="2905"/>
              </a:lnSpc>
              <a:spcBef>
                <a:spcPts val="7"/>
              </a:spcBef>
            </a:pPr>
            <a:r>
              <a:rPr sz="2600" spc="-3" dirty="0" smtClean="0">
                <a:latin typeface="Times New Roman"/>
                <a:cs typeface="Times New Roman"/>
              </a:rPr>
              <a:t>different parts can be separated.</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6" name="object 6"/>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7" name="object 7"/>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8" name="object 8"/>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9" name="object 9"/>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10" name="object 10"/>
          <p:cNvSpPr/>
          <p:nvPr/>
        </p:nvSpPr>
        <p:spPr>
          <a:xfrm>
            <a:off x="103633" y="294132"/>
            <a:ext cx="8737092" cy="1257299"/>
          </a:xfrm>
          <a:prstGeom prst="rect">
            <a:avLst/>
          </a:prstGeom>
          <a:blipFill>
            <a:blip r:embed="rId7" cstate="print"/>
            <a:stretch>
              <a:fillRect/>
            </a:stretch>
          </a:blipFill>
        </p:spPr>
        <p:txBody>
          <a:bodyPr wrap="square" lIns="0" tIns="0" rIns="0" bIns="0" rtlCol="0">
            <a:noAutofit/>
          </a:bodyPr>
          <a:lstStyle/>
          <a:p>
            <a:endParaRPr/>
          </a:p>
        </p:txBody>
      </p:sp>
      <p:sp>
        <p:nvSpPr>
          <p:cNvPr id="11" name="object 11"/>
          <p:cNvSpPr/>
          <p:nvPr/>
        </p:nvSpPr>
        <p:spPr>
          <a:xfrm>
            <a:off x="103633" y="979932"/>
            <a:ext cx="6554723" cy="1257300"/>
          </a:xfrm>
          <a:prstGeom prst="rect">
            <a:avLst/>
          </a:prstGeom>
          <a:blipFill>
            <a:blip r:embed="rId8" cstate="print"/>
            <a:stretch>
              <a:fillRect/>
            </a:stretch>
          </a:blipFill>
        </p:spPr>
        <p:txBody>
          <a:bodyPr wrap="square" lIns="0" tIns="0" rIns="0" bIns="0" rtlCol="0">
            <a:noAutofit/>
          </a:bodyPr>
          <a:lstStyle/>
          <a:p>
            <a:endParaRPr/>
          </a:p>
        </p:txBody>
      </p:sp>
      <p:sp>
        <p:nvSpPr>
          <p:cNvPr id="4" name="object 4"/>
          <p:cNvSpPr txBox="1"/>
          <p:nvPr/>
        </p:nvSpPr>
        <p:spPr>
          <a:xfrm>
            <a:off x="444500" y="569340"/>
            <a:ext cx="7975911" cy="2516965"/>
          </a:xfrm>
          <a:prstGeom prst="rect">
            <a:avLst/>
          </a:prstGeom>
        </p:spPr>
        <p:txBody>
          <a:bodyPr wrap="square" lIns="0" tIns="29210" rIns="0" bIns="0" rtlCol="0">
            <a:noAutofit/>
          </a:bodyPr>
          <a:lstStyle/>
          <a:p>
            <a:pPr marL="12700">
              <a:lnSpc>
                <a:spcPts val="4600"/>
              </a:lnSpc>
            </a:pPr>
            <a:r>
              <a:rPr sz="4500" b="1" spc="-22" dirty="0" smtClean="0">
                <a:solidFill>
                  <a:srgbClr val="04607A"/>
                </a:solidFill>
                <a:latin typeface="Calibri"/>
                <a:cs typeface="Calibri"/>
              </a:rPr>
              <a:t>MERITS OF WATER TUBE BOILERS</a:t>
            </a:r>
            <a:endParaRPr sz="4500">
              <a:latin typeface="Calibri"/>
              <a:cs typeface="Calibri"/>
            </a:endParaRPr>
          </a:p>
          <a:p>
            <a:pPr marL="12700" marR="85725">
              <a:lnSpc>
                <a:spcPts val="5400"/>
              </a:lnSpc>
              <a:spcBef>
                <a:spcPts val="39"/>
              </a:spcBef>
            </a:pPr>
            <a:r>
              <a:rPr sz="4500" b="1" spc="-5" dirty="0" smtClean="0">
                <a:solidFill>
                  <a:srgbClr val="04607A"/>
                </a:solidFill>
                <a:latin typeface="Calibri"/>
                <a:cs typeface="Calibri"/>
              </a:rPr>
              <a:t>OVERFIRE TUBE BOILERS</a:t>
            </a:r>
            <a:endParaRPr sz="4500">
              <a:latin typeface="Calibri"/>
              <a:cs typeface="Calibri"/>
            </a:endParaRPr>
          </a:p>
          <a:p>
            <a:pPr marL="378459" marR="641266" indent="-274319">
              <a:lnSpc>
                <a:spcPct val="92950"/>
              </a:lnSpc>
              <a:spcBef>
                <a:spcPts val="786"/>
              </a:spcBef>
            </a:pPr>
            <a:r>
              <a:rPr sz="2450" dirty="0" smtClean="0">
                <a:solidFill>
                  <a:srgbClr val="0AD0D9"/>
                </a:solidFill>
                <a:latin typeface="Wingdings"/>
                <a:cs typeface="Wingdings"/>
              </a:rPr>
              <a:t></a:t>
            </a:r>
            <a:r>
              <a:rPr sz="2450" spc="-1" dirty="0" smtClean="0">
                <a:solidFill>
                  <a:srgbClr val="0AD0D9"/>
                </a:solidFill>
                <a:latin typeface="Times New Roman"/>
                <a:cs typeface="Times New Roman"/>
              </a:rPr>
              <a:t> </a:t>
            </a:r>
            <a:r>
              <a:rPr sz="2600" spc="-1" dirty="0" smtClean="0">
                <a:latin typeface="Times New Roman"/>
                <a:cs typeface="Times New Roman"/>
              </a:rPr>
              <a:t>7. Damage due to the bursting of water tube is less serious. Therefore, water tube boilers are sometimes called safety boilers.</a:t>
            </a:r>
            <a:endParaRPr sz="2600">
              <a:latin typeface="Times New Roman"/>
              <a:cs typeface="Times New Roman"/>
            </a:endParaRPr>
          </a:p>
        </p:txBody>
      </p:sp>
      <p:sp>
        <p:nvSpPr>
          <p:cNvPr id="3" name="object 3"/>
          <p:cNvSpPr txBox="1"/>
          <p:nvPr/>
        </p:nvSpPr>
        <p:spPr>
          <a:xfrm>
            <a:off x="535940" y="3626564"/>
            <a:ext cx="7853090" cy="723392"/>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179" dirty="0" smtClean="0">
                <a:solidFill>
                  <a:srgbClr val="0AD0D9"/>
                </a:solidFill>
                <a:latin typeface="Times New Roman"/>
                <a:cs typeface="Times New Roman"/>
              </a:rPr>
              <a:t> </a:t>
            </a:r>
            <a:r>
              <a:rPr sz="2600" spc="0" dirty="0" smtClean="0">
                <a:latin typeface="Times New Roman"/>
                <a:cs typeface="Times New Roman"/>
              </a:rPr>
              <a:t>8.</a:t>
            </a:r>
            <a:r>
              <a:rPr sz="2600" spc="-139" dirty="0" smtClean="0">
                <a:latin typeface="Times New Roman"/>
                <a:cs typeface="Times New Roman"/>
              </a:rPr>
              <a:t> </a:t>
            </a:r>
            <a:r>
              <a:rPr sz="2600" spc="0" dirty="0" smtClean="0">
                <a:latin typeface="Times New Roman"/>
                <a:cs typeface="Times New Roman"/>
              </a:rPr>
              <a:t>All par</a:t>
            </a:r>
            <a:r>
              <a:rPr sz="2600" spc="-9" dirty="0" smtClean="0">
                <a:latin typeface="Times New Roman"/>
                <a:cs typeface="Times New Roman"/>
              </a:rPr>
              <a:t>t</a:t>
            </a:r>
            <a:r>
              <a:rPr sz="2600" spc="0" dirty="0" smtClean="0">
                <a:latin typeface="Times New Roman"/>
                <a:cs typeface="Times New Roman"/>
              </a:rPr>
              <a:t>s</a:t>
            </a:r>
            <a:r>
              <a:rPr sz="2600" spc="-4" dirty="0" smtClean="0">
                <a:latin typeface="Times New Roman"/>
                <a:cs typeface="Times New Roman"/>
              </a:rPr>
              <a:t> </a:t>
            </a:r>
            <a:r>
              <a:rPr sz="2600" spc="0" dirty="0" smtClean="0">
                <a:latin typeface="Times New Roman"/>
                <a:cs typeface="Times New Roman"/>
              </a:rPr>
              <a:t>of</a:t>
            </a:r>
            <a:r>
              <a:rPr sz="2600" spc="-9" dirty="0" smtClean="0">
                <a:latin typeface="Times New Roman"/>
                <a:cs typeface="Times New Roman"/>
              </a:rPr>
              <a:t> </a:t>
            </a:r>
            <a:r>
              <a:rPr sz="2600" spc="0" dirty="0" smtClean="0">
                <a:latin typeface="Times New Roman"/>
                <a:cs typeface="Times New Roman"/>
              </a:rPr>
              <a:t>the wat</a:t>
            </a:r>
            <a:r>
              <a:rPr sz="2600" spc="-9" dirty="0" smtClean="0">
                <a:latin typeface="Times New Roman"/>
                <a:cs typeface="Times New Roman"/>
              </a:rPr>
              <a:t>e</a:t>
            </a:r>
            <a:r>
              <a:rPr sz="2600" spc="0" dirty="0" smtClean="0">
                <a:latin typeface="Times New Roman"/>
                <a:cs typeface="Times New Roman"/>
              </a:rPr>
              <a:t>r</a:t>
            </a:r>
            <a:r>
              <a:rPr sz="2600" spc="-14" dirty="0" smtClean="0">
                <a:latin typeface="Times New Roman"/>
                <a:cs typeface="Times New Roman"/>
              </a:rPr>
              <a:t> </a:t>
            </a:r>
            <a:r>
              <a:rPr sz="2600" spc="0" dirty="0" smtClean="0">
                <a:latin typeface="Times New Roman"/>
                <a:cs typeface="Times New Roman"/>
              </a:rPr>
              <a:t>tu</a:t>
            </a:r>
            <a:r>
              <a:rPr sz="2600" spc="4" dirty="0" smtClean="0">
                <a:latin typeface="Times New Roman"/>
                <a:cs typeface="Times New Roman"/>
              </a:rPr>
              <a:t>b</a:t>
            </a:r>
            <a:r>
              <a:rPr sz="2600" spc="0" dirty="0" smtClean="0">
                <a:latin typeface="Times New Roman"/>
                <a:cs typeface="Times New Roman"/>
              </a:rPr>
              <a:t>e boile</a:t>
            </a:r>
            <a:r>
              <a:rPr sz="2600" spc="-9" dirty="0" smtClean="0">
                <a:latin typeface="Times New Roman"/>
                <a:cs typeface="Times New Roman"/>
              </a:rPr>
              <a:t>r</a:t>
            </a:r>
            <a:r>
              <a:rPr sz="2600" spc="0" dirty="0" smtClean="0">
                <a:latin typeface="Times New Roman"/>
                <a:cs typeface="Times New Roman"/>
              </a:rPr>
              <a:t>s</a:t>
            </a:r>
            <a:r>
              <a:rPr sz="2600" spc="-19" dirty="0" smtClean="0">
                <a:latin typeface="Times New Roman"/>
                <a:cs typeface="Times New Roman"/>
              </a:rPr>
              <a:t> </a:t>
            </a:r>
            <a:r>
              <a:rPr sz="2600" spc="0" dirty="0" smtClean="0">
                <a:latin typeface="Times New Roman"/>
                <a:cs typeface="Times New Roman"/>
              </a:rPr>
              <a:t>are</a:t>
            </a:r>
            <a:r>
              <a:rPr sz="2600" spc="-9" dirty="0" smtClean="0">
                <a:latin typeface="Times New Roman"/>
                <a:cs typeface="Times New Roman"/>
              </a:rPr>
              <a:t> </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s</a:t>
            </a:r>
            <a:r>
              <a:rPr sz="2600" spc="-9" dirty="0" smtClean="0">
                <a:latin typeface="Times New Roman"/>
                <a:cs typeface="Times New Roman"/>
              </a:rPr>
              <a:t>i</a:t>
            </a:r>
            <a:r>
              <a:rPr sz="2600" spc="0" dirty="0" smtClean="0">
                <a:latin typeface="Times New Roman"/>
                <a:cs typeface="Times New Roman"/>
              </a:rPr>
              <a:t>ly a</a:t>
            </a:r>
            <a:r>
              <a:rPr sz="2600" spc="-9" dirty="0" smtClean="0">
                <a:latin typeface="Times New Roman"/>
                <a:cs typeface="Times New Roman"/>
              </a:rPr>
              <a:t>c</a:t>
            </a:r>
            <a:r>
              <a:rPr sz="2600" spc="0" dirty="0" smtClean="0">
                <a:latin typeface="Times New Roman"/>
                <a:cs typeface="Times New Roman"/>
              </a:rPr>
              <a:t>c</a:t>
            </a:r>
            <a:r>
              <a:rPr sz="2600" spc="-9" dirty="0" smtClean="0">
                <a:latin typeface="Times New Roman"/>
                <a:cs typeface="Times New Roman"/>
              </a:rPr>
              <a:t>e</a:t>
            </a:r>
            <a:r>
              <a:rPr sz="2600" spc="0" dirty="0" smtClean="0">
                <a:latin typeface="Times New Roman"/>
                <a:cs typeface="Times New Roman"/>
              </a:rPr>
              <a:t>s</a:t>
            </a:r>
            <a:r>
              <a:rPr sz="2600" spc="-9" dirty="0" smtClean="0">
                <a:latin typeface="Times New Roman"/>
                <a:cs typeface="Times New Roman"/>
              </a:rPr>
              <a:t>s</a:t>
            </a:r>
            <a:r>
              <a:rPr sz="2600" spc="0" dirty="0" smtClean="0">
                <a:latin typeface="Times New Roman"/>
                <a:cs typeface="Times New Roman"/>
              </a:rPr>
              <a:t>ible</a:t>
            </a:r>
            <a:endParaRPr sz="2600">
              <a:latin typeface="Times New Roman"/>
              <a:cs typeface="Times New Roman"/>
            </a:endParaRPr>
          </a:p>
          <a:p>
            <a:pPr marL="287019" marR="49606">
              <a:lnSpc>
                <a:spcPts val="2890"/>
              </a:lnSpc>
              <a:spcBef>
                <a:spcPts val="6"/>
              </a:spcBef>
            </a:pPr>
            <a:r>
              <a:rPr sz="2600" spc="-2" dirty="0" smtClean="0">
                <a:latin typeface="Times New Roman"/>
                <a:cs typeface="Times New Roman"/>
              </a:rPr>
              <a:t>for cleaning, inspecting and repairing.</a:t>
            </a:r>
            <a:endParaRPr sz="2600">
              <a:latin typeface="Times New Roman"/>
              <a:cs typeface="Times New Roman"/>
            </a:endParaRPr>
          </a:p>
        </p:txBody>
      </p:sp>
      <p:sp>
        <p:nvSpPr>
          <p:cNvPr id="2" name="object 2"/>
          <p:cNvSpPr txBox="1"/>
          <p:nvPr/>
        </p:nvSpPr>
        <p:spPr>
          <a:xfrm>
            <a:off x="535940" y="4889715"/>
            <a:ext cx="7176179" cy="724018"/>
          </a:xfrm>
          <a:prstGeom prst="rect">
            <a:avLst/>
          </a:prstGeom>
        </p:spPr>
        <p:txBody>
          <a:bodyPr wrap="square" lIns="0" tIns="17526" rIns="0" bIns="0" rtlCol="0">
            <a:noAutofit/>
          </a:bodyPr>
          <a:lstStyle/>
          <a:p>
            <a:pPr marL="12700">
              <a:lnSpc>
                <a:spcPts val="2760"/>
              </a:lnSpc>
            </a:pPr>
            <a:r>
              <a:rPr sz="2450" dirty="0" smtClean="0">
                <a:solidFill>
                  <a:srgbClr val="0AD0D9"/>
                </a:solidFill>
                <a:latin typeface="Wingdings"/>
                <a:cs typeface="Wingdings"/>
              </a:rPr>
              <a:t></a:t>
            </a:r>
            <a:r>
              <a:rPr sz="2450" spc="175" dirty="0" smtClean="0">
                <a:solidFill>
                  <a:srgbClr val="0AD0D9"/>
                </a:solidFill>
                <a:latin typeface="Times New Roman"/>
                <a:cs typeface="Times New Roman"/>
              </a:rPr>
              <a:t> </a:t>
            </a:r>
            <a:r>
              <a:rPr sz="2600" spc="0" dirty="0" smtClean="0">
                <a:latin typeface="Times New Roman"/>
                <a:cs typeface="Times New Roman"/>
              </a:rPr>
              <a:t>9.</a:t>
            </a:r>
            <a:r>
              <a:rPr sz="2600" spc="-50" dirty="0" smtClean="0">
                <a:latin typeface="Times New Roman"/>
                <a:cs typeface="Times New Roman"/>
              </a:rPr>
              <a:t> </a:t>
            </a:r>
            <a:r>
              <a:rPr sz="2600" spc="0" dirty="0" smtClean="0">
                <a:latin typeface="Times New Roman"/>
                <a:cs typeface="Times New Roman"/>
              </a:rPr>
              <a:t>T</a:t>
            </a:r>
            <a:r>
              <a:rPr sz="2600" spc="9" dirty="0" smtClean="0">
                <a:latin typeface="Times New Roman"/>
                <a:cs typeface="Times New Roman"/>
              </a:rPr>
              <a:t>h</a:t>
            </a:r>
            <a:r>
              <a:rPr sz="2600" spc="0" dirty="0" smtClean="0">
                <a:latin typeface="Times New Roman"/>
                <a:cs typeface="Times New Roman"/>
              </a:rPr>
              <a:t>e</a:t>
            </a:r>
            <a:r>
              <a:rPr sz="2600" spc="-29" dirty="0" smtClean="0">
                <a:latin typeface="Times New Roman"/>
                <a:cs typeface="Times New Roman"/>
              </a:rPr>
              <a:t> </a:t>
            </a:r>
            <a:r>
              <a:rPr sz="2600" spc="0" dirty="0" smtClean="0">
                <a:latin typeface="Times New Roman"/>
                <a:cs typeface="Times New Roman"/>
              </a:rPr>
              <a:t>wat</a:t>
            </a:r>
            <a:r>
              <a:rPr sz="2600" spc="-9" dirty="0" smtClean="0">
                <a:latin typeface="Times New Roman"/>
                <a:cs typeface="Times New Roman"/>
              </a:rPr>
              <a:t>e</a:t>
            </a:r>
            <a:r>
              <a:rPr sz="2600" spc="0" dirty="0" smtClean="0">
                <a:latin typeface="Times New Roman"/>
                <a:cs typeface="Times New Roman"/>
              </a:rPr>
              <a:t>r </a:t>
            </a:r>
            <a:r>
              <a:rPr sz="2600" spc="-14" dirty="0" smtClean="0">
                <a:latin typeface="Times New Roman"/>
                <a:cs typeface="Times New Roman"/>
              </a:rPr>
              <a:t>t</a:t>
            </a:r>
            <a:r>
              <a:rPr sz="2600" spc="0" dirty="0" smtClean="0">
                <a:latin typeface="Times New Roman"/>
                <a:cs typeface="Times New Roman"/>
              </a:rPr>
              <a:t>u</a:t>
            </a:r>
            <a:r>
              <a:rPr sz="2600" spc="9" dirty="0" smtClean="0">
                <a:latin typeface="Times New Roman"/>
                <a:cs typeface="Times New Roman"/>
              </a:rPr>
              <a:t>b</a:t>
            </a:r>
            <a:r>
              <a:rPr sz="2600" spc="0" dirty="0" smtClean="0">
                <a:latin typeface="Times New Roman"/>
                <a:cs typeface="Times New Roman"/>
              </a:rPr>
              <a:t>e</a:t>
            </a:r>
            <a:r>
              <a:rPr sz="2600" spc="-19" dirty="0" smtClean="0">
                <a:latin typeface="Times New Roman"/>
                <a:cs typeface="Times New Roman"/>
              </a:rPr>
              <a:t> </a:t>
            </a:r>
            <a:r>
              <a:rPr sz="2600" spc="0" dirty="0" smtClean="0">
                <a:latin typeface="Times New Roman"/>
                <a:cs typeface="Times New Roman"/>
              </a:rPr>
              <a:t>b</a:t>
            </a:r>
            <a:r>
              <a:rPr sz="2600" spc="9" dirty="0" smtClean="0">
                <a:latin typeface="Times New Roman"/>
                <a:cs typeface="Times New Roman"/>
              </a:rPr>
              <a:t>o</a:t>
            </a:r>
            <a:r>
              <a:rPr sz="2600" spc="0" dirty="0" smtClean="0">
                <a:latin typeface="Times New Roman"/>
                <a:cs typeface="Times New Roman"/>
              </a:rPr>
              <a:t>i</a:t>
            </a:r>
            <a:r>
              <a:rPr sz="2600" spc="-9" dirty="0" smtClean="0">
                <a:latin typeface="Times New Roman"/>
                <a:cs typeface="Times New Roman"/>
              </a:rPr>
              <a:t>l</a:t>
            </a:r>
            <a:r>
              <a:rPr sz="2600" spc="0" dirty="0" smtClean="0">
                <a:latin typeface="Times New Roman"/>
                <a:cs typeface="Times New Roman"/>
              </a:rPr>
              <a:t>e</a:t>
            </a:r>
            <a:r>
              <a:rPr sz="2600" spc="-9" dirty="0" smtClean="0">
                <a:latin typeface="Times New Roman"/>
                <a:cs typeface="Times New Roman"/>
              </a:rPr>
              <a:t>r</a:t>
            </a:r>
            <a:r>
              <a:rPr sz="2600" spc="-25" dirty="0" smtClean="0">
                <a:latin typeface="Times New Roman"/>
                <a:cs typeface="Times New Roman"/>
              </a:rPr>
              <a:t>'</a:t>
            </a:r>
            <a:r>
              <a:rPr sz="2600" spc="0" dirty="0" smtClean="0">
                <a:latin typeface="Times New Roman"/>
                <a:cs typeface="Times New Roman"/>
              </a:rPr>
              <a:t>s furnace</a:t>
            </a:r>
            <a:r>
              <a:rPr sz="2600" spc="-34" dirty="0" smtClean="0">
                <a:latin typeface="Times New Roman"/>
                <a:cs typeface="Times New Roman"/>
              </a:rPr>
              <a:t> </a:t>
            </a:r>
            <a:r>
              <a:rPr sz="2600" spc="0" dirty="0" smtClean="0">
                <a:latin typeface="Times New Roman"/>
                <a:cs typeface="Times New Roman"/>
              </a:rPr>
              <a:t>a</a:t>
            </a:r>
            <a:r>
              <a:rPr sz="2600" spc="-9" dirty="0" smtClean="0">
                <a:latin typeface="Times New Roman"/>
                <a:cs typeface="Times New Roman"/>
              </a:rPr>
              <a:t>r</a:t>
            </a:r>
            <a:r>
              <a:rPr sz="2600" spc="0" dirty="0" smtClean="0">
                <a:latin typeface="Times New Roman"/>
                <a:cs typeface="Times New Roman"/>
              </a:rPr>
              <a:t>ea</a:t>
            </a:r>
            <a:r>
              <a:rPr sz="2600" spc="-9" dirty="0" smtClean="0">
                <a:latin typeface="Times New Roman"/>
                <a:cs typeface="Times New Roman"/>
              </a:rPr>
              <a:t> c</a:t>
            </a:r>
            <a:r>
              <a:rPr sz="2600" spc="0" dirty="0" smtClean="0">
                <a:latin typeface="Times New Roman"/>
                <a:cs typeface="Times New Roman"/>
              </a:rPr>
              <a:t>an</a:t>
            </a:r>
            <a:r>
              <a:rPr sz="2600" spc="-14" dirty="0" smtClean="0">
                <a:latin typeface="Times New Roman"/>
                <a:cs typeface="Times New Roman"/>
              </a:rPr>
              <a:t> </a:t>
            </a:r>
            <a:r>
              <a:rPr sz="2600" spc="0" dirty="0" smtClean="0">
                <a:latin typeface="Times New Roman"/>
                <a:cs typeface="Times New Roman"/>
              </a:rPr>
              <a:t>be</a:t>
            </a:r>
            <a:r>
              <a:rPr sz="2600" spc="-14" dirty="0" smtClean="0">
                <a:latin typeface="Times New Roman"/>
                <a:cs typeface="Times New Roman"/>
              </a:rPr>
              <a:t> </a:t>
            </a:r>
            <a:r>
              <a:rPr sz="2600" spc="0" dirty="0" smtClean="0">
                <a:latin typeface="Times New Roman"/>
                <a:cs typeface="Times New Roman"/>
              </a:rPr>
              <a:t>e</a:t>
            </a:r>
            <a:r>
              <a:rPr sz="2600" spc="-9" dirty="0" smtClean="0">
                <a:latin typeface="Times New Roman"/>
                <a:cs typeface="Times New Roman"/>
              </a:rPr>
              <a:t>a</a:t>
            </a:r>
            <a:r>
              <a:rPr sz="2600" spc="0" dirty="0" smtClean="0">
                <a:latin typeface="Times New Roman"/>
                <a:cs typeface="Times New Roman"/>
              </a:rPr>
              <a:t>s</a:t>
            </a:r>
            <a:r>
              <a:rPr sz="2600" spc="-9" dirty="0" smtClean="0">
                <a:latin typeface="Times New Roman"/>
                <a:cs typeface="Times New Roman"/>
              </a:rPr>
              <a:t>i</a:t>
            </a:r>
            <a:r>
              <a:rPr sz="2600" spc="0" dirty="0" smtClean="0">
                <a:latin typeface="Times New Roman"/>
                <a:cs typeface="Times New Roman"/>
              </a:rPr>
              <a:t>ly</a:t>
            </a:r>
            <a:endParaRPr sz="2600">
              <a:latin typeface="Times New Roman"/>
              <a:cs typeface="Times New Roman"/>
            </a:endParaRPr>
          </a:p>
          <a:p>
            <a:pPr marL="287019" marR="49651">
              <a:lnSpc>
                <a:spcPts val="2895"/>
              </a:lnSpc>
              <a:spcBef>
                <a:spcPts val="6"/>
              </a:spcBef>
            </a:pPr>
            <a:r>
              <a:rPr sz="2600" spc="-1" dirty="0" smtClean="0">
                <a:latin typeface="Times New Roman"/>
                <a:cs typeface="Times New Roman"/>
              </a:rPr>
              <a:t>altered to meet the fuel requirements.</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5" name="object 5"/>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6" name="object 6"/>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7" name="object 7"/>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8" name="object 8"/>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3" name="object 3"/>
          <p:cNvSpPr txBox="1"/>
          <p:nvPr/>
        </p:nvSpPr>
        <p:spPr>
          <a:xfrm>
            <a:off x="444500" y="1190142"/>
            <a:ext cx="7936864" cy="4119994"/>
          </a:xfrm>
          <a:prstGeom prst="rect">
            <a:avLst/>
          </a:prstGeom>
        </p:spPr>
        <p:txBody>
          <a:bodyPr wrap="square" lIns="0" tIns="32416" rIns="0" bIns="0" rtlCol="0">
            <a:noAutofit/>
          </a:bodyPr>
          <a:lstStyle/>
          <a:p>
            <a:pPr marL="12700" marR="44254">
              <a:lnSpc>
                <a:spcPts val="5105"/>
              </a:lnSpc>
            </a:pPr>
            <a:r>
              <a:rPr sz="5000" b="1" spc="-3" dirty="0" smtClean="0">
                <a:solidFill>
                  <a:srgbClr val="04607A"/>
                </a:solidFill>
                <a:latin typeface="Calibri"/>
                <a:cs typeface="Calibri"/>
              </a:rPr>
              <a:t>Demerits :</a:t>
            </a:r>
            <a:endParaRPr sz="5000">
              <a:latin typeface="Calibri"/>
              <a:cs typeface="Calibri"/>
            </a:endParaRPr>
          </a:p>
          <a:p>
            <a:pPr marL="378459" indent="-274319">
              <a:lnSpc>
                <a:spcPct val="100041"/>
              </a:lnSpc>
              <a:spcBef>
                <a:spcPts val="954"/>
              </a:spcBef>
            </a:pPr>
            <a:r>
              <a:rPr sz="2450" dirty="0" smtClean="0">
                <a:solidFill>
                  <a:srgbClr val="0AD0D9"/>
                </a:solidFill>
                <a:latin typeface="Wingdings"/>
                <a:cs typeface="Wingdings"/>
              </a:rPr>
              <a:t></a:t>
            </a:r>
            <a:r>
              <a:rPr sz="2450" spc="-2" dirty="0" smtClean="0">
                <a:solidFill>
                  <a:srgbClr val="0AD0D9"/>
                </a:solidFill>
                <a:latin typeface="Times New Roman"/>
                <a:cs typeface="Times New Roman"/>
              </a:rPr>
              <a:t> </a:t>
            </a:r>
            <a:r>
              <a:rPr sz="2600" spc="-2" dirty="0" smtClean="0">
                <a:latin typeface="Times New Roman"/>
                <a:cs typeface="Times New Roman"/>
              </a:rPr>
              <a:t>1. It is less suitable for impure and sedimentary water, as small deposit of scale may cause the overheating and bursting of tube. Therefore, use of pure feed water is essential.</a:t>
            </a:r>
            <a:endParaRPr sz="2600">
              <a:latin typeface="Times New Roman"/>
              <a:cs typeface="Times New Roman"/>
            </a:endParaRPr>
          </a:p>
          <a:p>
            <a:pPr marL="378459" marR="82015" indent="-274319">
              <a:lnSpc>
                <a:spcPct val="100041"/>
              </a:lnSpc>
              <a:spcBef>
                <a:spcPts val="629"/>
              </a:spcBef>
            </a:pPr>
            <a:r>
              <a:rPr sz="2450" dirty="0" smtClean="0">
                <a:solidFill>
                  <a:srgbClr val="0AD0D9"/>
                </a:solidFill>
                <a:latin typeface="Wingdings"/>
                <a:cs typeface="Wingdings"/>
              </a:rPr>
              <a:t></a:t>
            </a:r>
            <a:r>
              <a:rPr sz="2450" spc="-2" dirty="0" smtClean="0">
                <a:solidFill>
                  <a:srgbClr val="0AD0D9"/>
                </a:solidFill>
                <a:latin typeface="Times New Roman"/>
                <a:cs typeface="Times New Roman"/>
              </a:rPr>
              <a:t> </a:t>
            </a:r>
            <a:r>
              <a:rPr sz="2600" spc="-2" dirty="0" smtClean="0">
                <a:latin typeface="Times New Roman"/>
                <a:cs typeface="Times New Roman"/>
              </a:rPr>
              <a:t>2. They require careful attention. The maintenance costs are higher.</a:t>
            </a:r>
            <a:endParaRPr sz="2600">
              <a:latin typeface="Times New Roman"/>
              <a:cs typeface="Times New Roman"/>
            </a:endParaRPr>
          </a:p>
          <a:p>
            <a:pPr marL="104140" marR="44254">
              <a:lnSpc>
                <a:spcPct val="95825"/>
              </a:lnSpc>
              <a:spcBef>
                <a:spcPts val="627"/>
              </a:spcBef>
            </a:pPr>
            <a:r>
              <a:rPr sz="2450" dirty="0" smtClean="0">
                <a:solidFill>
                  <a:srgbClr val="0AD0D9"/>
                </a:solidFill>
                <a:latin typeface="Wingdings"/>
                <a:cs typeface="Wingdings"/>
              </a:rPr>
              <a:t></a:t>
            </a:r>
            <a:r>
              <a:rPr sz="2450" spc="1" dirty="0" smtClean="0">
                <a:solidFill>
                  <a:srgbClr val="0AD0D9"/>
                </a:solidFill>
                <a:latin typeface="Times New Roman"/>
                <a:cs typeface="Times New Roman"/>
              </a:rPr>
              <a:t> </a:t>
            </a:r>
            <a:r>
              <a:rPr sz="2600" spc="1" dirty="0" smtClean="0">
                <a:latin typeface="Times New Roman"/>
                <a:cs typeface="Times New Roman"/>
              </a:rPr>
              <a:t>3. Failure in feed water supply even for short period is</a:t>
            </a:r>
            <a:endParaRPr sz="2600">
              <a:latin typeface="Times New Roman"/>
              <a:cs typeface="Times New Roman"/>
            </a:endParaRPr>
          </a:p>
          <a:p>
            <a:pPr marL="378459" marR="44254">
              <a:lnSpc>
                <a:spcPct val="95825"/>
              </a:lnSpc>
              <a:spcBef>
                <a:spcPts val="130"/>
              </a:spcBef>
            </a:pPr>
            <a:r>
              <a:rPr sz="2600" spc="-3" dirty="0" smtClean="0">
                <a:latin typeface="Times New Roman"/>
                <a:cs typeface="Times New Roman"/>
              </a:rPr>
              <a:t>liable to make the boiler over-heated.</a:t>
            </a:r>
            <a:endParaRPr sz="2600">
              <a:latin typeface="Times New Roman"/>
              <a:cs typeface="Times New Roman"/>
            </a:endParaRPr>
          </a:p>
        </p:txBody>
      </p:sp>
      <p:sp>
        <p:nvSpPr>
          <p:cNvPr id="2" name="object 2"/>
          <p:cNvSpPr txBox="1"/>
          <p:nvPr/>
        </p:nvSpPr>
        <p:spPr>
          <a:xfrm>
            <a:off x="8393725" y="2021538"/>
            <a:ext cx="221840" cy="356107"/>
          </a:xfrm>
          <a:prstGeom prst="rect">
            <a:avLst/>
          </a:prstGeom>
        </p:spPr>
        <p:txBody>
          <a:bodyPr wrap="square" lIns="0" tIns="17526" rIns="0" bIns="0" rtlCol="0">
            <a:noAutofit/>
          </a:bodyPr>
          <a:lstStyle/>
          <a:p>
            <a:pPr marL="12700">
              <a:lnSpc>
                <a:spcPts val="2760"/>
              </a:lnSpc>
            </a:pPr>
            <a:r>
              <a:rPr sz="2600" dirty="0" smtClean="0">
                <a:latin typeface="Times New Roman"/>
                <a:cs typeface="Times New Roman"/>
              </a:rPr>
              <a:t>a</a:t>
            </a:r>
            <a:endParaRPr sz="2600">
              <a:latin typeface="Times New Roman"/>
              <a:cs typeface="Times New Roman"/>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noAutofit/>
          </a:bodyPr>
          <a:lstStyle/>
          <a:p>
            <a:endParaRPr/>
          </a:p>
        </p:txBody>
      </p:sp>
      <p:sp>
        <p:nvSpPr>
          <p:cNvPr id="3" name="object 3"/>
          <p:cNvSpPr/>
          <p:nvPr/>
        </p:nvSpPr>
        <p:spPr>
          <a:xfrm>
            <a:off x="0" y="0"/>
            <a:ext cx="9143999" cy="1028967"/>
          </a:xfrm>
          <a:prstGeom prst="rect">
            <a:avLst/>
          </a:prstGeom>
          <a:blipFill>
            <a:blip r:embed="rId3" cstate="print"/>
            <a:stretch>
              <a:fillRect/>
            </a:stretch>
          </a:blipFill>
        </p:spPr>
        <p:txBody>
          <a:bodyPr wrap="square" lIns="0" tIns="0" rIns="0" bIns="0" rtlCol="0">
            <a:noAutofit/>
          </a:bodyPr>
          <a:lstStyle/>
          <a:p>
            <a:endParaRPr/>
          </a:p>
        </p:txBody>
      </p:sp>
      <p:sp>
        <p:nvSpPr>
          <p:cNvPr id="4" name="object 4"/>
          <p:cNvSpPr/>
          <p:nvPr/>
        </p:nvSpPr>
        <p:spPr>
          <a:xfrm>
            <a:off x="4401959" y="0"/>
            <a:ext cx="4742040" cy="599936"/>
          </a:xfrm>
          <a:prstGeom prst="rect">
            <a:avLst/>
          </a:prstGeom>
          <a:blipFill>
            <a:blip r:embed="rId4" cstate="print"/>
            <a:stretch>
              <a:fillRect/>
            </a:stretch>
          </a:blipFill>
        </p:spPr>
        <p:txBody>
          <a:bodyPr wrap="square" lIns="0" tIns="0" rIns="0" bIns="0" rtlCol="0">
            <a:noAutofit/>
          </a:bodyPr>
          <a:lstStyle/>
          <a:p>
            <a:endParaRPr/>
          </a:p>
        </p:txBody>
      </p:sp>
      <p:sp>
        <p:nvSpPr>
          <p:cNvPr id="5" name="object 5"/>
          <p:cNvSpPr/>
          <p:nvPr/>
        </p:nvSpPr>
        <p:spPr>
          <a:xfrm>
            <a:off x="0" y="0"/>
            <a:ext cx="9088207" cy="1020572"/>
          </a:xfrm>
          <a:prstGeom prst="rect">
            <a:avLst/>
          </a:prstGeom>
          <a:blipFill>
            <a:blip r:embed="rId5" cstate="print"/>
            <a:stretch>
              <a:fillRect/>
            </a:stretch>
          </a:blipFill>
        </p:spPr>
        <p:txBody>
          <a:bodyPr wrap="square" lIns="0" tIns="0" rIns="0" bIns="0" rtlCol="0">
            <a:noAutofit/>
          </a:bodyPr>
          <a:lstStyle/>
          <a:p>
            <a:endParaRPr/>
          </a:p>
        </p:txBody>
      </p:sp>
      <p:sp>
        <p:nvSpPr>
          <p:cNvPr id="6" name="object 6"/>
          <p:cNvSpPr/>
          <p:nvPr/>
        </p:nvSpPr>
        <p:spPr>
          <a:xfrm>
            <a:off x="-828" y="52324"/>
            <a:ext cx="9145590" cy="901826"/>
          </a:xfrm>
          <a:prstGeom prst="rect">
            <a:avLst/>
          </a:prstGeom>
          <a:blipFill>
            <a:blip r:embed="rId6" cstate="print"/>
            <a:stretch>
              <a:fillRect/>
            </a:stretch>
          </a:blipFill>
        </p:spPr>
        <p:txBody>
          <a:bodyPr wrap="square" lIns="0" tIns="0" rIns="0" bIns="0" rtlCol="0">
            <a:noAutofit/>
          </a:bodyPr>
          <a:lstStyle/>
          <a:p>
            <a:endParaRPr/>
          </a:p>
        </p:txBody>
      </p:sp>
      <p:sp>
        <p:nvSpPr>
          <p:cNvPr id="7" name="object 7"/>
          <p:cNvSpPr/>
          <p:nvPr/>
        </p:nvSpPr>
        <p:spPr>
          <a:xfrm>
            <a:off x="0" y="1752599"/>
            <a:ext cx="9144000" cy="5105400"/>
          </a:xfrm>
          <a:prstGeom prst="rect">
            <a:avLst/>
          </a:prstGeom>
          <a:blipFill>
            <a:blip r:embed="rId7" cstate="print"/>
            <a:stretch>
              <a:fillRect/>
            </a:stretch>
          </a:blipFill>
        </p:spPr>
        <p:txBody>
          <a:bodyPr wrap="square" lIns="0" tIns="0" rIns="0" bIns="0" rtlCol="0">
            <a:noAutofit/>
          </a:bodyPr>
          <a:lstStyle/>
          <a:p>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TotalTime>
  <Words>2462</Words>
  <Application>Microsoft Office PowerPoint</Application>
  <PresentationFormat>On-screen Show (4:3)</PresentationFormat>
  <Paragraphs>360</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 pc</dc:creator>
  <cp:lastModifiedBy>AKR</cp:lastModifiedBy>
  <cp:revision>20</cp:revision>
  <dcterms:modified xsi:type="dcterms:W3CDTF">2020-04-09T04:17:57Z</dcterms:modified>
</cp:coreProperties>
</file>