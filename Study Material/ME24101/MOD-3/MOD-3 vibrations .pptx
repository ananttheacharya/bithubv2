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83" r:id="rId4"/>
    <p:sldId id="259" r:id="rId5"/>
    <p:sldId id="284" r:id="rId6"/>
    <p:sldId id="285" r:id="rId7"/>
    <p:sldId id="286" r:id="rId8"/>
    <p:sldId id="287" r:id="rId9"/>
    <p:sldId id="288" r:id="rId10"/>
    <p:sldId id="289" r:id="rId11"/>
    <p:sldId id="290" r:id="rId12"/>
    <p:sldId id="291" r:id="rId13"/>
    <p:sldId id="292" r:id="rId14"/>
    <p:sldId id="293" r:id="rId15"/>
    <p:sldId id="294" r:id="rId16"/>
    <p:sldId id="295" r:id="rId17"/>
    <p:sldId id="262" r:id="rId18"/>
    <p:sldId id="267" r:id="rId19"/>
    <p:sldId id="268" r:id="rId20"/>
    <p:sldId id="270" r:id="rId21"/>
    <p:sldId id="272" r:id="rId22"/>
    <p:sldId id="275" r:id="rId23"/>
    <p:sldId id="274" r:id="rId24"/>
    <p:sldId id="277" r:id="rId25"/>
    <p:sldId id="278" r:id="rId26"/>
    <p:sldId id="281" r:id="rId27"/>
    <p:sldId id="282"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5" Type="http://schemas.openxmlformats.org/officeDocument/2006/relationships/image" Target="../media/image29.wmf"/><Relationship Id="rId4" Type="http://schemas.openxmlformats.org/officeDocument/2006/relationships/image" Target="../media/image2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image" Target="../media/image56.wmf"/><Relationship Id="rId3" Type="http://schemas.openxmlformats.org/officeDocument/2006/relationships/image" Target="../media/image46.wmf"/><Relationship Id="rId7" Type="http://schemas.openxmlformats.org/officeDocument/2006/relationships/image" Target="../media/image50.png"/><Relationship Id="rId12" Type="http://schemas.openxmlformats.org/officeDocument/2006/relationships/image" Target="../media/image55.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9.wmf"/><Relationship Id="rId11" Type="http://schemas.openxmlformats.org/officeDocument/2006/relationships/image" Target="../media/image54.wmf"/><Relationship Id="rId5" Type="http://schemas.openxmlformats.org/officeDocument/2006/relationships/image" Target="../media/image48.png"/><Relationship Id="rId10" Type="http://schemas.openxmlformats.org/officeDocument/2006/relationships/image" Target="../media/image53.wmf"/><Relationship Id="rId4" Type="http://schemas.openxmlformats.org/officeDocument/2006/relationships/image" Target="../media/image47.wmf"/><Relationship Id="rId9" Type="http://schemas.openxmlformats.org/officeDocument/2006/relationships/image" Target="../media/image52.wmf"/><Relationship Id="rId14" Type="http://schemas.openxmlformats.org/officeDocument/2006/relationships/image" Target="../media/image57.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2.wmf"/><Relationship Id="rId7" Type="http://schemas.openxmlformats.org/officeDocument/2006/relationships/image" Target="../media/image66.wmf"/><Relationship Id="rId2" Type="http://schemas.openxmlformats.org/officeDocument/2006/relationships/image" Target="../media/image61.wmf"/><Relationship Id="rId1" Type="http://schemas.openxmlformats.org/officeDocument/2006/relationships/image" Target="../media/image60.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png"/><Relationship Id="rId1" Type="http://schemas.openxmlformats.org/officeDocument/2006/relationships/image" Target="../media/image72.wmf"/><Relationship Id="rId5" Type="http://schemas.openxmlformats.org/officeDocument/2006/relationships/image" Target="../media/image76.wmf"/><Relationship Id="rId4" Type="http://schemas.openxmlformats.org/officeDocument/2006/relationships/image" Target="../media/image7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5.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89CD87-6651-41E4-8A7B-FF7EC9371664}" type="datetimeFigureOut">
              <a:rPr lang="en-US" smtClean="0"/>
              <a:pPr/>
              <a:t>4/9/2020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3133569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89CD87-6651-41E4-8A7B-FF7EC9371664}" type="datetimeFigureOut">
              <a:rPr lang="en-US" smtClean="0"/>
              <a:pPr/>
              <a:t>4/9/2020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1793551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89CD87-6651-41E4-8A7B-FF7EC9371664}" type="datetimeFigureOut">
              <a:rPr lang="en-US" smtClean="0"/>
              <a:pPr/>
              <a:t>4/9/2020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3589682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89CD87-6651-41E4-8A7B-FF7EC9371664}" type="datetimeFigureOut">
              <a:rPr lang="en-US" smtClean="0"/>
              <a:pPr/>
              <a:t>4/9/2020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4087837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89CD87-6651-41E4-8A7B-FF7EC9371664}" type="datetimeFigureOut">
              <a:rPr lang="en-US" smtClean="0"/>
              <a:pPr/>
              <a:t>4/9/2020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595922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89CD87-6651-41E4-8A7B-FF7EC9371664}" type="datetimeFigureOut">
              <a:rPr lang="en-US" smtClean="0"/>
              <a:pPr/>
              <a:t>4/9/2020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1824612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89CD87-6651-41E4-8A7B-FF7EC9371664}" type="datetimeFigureOut">
              <a:rPr lang="en-US" smtClean="0"/>
              <a:pPr/>
              <a:t>4/9/2020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4276889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89CD87-6651-41E4-8A7B-FF7EC9371664}" type="datetimeFigureOut">
              <a:rPr lang="en-US" smtClean="0"/>
              <a:pPr/>
              <a:t>4/9/2020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3471128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89CD87-6651-41E4-8A7B-FF7EC9371664}" type="datetimeFigureOut">
              <a:rPr lang="en-US" smtClean="0"/>
              <a:pPr/>
              <a:t>4/9/2020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212223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89CD87-6651-41E4-8A7B-FF7EC9371664}" type="datetimeFigureOut">
              <a:rPr lang="en-US" smtClean="0"/>
              <a:pPr/>
              <a:t>4/9/2020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624820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89CD87-6651-41E4-8A7B-FF7EC9371664}" type="datetimeFigureOut">
              <a:rPr lang="en-US" smtClean="0"/>
              <a:pPr/>
              <a:t>4/9/2020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1818819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89CD87-6651-41E4-8A7B-FF7EC9371664}" type="datetimeFigureOut">
              <a:rPr lang="en-US" smtClean="0"/>
              <a:pPr/>
              <a:t>4/9/2020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7163F1-5147-428C-B2ED-931E44BC68FD}" type="slidenum">
              <a:rPr lang="en-US" smtClean="0"/>
              <a:pPr/>
              <a:t>‹#›</a:t>
            </a:fld>
            <a:endParaRPr lang="en-US"/>
          </a:p>
        </p:txBody>
      </p:sp>
    </p:spTree>
    <p:extLst>
      <p:ext uri="{BB962C8B-B14F-4D97-AF65-F5344CB8AC3E}">
        <p14:creationId xmlns="" xmlns:p14="http://schemas.microsoft.com/office/powerpoint/2010/main" val="3298121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6.xml"/><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3.jpeg"/><Relationship Id="rId7"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10" Type="http://schemas.openxmlformats.org/officeDocument/2006/relationships/oleObject" Target="../embeddings/oleObject6.bin"/><Relationship Id="rId4" Type="http://schemas.openxmlformats.org/officeDocument/2006/relationships/image" Target="../media/image24.jpeg"/><Relationship Id="rId9"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oleObject" Target="../embeddings/oleObject7.bin"/><Relationship Id="rId7"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oleObject" Target="../embeddings/oleObject14.bin"/><Relationship Id="rId5" Type="http://schemas.openxmlformats.org/officeDocument/2006/relationships/oleObject" Target="../embeddings/oleObject13.bin"/><Relationship Id="rId4" Type="http://schemas.openxmlformats.org/officeDocument/2006/relationships/oleObject" Target="../embeddings/oleObject12.bin"/></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7" Type="http://schemas.openxmlformats.org/officeDocument/2006/relationships/oleObject" Target="../embeddings/oleObject17.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oleObject" Target="../embeddings/oleObject16.bin"/><Relationship Id="rId5" Type="http://schemas.openxmlformats.org/officeDocument/2006/relationships/oleObject" Target="../embeddings/oleObject15.bin"/><Relationship Id="rId4" Type="http://schemas.openxmlformats.org/officeDocument/2006/relationships/image" Target="../media/image38.jpe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42.jpeg"/><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oleObject" Target="../embeddings/oleObject29.bin"/><Relationship Id="rId18" Type="http://schemas.openxmlformats.org/officeDocument/2006/relationships/oleObject" Target="../embeddings/oleObject34.bin"/><Relationship Id="rId3" Type="http://schemas.openxmlformats.org/officeDocument/2006/relationships/image" Target="../media/image58.jpeg"/><Relationship Id="rId7" Type="http://schemas.openxmlformats.org/officeDocument/2006/relationships/oleObject" Target="../embeddings/oleObject24.bin"/><Relationship Id="rId12" Type="http://schemas.openxmlformats.org/officeDocument/2006/relationships/oleObject" Target="../embeddings/oleObject28.bin"/><Relationship Id="rId17" Type="http://schemas.openxmlformats.org/officeDocument/2006/relationships/oleObject" Target="../embeddings/oleObject33.bin"/><Relationship Id="rId2" Type="http://schemas.openxmlformats.org/officeDocument/2006/relationships/slideLayout" Target="../slideLayouts/slideLayout6.xml"/><Relationship Id="rId16" Type="http://schemas.openxmlformats.org/officeDocument/2006/relationships/oleObject" Target="../embeddings/oleObject32.bin"/><Relationship Id="rId1" Type="http://schemas.openxmlformats.org/officeDocument/2006/relationships/vmlDrawing" Target="../drawings/vmlDrawing6.vml"/><Relationship Id="rId6" Type="http://schemas.openxmlformats.org/officeDocument/2006/relationships/oleObject" Target="../embeddings/oleObject23.bin"/><Relationship Id="rId11" Type="http://schemas.openxmlformats.org/officeDocument/2006/relationships/image" Target="../media/image59.jpeg"/><Relationship Id="rId5" Type="http://schemas.openxmlformats.org/officeDocument/2006/relationships/oleObject" Target="../embeddings/oleObject22.bin"/><Relationship Id="rId15" Type="http://schemas.openxmlformats.org/officeDocument/2006/relationships/oleObject" Target="../embeddings/oleObject31.bin"/><Relationship Id="rId10" Type="http://schemas.openxmlformats.org/officeDocument/2006/relationships/oleObject" Target="../embeddings/oleObject27.bin"/><Relationship Id="rId19" Type="http://schemas.openxmlformats.org/officeDocument/2006/relationships/oleObject" Target="../embeddings/oleObject35.bin"/><Relationship Id="rId4" Type="http://schemas.openxmlformats.org/officeDocument/2006/relationships/oleObject" Target="../embeddings/oleObject21.bin"/><Relationship Id="rId9" Type="http://schemas.openxmlformats.org/officeDocument/2006/relationships/oleObject" Target="../embeddings/oleObject26.bin"/><Relationship Id="rId14" Type="http://schemas.openxmlformats.org/officeDocument/2006/relationships/oleObject" Target="../embeddings/oleObject30.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oleObject" Target="../embeddings/oleObject43.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69.jpeg"/><Relationship Id="rId11" Type="http://schemas.openxmlformats.org/officeDocument/2006/relationships/oleObject" Target="../embeddings/oleObject42.bin"/><Relationship Id="rId5" Type="http://schemas.openxmlformats.org/officeDocument/2006/relationships/image" Target="../media/image68.jpeg"/><Relationship Id="rId10" Type="http://schemas.openxmlformats.org/officeDocument/2006/relationships/oleObject" Target="../embeddings/oleObject41.bin"/><Relationship Id="rId4" Type="http://schemas.openxmlformats.org/officeDocument/2006/relationships/oleObject" Target="../embeddings/oleObject37.bin"/><Relationship Id="rId9" Type="http://schemas.openxmlformats.org/officeDocument/2006/relationships/oleObject" Target="../embeddings/oleObject40.bin"/></Relationships>
</file>

<file path=ppt/slides/_rels/slide2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oleObject" Target="../embeddings/oleObject44.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77.jpeg"/><Relationship Id="rId7" Type="http://schemas.openxmlformats.org/officeDocument/2006/relationships/oleObject" Target="../embeddings/oleObject48.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oleObject" Target="../embeddings/oleObject47.bin"/><Relationship Id="rId5" Type="http://schemas.openxmlformats.org/officeDocument/2006/relationships/oleObject" Target="../embeddings/oleObject46.bin"/><Relationship Id="rId4" Type="http://schemas.openxmlformats.org/officeDocument/2006/relationships/oleObject" Target="../embeddings/oleObject45.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oleObject" Target="../embeddings/oleObject50.bin"/><Relationship Id="rId7" Type="http://schemas.openxmlformats.org/officeDocument/2006/relationships/image" Target="../media/image83.jpeg"/><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oleObject" Target="../embeddings/oleObject53.bin"/><Relationship Id="rId5" Type="http://schemas.openxmlformats.org/officeDocument/2006/relationships/oleObject" Target="../embeddings/oleObject52.bin"/><Relationship Id="rId4" Type="http://schemas.openxmlformats.org/officeDocument/2006/relationships/oleObject" Target="../embeddings/oleObject51.bin"/><Relationship Id="rId9" Type="http://schemas.openxmlformats.org/officeDocument/2006/relationships/oleObject" Target="../embeddings/oleObject5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914400"/>
            <a:ext cx="8077200" cy="5693866"/>
          </a:xfrm>
          <a:prstGeom prst="rect">
            <a:avLst/>
          </a:prstGeom>
        </p:spPr>
        <p:txBody>
          <a:bodyPr wrap="square">
            <a:spAutoFit/>
          </a:bodyPr>
          <a:lstStyle/>
          <a:p>
            <a:r>
              <a:rPr lang="en-US" sz="4000" b="1" dirty="0">
                <a:solidFill>
                  <a:srgbClr val="FF0000"/>
                </a:solidFill>
              </a:rPr>
              <a:t>Mechanical </a:t>
            </a:r>
            <a:r>
              <a:rPr lang="en-US" sz="4000" b="1" dirty="0" smtClean="0">
                <a:solidFill>
                  <a:srgbClr val="FF0000"/>
                </a:solidFill>
              </a:rPr>
              <a:t>vibrations</a:t>
            </a:r>
            <a:endParaRPr lang="en-US" b="1" dirty="0" smtClean="0">
              <a:solidFill>
                <a:srgbClr val="FF0000"/>
              </a:solidFill>
            </a:endParaRPr>
          </a:p>
          <a:p>
            <a:endParaRPr lang="en-US" b="1" dirty="0" smtClean="0"/>
          </a:p>
          <a:p>
            <a:r>
              <a:rPr lang="en-US" b="1" dirty="0" smtClean="0"/>
              <a:t>Why do we study ?</a:t>
            </a:r>
            <a:endParaRPr lang="en-US" b="1" dirty="0"/>
          </a:p>
          <a:p>
            <a:r>
              <a:rPr lang="en-US" dirty="0"/>
              <a:t/>
            </a:r>
            <a:br>
              <a:rPr lang="en-US" dirty="0"/>
            </a:br>
            <a:r>
              <a:rPr lang="en-US" dirty="0">
                <a:latin typeface="Times New Roman" pitchFamily="18" charset="0"/>
                <a:cs typeface="Times New Roman" pitchFamily="18" charset="0"/>
              </a:rPr>
              <a:t>• Vibrations are everywhere: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Human body: eardrums, vocal cords, walking and running</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Vehicles: residual imbalance of engines, locomotive wheels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Rotating machinery: Turbines, pumps, fans, reciprocating machines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Musical instruments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Excessive vibrations can have detrimental effects: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Noise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Loosening of fasteners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Tool chatter</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Fatigue failure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Discomfort</a:t>
            </a:r>
            <a:br>
              <a:rPr lang="en-US" dirty="0">
                <a:latin typeface="Times New Roman" pitchFamily="18" charset="0"/>
                <a:cs typeface="Times New Roman" pitchFamily="18" charset="0"/>
              </a:rPr>
            </a:br>
            <a:r>
              <a:rPr lang="en-US" dirty="0" smtClean="0"/>
              <a:t>																												</a:t>
            </a:r>
            <a:endParaRPr lang="en-US" dirty="0"/>
          </a:p>
        </p:txBody>
      </p:sp>
    </p:spTree>
    <p:extLst>
      <p:ext uri="{BB962C8B-B14F-4D97-AF65-F5344CB8AC3E}">
        <p14:creationId xmlns="" xmlns:p14="http://schemas.microsoft.com/office/powerpoint/2010/main" val="26826779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6200" y="685800"/>
            <a:ext cx="9067800" cy="4800600"/>
          </a:xfrm>
          <a:prstGeom prst="rect">
            <a:avLst/>
          </a:prstGeom>
        </p:spPr>
      </p:pic>
    </p:spTree>
    <p:extLst>
      <p:ext uri="{BB962C8B-B14F-4D97-AF65-F5344CB8AC3E}">
        <p14:creationId xmlns="" xmlns:p14="http://schemas.microsoft.com/office/powerpoint/2010/main" val="8010888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04800"/>
            <a:ext cx="8458200" cy="6370975"/>
          </a:xfrm>
          <a:prstGeom prst="rect">
            <a:avLst/>
          </a:prstGeom>
          <a:noFill/>
        </p:spPr>
        <p:txBody>
          <a:bodyPr wrap="square" rtlCol="0">
            <a:spAutoFit/>
          </a:bodyPr>
          <a:lstStyle/>
          <a:p>
            <a:pPr algn="ctr"/>
            <a:r>
              <a:rPr lang="en-US" sz="2400" dirty="0" smtClean="0">
                <a:solidFill>
                  <a:srgbClr val="FF0000"/>
                </a:solidFill>
              </a:rPr>
              <a:t>Basic Concepts of Vibration</a:t>
            </a:r>
          </a:p>
          <a:p>
            <a:pPr marL="457200" indent="-457200" algn="just">
              <a:buAutoNum type="arabicPeriod"/>
            </a:pPr>
            <a:r>
              <a:rPr lang="en-US" sz="2400" dirty="0" smtClean="0"/>
              <a:t>All bodies having mass and elasticity are capable of vibration.</a:t>
            </a:r>
          </a:p>
          <a:p>
            <a:pPr marL="457200" indent="-457200" algn="just">
              <a:buAutoNum type="arabicPeriod"/>
            </a:pPr>
            <a:r>
              <a:rPr lang="en-US" sz="2400" dirty="0" smtClean="0"/>
              <a:t>The mass is inherent of the body and elasticity causes relative motion among its parts.</a:t>
            </a:r>
          </a:p>
          <a:p>
            <a:pPr marL="457200" indent="-457200" algn="just">
              <a:buAutoNum type="arabicPeriod"/>
            </a:pPr>
            <a:r>
              <a:rPr lang="en-US" sz="2400" dirty="0" smtClean="0"/>
              <a:t>When body particles are displaced by the application of external force, the internal forces in the form of elastic energy are present in the body. These forces try to bring the body to its original position.</a:t>
            </a:r>
          </a:p>
          <a:p>
            <a:pPr marL="457200" indent="-457200" algn="just">
              <a:buAutoNum type="arabicPeriod"/>
            </a:pPr>
            <a:r>
              <a:rPr lang="en-US" sz="2400" dirty="0" smtClean="0"/>
              <a:t>At equilibrium position, the whole of elastic energy is converted into kinetic energy and body continues to move in the opposite direction because of it.</a:t>
            </a:r>
          </a:p>
          <a:p>
            <a:pPr marL="457200" indent="-457200" algn="just">
              <a:buAutoNum type="arabicPeriod"/>
            </a:pPr>
            <a:r>
              <a:rPr lang="en-US" sz="2400" dirty="0" smtClean="0"/>
              <a:t>The whole of the kinetic energy is again converted into elastic or strain energy due to which the body again returns to the equilibrium position. In this way, vibratory motion is repeated indefinitely and exchange of energy takes place.</a:t>
            </a:r>
          </a:p>
          <a:p>
            <a:pPr marL="457200" indent="-457200" algn="just">
              <a:buAutoNum type="arabicPeriod"/>
            </a:pPr>
            <a:r>
              <a:rPr lang="en-US" sz="2400" dirty="0" smtClean="0"/>
              <a:t>Thus, any motion which repeats itself after an interval of time is called vibration or oscillation.</a:t>
            </a:r>
            <a:endParaRPr 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74638"/>
            <a:ext cx="8229600" cy="563562"/>
          </a:xfrm>
        </p:spPr>
        <p:txBody>
          <a:bodyPr>
            <a:normAutofit fontScale="90000"/>
          </a:bodyPr>
          <a:lstStyle/>
          <a:p>
            <a:r>
              <a:rPr lang="en-US" dirty="0">
                <a:solidFill>
                  <a:srgbClr val="92D050"/>
                </a:solidFill>
                <a:ea typeface="ＭＳ Ｐゴシック" pitchFamily="34" charset="-128"/>
              </a:rPr>
              <a:t>I</a:t>
            </a:r>
            <a:r>
              <a:rPr lang="en-US" dirty="0" smtClean="0">
                <a:solidFill>
                  <a:srgbClr val="92D050"/>
                </a:solidFill>
                <a:ea typeface="ＭＳ Ｐゴシック" pitchFamily="34" charset="-128"/>
              </a:rPr>
              <a:t>ntroduction</a:t>
            </a:r>
          </a:p>
        </p:txBody>
      </p:sp>
      <p:sp>
        <p:nvSpPr>
          <p:cNvPr id="6147"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200" dirty="0" smtClean="0">
                <a:solidFill>
                  <a:srgbClr val="618A53"/>
                </a:solidFill>
                <a:latin typeface="Arial" charset="0"/>
              </a:rPr>
              <a:t> </a:t>
            </a:r>
            <a:fld id="{0FA5C0E1-A4EF-4341-8C55-6CDEDDCE3F20}" type="slidenum">
              <a:rPr lang="en-US" sz="1200" smtClean="0">
                <a:solidFill>
                  <a:srgbClr val="618A53"/>
                </a:solidFill>
                <a:latin typeface="Arial" charset="0"/>
              </a:rPr>
              <a:pPr eaLnBrk="1" hangingPunct="1"/>
              <a:t>4</a:t>
            </a:fld>
            <a:endParaRPr lang="en-US" sz="1200" dirty="0" smtClean="0">
              <a:solidFill>
                <a:srgbClr val="618A53"/>
              </a:solidFill>
              <a:latin typeface="Arial" charset="0"/>
            </a:endParaRPr>
          </a:p>
        </p:txBody>
      </p:sp>
      <p:sp>
        <p:nvSpPr>
          <p:cNvPr id="6148" name="Text Box 3"/>
          <p:cNvSpPr txBox="1">
            <a:spLocks noChangeArrowheads="1"/>
          </p:cNvSpPr>
          <p:nvPr/>
        </p:nvSpPr>
        <p:spPr bwMode="auto">
          <a:xfrm>
            <a:off x="939799" y="936625"/>
            <a:ext cx="7326327"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i="1" dirty="0"/>
              <a:t>Mechanical vibration</a:t>
            </a:r>
            <a:r>
              <a:rPr lang="en-US" dirty="0"/>
              <a:t> is the motion of a particle or body which oscillates about a position of equilibrium.  Most vibrations in machines and structures are undesirable due to increased stresses and energy losses.</a:t>
            </a:r>
          </a:p>
        </p:txBody>
      </p:sp>
      <p:sp>
        <p:nvSpPr>
          <p:cNvPr id="2" name="Text Box 4"/>
          <p:cNvSpPr txBox="1">
            <a:spLocks noChangeArrowheads="1"/>
          </p:cNvSpPr>
          <p:nvPr/>
        </p:nvSpPr>
        <p:spPr bwMode="auto">
          <a:xfrm>
            <a:off x="939800" y="2338388"/>
            <a:ext cx="7516813"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dirty="0"/>
              <a:t>Time interval required for a system to complete a full cycle of the motion is the </a:t>
            </a:r>
            <a:r>
              <a:rPr lang="en-US" i="1" dirty="0"/>
              <a:t>period</a:t>
            </a:r>
            <a:r>
              <a:rPr lang="en-US" dirty="0"/>
              <a:t> of the vibration.</a:t>
            </a:r>
          </a:p>
        </p:txBody>
      </p:sp>
      <p:sp>
        <p:nvSpPr>
          <p:cNvPr id="6149" name="Text Box 5"/>
          <p:cNvSpPr txBox="1">
            <a:spLocks noChangeArrowheads="1"/>
          </p:cNvSpPr>
          <p:nvPr/>
        </p:nvSpPr>
        <p:spPr bwMode="auto">
          <a:xfrm>
            <a:off x="939800" y="3130550"/>
            <a:ext cx="772001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Number of cycles per unit time defines the </a:t>
            </a:r>
            <a:r>
              <a:rPr lang="en-US" i="1"/>
              <a:t>frequency</a:t>
            </a:r>
            <a:r>
              <a:rPr lang="en-US"/>
              <a:t> of the vibrations.</a:t>
            </a:r>
          </a:p>
        </p:txBody>
      </p:sp>
      <p:sp>
        <p:nvSpPr>
          <p:cNvPr id="6150" name="Text Box 6"/>
          <p:cNvSpPr txBox="1">
            <a:spLocks noChangeArrowheads="1"/>
          </p:cNvSpPr>
          <p:nvPr/>
        </p:nvSpPr>
        <p:spPr bwMode="auto">
          <a:xfrm>
            <a:off x="939800" y="3619500"/>
            <a:ext cx="7778750"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dirty="0"/>
              <a:t>Maximum displacement of the system from the equilibrium position is the </a:t>
            </a:r>
            <a:r>
              <a:rPr lang="en-US" i="1" dirty="0"/>
              <a:t>amplitude</a:t>
            </a:r>
            <a:r>
              <a:rPr lang="en-US" dirty="0"/>
              <a:t> of the vibration.</a:t>
            </a:r>
          </a:p>
        </p:txBody>
      </p:sp>
      <p:sp>
        <p:nvSpPr>
          <p:cNvPr id="6151" name="Text Box 7"/>
          <p:cNvSpPr txBox="1">
            <a:spLocks noChangeArrowheads="1"/>
          </p:cNvSpPr>
          <p:nvPr/>
        </p:nvSpPr>
        <p:spPr bwMode="auto">
          <a:xfrm>
            <a:off x="939800" y="4411663"/>
            <a:ext cx="7802563" cy="1006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When the motion is maintained by the restoring forces only, the vibration is described as </a:t>
            </a:r>
            <a:r>
              <a:rPr lang="en-US" i="1"/>
              <a:t>free vibration</a:t>
            </a:r>
            <a:r>
              <a:rPr lang="en-US"/>
              <a:t>.  When a periodic force is applied to the system, the motion is described as </a:t>
            </a:r>
            <a:r>
              <a:rPr lang="en-US" i="1"/>
              <a:t>forced vibration</a:t>
            </a:r>
            <a:r>
              <a:rPr lang="en-US"/>
              <a:t>.</a:t>
            </a:r>
          </a:p>
        </p:txBody>
      </p:sp>
      <p:sp>
        <p:nvSpPr>
          <p:cNvPr id="6152" name="Text Box 8"/>
          <p:cNvSpPr txBox="1">
            <a:spLocks noChangeArrowheads="1"/>
          </p:cNvSpPr>
          <p:nvPr/>
        </p:nvSpPr>
        <p:spPr bwMode="auto">
          <a:xfrm>
            <a:off x="939800" y="5510213"/>
            <a:ext cx="7148513" cy="1006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When the frictional dissipation of energy is neglected, the motion is said to be </a:t>
            </a:r>
            <a:r>
              <a:rPr lang="en-US" i="1"/>
              <a:t>undamped</a:t>
            </a:r>
            <a:r>
              <a:rPr lang="en-US"/>
              <a:t>.  Actually, all vibrations are </a:t>
            </a:r>
            <a:r>
              <a:rPr lang="en-US" i="1"/>
              <a:t>damped</a:t>
            </a:r>
            <a:r>
              <a:rPr lang="en-US"/>
              <a:t> to some degree.</a:t>
            </a:r>
          </a:p>
        </p:txBody>
      </p:sp>
    </p:spTree>
    <p:extLst>
      <p:ext uri="{BB962C8B-B14F-4D97-AF65-F5344CB8AC3E}">
        <p14:creationId xmlns="" xmlns:p14="http://schemas.microsoft.com/office/powerpoint/2010/main" val="20805895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5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5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6149" grpId="0" autoUpdateAnimBg="0"/>
      <p:bldP spid="6150" grpId="0" autoUpdateAnimBg="0"/>
      <p:bldP spid="6151" grpId="0" autoUpdateAnimBg="0"/>
      <p:bldP spid="615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solidFill>
                  <a:srgbClr val="FF0000"/>
                </a:solidFill>
              </a:rPr>
              <a:t>PARTS OF VIBRATING SYSTEM</a:t>
            </a:r>
            <a:endParaRPr lang="en-US" sz="2800" dirty="0">
              <a:solidFill>
                <a:srgbClr val="FF0000"/>
              </a:solidFill>
            </a:endParaRPr>
          </a:p>
        </p:txBody>
      </p:sp>
      <p:sp>
        <p:nvSpPr>
          <p:cNvPr id="3" name="TextBox 2"/>
          <p:cNvSpPr txBox="1"/>
          <p:nvPr/>
        </p:nvSpPr>
        <p:spPr>
          <a:xfrm>
            <a:off x="381000" y="1219200"/>
            <a:ext cx="8458200" cy="5262979"/>
          </a:xfrm>
          <a:prstGeom prst="rect">
            <a:avLst/>
          </a:prstGeom>
          <a:noFill/>
        </p:spPr>
        <p:txBody>
          <a:bodyPr wrap="square" rtlCol="0">
            <a:spAutoFit/>
          </a:bodyPr>
          <a:lstStyle/>
          <a:p>
            <a:pPr marL="457200" indent="-457200">
              <a:buAutoNum type="arabicPeriod"/>
            </a:pPr>
            <a:r>
              <a:rPr lang="en-US" sz="2400" dirty="0" smtClean="0"/>
              <a:t>A vibratory system basically consists of three elements, namely the mass, the spring and damper.</a:t>
            </a:r>
          </a:p>
          <a:p>
            <a:pPr marL="457200" indent="-457200">
              <a:buAutoNum type="arabicPeriod"/>
            </a:pPr>
            <a:r>
              <a:rPr lang="en-US" sz="2400" dirty="0" smtClean="0"/>
              <a:t>In a vibrating body there is exchange of energy from one form to another.</a:t>
            </a:r>
          </a:p>
          <a:p>
            <a:pPr marL="457200" indent="-457200">
              <a:buAutoNum type="arabicPeriod"/>
            </a:pPr>
            <a:r>
              <a:rPr lang="en-US" sz="2400" dirty="0" smtClean="0"/>
              <a:t>Energy is stored by mass in the form of  kinetic energy (1/2 mv</a:t>
            </a:r>
            <a:r>
              <a:rPr lang="en-US" sz="2400" baseline="30000" dirty="0" smtClean="0"/>
              <a:t>2</a:t>
            </a:r>
            <a:r>
              <a:rPr lang="en-US" sz="2400" dirty="0" smtClean="0"/>
              <a:t> ), in the spring in the form of potential energy (1/2 kx</a:t>
            </a:r>
            <a:r>
              <a:rPr lang="en-US" sz="2400" baseline="30000" dirty="0" smtClean="0"/>
              <a:t>2</a:t>
            </a:r>
            <a:r>
              <a:rPr lang="en-US" sz="2400" dirty="0" smtClean="0"/>
              <a:t> ) and dissipated in the damper in the form of heat energy which opposes the motion of the system.</a:t>
            </a:r>
          </a:p>
          <a:p>
            <a:pPr marL="457200" indent="-457200">
              <a:buAutoNum type="arabicPeriod"/>
            </a:pPr>
            <a:r>
              <a:rPr lang="en-US" sz="2400" dirty="0" smtClean="0"/>
              <a:t>Energy enters the system with the application of external force known as excitation.</a:t>
            </a:r>
          </a:p>
          <a:p>
            <a:pPr marL="457200" indent="-457200">
              <a:buAutoNum type="arabicPeriod"/>
            </a:pPr>
            <a:r>
              <a:rPr lang="en-US" sz="2400" dirty="0" smtClean="0"/>
              <a:t>The excitation disturbs the mass from its mean position and the mass goes up and down from the mean position.</a:t>
            </a:r>
          </a:p>
          <a:p>
            <a:pPr marL="457200" indent="-457200">
              <a:buAutoNum type="arabicPeriod"/>
            </a:pPr>
            <a:r>
              <a:rPr lang="en-US" sz="2400" dirty="0" smtClean="0"/>
              <a:t>The kinetic energy is converted into potential energy and potential energy into kinetic energy.</a:t>
            </a:r>
            <a:endParaRPr 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457200"/>
            <a:ext cx="8534400" cy="1200329"/>
          </a:xfrm>
          <a:prstGeom prst="rect">
            <a:avLst/>
          </a:prstGeom>
          <a:noFill/>
        </p:spPr>
        <p:txBody>
          <a:bodyPr wrap="square" rtlCol="0">
            <a:spAutoFit/>
          </a:bodyPr>
          <a:lstStyle/>
          <a:p>
            <a:r>
              <a:rPr lang="en-US" sz="2400" dirty="0" smtClean="0"/>
              <a:t>7. 	 This sequence goes on repeating and the system continues 	to vibrate.</a:t>
            </a:r>
          </a:p>
          <a:p>
            <a:endParaRPr 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HP\Pictures\vibration 1.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6675" y="-58883"/>
            <a:ext cx="9439276" cy="7069283"/>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HP\Pictures\vibration 2.PN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14617" r="10704" b="12293"/>
          <a:stretch/>
        </p:blipFill>
        <p:spPr bwMode="auto">
          <a:xfrm>
            <a:off x="457200" y="152400"/>
            <a:ext cx="8381999" cy="2736273"/>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extBox 4"/>
          <p:cNvSpPr txBox="1"/>
          <p:nvPr/>
        </p:nvSpPr>
        <p:spPr>
          <a:xfrm>
            <a:off x="381000" y="3124200"/>
            <a:ext cx="8229600" cy="381000"/>
          </a:xfrm>
          <a:prstGeom prst="rect">
            <a:avLst/>
          </a:prstGeom>
          <a:noFill/>
        </p:spPr>
        <p:txBody>
          <a:bodyPr wrap="square" rtlCol="0">
            <a:spAutoFit/>
          </a:bodyPr>
          <a:lstStyle/>
          <a:p>
            <a:pPr algn="ctr"/>
            <a:endParaRPr lang="en-US" dirty="0"/>
          </a:p>
        </p:txBody>
      </p:sp>
      <p:pic>
        <p:nvPicPr>
          <p:cNvPr id="6" name="Picture 3" descr="C:\Users\HP\Pictures\vibration 3.PNG"/>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19806"/>
          <a:stretch/>
        </p:blipFill>
        <p:spPr bwMode="auto">
          <a:xfrm>
            <a:off x="228601" y="3394364"/>
            <a:ext cx="8312726" cy="2320636"/>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3400" y="381000"/>
            <a:ext cx="8153400" cy="369332"/>
          </a:xfrm>
          <a:prstGeom prst="rect">
            <a:avLst/>
          </a:prstGeom>
          <a:noFill/>
        </p:spPr>
        <p:txBody>
          <a:bodyPr wrap="square" rtlCol="0">
            <a:spAutoFit/>
          </a:bodyPr>
          <a:lstStyle/>
          <a:p>
            <a:pPr algn="ctr"/>
            <a:endParaRPr lang="en-US" dirty="0"/>
          </a:p>
        </p:txBody>
      </p:sp>
      <p:pic>
        <p:nvPicPr>
          <p:cNvPr id="6" name="Picture 2" descr="C:\Users\HP\Pictures\vibration 4.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2400" y="457207"/>
            <a:ext cx="8991600" cy="6075125"/>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457200"/>
            <a:ext cx="8610600" cy="369332"/>
          </a:xfrm>
          <a:prstGeom prst="rect">
            <a:avLst/>
          </a:prstGeom>
          <a:noFill/>
        </p:spPr>
        <p:txBody>
          <a:bodyPr wrap="square" rtlCol="0">
            <a:spAutoFit/>
          </a:bodyPr>
          <a:lstStyle/>
          <a:p>
            <a:pPr algn="ctr"/>
            <a:endParaRPr lang="en-US" dirty="0"/>
          </a:p>
        </p:txBody>
      </p:sp>
      <p:pic>
        <p:nvPicPr>
          <p:cNvPr id="4" name="Picture 2" descr="C:\Users\HP\Pictures\vibration 5.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28600" y="228600"/>
            <a:ext cx="8610600" cy="24384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extBox 4"/>
          <p:cNvSpPr txBox="1"/>
          <p:nvPr/>
        </p:nvSpPr>
        <p:spPr>
          <a:xfrm>
            <a:off x="228600" y="2971800"/>
            <a:ext cx="8534400" cy="381000"/>
          </a:xfrm>
          <a:prstGeom prst="rect">
            <a:avLst/>
          </a:prstGeom>
          <a:noFill/>
        </p:spPr>
        <p:txBody>
          <a:bodyPr wrap="square" rtlCol="0">
            <a:spAutoFit/>
          </a:bodyPr>
          <a:lstStyle/>
          <a:p>
            <a:pPr algn="ctr"/>
            <a:endParaRPr lang="en-US" dirty="0"/>
          </a:p>
        </p:txBody>
      </p:sp>
      <p:sp>
        <p:nvSpPr>
          <p:cNvPr id="7" name="TextBox 6"/>
          <p:cNvSpPr txBox="1"/>
          <p:nvPr/>
        </p:nvSpPr>
        <p:spPr>
          <a:xfrm>
            <a:off x="228600" y="2971800"/>
            <a:ext cx="8153400" cy="369332"/>
          </a:xfrm>
          <a:prstGeom prst="rect">
            <a:avLst/>
          </a:prstGeom>
          <a:noFill/>
        </p:spPr>
        <p:txBody>
          <a:bodyPr wrap="square" rtlCol="0">
            <a:spAutoFit/>
          </a:bodyPr>
          <a:lstStyle/>
          <a:p>
            <a:pPr algn="ctr"/>
            <a:endParaRPr lang="en-US" dirty="0"/>
          </a:p>
        </p:txBody>
      </p:sp>
      <p:sp>
        <p:nvSpPr>
          <p:cNvPr id="8" name="Subtitle 2"/>
          <p:cNvSpPr txBox="1">
            <a:spLocks/>
          </p:cNvSpPr>
          <p:nvPr/>
        </p:nvSpPr>
        <p:spPr>
          <a:xfrm>
            <a:off x="304800" y="3124200"/>
            <a:ext cx="8458200" cy="28194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cap="none" spc="0" normalizeH="0" baseline="0" noProof="0" smtClean="0">
                <a:ln>
                  <a:noFill/>
                </a:ln>
                <a:solidFill>
                  <a:schemeClr val="accent6">
                    <a:lumMod val="75000"/>
                  </a:schemeClr>
                </a:solidFill>
                <a:effectLst/>
                <a:uLnTx/>
                <a:uFillTx/>
                <a:latin typeface="Times New Roman" pitchFamily="18" charset="0"/>
                <a:ea typeface="+mn-ea"/>
                <a:cs typeface="Times New Roman" pitchFamily="18" charset="0"/>
              </a:rPr>
              <a:t>7) Un-damped free vibrations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3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rPr>
              <a:t>When the elastic system vibrates because of inherent forces and no external force is included ,it is called free vibration.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3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rPr>
              <a:t>If during vibrations there is no loss of energy due to friction or resistance it is known as un-damped vibrations.</a:t>
            </a:r>
            <a:endParaRPr kumimoji="0" lang="en-IN" sz="2300" b="0" i="0" u="none" strike="noStrike" kern="1200" cap="none" spc="0" normalizeH="0" baseline="0" noProof="0" dirty="0">
              <a:ln>
                <a:noFill/>
              </a:ln>
              <a:solidFill>
                <a:srgbClr val="0070C0"/>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381000"/>
            <a:ext cx="8534400" cy="369332"/>
          </a:xfrm>
          <a:prstGeom prst="rect">
            <a:avLst/>
          </a:prstGeom>
          <a:noFill/>
        </p:spPr>
        <p:txBody>
          <a:bodyPr wrap="square" rtlCol="0">
            <a:spAutoFit/>
          </a:bodyPr>
          <a:lstStyle/>
          <a:p>
            <a:pPr algn="ctr"/>
            <a:endParaRPr lang="en-US" dirty="0"/>
          </a:p>
        </p:txBody>
      </p:sp>
      <p:sp>
        <p:nvSpPr>
          <p:cNvPr id="5" name="TextBox 4"/>
          <p:cNvSpPr txBox="1"/>
          <p:nvPr/>
        </p:nvSpPr>
        <p:spPr>
          <a:xfrm>
            <a:off x="228600" y="381000"/>
            <a:ext cx="8305800" cy="369332"/>
          </a:xfrm>
          <a:prstGeom prst="rect">
            <a:avLst/>
          </a:prstGeom>
          <a:noFill/>
        </p:spPr>
        <p:txBody>
          <a:bodyPr wrap="square" rtlCol="0">
            <a:spAutoFit/>
          </a:bodyPr>
          <a:lstStyle/>
          <a:p>
            <a:pPr algn="ctr"/>
            <a:r>
              <a:rPr lang="en-US" b="1" dirty="0" smtClean="0">
                <a:solidFill>
                  <a:schemeClr val="accent6">
                    <a:lumMod val="75000"/>
                  </a:schemeClr>
                </a:solidFill>
                <a:latin typeface="Times New Roman" pitchFamily="18" charset="0"/>
                <a:cs typeface="Times New Roman" pitchFamily="18" charset="0"/>
              </a:rPr>
              <a:t>DERIVATION OF DIFFERENTIAL EQUATION </a:t>
            </a:r>
            <a:endParaRPr lang="en-US" dirty="0"/>
          </a:p>
        </p:txBody>
      </p:sp>
      <p:sp>
        <p:nvSpPr>
          <p:cNvPr id="6" name="TextBox 5"/>
          <p:cNvSpPr txBox="1"/>
          <p:nvPr/>
        </p:nvSpPr>
        <p:spPr>
          <a:xfrm>
            <a:off x="1295400" y="990600"/>
            <a:ext cx="7620000" cy="400110"/>
          </a:xfrm>
          <a:prstGeom prst="rect">
            <a:avLst/>
          </a:prstGeom>
          <a:noFill/>
        </p:spPr>
        <p:txBody>
          <a:bodyPr wrap="square" rtlCol="0">
            <a:spAutoFit/>
          </a:bodyPr>
          <a:lstStyle/>
          <a:p>
            <a:r>
              <a:rPr lang="en-US" sz="2000" dirty="0" smtClean="0">
                <a:solidFill>
                  <a:srgbClr val="FF0000"/>
                </a:solidFill>
              </a:rPr>
              <a:t>Newton’s Method</a:t>
            </a:r>
            <a:endParaRPr lang="en-US" sz="2000" dirty="0">
              <a:solidFill>
                <a:srgbClr val="FF0000"/>
              </a:solidFill>
            </a:endParaRPr>
          </a:p>
        </p:txBody>
      </p:sp>
      <p:pic>
        <p:nvPicPr>
          <p:cNvPr id="7" name="Picture 2" descr="C:\Users\HP\Pictures\vibration 6.PN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b="50000"/>
          <a:stretch/>
        </p:blipFill>
        <p:spPr bwMode="auto">
          <a:xfrm>
            <a:off x="838200" y="1510145"/>
            <a:ext cx="7620000" cy="1163782"/>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3" descr="C:\Users\HP\Pictures\vibration7 .PNG"/>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a:stretch/>
        </p:blipFill>
        <p:spPr bwMode="auto">
          <a:xfrm>
            <a:off x="1143000" y="2819400"/>
            <a:ext cx="7391400" cy="381000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noRot="1" noChangeAspect="1" noMove="1" noResize="1" noEditPoints="1" noAdjustHandles="1" noChangeArrowheads="1" noChangeShapeType="1" noTextEdit="1"/>
          </p:cNvSpPr>
          <p:nvPr/>
        </p:nvSpPr>
        <p:spPr>
          <a:xfrm>
            <a:off x="6929" y="304800"/>
            <a:ext cx="9137073" cy="6553200"/>
          </a:xfrm>
          <a:prstGeom prst="rect">
            <a:avLst/>
          </a:prstGeom>
          <a:blipFill rotWithShape="1">
            <a:blip r:embed="rId2" cstate="print"/>
            <a:stretch>
              <a:fillRect l="-1001" t="-1302" r="-2001" b="-744"/>
            </a:stretch>
          </a:blipFill>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smtClean="0">
                <a:ln>
                  <a:noFill/>
                </a:ln>
                <a:noFill/>
                <a:effectLst/>
                <a:uLnTx/>
                <a:uFillTx/>
                <a:latin typeface="+mn-lt"/>
                <a:ea typeface="+mn-ea"/>
                <a:cs typeface="+mn-cs"/>
              </a:rPr>
              <a:t> </a:t>
            </a:r>
            <a:endParaRPr kumimoji="0" lang="en-IN" sz="3200" b="0" i="0" u="none" strike="noStrike" kern="1200" cap="none" spc="0" normalizeH="0" baseline="0" noProof="0">
              <a:ln>
                <a:noFill/>
              </a:ln>
              <a:noFill/>
              <a:effectLst/>
              <a:uLnTx/>
              <a:uFillTx/>
              <a:latin typeface="+mn-lt"/>
              <a:ea typeface="+mn-ea"/>
              <a:cs typeface="+mn-cs"/>
            </a:endParaRPr>
          </a:p>
        </p:txBody>
      </p:sp>
      <p:pic>
        <p:nvPicPr>
          <p:cNvPr id="33793" name="Picture 1"/>
          <p:cNvPicPr>
            <a:picLocks noChangeAspect="1" noChangeArrowheads="1"/>
          </p:cNvPicPr>
          <p:nvPr/>
        </p:nvPicPr>
        <p:blipFill>
          <a:blip r:embed="rId3"/>
          <a:srcRect/>
          <a:stretch>
            <a:fillRect/>
          </a:stretch>
        </p:blipFill>
        <p:spPr bwMode="auto">
          <a:xfrm>
            <a:off x="0" y="38100"/>
            <a:ext cx="9153525" cy="678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304800"/>
            <a:ext cx="8839200" cy="369332"/>
          </a:xfrm>
          <a:prstGeom prst="rect">
            <a:avLst/>
          </a:prstGeom>
          <a:noFill/>
        </p:spPr>
        <p:txBody>
          <a:bodyPr wrap="square" rtlCol="0">
            <a:spAutoFit/>
          </a:bodyPr>
          <a:lstStyle/>
          <a:p>
            <a:pPr algn="ctr"/>
            <a:r>
              <a:rPr lang="en-IN" b="1" dirty="0" smtClean="0">
                <a:solidFill>
                  <a:srgbClr val="FF6600"/>
                </a:solidFill>
                <a:latin typeface="Times New Roman" pitchFamily="18" charset="0"/>
                <a:cs typeface="Times New Roman" pitchFamily="18" charset="0"/>
              </a:rPr>
              <a:t>DAMPED VIBRATIONS</a:t>
            </a:r>
            <a:endParaRPr lang="en-US" dirty="0"/>
          </a:p>
        </p:txBody>
      </p:sp>
      <p:sp>
        <p:nvSpPr>
          <p:cNvPr id="5" name="TextBox 4"/>
          <p:cNvSpPr txBox="1"/>
          <p:nvPr/>
        </p:nvSpPr>
        <p:spPr>
          <a:xfrm>
            <a:off x="228600" y="1066800"/>
            <a:ext cx="6858000" cy="369332"/>
          </a:xfrm>
          <a:prstGeom prst="rect">
            <a:avLst/>
          </a:prstGeom>
          <a:noFill/>
        </p:spPr>
        <p:txBody>
          <a:bodyPr wrap="square" rtlCol="0">
            <a:spAutoFit/>
          </a:bodyPr>
          <a:lstStyle/>
          <a:p>
            <a:pPr algn="ctr"/>
            <a:endParaRPr lang="en-US" dirty="0"/>
          </a:p>
        </p:txBody>
      </p:sp>
      <p:sp>
        <p:nvSpPr>
          <p:cNvPr id="6" name="Content Placeholder 2"/>
          <p:cNvSpPr txBox="1">
            <a:spLocks/>
          </p:cNvSpPr>
          <p:nvPr/>
        </p:nvSpPr>
        <p:spPr>
          <a:xfrm>
            <a:off x="228600" y="1219200"/>
            <a:ext cx="8610600" cy="5334000"/>
          </a:xfrm>
          <a:prstGeom prst="rect">
            <a:avLst/>
          </a:prstGeom>
        </p:spPr>
        <p:txBody>
          <a:bodyPr>
            <a:normAutofit fontScale="55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8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rPr>
              <a:t>D</a:t>
            </a:r>
            <a:r>
              <a:rPr kumimoji="0" lang="en-IN" sz="44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rPr>
              <a:t>amping is resistance offered by a body to motion of vibratory system.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44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44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rPr>
              <a:t>Resistance can be applied by a liquid or solid internally or externally.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44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44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rPr>
              <a:t>Mass, stiffness and damping  are main features of vibratory system.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44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44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rPr>
              <a:t>At start of vibratory motion, amplitude of motion is maximum which goes on decreasing and finally lost completely.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44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4400" b="0" i="0" u="none" strike="noStrike" kern="1200" cap="none" spc="0" normalizeH="0" baseline="0" noProof="0" smtClean="0">
                <a:ln>
                  <a:noFill/>
                </a:ln>
                <a:solidFill>
                  <a:srgbClr val="0070C0"/>
                </a:solidFill>
                <a:effectLst/>
                <a:uLnTx/>
                <a:uFillTx/>
                <a:latin typeface="Times New Roman" pitchFamily="18" charset="0"/>
                <a:ea typeface="+mn-ea"/>
                <a:cs typeface="Times New Roman" pitchFamily="18" charset="0"/>
              </a:rPr>
              <a:t>Main advantage of damping is just to control amplitude of vibration so that failure occurring due to resonance can be avoided.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381000"/>
            <a:ext cx="8382000" cy="369332"/>
          </a:xfrm>
          <a:prstGeom prst="rect">
            <a:avLst/>
          </a:prstGeom>
          <a:noFill/>
        </p:spPr>
        <p:txBody>
          <a:bodyPr wrap="square" rtlCol="0">
            <a:spAutoFit/>
          </a:bodyPr>
          <a:lstStyle/>
          <a:p>
            <a:pPr algn="ctr"/>
            <a:r>
              <a:rPr lang="en-IN" b="1" dirty="0" smtClean="0">
                <a:solidFill>
                  <a:srgbClr val="FF6600"/>
                </a:solidFill>
                <a:latin typeface="Times New Roman" pitchFamily="18" charset="0"/>
                <a:cs typeface="Times New Roman" pitchFamily="18" charset="0"/>
              </a:rPr>
              <a:t>DIFFERENTIAL EQUATION OF DAMPED FREE VIBRATION</a:t>
            </a:r>
            <a:endParaRPr lang="en-US" dirty="0"/>
          </a:p>
        </p:txBody>
      </p:sp>
      <p:sp>
        <p:nvSpPr>
          <p:cNvPr id="4" name="TextBox 3"/>
          <p:cNvSpPr txBox="1"/>
          <p:nvPr/>
        </p:nvSpPr>
        <p:spPr>
          <a:xfrm>
            <a:off x="5257800" y="1219200"/>
            <a:ext cx="3429000" cy="369332"/>
          </a:xfrm>
          <a:prstGeom prst="rect">
            <a:avLst/>
          </a:prstGeom>
          <a:noFill/>
        </p:spPr>
        <p:txBody>
          <a:bodyPr wrap="square" rtlCol="0">
            <a:spAutoFit/>
          </a:bodyPr>
          <a:lstStyle/>
          <a:p>
            <a:pPr algn="ctr"/>
            <a:endParaRPr lang="en-US" dirty="0"/>
          </a:p>
        </p:txBody>
      </p:sp>
      <p:sp>
        <p:nvSpPr>
          <p:cNvPr id="5" name="Subtitle 2"/>
          <p:cNvSpPr txBox="1">
            <a:spLocks/>
          </p:cNvSpPr>
          <p:nvPr/>
        </p:nvSpPr>
        <p:spPr>
          <a:xfrm>
            <a:off x="3429000" y="685800"/>
            <a:ext cx="5499786" cy="4990071"/>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Viscous damping force </a:t>
            </a:r>
            <a:r>
              <a:rPr kumimoji="0" lang="en-IN" sz="3200" b="0" i="1"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F </a:t>
            </a: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is proportional to the velocity or </a:t>
            </a:r>
            <a:r>
              <a:rPr kumimoji="0" lang="en-IN" sz="3200" b="0" i="1"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v </a:t>
            </a: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and can be expressed as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3200" b="0" i="1"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1"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c </a:t>
            </a: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is the damping constant or coefficient of viscous damping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Negative sign indicates that the damping force is opposite to the direction of velocity</a:t>
            </a:r>
            <a:endParaRPr kumimoji="0" lang="en-IN" sz="3200" b="0" i="0" u="none" strike="noStrike" kern="1200" cap="none" spc="0" normalizeH="0" baseline="0" noProof="0" dirty="0">
              <a:ln>
                <a:noFill/>
              </a:ln>
              <a:solidFill>
                <a:srgbClr val="0070C0"/>
              </a:solidFill>
              <a:effectLst/>
              <a:uLnTx/>
              <a:uFillTx/>
              <a:latin typeface="Times New Roman" pitchFamily="18" charset="0"/>
              <a:ea typeface="+mn-ea"/>
              <a:cs typeface="Times New Roman"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648200" y="2667000"/>
            <a:ext cx="1447800" cy="463636"/>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51216" y="1828800"/>
            <a:ext cx="3811184" cy="37338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304800"/>
            <a:ext cx="8763000" cy="369332"/>
          </a:xfrm>
          <a:prstGeom prst="rect">
            <a:avLst/>
          </a:prstGeom>
          <a:noFill/>
        </p:spPr>
        <p:txBody>
          <a:bodyPr wrap="square" rtlCol="0">
            <a:spAutoFit/>
          </a:bodyPr>
          <a:lstStyle/>
          <a:p>
            <a:pPr algn="ctr"/>
            <a:endParaRPr lang="en-US" dirty="0"/>
          </a:p>
        </p:txBody>
      </p:sp>
      <p:sp>
        <p:nvSpPr>
          <p:cNvPr id="4" name="Subtitle 2"/>
          <p:cNvSpPr txBox="1">
            <a:spLocks/>
          </p:cNvSpPr>
          <p:nvPr/>
        </p:nvSpPr>
        <p:spPr>
          <a:xfrm>
            <a:off x="296565" y="383059"/>
            <a:ext cx="8390236" cy="5408141"/>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If </a:t>
            </a:r>
            <a:r>
              <a:rPr kumimoji="0" lang="en-IN" sz="3200" b="0" i="1"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x </a:t>
            </a: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is measured from the equilibrium position of the mass </a:t>
            </a:r>
            <a:r>
              <a:rPr kumimoji="0" lang="en-IN" sz="3200" b="0" i="1"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m, </a:t>
            </a: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the application of Newton’s law yields the equation of motion:</a:t>
            </a: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IN"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we assume a solution in the form x(t) = </a:t>
            </a:r>
            <a:r>
              <a:rPr kumimoji="0" lang="en-IN" sz="3200" b="0" i="0" u="none" strike="noStrike" kern="1200" cap="none" spc="0" normalizeH="0" baseline="0" noProof="0" dirty="0" err="1" smtClean="0">
                <a:ln>
                  <a:noFill/>
                </a:ln>
                <a:solidFill>
                  <a:srgbClr val="0070C0"/>
                </a:solidFill>
                <a:effectLst/>
                <a:uLnTx/>
                <a:uFillTx/>
                <a:latin typeface="Times New Roman" pitchFamily="18" charset="0"/>
                <a:ea typeface="+mn-ea"/>
                <a:cs typeface="Times New Roman" pitchFamily="18" charset="0"/>
              </a:rPr>
              <a:t>Ce</a:t>
            </a:r>
            <a:r>
              <a:rPr kumimoji="0" lang="en-IN" sz="3200" b="0" i="0" u="none" strike="noStrike" kern="1200" cap="none" spc="0" normalizeH="0" baseline="30000" noProof="0" dirty="0" err="1" smtClean="0">
                <a:ln>
                  <a:noFill/>
                </a:ln>
                <a:solidFill>
                  <a:srgbClr val="0070C0"/>
                </a:solidFill>
                <a:effectLst/>
                <a:uLnTx/>
                <a:uFillTx/>
                <a:latin typeface="Times New Roman" pitchFamily="18" charset="0"/>
                <a:ea typeface="+mn-ea"/>
                <a:cs typeface="Times New Roman" pitchFamily="18" charset="0"/>
              </a:rPr>
              <a:t>st</a:t>
            </a:r>
            <a:endParaRPr kumimoji="0" lang="en-IN" sz="3200" b="0" i="0" u="none" strike="noStrike" kern="1200" cap="none" spc="0" normalizeH="0" baseline="30000" noProof="0" dirty="0" smtClean="0">
              <a:ln>
                <a:noFill/>
              </a:ln>
              <a:solidFill>
                <a:srgbClr val="0070C0"/>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where </a:t>
            </a:r>
            <a:r>
              <a:rPr kumimoji="0" lang="en-IN" sz="3200" b="0" i="1"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C </a:t>
            </a: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and </a:t>
            </a:r>
            <a:r>
              <a:rPr kumimoji="0" lang="en-IN" sz="3200" b="0" i="1"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s </a:t>
            </a: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are undetermined constants. Inserting this function into equation of motion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leads to the characteristic equation ms</a:t>
            </a:r>
            <a:r>
              <a:rPr kumimoji="0" lang="en-IN" sz="3200" b="0" i="0" u="none" strike="noStrike" kern="1200" cap="none" spc="0" normalizeH="0" baseline="30000" noProof="0" dirty="0" smtClean="0">
                <a:ln>
                  <a:noFill/>
                </a:ln>
                <a:solidFill>
                  <a:srgbClr val="0070C0"/>
                </a:solidFill>
                <a:effectLst/>
                <a:uLnTx/>
                <a:uFillTx/>
                <a:latin typeface="Times New Roman" pitchFamily="18" charset="0"/>
                <a:ea typeface="+mn-ea"/>
                <a:cs typeface="Times New Roman" pitchFamily="18" charset="0"/>
              </a:rPr>
              <a:t>2</a:t>
            </a: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 + </a:t>
            </a:r>
            <a:r>
              <a:rPr kumimoji="0" lang="en-IN" sz="3200" b="0" i="0" u="none" strike="noStrike" kern="1200" cap="none" spc="0" normalizeH="0" baseline="0" noProof="0" dirty="0" err="1" smtClean="0">
                <a:ln>
                  <a:noFill/>
                </a:ln>
                <a:solidFill>
                  <a:srgbClr val="0070C0"/>
                </a:solidFill>
                <a:effectLst/>
                <a:uLnTx/>
                <a:uFillTx/>
                <a:latin typeface="Times New Roman" pitchFamily="18" charset="0"/>
                <a:ea typeface="+mn-ea"/>
                <a:cs typeface="Times New Roman" pitchFamily="18" charset="0"/>
              </a:rPr>
              <a:t>cs</a:t>
            </a:r>
            <a:r>
              <a:rPr kumimoji="0" lang="en-IN" sz="3200" b="0" i="0" u="none" strike="noStrike" kern="1200" cap="none" spc="0" normalizeH="0" baseline="0" noProof="0" dirty="0" smtClean="0">
                <a:ln>
                  <a:noFill/>
                </a:ln>
                <a:solidFill>
                  <a:srgbClr val="0070C0"/>
                </a:solidFill>
                <a:effectLst/>
                <a:uLnTx/>
                <a:uFillTx/>
                <a:latin typeface="Times New Roman" pitchFamily="18" charset="0"/>
                <a:ea typeface="+mn-ea"/>
                <a:cs typeface="Times New Roman" pitchFamily="18" charset="0"/>
              </a:rPr>
              <a:t> + k = 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3200" b="0" i="0" u="none" strike="noStrike" kern="1200" cap="none" spc="0" normalizeH="0" baseline="3000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IN" sz="3200" b="0" i="0" u="none" strike="noStrike" kern="1200" cap="none" spc="0" normalizeH="0" baseline="3000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IN" sz="3200" b="0" i="0" u="none" strike="noStrike" kern="1200" cap="none" spc="0" normalizeH="0" baseline="3000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3200" b="0" i="0" u="none" strike="noStrike" kern="1200" cap="none" spc="0" normalizeH="0" baseline="30000" noProof="0" dirty="0" smtClean="0">
              <a:ln>
                <a:noFill/>
              </a:ln>
              <a:solidFill>
                <a:schemeClr val="tx1"/>
              </a:solidFill>
              <a:effectLst/>
              <a:uLnTx/>
              <a:uFillTx/>
              <a:latin typeface="+mn-lt"/>
              <a:ea typeface="+mn-ea"/>
              <a:cs typeface="+mn-cs"/>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590800" y="2057400"/>
            <a:ext cx="2646606" cy="504977"/>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905000" y="4800600"/>
            <a:ext cx="5895138" cy="1104090"/>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524000" y="6096000"/>
            <a:ext cx="4648200" cy="54588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1524000"/>
            <a:ext cx="8458200" cy="369332"/>
          </a:xfrm>
          <a:prstGeom prst="rect">
            <a:avLst/>
          </a:prstGeom>
          <a:noFill/>
        </p:spPr>
        <p:txBody>
          <a:bodyPr wrap="square" rtlCol="0">
            <a:spAutoFit/>
          </a:bodyPr>
          <a:lstStyle/>
          <a:p>
            <a:pPr algn="ctr"/>
            <a:endParaRPr lang="en-US" dirty="0"/>
          </a:p>
        </p:txBody>
      </p:sp>
      <p:sp>
        <p:nvSpPr>
          <p:cNvPr id="4" name="Subtitle 2"/>
          <p:cNvSpPr txBox="1">
            <a:spLocks/>
          </p:cNvSpPr>
          <p:nvPr/>
        </p:nvSpPr>
        <p:spPr>
          <a:xfrm>
            <a:off x="426308" y="605481"/>
            <a:ext cx="8275938" cy="5758249"/>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dirty="0" smtClean="0">
                <a:ln>
                  <a:noFill/>
                </a:ln>
                <a:solidFill>
                  <a:srgbClr val="00B0F0"/>
                </a:solidFill>
                <a:effectLst/>
                <a:uLnTx/>
                <a:uFillTx/>
                <a:latin typeface="Times New Roman" pitchFamily="18" charset="0"/>
                <a:ea typeface="+mn-ea"/>
                <a:cs typeface="Times New Roman" pitchFamily="18" charset="0"/>
              </a:rPr>
              <a:t>Thus the general solution is given by a combination of the two solutions x</a:t>
            </a:r>
            <a:r>
              <a:rPr kumimoji="0" lang="en-IN" sz="3200" b="0" i="0" u="none" strike="noStrike" kern="1200" cap="none" spc="0" normalizeH="0" baseline="-25000" noProof="0" dirty="0" smtClean="0">
                <a:ln>
                  <a:noFill/>
                </a:ln>
                <a:solidFill>
                  <a:srgbClr val="00B0F0"/>
                </a:solidFill>
                <a:effectLst/>
                <a:uLnTx/>
                <a:uFillTx/>
                <a:latin typeface="Times New Roman" pitchFamily="18" charset="0"/>
                <a:ea typeface="+mn-ea"/>
                <a:cs typeface="Times New Roman" pitchFamily="18" charset="0"/>
              </a:rPr>
              <a:t>1</a:t>
            </a:r>
            <a:r>
              <a:rPr kumimoji="0" lang="en-IN" sz="3200" b="0" i="0" u="none" strike="noStrike" kern="1200" cap="none" spc="0" normalizeH="0" baseline="0" noProof="0" dirty="0" smtClean="0">
                <a:ln>
                  <a:noFill/>
                </a:ln>
                <a:solidFill>
                  <a:srgbClr val="00B0F0"/>
                </a:solidFill>
                <a:effectLst/>
                <a:uLnTx/>
                <a:uFillTx/>
                <a:latin typeface="Times New Roman" pitchFamily="18" charset="0"/>
                <a:ea typeface="+mn-ea"/>
                <a:cs typeface="Times New Roman" pitchFamily="18" charset="0"/>
              </a:rPr>
              <a:t>(t) and x</a:t>
            </a:r>
            <a:r>
              <a:rPr kumimoji="0" lang="en-IN" sz="3200" b="0" i="0" u="none" strike="noStrike" kern="1200" cap="none" spc="0" normalizeH="0" baseline="-25000" noProof="0" dirty="0" smtClean="0">
                <a:ln>
                  <a:noFill/>
                </a:ln>
                <a:solidFill>
                  <a:srgbClr val="00B0F0"/>
                </a:solidFill>
                <a:effectLst/>
                <a:uLnTx/>
                <a:uFillTx/>
                <a:latin typeface="Times New Roman" pitchFamily="18" charset="0"/>
                <a:ea typeface="+mn-ea"/>
                <a:cs typeface="Times New Roman" pitchFamily="18" charset="0"/>
              </a:rPr>
              <a:t>2</a:t>
            </a:r>
            <a:r>
              <a:rPr kumimoji="0" lang="en-IN" sz="3200" b="0" i="0" u="none" strike="noStrike" kern="1200" cap="none" spc="0" normalizeH="0" baseline="0" noProof="0" dirty="0" smtClean="0">
                <a:ln>
                  <a:noFill/>
                </a:ln>
                <a:solidFill>
                  <a:srgbClr val="00B0F0"/>
                </a:solidFill>
                <a:effectLst/>
                <a:uLnTx/>
                <a:uFillTx/>
                <a:latin typeface="Times New Roman" pitchFamily="18" charset="0"/>
                <a:ea typeface="+mn-ea"/>
                <a:cs typeface="Times New Roman" pitchFamily="18" charset="0"/>
              </a:rPr>
              <a:t>(t):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32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66800" y="2514600"/>
            <a:ext cx="5418060" cy="150134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310734"/>
            <a:ext cx="8229600" cy="411166"/>
          </a:xfrm>
        </p:spPr>
        <p:txBody>
          <a:bodyPr>
            <a:noAutofit/>
          </a:bodyPr>
          <a:lstStyle/>
          <a:p>
            <a:r>
              <a:rPr lang="en-US" sz="3200" dirty="0" smtClean="0">
                <a:ea typeface="ＭＳ Ｐゴシック" pitchFamily="34" charset="-128"/>
              </a:rPr>
              <a:t>Free vibrations – Simple Harmonic motion</a:t>
            </a:r>
            <a:r>
              <a:rPr lang="en-US" dirty="0" smtClean="0">
                <a:ea typeface="ＭＳ Ｐゴシック" pitchFamily="34" charset="-128"/>
              </a:rPr>
              <a:t> </a:t>
            </a:r>
            <a:r>
              <a:rPr lang="en-US" dirty="0">
                <a:ea typeface="ＭＳ Ｐゴシック" pitchFamily="34" charset="-128"/>
              </a:rPr>
              <a:t/>
            </a:r>
            <a:br>
              <a:rPr lang="en-US" dirty="0">
                <a:ea typeface="ＭＳ Ｐゴシック" pitchFamily="34" charset="-128"/>
              </a:rPr>
            </a:br>
            <a:endParaRPr lang="en-US" dirty="0" smtClean="0">
              <a:ea typeface="ＭＳ Ｐゴシック" pitchFamily="34" charset="-128"/>
            </a:endParaRPr>
          </a:p>
        </p:txBody>
      </p:sp>
      <p:sp>
        <p:nvSpPr>
          <p:cNvPr id="7171"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200" smtClean="0">
                <a:solidFill>
                  <a:srgbClr val="618A53"/>
                </a:solidFill>
                <a:latin typeface="Arial" charset="0"/>
              </a:rPr>
              <a:t>19 - </a:t>
            </a:r>
            <a:fld id="{51088331-4AC6-4984-9ED1-29F2D02699FB}" type="slidenum">
              <a:rPr lang="en-US" sz="1200" smtClean="0">
                <a:solidFill>
                  <a:srgbClr val="618A53"/>
                </a:solidFill>
                <a:latin typeface="Arial" charset="0"/>
              </a:rPr>
              <a:pPr eaLnBrk="1" hangingPunct="1"/>
              <a:t>17</a:t>
            </a:fld>
            <a:endParaRPr lang="en-US" sz="1200" smtClean="0">
              <a:solidFill>
                <a:srgbClr val="618A53"/>
              </a:solidFill>
              <a:latin typeface="Arial" charset="0"/>
            </a:endParaRPr>
          </a:p>
        </p:txBody>
      </p:sp>
      <p:pic>
        <p:nvPicPr>
          <p:cNvPr id="7172" name="Picture 3" descr="C:\DOCUME~1\WALTOL~1\LOCALS~1\Temp\\msotw9_temp0.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92771" y="1308980"/>
            <a:ext cx="2125663" cy="2438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173" name="Picture 4" descr="C:\DOCUME~1\WALTOL~1\LOCALS~1\Temp\\msotw9_temp0.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52400" y="3810000"/>
            <a:ext cx="2636838" cy="304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7174" name="Group 26"/>
          <p:cNvGrpSpPr>
            <a:grpSpLocks/>
          </p:cNvGrpSpPr>
          <p:nvPr/>
        </p:nvGrpSpPr>
        <p:grpSpPr bwMode="auto">
          <a:xfrm>
            <a:off x="2514736" y="685805"/>
            <a:ext cx="6324600" cy="1821045"/>
            <a:chOff x="1912" y="414"/>
            <a:chExt cx="3823" cy="1277"/>
          </a:xfrm>
        </p:grpSpPr>
        <p:sp>
          <p:nvSpPr>
            <p:cNvPr id="7187" name="Text Box 7"/>
            <p:cNvSpPr txBox="1">
              <a:spLocks noChangeArrowheads="1"/>
            </p:cNvSpPr>
            <p:nvPr/>
          </p:nvSpPr>
          <p:spPr bwMode="auto">
            <a:xfrm>
              <a:off x="1912" y="414"/>
              <a:ext cx="3823" cy="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marL="0" indent="0" eaLnBrk="1" hangingPunct="1">
                <a:spcBef>
                  <a:spcPct val="50000"/>
                </a:spcBef>
              </a:pPr>
              <a:r>
                <a:rPr lang="en-US" dirty="0" smtClean="0"/>
                <a:t>If a particle is displaced through </a:t>
              </a:r>
              <a:r>
                <a:rPr lang="en-US" dirty="0"/>
                <a:t>a distance </a:t>
              </a:r>
              <a:r>
                <a:rPr lang="en-US" i="1" dirty="0" err="1"/>
                <a:t>x</a:t>
              </a:r>
              <a:r>
                <a:rPr lang="en-US" i="1" baseline="-25000" dirty="0" err="1"/>
                <a:t>m</a:t>
              </a:r>
              <a:r>
                <a:rPr lang="en-US" dirty="0"/>
                <a:t> from its equilibrium position and released with no velocity, the particle will undergo </a:t>
              </a:r>
              <a:r>
                <a:rPr lang="en-US" i="1" dirty="0"/>
                <a:t>simple harmonic motion</a:t>
              </a:r>
              <a:r>
                <a:rPr lang="en-US" dirty="0"/>
                <a:t>,</a:t>
              </a:r>
            </a:p>
          </p:txBody>
        </p:sp>
        <p:graphicFrame>
          <p:nvGraphicFramePr>
            <p:cNvPr id="7188" name="Object 7"/>
            <p:cNvGraphicFramePr>
              <a:graphicFrameLocks noChangeAspect="1"/>
            </p:cNvGraphicFramePr>
            <p:nvPr>
              <p:extLst>
                <p:ext uri="{D42A27DB-BD31-4B8C-83A1-F6EECF244321}">
                  <p14:modId xmlns="" xmlns:p14="http://schemas.microsoft.com/office/powerpoint/2010/main" val="2187489576"/>
                </p:ext>
              </p:extLst>
            </p:nvPr>
          </p:nvGraphicFramePr>
          <p:xfrm>
            <a:off x="2184" y="1275"/>
            <a:ext cx="1984" cy="416"/>
          </p:xfrm>
          <a:graphic>
            <a:graphicData uri="http://schemas.openxmlformats.org/presentationml/2006/ole">
              <p:oleObj spid="_x0000_s1038" name="Equation" r:id="rId5" imgW="3149600" imgH="660400" progId="Equation.3">
                <p:embed/>
              </p:oleObj>
            </a:graphicData>
          </a:graphic>
        </p:graphicFrame>
      </p:grpSp>
      <p:grpSp>
        <p:nvGrpSpPr>
          <p:cNvPr id="3" name="Group 27"/>
          <p:cNvGrpSpPr>
            <a:grpSpLocks/>
          </p:cNvGrpSpPr>
          <p:nvPr/>
        </p:nvGrpSpPr>
        <p:grpSpPr bwMode="auto">
          <a:xfrm>
            <a:off x="3074988" y="2767013"/>
            <a:ext cx="6069012" cy="1495425"/>
            <a:chOff x="1937" y="1743"/>
            <a:chExt cx="3823" cy="942"/>
          </a:xfrm>
        </p:grpSpPr>
        <p:sp>
          <p:nvSpPr>
            <p:cNvPr id="7185" name="Text Box 10"/>
            <p:cNvSpPr txBox="1">
              <a:spLocks noChangeArrowheads="1"/>
            </p:cNvSpPr>
            <p:nvPr/>
          </p:nvSpPr>
          <p:spPr bwMode="auto">
            <a:xfrm>
              <a:off x="1937" y="1743"/>
              <a:ext cx="3823"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dirty="0"/>
                <a:t>General solution is the sum of two </a:t>
              </a:r>
              <a:r>
                <a:rPr lang="en-US" i="1" dirty="0"/>
                <a:t>particular solutions</a:t>
              </a:r>
              <a:r>
                <a:rPr lang="en-US" dirty="0"/>
                <a:t>,</a:t>
              </a:r>
            </a:p>
          </p:txBody>
        </p:sp>
        <p:graphicFrame>
          <p:nvGraphicFramePr>
            <p:cNvPr id="7186" name="Object 6"/>
            <p:cNvGraphicFramePr>
              <a:graphicFrameLocks noChangeAspect="1"/>
            </p:cNvGraphicFramePr>
            <p:nvPr/>
          </p:nvGraphicFramePr>
          <p:xfrm>
            <a:off x="2230" y="1981"/>
            <a:ext cx="2160" cy="704"/>
          </p:xfrm>
          <a:graphic>
            <a:graphicData uri="http://schemas.openxmlformats.org/presentationml/2006/ole">
              <p:oleObj spid="_x0000_s1039" name="Equation" r:id="rId6" imgW="3429000" imgH="1117600" progId="Equation.3">
                <p:embed/>
              </p:oleObj>
            </a:graphicData>
          </a:graphic>
        </p:graphicFrame>
      </p:grpSp>
      <p:sp>
        <p:nvSpPr>
          <p:cNvPr id="7181" name="Text Box 13"/>
          <p:cNvSpPr txBox="1">
            <a:spLocks noChangeArrowheads="1"/>
          </p:cNvSpPr>
          <p:nvPr/>
        </p:nvSpPr>
        <p:spPr bwMode="auto">
          <a:xfrm>
            <a:off x="3074988" y="4346575"/>
            <a:ext cx="6069012"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i="1"/>
              <a:t>x</a:t>
            </a:r>
            <a:r>
              <a:rPr lang="en-US"/>
              <a:t> is a </a:t>
            </a:r>
            <a:r>
              <a:rPr lang="en-US" i="1"/>
              <a:t>periodic function</a:t>
            </a:r>
            <a:r>
              <a:rPr lang="en-US"/>
              <a:t> and </a:t>
            </a:r>
            <a:r>
              <a:rPr lang="en-US" i="1">
                <a:latin typeface="Symbol" pitchFamily="18" charset="2"/>
              </a:rPr>
              <a:t>w</a:t>
            </a:r>
            <a:r>
              <a:rPr lang="en-US" i="1" baseline="-25000"/>
              <a:t>n</a:t>
            </a:r>
            <a:r>
              <a:rPr lang="en-US"/>
              <a:t> is the </a:t>
            </a:r>
            <a:r>
              <a:rPr lang="en-US" i="1"/>
              <a:t>natural circular frequency</a:t>
            </a:r>
            <a:r>
              <a:rPr lang="en-US"/>
              <a:t> of the motion.</a:t>
            </a:r>
          </a:p>
        </p:txBody>
      </p:sp>
      <p:grpSp>
        <p:nvGrpSpPr>
          <p:cNvPr id="4" name="Group 28"/>
          <p:cNvGrpSpPr>
            <a:grpSpLocks/>
          </p:cNvGrpSpPr>
          <p:nvPr/>
        </p:nvGrpSpPr>
        <p:grpSpPr bwMode="auto">
          <a:xfrm>
            <a:off x="3074988" y="5099050"/>
            <a:ext cx="6069012" cy="850900"/>
            <a:chOff x="1937" y="3212"/>
            <a:chExt cx="3823" cy="536"/>
          </a:xfrm>
        </p:grpSpPr>
        <p:sp>
          <p:nvSpPr>
            <p:cNvPr id="2" name="Text Box 20"/>
            <p:cNvSpPr txBox="1">
              <a:spLocks noChangeArrowheads="1"/>
            </p:cNvSpPr>
            <p:nvPr/>
          </p:nvSpPr>
          <p:spPr bwMode="auto">
            <a:xfrm>
              <a:off x="1937" y="3212"/>
              <a:ext cx="3823"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i="1"/>
                <a:t>C</a:t>
              </a:r>
              <a:r>
                <a:rPr lang="en-US" i="1" baseline="-25000"/>
                <a:t>1</a:t>
              </a:r>
              <a:r>
                <a:rPr lang="en-US"/>
                <a:t> and </a:t>
              </a:r>
              <a:r>
                <a:rPr lang="en-US" i="1"/>
                <a:t>C</a:t>
              </a:r>
              <a:r>
                <a:rPr lang="en-US" i="1" baseline="-25000"/>
                <a:t>2</a:t>
              </a:r>
              <a:r>
                <a:rPr lang="en-US"/>
                <a:t> are determined by the initial conditions:</a:t>
              </a:r>
            </a:p>
          </p:txBody>
        </p:sp>
        <p:grpSp>
          <p:nvGrpSpPr>
            <p:cNvPr id="7182" name="Group 24"/>
            <p:cNvGrpSpPr>
              <a:grpSpLocks/>
            </p:cNvGrpSpPr>
            <p:nvPr/>
          </p:nvGrpSpPr>
          <p:grpSpPr bwMode="auto">
            <a:xfrm>
              <a:off x="2230" y="3540"/>
              <a:ext cx="3254" cy="208"/>
              <a:chOff x="2230" y="3540"/>
              <a:chExt cx="3254" cy="208"/>
            </a:xfrm>
          </p:grpSpPr>
          <p:graphicFrame>
            <p:nvGraphicFramePr>
              <p:cNvPr id="7183" name="Object 4"/>
              <p:cNvGraphicFramePr>
                <a:graphicFrameLocks noChangeAspect="1"/>
              </p:cNvGraphicFramePr>
              <p:nvPr/>
            </p:nvGraphicFramePr>
            <p:xfrm>
              <a:off x="2230" y="3540"/>
              <a:ext cx="1888" cy="208"/>
            </p:xfrm>
            <a:graphic>
              <a:graphicData uri="http://schemas.openxmlformats.org/presentationml/2006/ole">
                <p:oleObj spid="_x0000_s1040" name="Equation" r:id="rId7" imgW="2997200" imgH="330200" progId="Equation.3">
                  <p:embed/>
                </p:oleObj>
              </a:graphicData>
            </a:graphic>
          </p:graphicFrame>
          <p:graphicFrame>
            <p:nvGraphicFramePr>
              <p:cNvPr id="7184" name="Object 5"/>
              <p:cNvGraphicFramePr>
                <a:graphicFrameLocks noChangeAspect="1"/>
              </p:cNvGraphicFramePr>
              <p:nvPr/>
            </p:nvGraphicFramePr>
            <p:xfrm>
              <a:off x="4956" y="3540"/>
              <a:ext cx="528" cy="208"/>
            </p:xfrm>
            <a:graphic>
              <a:graphicData uri="http://schemas.openxmlformats.org/presentationml/2006/ole">
                <p:oleObj spid="_x0000_s1041" name="Equation" r:id="rId8" imgW="838200" imgH="330200" progId="Equation.3">
                  <p:embed/>
                </p:oleObj>
              </a:graphicData>
            </a:graphic>
          </p:graphicFrame>
        </p:grpSp>
      </p:grpSp>
      <p:grpSp>
        <p:nvGrpSpPr>
          <p:cNvPr id="6" name="Group 25"/>
          <p:cNvGrpSpPr>
            <a:grpSpLocks/>
          </p:cNvGrpSpPr>
          <p:nvPr/>
        </p:nvGrpSpPr>
        <p:grpSpPr bwMode="auto">
          <a:xfrm>
            <a:off x="3540125" y="6091238"/>
            <a:ext cx="5559425" cy="330200"/>
            <a:chOff x="2230" y="3837"/>
            <a:chExt cx="3502" cy="208"/>
          </a:xfrm>
        </p:grpSpPr>
        <p:graphicFrame>
          <p:nvGraphicFramePr>
            <p:cNvPr id="7179" name="Object 2"/>
            <p:cNvGraphicFramePr>
              <a:graphicFrameLocks noChangeAspect="1"/>
            </p:cNvGraphicFramePr>
            <p:nvPr/>
          </p:nvGraphicFramePr>
          <p:xfrm>
            <a:off x="4956" y="3837"/>
            <a:ext cx="776" cy="208"/>
          </p:xfrm>
          <a:graphic>
            <a:graphicData uri="http://schemas.openxmlformats.org/presentationml/2006/ole">
              <p:oleObj spid="_x0000_s1042" name="Equation" r:id="rId9" imgW="1231366" imgH="330057" progId="Equation.3">
                <p:embed/>
              </p:oleObj>
            </a:graphicData>
          </a:graphic>
        </p:graphicFrame>
        <p:graphicFrame>
          <p:nvGraphicFramePr>
            <p:cNvPr id="7180" name="Object 3"/>
            <p:cNvGraphicFramePr>
              <a:graphicFrameLocks noChangeAspect="1"/>
            </p:cNvGraphicFramePr>
            <p:nvPr/>
          </p:nvGraphicFramePr>
          <p:xfrm>
            <a:off x="2230" y="3837"/>
            <a:ext cx="2496" cy="208"/>
          </p:xfrm>
          <a:graphic>
            <a:graphicData uri="http://schemas.openxmlformats.org/presentationml/2006/ole">
              <p:oleObj spid="_x0000_s1043" name="Equation" r:id="rId10" imgW="3962400" imgH="330200" progId="Equation.3">
                <p:embed/>
              </p:oleObj>
            </a:graphicData>
          </a:graphic>
        </p:graphicFrame>
      </p:grpSp>
    </p:spTree>
    <p:extLst>
      <p:ext uri="{BB962C8B-B14F-4D97-AF65-F5344CB8AC3E}">
        <p14:creationId xmlns="" xmlns:p14="http://schemas.microsoft.com/office/powerpoint/2010/main" val="808510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8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1"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r>
              <a:rPr lang="en-US" dirty="0" smtClean="0">
                <a:ea typeface="ＭＳ Ｐゴシック" pitchFamily="34" charset="-128"/>
              </a:rPr>
              <a:t/>
            </a:r>
            <a:br>
              <a:rPr lang="en-US" dirty="0" smtClean="0">
                <a:ea typeface="ＭＳ Ｐゴシック" pitchFamily="34" charset="-128"/>
              </a:rPr>
            </a:br>
            <a:endParaRPr lang="en-US" dirty="0" smtClean="0">
              <a:ea typeface="ＭＳ Ｐゴシック" pitchFamily="34" charset="-128"/>
            </a:endParaRPr>
          </a:p>
        </p:txBody>
      </p:sp>
      <p:sp>
        <p:nvSpPr>
          <p:cNvPr id="8195"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200" dirty="0" smtClean="0">
                <a:solidFill>
                  <a:srgbClr val="618A53"/>
                </a:solidFill>
                <a:latin typeface="Arial" charset="0"/>
              </a:rPr>
              <a:t> </a:t>
            </a:r>
            <a:fld id="{DD0BBB28-C538-45D1-B91A-A4001A1FE420}" type="slidenum">
              <a:rPr lang="en-US" sz="1200" smtClean="0">
                <a:solidFill>
                  <a:srgbClr val="618A53"/>
                </a:solidFill>
                <a:latin typeface="Arial" charset="0"/>
              </a:rPr>
              <a:pPr eaLnBrk="1" hangingPunct="1"/>
              <a:t>18</a:t>
            </a:fld>
            <a:endParaRPr lang="en-US" sz="1200" dirty="0" smtClean="0">
              <a:solidFill>
                <a:srgbClr val="618A53"/>
              </a:solidFill>
              <a:latin typeface="Arial" charset="0"/>
            </a:endParaRPr>
          </a:p>
        </p:txBody>
      </p:sp>
      <p:graphicFrame>
        <p:nvGraphicFramePr>
          <p:cNvPr id="21524" name="Object 2"/>
          <p:cNvGraphicFramePr>
            <a:graphicFrameLocks noChangeAspect="1"/>
          </p:cNvGraphicFramePr>
          <p:nvPr/>
        </p:nvGraphicFramePr>
        <p:xfrm>
          <a:off x="766763" y="4141788"/>
          <a:ext cx="1981200" cy="330200"/>
        </p:xfrm>
        <a:graphic>
          <a:graphicData uri="http://schemas.openxmlformats.org/presentationml/2006/ole">
            <p:oleObj spid="_x0000_s3079" name="Equation" r:id="rId3" imgW="1981200" imgH="330200" progId="Equation.3">
              <p:embed/>
            </p:oleObj>
          </a:graphicData>
        </a:graphic>
      </p:graphicFrame>
      <p:grpSp>
        <p:nvGrpSpPr>
          <p:cNvPr id="2" name="Group 37"/>
          <p:cNvGrpSpPr>
            <a:grpSpLocks/>
          </p:cNvGrpSpPr>
          <p:nvPr/>
        </p:nvGrpSpPr>
        <p:grpSpPr bwMode="auto">
          <a:xfrm>
            <a:off x="3194050" y="5087938"/>
            <a:ext cx="2055813" cy="673100"/>
            <a:chOff x="2012" y="3205"/>
            <a:chExt cx="1295" cy="424"/>
          </a:xfrm>
        </p:grpSpPr>
        <p:graphicFrame>
          <p:nvGraphicFramePr>
            <p:cNvPr id="8208" name="Object 9"/>
            <p:cNvGraphicFramePr>
              <a:graphicFrameLocks noChangeAspect="1"/>
            </p:cNvGraphicFramePr>
            <p:nvPr/>
          </p:nvGraphicFramePr>
          <p:xfrm>
            <a:off x="2012" y="3205"/>
            <a:ext cx="688" cy="424"/>
          </p:xfrm>
          <a:graphic>
            <a:graphicData uri="http://schemas.openxmlformats.org/presentationml/2006/ole">
              <p:oleObj spid="_x0000_s3080" name="Equation" r:id="rId4" imgW="1091726" imgH="672808" progId="Equation.3">
                <p:embed/>
              </p:oleObj>
            </a:graphicData>
          </a:graphic>
        </p:graphicFrame>
        <p:sp>
          <p:nvSpPr>
            <p:cNvPr id="8209" name="Text Box 23"/>
            <p:cNvSpPr txBox="1">
              <a:spLocks noChangeArrowheads="1"/>
            </p:cNvSpPr>
            <p:nvPr/>
          </p:nvSpPr>
          <p:spPr bwMode="auto">
            <a:xfrm>
              <a:off x="2746" y="3254"/>
              <a:ext cx="561"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i="1"/>
                <a:t>period</a:t>
              </a:r>
            </a:p>
          </p:txBody>
        </p:sp>
      </p:grpSp>
      <p:grpSp>
        <p:nvGrpSpPr>
          <p:cNvPr id="3" name="Group 36"/>
          <p:cNvGrpSpPr>
            <a:grpSpLocks/>
          </p:cNvGrpSpPr>
          <p:nvPr/>
        </p:nvGrpSpPr>
        <p:grpSpPr bwMode="auto">
          <a:xfrm>
            <a:off x="3221038" y="5783263"/>
            <a:ext cx="3779837" cy="685800"/>
            <a:chOff x="2029" y="3643"/>
            <a:chExt cx="2381" cy="432"/>
          </a:xfrm>
        </p:grpSpPr>
        <p:graphicFrame>
          <p:nvGraphicFramePr>
            <p:cNvPr id="8206" name="Object 8"/>
            <p:cNvGraphicFramePr>
              <a:graphicFrameLocks noChangeAspect="1"/>
            </p:cNvGraphicFramePr>
            <p:nvPr/>
          </p:nvGraphicFramePr>
          <p:xfrm>
            <a:off x="2029" y="3643"/>
            <a:ext cx="1048" cy="432"/>
          </p:xfrm>
          <a:graphic>
            <a:graphicData uri="http://schemas.openxmlformats.org/presentationml/2006/ole">
              <p:oleObj spid="_x0000_s3081" name="Equation" r:id="rId5" imgW="1663700" imgH="685800" progId="Equation.3">
                <p:embed/>
              </p:oleObj>
            </a:graphicData>
          </a:graphic>
        </p:graphicFrame>
        <p:sp>
          <p:nvSpPr>
            <p:cNvPr id="8207" name="Text Box 25"/>
            <p:cNvSpPr txBox="1">
              <a:spLocks noChangeArrowheads="1"/>
            </p:cNvSpPr>
            <p:nvPr/>
          </p:nvSpPr>
          <p:spPr bwMode="auto">
            <a:xfrm>
              <a:off x="3130" y="3709"/>
              <a:ext cx="128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i="1"/>
                <a:t>natural frequency</a:t>
              </a:r>
            </a:p>
          </p:txBody>
        </p:sp>
      </p:grpSp>
      <p:grpSp>
        <p:nvGrpSpPr>
          <p:cNvPr id="4" name="Group 32"/>
          <p:cNvGrpSpPr>
            <a:grpSpLocks/>
          </p:cNvGrpSpPr>
          <p:nvPr/>
        </p:nvGrpSpPr>
        <p:grpSpPr bwMode="auto">
          <a:xfrm>
            <a:off x="3194050" y="4021138"/>
            <a:ext cx="3776663" cy="460375"/>
            <a:chOff x="2019" y="2481"/>
            <a:chExt cx="2379" cy="290"/>
          </a:xfrm>
        </p:grpSpPr>
        <p:graphicFrame>
          <p:nvGraphicFramePr>
            <p:cNvPr id="8204" name="Object 7"/>
            <p:cNvGraphicFramePr>
              <a:graphicFrameLocks noChangeAspect="1"/>
            </p:cNvGraphicFramePr>
            <p:nvPr/>
          </p:nvGraphicFramePr>
          <p:xfrm>
            <a:off x="2019" y="2481"/>
            <a:ext cx="1560" cy="288"/>
          </p:xfrm>
          <a:graphic>
            <a:graphicData uri="http://schemas.openxmlformats.org/presentationml/2006/ole">
              <p:oleObj spid="_x0000_s3082" name="Equation" r:id="rId6" imgW="2476500" imgH="457200" progId="Equation.3">
                <p:embed/>
              </p:oleObj>
            </a:graphicData>
          </a:graphic>
        </p:graphicFrame>
        <p:sp>
          <p:nvSpPr>
            <p:cNvPr id="8205" name="Text Box 30"/>
            <p:cNvSpPr txBox="1">
              <a:spLocks noChangeArrowheads="1"/>
            </p:cNvSpPr>
            <p:nvPr/>
          </p:nvSpPr>
          <p:spPr bwMode="auto">
            <a:xfrm>
              <a:off x="3613" y="2521"/>
              <a:ext cx="78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i="1"/>
                <a:t>amplitude</a:t>
              </a:r>
            </a:p>
          </p:txBody>
        </p:sp>
      </p:grpSp>
      <p:grpSp>
        <p:nvGrpSpPr>
          <p:cNvPr id="5" name="Group 33"/>
          <p:cNvGrpSpPr>
            <a:grpSpLocks/>
          </p:cNvGrpSpPr>
          <p:nvPr/>
        </p:nvGrpSpPr>
        <p:grpSpPr bwMode="auto">
          <a:xfrm>
            <a:off x="3194050" y="4579938"/>
            <a:ext cx="4546600" cy="409575"/>
            <a:chOff x="2073" y="2915"/>
            <a:chExt cx="2864" cy="258"/>
          </a:xfrm>
        </p:grpSpPr>
        <p:graphicFrame>
          <p:nvGraphicFramePr>
            <p:cNvPr id="8202" name="Object 6"/>
            <p:cNvGraphicFramePr>
              <a:graphicFrameLocks noChangeAspect="1"/>
            </p:cNvGraphicFramePr>
            <p:nvPr/>
          </p:nvGraphicFramePr>
          <p:xfrm>
            <a:off x="2073" y="2915"/>
            <a:ext cx="1432" cy="256"/>
          </p:xfrm>
          <a:graphic>
            <a:graphicData uri="http://schemas.openxmlformats.org/presentationml/2006/ole">
              <p:oleObj spid="_x0000_s3083" name="Equation" r:id="rId7" imgW="2273300" imgH="406400" progId="Equation.3">
                <p:embed/>
              </p:oleObj>
            </a:graphicData>
          </a:graphic>
        </p:graphicFrame>
        <p:sp>
          <p:nvSpPr>
            <p:cNvPr id="8203" name="Text Box 31"/>
            <p:cNvSpPr txBox="1">
              <a:spLocks noChangeArrowheads="1"/>
            </p:cNvSpPr>
            <p:nvPr/>
          </p:nvSpPr>
          <p:spPr bwMode="auto">
            <a:xfrm>
              <a:off x="3568" y="2923"/>
              <a:ext cx="136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i="1"/>
                <a:t>phase angle</a:t>
              </a:r>
            </a:p>
          </p:txBody>
        </p:sp>
      </p:grpSp>
      <p:pic>
        <p:nvPicPr>
          <p:cNvPr id="8201" name="Picture 23" descr="bee29230_1902"/>
          <p:cNvPicPr>
            <a:picLocks noChangeAspect="1" noChangeArrowheads="1"/>
          </p:cNvPicPr>
          <p:nvPr/>
        </p:nvPicPr>
        <p:blipFill>
          <a:blip r:embed="rId8" cstate="print">
            <a:extLst>
              <a:ext uri="{28A0092B-C50C-407E-A947-70E740481C1C}">
                <a14:useLocalDpi xmlns="" xmlns:a14="http://schemas.microsoft.com/office/drawing/2010/main" val="0"/>
              </a:ext>
            </a:extLst>
          </a:blip>
          <a:srcRect t="6902"/>
          <a:stretch>
            <a:fillRect/>
          </a:stretch>
        </p:blipFill>
        <p:spPr bwMode="auto">
          <a:xfrm>
            <a:off x="912813" y="1058863"/>
            <a:ext cx="7521575" cy="2800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38753029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5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r>
              <a:rPr lang="en-US" smtClean="0">
                <a:ea typeface="ＭＳ Ｐゴシック" pitchFamily="34" charset="-128"/>
              </a:rPr>
              <a:t>Free Vibrations of Particles.  Simple Harmonic Motion</a:t>
            </a:r>
          </a:p>
        </p:txBody>
      </p:sp>
      <p:sp>
        <p:nvSpPr>
          <p:cNvPr id="9219"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200" dirty="0" smtClean="0">
                <a:solidFill>
                  <a:srgbClr val="618A53"/>
                </a:solidFill>
                <a:latin typeface="Arial" charset="0"/>
              </a:rPr>
              <a:t>6</a:t>
            </a:r>
          </a:p>
        </p:txBody>
      </p:sp>
      <p:pic>
        <p:nvPicPr>
          <p:cNvPr id="9220" name="Picture 3" descr="C:\DOCUME~1\WALTOL~1\LOCALS~1\Temp\\msotw9_temp0.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28600" y="2514600"/>
            <a:ext cx="2987675" cy="3598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9221" name="Group 16"/>
          <p:cNvGrpSpPr>
            <a:grpSpLocks/>
          </p:cNvGrpSpPr>
          <p:nvPr/>
        </p:nvGrpSpPr>
        <p:grpSpPr bwMode="auto">
          <a:xfrm>
            <a:off x="3352800" y="1787525"/>
            <a:ext cx="5854700" cy="1454150"/>
            <a:chOff x="2072" y="711"/>
            <a:chExt cx="3688" cy="916"/>
          </a:xfrm>
        </p:grpSpPr>
        <p:graphicFrame>
          <p:nvGraphicFramePr>
            <p:cNvPr id="9224" name="Object 4"/>
            <p:cNvGraphicFramePr>
              <a:graphicFrameLocks noChangeAspect="1"/>
            </p:cNvGraphicFramePr>
            <p:nvPr/>
          </p:nvGraphicFramePr>
          <p:xfrm>
            <a:off x="2440" y="1419"/>
            <a:ext cx="1248" cy="208"/>
          </p:xfrm>
          <a:graphic>
            <a:graphicData uri="http://schemas.openxmlformats.org/presentationml/2006/ole">
              <p:oleObj spid="_x0000_s4101" name="Equation" r:id="rId4" imgW="1981200" imgH="330200" progId="Equation.3">
                <p:embed/>
              </p:oleObj>
            </a:graphicData>
          </a:graphic>
        </p:graphicFrame>
        <p:sp>
          <p:nvSpPr>
            <p:cNvPr id="9225" name="Text Box 13"/>
            <p:cNvSpPr txBox="1">
              <a:spLocks noChangeArrowheads="1"/>
            </p:cNvSpPr>
            <p:nvPr/>
          </p:nvSpPr>
          <p:spPr bwMode="auto">
            <a:xfrm>
              <a:off x="2072" y="711"/>
              <a:ext cx="3688" cy="6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Velocity-time and acceleration-time curves can be represented by sine curves of the same period as the displacement-time curve but different phase angles.</a:t>
              </a:r>
            </a:p>
          </p:txBody>
        </p:sp>
      </p:grpSp>
      <p:graphicFrame>
        <p:nvGraphicFramePr>
          <p:cNvPr id="28686" name="Object 2"/>
          <p:cNvGraphicFramePr>
            <a:graphicFrameLocks noChangeAspect="1"/>
          </p:cNvGraphicFramePr>
          <p:nvPr>
            <p:extLst>
              <p:ext uri="{D42A27DB-BD31-4B8C-83A1-F6EECF244321}">
                <p14:modId xmlns="" xmlns:p14="http://schemas.microsoft.com/office/powerpoint/2010/main" val="756532162"/>
              </p:ext>
            </p:extLst>
          </p:nvPr>
        </p:nvGraphicFramePr>
        <p:xfrm>
          <a:off x="3886200" y="3505200"/>
          <a:ext cx="2870200" cy="1054100"/>
        </p:xfrm>
        <a:graphic>
          <a:graphicData uri="http://schemas.openxmlformats.org/presentationml/2006/ole">
            <p:oleObj spid="_x0000_s4102" name="Equation" r:id="rId5" imgW="2870200" imgH="1054100" progId="Equation.3">
              <p:embed/>
            </p:oleObj>
          </a:graphicData>
        </a:graphic>
      </p:graphicFrame>
      <p:graphicFrame>
        <p:nvGraphicFramePr>
          <p:cNvPr id="28687" name="Object 3"/>
          <p:cNvGraphicFramePr>
            <a:graphicFrameLocks noChangeAspect="1"/>
          </p:cNvGraphicFramePr>
          <p:nvPr>
            <p:extLst>
              <p:ext uri="{D42A27DB-BD31-4B8C-83A1-F6EECF244321}">
                <p14:modId xmlns="" xmlns:p14="http://schemas.microsoft.com/office/powerpoint/2010/main" val="970510191"/>
              </p:ext>
            </p:extLst>
          </p:nvPr>
        </p:nvGraphicFramePr>
        <p:xfrm>
          <a:off x="4114800" y="5181600"/>
          <a:ext cx="2679700" cy="1206500"/>
        </p:xfrm>
        <a:graphic>
          <a:graphicData uri="http://schemas.openxmlformats.org/presentationml/2006/ole">
            <p:oleObj spid="_x0000_s4103" name="Equation" r:id="rId6" imgW="2679700" imgH="1206500" progId="Equation.3">
              <p:embed/>
            </p:oleObj>
          </a:graphicData>
        </a:graphic>
      </p:graphicFrame>
    </p:spTree>
    <p:extLst>
      <p:ext uri="{BB962C8B-B14F-4D97-AF65-F5344CB8AC3E}">
        <p14:creationId xmlns="" xmlns:p14="http://schemas.microsoft.com/office/powerpoint/2010/main" val="886401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868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8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81000" y="36095"/>
            <a:ext cx="8229600" cy="1143000"/>
          </a:xfrm>
        </p:spPr>
        <p:txBody>
          <a:bodyPr>
            <a:normAutofit fontScale="90000"/>
          </a:bodyPr>
          <a:lstStyle/>
          <a:p>
            <a:r>
              <a:rPr lang="en-US" dirty="0" smtClean="0">
                <a:ea typeface="ＭＳ Ｐゴシック" pitchFamily="34" charset="-128"/>
              </a:rPr>
              <a:t>Simple Pendulum (Approximate Solution)</a:t>
            </a:r>
          </a:p>
        </p:txBody>
      </p:sp>
      <p:sp>
        <p:nvSpPr>
          <p:cNvPr id="10243"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200" dirty="0" smtClean="0">
                <a:solidFill>
                  <a:srgbClr val="618A53"/>
                </a:solidFill>
                <a:latin typeface="Arial" charset="0"/>
              </a:rPr>
              <a:t> </a:t>
            </a:r>
            <a:fld id="{228ECCE2-07E0-4A0C-AC28-C05B8BE1A6B1}" type="slidenum">
              <a:rPr lang="en-US" sz="1200" smtClean="0">
                <a:solidFill>
                  <a:srgbClr val="618A53"/>
                </a:solidFill>
                <a:latin typeface="Arial" charset="0"/>
              </a:rPr>
              <a:pPr eaLnBrk="1" hangingPunct="1"/>
              <a:t>20</a:t>
            </a:fld>
            <a:endParaRPr lang="en-US" sz="1200" dirty="0" smtClean="0">
              <a:solidFill>
                <a:srgbClr val="618A53"/>
              </a:solidFill>
              <a:latin typeface="Arial" charset="0"/>
            </a:endParaRPr>
          </a:p>
        </p:txBody>
      </p:sp>
      <p:pic>
        <p:nvPicPr>
          <p:cNvPr id="10244" name="Picture 3" descr="C:\DOCUME~1\WALTOL~1\LOCALS~1\Temp\\msotw9_temp0.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63563" y="1023938"/>
            <a:ext cx="2311400" cy="2686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45" name="Picture 4" descr="C:\DOCUME~1\WALTOL~1\LOCALS~1\Temp\\msotw9_temp0.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28600" y="4495800"/>
            <a:ext cx="2503487" cy="18780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46" name="Text Box 5"/>
          <p:cNvSpPr txBox="1">
            <a:spLocks noChangeArrowheads="1"/>
          </p:cNvSpPr>
          <p:nvPr/>
        </p:nvSpPr>
        <p:spPr bwMode="auto">
          <a:xfrm>
            <a:off x="2919078" y="1117853"/>
            <a:ext cx="5913437" cy="1311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dirty="0"/>
              <a:t>Results obtained for the spring-mass system can be applied whenever the resultant force on a particle is proportional to the displacement and directed towards the equilibrium position.</a:t>
            </a:r>
          </a:p>
        </p:txBody>
      </p:sp>
      <p:grpSp>
        <p:nvGrpSpPr>
          <p:cNvPr id="2" name="Group 12"/>
          <p:cNvGrpSpPr>
            <a:grpSpLocks/>
          </p:cNvGrpSpPr>
          <p:nvPr/>
        </p:nvGrpSpPr>
        <p:grpSpPr bwMode="auto">
          <a:xfrm>
            <a:off x="3217863" y="4202114"/>
            <a:ext cx="3805237" cy="2376488"/>
            <a:chOff x="2027" y="2647"/>
            <a:chExt cx="2397" cy="1497"/>
          </a:xfrm>
        </p:grpSpPr>
        <p:sp>
          <p:nvSpPr>
            <p:cNvPr id="10252" name="Text Box 9"/>
            <p:cNvSpPr txBox="1">
              <a:spLocks noChangeArrowheads="1"/>
            </p:cNvSpPr>
            <p:nvPr/>
          </p:nvSpPr>
          <p:spPr bwMode="auto">
            <a:xfrm>
              <a:off x="2027" y="2647"/>
              <a:ext cx="142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dirty="0"/>
                <a:t>	for small angles, </a:t>
              </a:r>
            </a:p>
          </p:txBody>
        </p:sp>
        <p:graphicFrame>
          <p:nvGraphicFramePr>
            <p:cNvPr id="10253" name="Object 4"/>
            <p:cNvGraphicFramePr>
              <a:graphicFrameLocks noChangeAspect="1"/>
            </p:cNvGraphicFramePr>
            <p:nvPr>
              <p:extLst>
                <p:ext uri="{D42A27DB-BD31-4B8C-83A1-F6EECF244321}">
                  <p14:modId xmlns="" xmlns:p14="http://schemas.microsoft.com/office/powerpoint/2010/main" val="4252467085"/>
                </p:ext>
              </p:extLst>
            </p:nvPr>
          </p:nvGraphicFramePr>
          <p:xfrm>
            <a:off x="3168" y="3024"/>
            <a:ext cx="1256" cy="1120"/>
          </p:xfrm>
          <a:graphic>
            <a:graphicData uri="http://schemas.openxmlformats.org/presentationml/2006/ole">
              <p:oleObj spid="_x0000_s5128" name="Equation" r:id="rId5" imgW="1993900" imgH="1778000" progId="Equation.3">
                <p:embed/>
              </p:oleObj>
            </a:graphicData>
          </a:graphic>
        </p:graphicFrame>
      </p:grpSp>
      <p:grpSp>
        <p:nvGrpSpPr>
          <p:cNvPr id="3" name="Group 13"/>
          <p:cNvGrpSpPr>
            <a:grpSpLocks/>
          </p:cNvGrpSpPr>
          <p:nvPr/>
        </p:nvGrpSpPr>
        <p:grpSpPr bwMode="auto">
          <a:xfrm>
            <a:off x="3048000" y="2419351"/>
            <a:ext cx="5926137" cy="2179638"/>
            <a:chOff x="2027" y="1399"/>
            <a:chExt cx="3733" cy="1373"/>
          </a:xfrm>
        </p:grpSpPr>
        <p:graphicFrame>
          <p:nvGraphicFramePr>
            <p:cNvPr id="10249" name="Object 2"/>
            <p:cNvGraphicFramePr>
              <a:graphicFrameLocks noChangeAspect="1"/>
            </p:cNvGraphicFramePr>
            <p:nvPr>
              <p:extLst>
                <p:ext uri="{D42A27DB-BD31-4B8C-83A1-F6EECF244321}">
                  <p14:modId xmlns="" xmlns:p14="http://schemas.microsoft.com/office/powerpoint/2010/main" val="539311716"/>
                </p:ext>
              </p:extLst>
            </p:nvPr>
          </p:nvGraphicFramePr>
          <p:xfrm>
            <a:off x="2325" y="2064"/>
            <a:ext cx="824" cy="208"/>
          </p:xfrm>
          <a:graphic>
            <a:graphicData uri="http://schemas.openxmlformats.org/presentationml/2006/ole">
              <p:oleObj spid="_x0000_s5129" name="Equation" r:id="rId6" imgW="1308100" imgH="330200" progId="Equation.3">
                <p:embed/>
              </p:oleObj>
            </a:graphicData>
          </a:graphic>
        </p:graphicFrame>
        <p:sp>
          <p:nvSpPr>
            <p:cNvPr id="10250" name="Text Box 15"/>
            <p:cNvSpPr txBox="1">
              <a:spLocks noChangeArrowheads="1"/>
            </p:cNvSpPr>
            <p:nvPr/>
          </p:nvSpPr>
          <p:spPr bwMode="auto">
            <a:xfrm>
              <a:off x="2027" y="1399"/>
              <a:ext cx="3733" cy="4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dirty="0"/>
                <a:t>Consider tangential components of acceleration and force for a simple pendulum,</a:t>
              </a:r>
            </a:p>
          </p:txBody>
        </p:sp>
        <p:graphicFrame>
          <p:nvGraphicFramePr>
            <p:cNvPr id="10251" name="Object 3"/>
            <p:cNvGraphicFramePr>
              <a:graphicFrameLocks noChangeAspect="1"/>
            </p:cNvGraphicFramePr>
            <p:nvPr>
              <p:extLst>
                <p:ext uri="{D42A27DB-BD31-4B8C-83A1-F6EECF244321}">
                  <p14:modId xmlns="" xmlns:p14="http://schemas.microsoft.com/office/powerpoint/2010/main" val="2238837910"/>
                </p:ext>
              </p:extLst>
            </p:nvPr>
          </p:nvGraphicFramePr>
          <p:xfrm>
            <a:off x="4080" y="2132"/>
            <a:ext cx="1040" cy="640"/>
          </p:xfrm>
          <a:graphic>
            <a:graphicData uri="http://schemas.openxmlformats.org/presentationml/2006/ole">
              <p:oleObj spid="_x0000_s5130" name="Equation" r:id="rId7" imgW="1651000" imgH="1016000" progId="Equation.3">
                <p:embed/>
              </p:oleObj>
            </a:graphicData>
          </a:graphic>
        </p:graphicFrame>
      </p:grpSp>
    </p:spTree>
    <p:extLst>
      <p:ext uri="{BB962C8B-B14F-4D97-AF65-F5344CB8AC3E}">
        <p14:creationId xmlns="" xmlns:p14="http://schemas.microsoft.com/office/powerpoint/2010/main" val="35418447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mtClean="0">
                <a:ea typeface="ＭＳ Ｐゴシック" pitchFamily="34" charset="-128"/>
              </a:rPr>
              <a:t>Simple Pendulum (Exact Solution)</a:t>
            </a:r>
          </a:p>
        </p:txBody>
      </p:sp>
      <p:sp>
        <p:nvSpPr>
          <p:cNvPr id="11267"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200" smtClean="0">
                <a:solidFill>
                  <a:srgbClr val="618A53"/>
                </a:solidFill>
                <a:latin typeface="Arial" charset="0"/>
              </a:rPr>
              <a:t>19 - </a:t>
            </a:r>
            <a:fld id="{737D5342-9250-4E15-904E-0855C2E675BF}" type="slidenum">
              <a:rPr lang="en-US" sz="1200" smtClean="0">
                <a:solidFill>
                  <a:srgbClr val="618A53"/>
                </a:solidFill>
                <a:latin typeface="Arial" charset="0"/>
              </a:rPr>
              <a:pPr eaLnBrk="1" hangingPunct="1"/>
              <a:t>21</a:t>
            </a:fld>
            <a:endParaRPr lang="en-US" sz="1200" smtClean="0">
              <a:solidFill>
                <a:srgbClr val="618A53"/>
              </a:solidFill>
              <a:latin typeface="Arial" charset="0"/>
            </a:endParaRPr>
          </a:p>
        </p:txBody>
      </p:sp>
      <p:grpSp>
        <p:nvGrpSpPr>
          <p:cNvPr id="11268" name="Group 16"/>
          <p:cNvGrpSpPr>
            <a:grpSpLocks/>
          </p:cNvGrpSpPr>
          <p:nvPr/>
        </p:nvGrpSpPr>
        <p:grpSpPr bwMode="auto">
          <a:xfrm>
            <a:off x="390525" y="1060450"/>
            <a:ext cx="6515100" cy="2090738"/>
            <a:chOff x="246" y="668"/>
            <a:chExt cx="4104" cy="1317"/>
          </a:xfrm>
        </p:grpSpPr>
        <p:grpSp>
          <p:nvGrpSpPr>
            <p:cNvPr id="11271" name="Group 14"/>
            <p:cNvGrpSpPr>
              <a:grpSpLocks/>
            </p:cNvGrpSpPr>
            <p:nvPr/>
          </p:nvGrpSpPr>
          <p:grpSpPr bwMode="auto">
            <a:xfrm>
              <a:off x="246" y="668"/>
              <a:ext cx="2664" cy="384"/>
              <a:chOff x="246" y="668"/>
              <a:chExt cx="2664" cy="384"/>
            </a:xfrm>
          </p:grpSpPr>
          <p:graphicFrame>
            <p:nvGraphicFramePr>
              <p:cNvPr id="11276" name="Object 4"/>
              <p:cNvGraphicFramePr>
                <a:graphicFrameLocks noChangeAspect="1"/>
              </p:cNvGraphicFramePr>
              <p:nvPr/>
            </p:nvGraphicFramePr>
            <p:xfrm>
              <a:off x="1966" y="668"/>
              <a:ext cx="944" cy="384"/>
            </p:xfrm>
            <a:graphic>
              <a:graphicData uri="http://schemas.openxmlformats.org/presentationml/2006/ole">
                <p:oleObj spid="_x0000_s6149" name="Equation" r:id="rId3" imgW="1498600" imgH="609600" progId="Equation.3">
                  <p:embed/>
                </p:oleObj>
              </a:graphicData>
            </a:graphic>
          </p:graphicFrame>
          <p:sp>
            <p:nvSpPr>
              <p:cNvPr id="11277" name="Text Box 8"/>
              <p:cNvSpPr txBox="1">
                <a:spLocks noChangeArrowheads="1"/>
              </p:cNvSpPr>
              <p:nvPr/>
            </p:nvSpPr>
            <p:spPr bwMode="auto">
              <a:xfrm>
                <a:off x="246" y="718"/>
                <a:ext cx="172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a:t>	An exact solution for</a:t>
                </a:r>
              </a:p>
            </p:txBody>
          </p:sp>
        </p:grpSp>
        <p:grpSp>
          <p:nvGrpSpPr>
            <p:cNvPr id="11272" name="Group 15"/>
            <p:cNvGrpSpPr>
              <a:grpSpLocks/>
            </p:cNvGrpSpPr>
            <p:nvPr/>
          </p:nvGrpSpPr>
          <p:grpSpPr bwMode="auto">
            <a:xfrm>
              <a:off x="246" y="1083"/>
              <a:ext cx="4104" cy="536"/>
              <a:chOff x="246" y="1083"/>
              <a:chExt cx="4104" cy="536"/>
            </a:xfrm>
          </p:grpSpPr>
          <p:sp>
            <p:nvSpPr>
              <p:cNvPr id="11274" name="Text Box 9"/>
              <p:cNvSpPr txBox="1">
                <a:spLocks noChangeArrowheads="1"/>
              </p:cNvSpPr>
              <p:nvPr/>
            </p:nvSpPr>
            <p:spPr bwMode="auto">
              <a:xfrm>
                <a:off x="246" y="1204"/>
                <a:ext cx="119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a:t>	leads to </a:t>
                </a:r>
              </a:p>
            </p:txBody>
          </p:sp>
          <p:graphicFrame>
            <p:nvGraphicFramePr>
              <p:cNvPr id="11275" name="Object 3"/>
              <p:cNvGraphicFramePr>
                <a:graphicFrameLocks noChangeAspect="1"/>
              </p:cNvGraphicFramePr>
              <p:nvPr/>
            </p:nvGraphicFramePr>
            <p:xfrm>
              <a:off x="1966" y="1083"/>
              <a:ext cx="2384" cy="536"/>
            </p:xfrm>
            <a:graphic>
              <a:graphicData uri="http://schemas.openxmlformats.org/presentationml/2006/ole">
                <p:oleObj spid="_x0000_s6150" name="Equation" r:id="rId4" imgW="3784600" imgH="850900" progId="Equation.3">
                  <p:embed/>
                </p:oleObj>
              </a:graphicData>
            </a:graphic>
          </p:graphicFrame>
        </p:grpSp>
        <p:sp>
          <p:nvSpPr>
            <p:cNvPr id="11273" name="Text Box 11"/>
            <p:cNvSpPr txBox="1">
              <a:spLocks noChangeArrowheads="1"/>
            </p:cNvSpPr>
            <p:nvPr/>
          </p:nvSpPr>
          <p:spPr bwMode="auto">
            <a:xfrm>
              <a:off x="246" y="1735"/>
              <a:ext cx="2484"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a:t>	which requires numerical solution.</a:t>
              </a:r>
            </a:p>
          </p:txBody>
        </p:sp>
      </p:grpSp>
      <p:graphicFrame>
        <p:nvGraphicFramePr>
          <p:cNvPr id="11269" name="Object 2"/>
          <p:cNvGraphicFramePr>
            <a:graphicFrameLocks noChangeAspect="1"/>
          </p:cNvGraphicFramePr>
          <p:nvPr/>
        </p:nvGraphicFramePr>
        <p:xfrm>
          <a:off x="3119438" y="3475038"/>
          <a:ext cx="1930400" cy="736600"/>
        </p:xfrm>
        <a:graphic>
          <a:graphicData uri="http://schemas.openxmlformats.org/presentationml/2006/ole">
            <p:oleObj spid="_x0000_s6151" name="Equation" r:id="rId5" imgW="1930400" imgH="736600" progId="Equation.3">
              <p:embed/>
            </p:oleObj>
          </a:graphicData>
        </a:graphic>
      </p:graphicFrame>
      <p:pic>
        <p:nvPicPr>
          <p:cNvPr id="11270" name="Picture 14" descr="bee29230_c19_t01"/>
          <p:cNvPicPr>
            <a:picLocks noChangeAspect="1" noChangeArrowheads="1"/>
          </p:cNvPicPr>
          <p:nvPr/>
        </p:nvPicPr>
        <p:blipFill>
          <a:blip r:embed="rId6" cstate="print">
            <a:extLst>
              <a:ext uri="{28A0092B-C50C-407E-A947-70E740481C1C}">
                <a14:useLocalDpi xmlns="" xmlns:a14="http://schemas.microsoft.com/office/drawing/2010/main" val="0"/>
              </a:ext>
            </a:extLst>
          </a:blip>
          <a:srcRect t="8215"/>
          <a:stretch>
            <a:fillRect/>
          </a:stretch>
        </p:blipFill>
        <p:spPr bwMode="auto">
          <a:xfrm>
            <a:off x="912813" y="4381500"/>
            <a:ext cx="7781925" cy="21351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6264743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28600" y="113549"/>
            <a:ext cx="8229600" cy="724651"/>
          </a:xfrm>
        </p:spPr>
        <p:txBody>
          <a:bodyPr>
            <a:normAutofit fontScale="90000"/>
          </a:bodyPr>
          <a:lstStyle/>
          <a:p>
            <a:r>
              <a:rPr lang="en-US" dirty="0" smtClean="0">
                <a:ea typeface="ＭＳ Ｐゴシック" pitchFamily="34" charset="-128"/>
              </a:rPr>
              <a:t>Sample Problem </a:t>
            </a:r>
          </a:p>
        </p:txBody>
      </p:sp>
      <p:sp>
        <p:nvSpPr>
          <p:cNvPr id="17411"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200" dirty="0" smtClean="0">
                <a:solidFill>
                  <a:srgbClr val="618A53"/>
                </a:solidFill>
                <a:latin typeface="Arial" charset="0"/>
              </a:rPr>
              <a:t> </a:t>
            </a:r>
            <a:fld id="{2CC10C33-1246-4EE0-9F15-357A7969329D}" type="slidenum">
              <a:rPr lang="en-US" sz="1200" smtClean="0">
                <a:solidFill>
                  <a:srgbClr val="618A53"/>
                </a:solidFill>
                <a:latin typeface="Arial" charset="0"/>
              </a:rPr>
              <a:pPr eaLnBrk="1" hangingPunct="1"/>
              <a:t>22</a:t>
            </a:fld>
            <a:endParaRPr lang="en-US" sz="1200" dirty="0" smtClean="0">
              <a:solidFill>
                <a:srgbClr val="618A53"/>
              </a:solidFill>
              <a:latin typeface="Arial" charset="0"/>
            </a:endParaRPr>
          </a:p>
        </p:txBody>
      </p:sp>
      <p:grpSp>
        <p:nvGrpSpPr>
          <p:cNvPr id="17412" name="Group 6"/>
          <p:cNvGrpSpPr>
            <a:grpSpLocks/>
          </p:cNvGrpSpPr>
          <p:nvPr/>
        </p:nvGrpSpPr>
        <p:grpSpPr bwMode="auto">
          <a:xfrm>
            <a:off x="781050" y="977900"/>
            <a:ext cx="2120900" cy="2789238"/>
            <a:chOff x="492" y="600"/>
            <a:chExt cx="1336" cy="1757"/>
          </a:xfrm>
        </p:grpSpPr>
        <p:pic>
          <p:nvPicPr>
            <p:cNvPr id="17417" name="Picture 3" descr="msotw9_temp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92" y="600"/>
              <a:ext cx="1336" cy="17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418" name="Text Box 5"/>
            <p:cNvSpPr txBox="1">
              <a:spLocks noChangeArrowheads="1"/>
            </p:cNvSpPr>
            <p:nvPr/>
          </p:nvSpPr>
          <p:spPr bwMode="auto">
            <a:xfrm>
              <a:off x="1263" y="1107"/>
              <a:ext cx="19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i="1"/>
                <a:t>k</a:t>
              </a:r>
            </a:p>
          </p:txBody>
        </p:sp>
      </p:grpSp>
      <p:sp>
        <p:nvSpPr>
          <p:cNvPr id="17413" name="Text Box 7"/>
          <p:cNvSpPr txBox="1">
            <a:spLocks noChangeArrowheads="1"/>
          </p:cNvSpPr>
          <p:nvPr/>
        </p:nvSpPr>
        <p:spPr bwMode="auto">
          <a:xfrm>
            <a:off x="284163" y="3776663"/>
            <a:ext cx="4157662" cy="1463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a:t>A cylinder of weight </a:t>
            </a:r>
            <a:r>
              <a:rPr lang="en-US" i="1"/>
              <a:t>W</a:t>
            </a:r>
            <a:r>
              <a:rPr lang="en-US"/>
              <a:t> is suspended as shown.</a:t>
            </a:r>
          </a:p>
          <a:p>
            <a:pPr eaLnBrk="1" hangingPunct="1">
              <a:spcBef>
                <a:spcPct val="50000"/>
              </a:spcBef>
            </a:pPr>
            <a:r>
              <a:rPr lang="en-US"/>
              <a:t>Determine the period and natural frequency of vibrations of the cylinder.</a:t>
            </a:r>
          </a:p>
        </p:txBody>
      </p:sp>
      <p:sp>
        <p:nvSpPr>
          <p:cNvPr id="12296" name="Text Box 8"/>
          <p:cNvSpPr txBox="1">
            <a:spLocks noChangeArrowheads="1"/>
          </p:cNvSpPr>
          <p:nvPr/>
        </p:nvSpPr>
        <p:spPr bwMode="auto">
          <a:xfrm>
            <a:off x="4376738" y="927100"/>
            <a:ext cx="4619625" cy="1463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u="sng" dirty="0"/>
              <a:t>SOLUTION</a:t>
            </a:r>
            <a:r>
              <a:rPr lang="en-US" dirty="0"/>
              <a:t>:</a:t>
            </a:r>
          </a:p>
          <a:p>
            <a:pPr eaLnBrk="1" hangingPunct="1">
              <a:spcBef>
                <a:spcPct val="50000"/>
              </a:spcBef>
              <a:buFontTx/>
              <a:buChar char="•"/>
            </a:pPr>
            <a:r>
              <a:rPr lang="en-US" dirty="0"/>
              <a:t>From the kinematics of the system, relate the linear displacement and acceleration to the rotation of the cylinder.</a:t>
            </a:r>
          </a:p>
        </p:txBody>
      </p:sp>
      <p:sp>
        <p:nvSpPr>
          <p:cNvPr id="12297" name="Rectangle 9"/>
          <p:cNvSpPr>
            <a:spLocks noChangeArrowheads="1"/>
          </p:cNvSpPr>
          <p:nvPr/>
        </p:nvSpPr>
        <p:spPr bwMode="auto">
          <a:xfrm>
            <a:off x="4376738" y="2479675"/>
            <a:ext cx="4767262" cy="1311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227013" indent="-227013">
              <a:spcBef>
                <a:spcPct val="50000"/>
              </a:spcBef>
              <a:buFontTx/>
              <a:buChar char="•"/>
            </a:pPr>
            <a:r>
              <a:rPr lang="en-US"/>
              <a:t>Based on a free-body-diagram equation for the equivalence of the external and effective forces, write the equation of motion.</a:t>
            </a:r>
          </a:p>
        </p:txBody>
      </p:sp>
      <p:sp>
        <p:nvSpPr>
          <p:cNvPr id="12298" name="Rectangle 10"/>
          <p:cNvSpPr>
            <a:spLocks noChangeArrowheads="1"/>
          </p:cNvSpPr>
          <p:nvPr/>
        </p:nvSpPr>
        <p:spPr bwMode="auto">
          <a:xfrm>
            <a:off x="4376738" y="3879850"/>
            <a:ext cx="4767262" cy="1006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227013" indent="-227013">
              <a:spcBef>
                <a:spcPct val="50000"/>
              </a:spcBef>
              <a:buFontTx/>
              <a:buChar char="•"/>
            </a:pPr>
            <a:r>
              <a:rPr lang="en-US"/>
              <a:t>Substitute the kinematic relations to arrive at an equation involving only the angular displacement and acceleration.</a:t>
            </a:r>
          </a:p>
        </p:txBody>
      </p:sp>
    </p:spTree>
    <p:extLst>
      <p:ext uri="{BB962C8B-B14F-4D97-AF65-F5344CB8AC3E}">
        <p14:creationId xmlns="" xmlns:p14="http://schemas.microsoft.com/office/powerpoint/2010/main" val="11595551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9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6" grpId="0" autoUpdateAnimBg="0"/>
      <p:bldP spid="12297" grpId="0" autoUpdateAnimBg="0"/>
      <p:bldP spid="1229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6200" y="228600"/>
            <a:ext cx="8229600" cy="762000"/>
          </a:xfrm>
        </p:spPr>
        <p:txBody>
          <a:bodyPr/>
          <a:lstStyle/>
          <a:p>
            <a:r>
              <a:rPr lang="en-US" dirty="0" smtClean="0">
                <a:ea typeface="ＭＳ Ｐゴシック" pitchFamily="34" charset="-128"/>
              </a:rPr>
              <a:t>Sample Problem </a:t>
            </a:r>
          </a:p>
        </p:txBody>
      </p:sp>
      <p:sp>
        <p:nvSpPr>
          <p:cNvPr id="18435"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fld id="{3DBBFD19-8435-4964-8224-AAB494D1CBE6}" type="slidenum">
              <a:rPr lang="en-US" sz="1200" smtClean="0">
                <a:solidFill>
                  <a:srgbClr val="618A53"/>
                </a:solidFill>
                <a:latin typeface="Arial" charset="0"/>
              </a:rPr>
              <a:pPr eaLnBrk="1" hangingPunct="1"/>
              <a:t>23</a:t>
            </a:fld>
            <a:endParaRPr lang="en-US" sz="1200" dirty="0" smtClean="0">
              <a:solidFill>
                <a:srgbClr val="618A53"/>
              </a:solidFill>
              <a:latin typeface="Arial" charset="0"/>
            </a:endParaRPr>
          </a:p>
        </p:txBody>
      </p:sp>
      <p:pic>
        <p:nvPicPr>
          <p:cNvPr id="18436" name="Picture 4" descr="msotw9_temp0"/>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96863" y="1433513"/>
            <a:ext cx="2843212" cy="1809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8437" name="Group 31"/>
          <p:cNvGrpSpPr>
            <a:grpSpLocks/>
          </p:cNvGrpSpPr>
          <p:nvPr/>
        </p:nvGrpSpPr>
        <p:grpSpPr bwMode="auto">
          <a:xfrm>
            <a:off x="2987675" y="927100"/>
            <a:ext cx="6156325" cy="1562100"/>
            <a:chOff x="1882" y="584"/>
            <a:chExt cx="3878" cy="984"/>
          </a:xfrm>
        </p:grpSpPr>
        <p:sp>
          <p:nvSpPr>
            <p:cNvPr id="18454" name="Text Box 6"/>
            <p:cNvSpPr txBox="1">
              <a:spLocks noChangeArrowheads="1"/>
            </p:cNvSpPr>
            <p:nvPr/>
          </p:nvSpPr>
          <p:spPr bwMode="auto">
            <a:xfrm>
              <a:off x="1882" y="584"/>
              <a:ext cx="3878" cy="5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800" u="sng" dirty="0"/>
                <a:t>SOLUTION</a:t>
              </a:r>
              <a:r>
                <a:rPr lang="en-US" sz="1800" dirty="0"/>
                <a:t>:</a:t>
              </a:r>
            </a:p>
            <a:p>
              <a:pPr eaLnBrk="1" hangingPunct="1">
                <a:buFontTx/>
                <a:buChar char="•"/>
              </a:pPr>
              <a:r>
                <a:rPr lang="en-US" sz="1800" dirty="0"/>
                <a:t>From the kinematics of the system, relate the linear displacement and acceleration to the rotation of the cylinder.</a:t>
              </a:r>
            </a:p>
          </p:txBody>
        </p:sp>
        <p:grpSp>
          <p:nvGrpSpPr>
            <p:cNvPr id="18455" name="Group 25"/>
            <p:cNvGrpSpPr>
              <a:grpSpLocks/>
            </p:cNvGrpSpPr>
            <p:nvPr/>
          </p:nvGrpSpPr>
          <p:grpSpPr bwMode="auto">
            <a:xfrm>
              <a:off x="2401" y="1146"/>
              <a:ext cx="2538" cy="422"/>
              <a:chOff x="2401" y="1176"/>
              <a:chExt cx="2538" cy="422"/>
            </a:xfrm>
          </p:grpSpPr>
          <p:graphicFrame>
            <p:nvGraphicFramePr>
              <p:cNvPr id="18456" name="Object 10"/>
              <p:cNvGraphicFramePr>
                <a:graphicFrameLocks noChangeAspect="1"/>
              </p:cNvGraphicFramePr>
              <p:nvPr/>
            </p:nvGraphicFramePr>
            <p:xfrm>
              <a:off x="2401" y="1176"/>
              <a:ext cx="408" cy="144"/>
            </p:xfrm>
            <a:graphic>
              <a:graphicData uri="http://schemas.openxmlformats.org/presentationml/2006/ole">
                <p:oleObj spid="_x0000_s7200" name="Equation" r:id="rId4" imgW="647700" imgH="228600" progId="Equation.3">
                  <p:embed/>
                </p:oleObj>
              </a:graphicData>
            </a:graphic>
          </p:graphicFrame>
          <p:graphicFrame>
            <p:nvGraphicFramePr>
              <p:cNvPr id="18457" name="Object 11"/>
              <p:cNvGraphicFramePr>
                <a:graphicFrameLocks noChangeAspect="1"/>
              </p:cNvGraphicFramePr>
              <p:nvPr/>
            </p:nvGraphicFramePr>
            <p:xfrm>
              <a:off x="3263" y="1176"/>
              <a:ext cx="792" cy="144"/>
            </p:xfrm>
            <a:graphic>
              <a:graphicData uri="http://schemas.openxmlformats.org/presentationml/2006/ole">
                <p:oleObj spid="_x0000_s7201" name="Equation" r:id="rId5" imgW="1257300" imgH="228600" progId="Equation.3">
                  <p:embed/>
                </p:oleObj>
              </a:graphicData>
            </a:graphic>
          </p:graphicFrame>
          <p:graphicFrame>
            <p:nvGraphicFramePr>
              <p:cNvPr id="18458" name="Object 12"/>
              <p:cNvGraphicFramePr>
                <a:graphicFrameLocks noChangeAspect="1"/>
              </p:cNvGraphicFramePr>
              <p:nvPr/>
            </p:nvGraphicFramePr>
            <p:xfrm>
              <a:off x="3263" y="1430"/>
              <a:ext cx="728" cy="168"/>
            </p:xfrm>
            <a:graphic>
              <a:graphicData uri="http://schemas.openxmlformats.org/presentationml/2006/ole">
                <p:oleObj spid="_x0000_s7202" name="Equation" r:id="rId6" imgW="1155199" imgH="266584" progId="Equation.3">
                  <p:embed/>
                </p:oleObj>
              </a:graphicData>
            </a:graphic>
          </p:graphicFrame>
          <p:grpSp>
            <p:nvGrpSpPr>
              <p:cNvPr id="18459" name="Group 13"/>
              <p:cNvGrpSpPr>
                <a:grpSpLocks/>
              </p:cNvGrpSpPr>
              <p:nvPr/>
            </p:nvGrpSpPr>
            <p:grpSpPr bwMode="auto">
              <a:xfrm>
                <a:off x="2401" y="1430"/>
                <a:ext cx="517" cy="168"/>
                <a:chOff x="2285" y="1502"/>
                <a:chExt cx="517" cy="168"/>
              </a:xfrm>
            </p:grpSpPr>
            <p:graphicFrame>
              <p:nvGraphicFramePr>
                <p:cNvPr id="18463" name="Object 15"/>
                <p:cNvGraphicFramePr>
                  <a:graphicFrameLocks noChangeAspect="1"/>
                </p:cNvGraphicFramePr>
                <p:nvPr/>
              </p:nvGraphicFramePr>
              <p:xfrm>
                <a:off x="2285" y="1502"/>
                <a:ext cx="352" cy="168"/>
              </p:xfrm>
              <a:graphic>
                <a:graphicData uri="http://schemas.openxmlformats.org/presentationml/2006/ole">
                  <p:oleObj spid="_x0000_s7203" name="Equation" r:id="rId7" imgW="558558" imgH="266584" progId="Equation.3">
                    <p:embed/>
                  </p:oleObj>
                </a:graphicData>
              </a:graphic>
            </p:graphicFrame>
            <p:graphicFrame>
              <p:nvGraphicFramePr>
                <p:cNvPr id="18464" name="Object 16"/>
                <p:cNvGraphicFramePr>
                  <a:graphicFrameLocks noChangeAspect="1"/>
                </p:cNvGraphicFramePr>
                <p:nvPr/>
              </p:nvGraphicFramePr>
              <p:xfrm>
                <a:off x="2658" y="1506"/>
                <a:ext cx="144" cy="162"/>
              </p:xfrm>
              <a:graphic>
                <a:graphicData uri="http://schemas.openxmlformats.org/presentationml/2006/ole">
                  <p:oleObj spid="_x0000_s7204" name="Bitmap Image" r:id="rId8" imgW="228571" imgH="257007" progId="PBrush">
                    <p:embed/>
                  </p:oleObj>
                </a:graphicData>
              </a:graphic>
            </p:graphicFrame>
          </p:grpSp>
          <p:grpSp>
            <p:nvGrpSpPr>
              <p:cNvPr id="18460" name="Group 15"/>
              <p:cNvGrpSpPr>
                <a:grpSpLocks/>
              </p:cNvGrpSpPr>
              <p:nvPr/>
            </p:nvGrpSpPr>
            <p:grpSpPr bwMode="auto">
              <a:xfrm>
                <a:off x="4385" y="1430"/>
                <a:ext cx="554" cy="168"/>
                <a:chOff x="4206" y="1510"/>
                <a:chExt cx="554" cy="168"/>
              </a:xfrm>
            </p:grpSpPr>
            <p:graphicFrame>
              <p:nvGraphicFramePr>
                <p:cNvPr id="18461" name="Object 13"/>
                <p:cNvGraphicFramePr>
                  <a:graphicFrameLocks noChangeAspect="1"/>
                </p:cNvGraphicFramePr>
                <p:nvPr/>
              </p:nvGraphicFramePr>
              <p:xfrm>
                <a:off x="4206" y="1510"/>
                <a:ext cx="416" cy="168"/>
              </p:xfrm>
              <a:graphic>
                <a:graphicData uri="http://schemas.openxmlformats.org/presentationml/2006/ole">
                  <p:oleObj spid="_x0000_s7205" name="Equation" r:id="rId9" imgW="660113" imgH="266584" progId="Equation.3">
                    <p:embed/>
                  </p:oleObj>
                </a:graphicData>
              </a:graphic>
            </p:graphicFrame>
            <p:graphicFrame>
              <p:nvGraphicFramePr>
                <p:cNvPr id="18462" name="Object 14"/>
                <p:cNvGraphicFramePr>
                  <a:graphicFrameLocks noChangeAspect="1"/>
                </p:cNvGraphicFramePr>
                <p:nvPr/>
              </p:nvGraphicFramePr>
              <p:xfrm>
                <a:off x="4633" y="1513"/>
                <a:ext cx="127" cy="162"/>
              </p:xfrm>
              <a:graphic>
                <a:graphicData uri="http://schemas.openxmlformats.org/presentationml/2006/ole">
                  <p:oleObj spid="_x0000_s7206" name="Bitmap Image" r:id="rId10" imgW="200159" imgH="257007" progId="PBrush">
                    <p:embed/>
                  </p:oleObj>
                </a:graphicData>
              </a:graphic>
            </p:graphicFrame>
          </p:grpSp>
        </p:grpSp>
      </p:grpSp>
      <p:grpSp>
        <p:nvGrpSpPr>
          <p:cNvPr id="6" name="Group 32"/>
          <p:cNvGrpSpPr>
            <a:grpSpLocks/>
          </p:cNvGrpSpPr>
          <p:nvPr/>
        </p:nvGrpSpPr>
        <p:grpSpPr bwMode="auto">
          <a:xfrm>
            <a:off x="393700" y="2538413"/>
            <a:ext cx="8750300" cy="2884487"/>
            <a:chOff x="248" y="1599"/>
            <a:chExt cx="5512" cy="1817"/>
          </a:xfrm>
        </p:grpSpPr>
        <p:pic>
          <p:nvPicPr>
            <p:cNvPr id="18445" name="Picture 5" descr="msotw9_temp0"/>
            <p:cNvPicPr>
              <a:picLocks noChangeAspect="1" noChangeArrowheads="1"/>
            </p:cNvPicPr>
            <p:nvPr/>
          </p:nvPicPr>
          <p:blipFill>
            <a:blip r:embed="rId11" cstate="print">
              <a:extLst>
                <a:ext uri="{28A0092B-C50C-407E-A947-70E740481C1C}">
                  <a14:useLocalDpi xmlns="" xmlns:a14="http://schemas.microsoft.com/office/drawing/2010/main" val="0"/>
                </a:ext>
              </a:extLst>
            </a:blip>
            <a:srcRect/>
            <a:stretch>
              <a:fillRect/>
            </a:stretch>
          </p:blipFill>
          <p:spPr bwMode="auto">
            <a:xfrm>
              <a:off x="248" y="2403"/>
              <a:ext cx="1668" cy="10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8446" name="Group 30"/>
            <p:cNvGrpSpPr>
              <a:grpSpLocks/>
            </p:cNvGrpSpPr>
            <p:nvPr/>
          </p:nvGrpSpPr>
          <p:grpSpPr bwMode="auto">
            <a:xfrm>
              <a:off x="1882" y="1599"/>
              <a:ext cx="3878" cy="917"/>
              <a:chOff x="1882" y="1659"/>
              <a:chExt cx="3878" cy="917"/>
            </a:xfrm>
          </p:grpSpPr>
          <p:sp>
            <p:nvSpPr>
              <p:cNvPr id="18447" name="Rectangle 16"/>
              <p:cNvSpPr>
                <a:spLocks noChangeArrowheads="1"/>
              </p:cNvSpPr>
              <p:nvPr/>
            </p:nvSpPr>
            <p:spPr bwMode="auto">
              <a:xfrm>
                <a:off x="1882" y="1659"/>
                <a:ext cx="3878" cy="4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227013" indent="-227013">
                  <a:spcBef>
                    <a:spcPct val="50000"/>
                  </a:spcBef>
                  <a:buFontTx/>
                  <a:buChar char="•"/>
                </a:pPr>
                <a:r>
                  <a:rPr lang="en-US" sz="1800"/>
                  <a:t>Based on a free-body-diagram equation for the equivalence of the external and effective forces, write the equation of motion.</a:t>
                </a:r>
              </a:p>
            </p:txBody>
          </p:sp>
          <p:grpSp>
            <p:nvGrpSpPr>
              <p:cNvPr id="18448" name="Group 21"/>
              <p:cNvGrpSpPr>
                <a:grpSpLocks/>
              </p:cNvGrpSpPr>
              <p:nvPr/>
            </p:nvGrpSpPr>
            <p:grpSpPr bwMode="auto">
              <a:xfrm>
                <a:off x="2401" y="2058"/>
                <a:ext cx="3045" cy="224"/>
                <a:chOff x="2084" y="2198"/>
                <a:chExt cx="3045" cy="224"/>
              </a:xfrm>
            </p:grpSpPr>
            <p:grpSp>
              <p:nvGrpSpPr>
                <p:cNvPr id="18450" name="Group 19"/>
                <p:cNvGrpSpPr>
                  <a:grpSpLocks/>
                </p:cNvGrpSpPr>
                <p:nvPr/>
              </p:nvGrpSpPr>
              <p:grpSpPr bwMode="auto">
                <a:xfrm>
                  <a:off x="2084" y="2198"/>
                  <a:ext cx="1363" cy="224"/>
                  <a:chOff x="2084" y="2235"/>
                  <a:chExt cx="1363" cy="224"/>
                </a:xfrm>
              </p:grpSpPr>
              <p:graphicFrame>
                <p:nvGraphicFramePr>
                  <p:cNvPr id="18452" name="Object 8"/>
                  <p:cNvGraphicFramePr>
                    <a:graphicFrameLocks noChangeAspect="1"/>
                  </p:cNvGraphicFramePr>
                  <p:nvPr/>
                </p:nvGraphicFramePr>
                <p:xfrm>
                  <a:off x="2239" y="2235"/>
                  <a:ext cx="1208" cy="224"/>
                </p:xfrm>
                <a:graphic>
                  <a:graphicData uri="http://schemas.openxmlformats.org/presentationml/2006/ole">
                    <p:oleObj spid="_x0000_s7207" name="Equation" r:id="rId12" imgW="1916868" imgH="355446" progId="Equation.3">
                      <p:embed/>
                    </p:oleObj>
                  </a:graphicData>
                </a:graphic>
              </p:graphicFrame>
              <p:graphicFrame>
                <p:nvGraphicFramePr>
                  <p:cNvPr id="18453" name="Object 9"/>
                  <p:cNvGraphicFramePr>
                    <a:graphicFrameLocks noChangeAspect="1"/>
                  </p:cNvGraphicFramePr>
                  <p:nvPr/>
                </p:nvGraphicFramePr>
                <p:xfrm>
                  <a:off x="2084" y="2266"/>
                  <a:ext cx="144" cy="162"/>
                </p:xfrm>
                <a:graphic>
                  <a:graphicData uri="http://schemas.openxmlformats.org/presentationml/2006/ole">
                    <p:oleObj spid="_x0000_s7208" name="Bitmap Image" r:id="rId13" imgW="228571" imgH="257007" progId="PBrush">
                      <p:embed/>
                    </p:oleObj>
                  </a:graphicData>
                </a:graphic>
              </p:graphicFrame>
            </p:grpSp>
            <p:graphicFrame>
              <p:nvGraphicFramePr>
                <p:cNvPr id="18451" name="Object 7"/>
                <p:cNvGraphicFramePr>
                  <a:graphicFrameLocks noChangeAspect="1"/>
                </p:cNvGraphicFramePr>
                <p:nvPr/>
              </p:nvGraphicFramePr>
              <p:xfrm>
                <a:off x="3729" y="2214"/>
                <a:ext cx="1400" cy="192"/>
              </p:xfrm>
              <a:graphic>
                <a:graphicData uri="http://schemas.openxmlformats.org/presentationml/2006/ole">
                  <p:oleObj spid="_x0000_s7209" name="Equation" r:id="rId14" imgW="2222500" imgH="304800" progId="Equation.3">
                    <p:embed/>
                  </p:oleObj>
                </a:graphicData>
              </a:graphic>
            </p:graphicFrame>
          </p:grpSp>
          <p:graphicFrame>
            <p:nvGraphicFramePr>
              <p:cNvPr id="18449" name="Object 6"/>
              <p:cNvGraphicFramePr>
                <a:graphicFrameLocks noChangeAspect="1"/>
              </p:cNvGraphicFramePr>
              <p:nvPr/>
            </p:nvGraphicFramePr>
            <p:xfrm>
              <a:off x="2080" y="2328"/>
              <a:ext cx="1960" cy="248"/>
            </p:xfrm>
            <a:graphic>
              <a:graphicData uri="http://schemas.openxmlformats.org/presentationml/2006/ole">
                <p:oleObj spid="_x0000_s7210" name="Equation" r:id="rId15" imgW="3111500" imgH="393700" progId="Equation.3">
                  <p:embed/>
                </p:oleObj>
              </a:graphicData>
            </a:graphic>
          </p:graphicFrame>
        </p:grpSp>
      </p:grpSp>
      <p:grpSp>
        <p:nvGrpSpPr>
          <p:cNvPr id="10" name="Group 29"/>
          <p:cNvGrpSpPr>
            <a:grpSpLocks/>
          </p:cNvGrpSpPr>
          <p:nvPr/>
        </p:nvGrpSpPr>
        <p:grpSpPr bwMode="auto">
          <a:xfrm>
            <a:off x="2987675" y="4044950"/>
            <a:ext cx="6156325" cy="1654175"/>
            <a:chOff x="1882" y="2586"/>
            <a:chExt cx="3878" cy="1042"/>
          </a:xfrm>
        </p:grpSpPr>
        <p:sp>
          <p:nvSpPr>
            <p:cNvPr id="18443" name="Rectangle 22"/>
            <p:cNvSpPr>
              <a:spLocks noChangeArrowheads="1"/>
            </p:cNvSpPr>
            <p:nvPr/>
          </p:nvSpPr>
          <p:spPr bwMode="auto">
            <a:xfrm>
              <a:off x="1882" y="2586"/>
              <a:ext cx="3878" cy="4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227013" indent="-227013">
                <a:spcBef>
                  <a:spcPct val="50000"/>
                </a:spcBef>
                <a:buFontTx/>
                <a:buChar char="•"/>
              </a:pPr>
              <a:r>
                <a:rPr lang="en-US" sz="1800"/>
                <a:t>Substitute the kinematic relations to arrive at an equation involving only the angular displacement and acceleration.</a:t>
              </a:r>
            </a:p>
          </p:txBody>
        </p:sp>
        <p:graphicFrame>
          <p:nvGraphicFramePr>
            <p:cNvPr id="18444" name="Object 5"/>
            <p:cNvGraphicFramePr>
              <a:graphicFrameLocks noChangeAspect="1"/>
            </p:cNvGraphicFramePr>
            <p:nvPr/>
          </p:nvGraphicFramePr>
          <p:xfrm>
            <a:off x="2393" y="2996"/>
            <a:ext cx="2376" cy="632"/>
          </p:xfrm>
          <a:graphic>
            <a:graphicData uri="http://schemas.openxmlformats.org/presentationml/2006/ole">
              <p:oleObj spid="_x0000_s7211" name="Equation" r:id="rId16" imgW="3771900" imgH="1003300" progId="Equation.3">
                <p:embed/>
              </p:oleObj>
            </a:graphicData>
          </a:graphic>
        </p:graphicFrame>
      </p:grpSp>
      <p:graphicFrame>
        <p:nvGraphicFramePr>
          <p:cNvPr id="23578" name="Object 2"/>
          <p:cNvGraphicFramePr>
            <a:graphicFrameLocks noChangeAspect="1"/>
          </p:cNvGraphicFramePr>
          <p:nvPr/>
        </p:nvGraphicFramePr>
        <p:xfrm>
          <a:off x="3363913" y="5870575"/>
          <a:ext cx="1003300" cy="609600"/>
        </p:xfrm>
        <a:graphic>
          <a:graphicData uri="http://schemas.openxmlformats.org/presentationml/2006/ole">
            <p:oleObj spid="_x0000_s7212" name="Equation" r:id="rId17" imgW="1002865" imgH="609336" progId="Equation.3">
              <p:embed/>
            </p:oleObj>
          </a:graphicData>
        </a:graphic>
      </p:graphicFrame>
      <p:graphicFrame>
        <p:nvGraphicFramePr>
          <p:cNvPr id="23579" name="Object 3"/>
          <p:cNvGraphicFramePr>
            <a:graphicFrameLocks noChangeAspect="1"/>
          </p:cNvGraphicFramePr>
          <p:nvPr/>
        </p:nvGraphicFramePr>
        <p:xfrm>
          <a:off x="4943475" y="5851525"/>
          <a:ext cx="1739900" cy="647700"/>
        </p:xfrm>
        <a:graphic>
          <a:graphicData uri="http://schemas.openxmlformats.org/presentationml/2006/ole">
            <p:oleObj spid="_x0000_s7213" name="Equation" r:id="rId18" imgW="1739900" imgH="647700" progId="Equation.3">
              <p:embed/>
            </p:oleObj>
          </a:graphicData>
        </a:graphic>
      </p:graphicFrame>
      <p:graphicFrame>
        <p:nvGraphicFramePr>
          <p:cNvPr id="23580" name="Object 4"/>
          <p:cNvGraphicFramePr>
            <a:graphicFrameLocks noChangeAspect="1"/>
          </p:cNvGraphicFramePr>
          <p:nvPr/>
        </p:nvGraphicFramePr>
        <p:xfrm>
          <a:off x="7259638" y="5870575"/>
          <a:ext cx="1828800" cy="609600"/>
        </p:xfrm>
        <a:graphic>
          <a:graphicData uri="http://schemas.openxmlformats.org/presentationml/2006/ole">
            <p:oleObj spid="_x0000_s7214" name="Equation" r:id="rId19" imgW="1828800" imgH="609600" progId="Equation.3">
              <p:embed/>
            </p:oleObj>
          </a:graphicData>
        </a:graphic>
      </p:graphicFrame>
    </p:spTree>
    <p:extLst>
      <p:ext uri="{BB962C8B-B14F-4D97-AF65-F5344CB8AC3E}">
        <p14:creationId xmlns="" xmlns:p14="http://schemas.microsoft.com/office/powerpoint/2010/main" val="10862035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357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357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3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18599" y="57151"/>
            <a:ext cx="8229600" cy="868362"/>
          </a:xfrm>
        </p:spPr>
        <p:txBody>
          <a:bodyPr/>
          <a:lstStyle/>
          <a:p>
            <a:r>
              <a:rPr lang="en-US" dirty="0" smtClean="0">
                <a:ea typeface="ＭＳ Ｐゴシック" pitchFamily="34" charset="-128"/>
              </a:rPr>
              <a:t>Principle of Conservation of Energy</a:t>
            </a:r>
          </a:p>
        </p:txBody>
      </p:sp>
      <p:sp>
        <p:nvSpPr>
          <p:cNvPr id="26627"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200" dirty="0" smtClean="0">
                <a:solidFill>
                  <a:srgbClr val="618A53"/>
                </a:solidFill>
                <a:latin typeface="Arial" charset="0"/>
              </a:rPr>
              <a:t> </a:t>
            </a:r>
            <a:fld id="{4506C03F-0D85-4727-9AE2-56C47F5F31F9}" type="slidenum">
              <a:rPr lang="en-US" sz="1200" smtClean="0">
                <a:solidFill>
                  <a:srgbClr val="618A53"/>
                </a:solidFill>
                <a:latin typeface="Arial" charset="0"/>
              </a:rPr>
              <a:pPr eaLnBrk="1" hangingPunct="1"/>
              <a:t>24</a:t>
            </a:fld>
            <a:endParaRPr lang="en-US" sz="1200" dirty="0" smtClean="0">
              <a:solidFill>
                <a:srgbClr val="618A53"/>
              </a:solidFill>
              <a:latin typeface="Arial" charset="0"/>
            </a:endParaRPr>
          </a:p>
        </p:txBody>
      </p:sp>
      <p:grpSp>
        <p:nvGrpSpPr>
          <p:cNvPr id="26628" name="Group 16"/>
          <p:cNvGrpSpPr>
            <a:grpSpLocks/>
          </p:cNvGrpSpPr>
          <p:nvPr/>
        </p:nvGrpSpPr>
        <p:grpSpPr bwMode="auto">
          <a:xfrm>
            <a:off x="3265488" y="925513"/>
            <a:ext cx="5830887" cy="973137"/>
            <a:chOff x="2057" y="583"/>
            <a:chExt cx="3673" cy="613"/>
          </a:xfrm>
        </p:grpSpPr>
        <p:sp>
          <p:nvSpPr>
            <p:cNvPr id="26640" name="Text Box 5"/>
            <p:cNvSpPr txBox="1">
              <a:spLocks noChangeArrowheads="1"/>
            </p:cNvSpPr>
            <p:nvPr/>
          </p:nvSpPr>
          <p:spPr bwMode="auto">
            <a:xfrm>
              <a:off x="2057" y="583"/>
              <a:ext cx="3673" cy="4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Resultant force on a mass in simple harmonic motion is conservative -  total energy is conserved.</a:t>
              </a:r>
            </a:p>
          </p:txBody>
        </p:sp>
        <p:graphicFrame>
          <p:nvGraphicFramePr>
            <p:cNvPr id="26641" name="Object 9"/>
            <p:cNvGraphicFramePr>
              <a:graphicFrameLocks noChangeAspect="1"/>
            </p:cNvGraphicFramePr>
            <p:nvPr/>
          </p:nvGraphicFramePr>
          <p:xfrm>
            <a:off x="2319" y="1044"/>
            <a:ext cx="1080" cy="152"/>
          </p:xfrm>
          <a:graphic>
            <a:graphicData uri="http://schemas.openxmlformats.org/presentationml/2006/ole">
              <p:oleObj spid="_x0000_s8202" name="Equation" r:id="rId3" imgW="1714500" imgH="241300" progId="Equation.3">
                <p:embed/>
              </p:oleObj>
            </a:graphicData>
          </a:graphic>
        </p:graphicFrame>
      </p:grpSp>
      <p:graphicFrame>
        <p:nvGraphicFramePr>
          <p:cNvPr id="14343" name="Object 2"/>
          <p:cNvGraphicFramePr>
            <a:graphicFrameLocks noChangeAspect="1"/>
          </p:cNvGraphicFramePr>
          <p:nvPr/>
        </p:nvGraphicFramePr>
        <p:xfrm>
          <a:off x="6143625" y="1584325"/>
          <a:ext cx="2540000" cy="914400"/>
        </p:xfrm>
        <a:graphic>
          <a:graphicData uri="http://schemas.openxmlformats.org/presentationml/2006/ole">
            <p:oleObj spid="_x0000_s8203" name="Equation" r:id="rId4" imgW="2540000" imgH="914400" progId="Equation.3">
              <p:embed/>
            </p:oleObj>
          </a:graphicData>
        </a:graphic>
      </p:graphicFrame>
      <p:grpSp>
        <p:nvGrpSpPr>
          <p:cNvPr id="3" name="Group 17"/>
          <p:cNvGrpSpPr>
            <a:grpSpLocks/>
          </p:cNvGrpSpPr>
          <p:nvPr/>
        </p:nvGrpSpPr>
        <p:grpSpPr bwMode="auto">
          <a:xfrm>
            <a:off x="390525" y="1071563"/>
            <a:ext cx="8753475" cy="4997450"/>
            <a:chOff x="246" y="675"/>
            <a:chExt cx="5514" cy="3148"/>
          </a:xfrm>
        </p:grpSpPr>
        <p:pic>
          <p:nvPicPr>
            <p:cNvPr id="26637" name="Picture 3" descr="C:\DOCUME~1\WALTOL~1\LOCALS~1\Temp\\msotw9_temp0.jp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246" y="675"/>
              <a:ext cx="1651" cy="14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6638" name="Picture 4" descr="C:\DOCUME~1\WALTOL~1\LOCALS~1\Temp\\msotw9_temp0.jpg"/>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336" y="2331"/>
              <a:ext cx="1467" cy="14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6639" name="Text Box 9"/>
            <p:cNvSpPr txBox="1">
              <a:spLocks noChangeArrowheads="1"/>
            </p:cNvSpPr>
            <p:nvPr/>
          </p:nvSpPr>
          <p:spPr bwMode="auto">
            <a:xfrm>
              <a:off x="2057" y="1535"/>
              <a:ext cx="3703"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Consider simple harmonic motion of the square plate,</a:t>
              </a:r>
            </a:p>
          </p:txBody>
        </p:sp>
      </p:grpSp>
      <p:graphicFrame>
        <p:nvGraphicFramePr>
          <p:cNvPr id="14346" name="Object 3"/>
          <p:cNvGraphicFramePr>
            <a:graphicFrameLocks noChangeAspect="1"/>
          </p:cNvGraphicFramePr>
          <p:nvPr/>
        </p:nvGraphicFramePr>
        <p:xfrm>
          <a:off x="3681413" y="2862263"/>
          <a:ext cx="635000" cy="317500"/>
        </p:xfrm>
        <a:graphic>
          <a:graphicData uri="http://schemas.openxmlformats.org/presentationml/2006/ole">
            <p:oleObj spid="_x0000_s8204" name="Equation" r:id="rId7" imgW="634449" imgH="317225" progId="Equation.3">
              <p:embed/>
            </p:oleObj>
          </a:graphicData>
        </a:graphic>
      </p:graphicFrame>
      <p:graphicFrame>
        <p:nvGraphicFramePr>
          <p:cNvPr id="14347" name="Object 4"/>
          <p:cNvGraphicFramePr>
            <a:graphicFrameLocks noChangeAspect="1"/>
          </p:cNvGraphicFramePr>
          <p:nvPr/>
        </p:nvGraphicFramePr>
        <p:xfrm>
          <a:off x="5070475" y="2803525"/>
          <a:ext cx="3822700" cy="914400"/>
        </p:xfrm>
        <a:graphic>
          <a:graphicData uri="http://schemas.openxmlformats.org/presentationml/2006/ole">
            <p:oleObj spid="_x0000_s8205" name="Equation" r:id="rId8" imgW="3822700" imgH="914400" progId="Equation.3">
              <p:embed/>
            </p:oleObj>
          </a:graphicData>
        </a:graphic>
      </p:graphicFrame>
      <p:graphicFrame>
        <p:nvGraphicFramePr>
          <p:cNvPr id="14348" name="Object 5"/>
          <p:cNvGraphicFramePr>
            <a:graphicFrameLocks noChangeAspect="1"/>
          </p:cNvGraphicFramePr>
          <p:nvPr/>
        </p:nvGraphicFramePr>
        <p:xfrm>
          <a:off x="3668713" y="3795713"/>
          <a:ext cx="3136900" cy="1498600"/>
        </p:xfrm>
        <a:graphic>
          <a:graphicData uri="http://schemas.openxmlformats.org/presentationml/2006/ole">
            <p:oleObj spid="_x0000_s8206" name="Equation" r:id="rId9" imgW="3136900" imgH="1498600" progId="Equation.3">
              <p:embed/>
            </p:oleObj>
          </a:graphicData>
        </a:graphic>
      </p:graphicFrame>
      <p:graphicFrame>
        <p:nvGraphicFramePr>
          <p:cNvPr id="14349" name="Object 6"/>
          <p:cNvGraphicFramePr>
            <a:graphicFrameLocks noChangeAspect="1"/>
          </p:cNvGraphicFramePr>
          <p:nvPr/>
        </p:nvGraphicFramePr>
        <p:xfrm>
          <a:off x="7535863" y="3822700"/>
          <a:ext cx="685800" cy="317500"/>
        </p:xfrm>
        <a:graphic>
          <a:graphicData uri="http://schemas.openxmlformats.org/presentationml/2006/ole">
            <p:oleObj spid="_x0000_s8207" name="Equation" r:id="rId10" imgW="685502" imgH="317362" progId="Equation.3">
              <p:embed/>
            </p:oleObj>
          </a:graphicData>
        </a:graphic>
      </p:graphicFrame>
      <p:graphicFrame>
        <p:nvGraphicFramePr>
          <p:cNvPr id="14350" name="Object 7"/>
          <p:cNvGraphicFramePr>
            <a:graphicFrameLocks noChangeAspect="1"/>
          </p:cNvGraphicFramePr>
          <p:nvPr/>
        </p:nvGraphicFramePr>
        <p:xfrm>
          <a:off x="3681413" y="5634038"/>
          <a:ext cx="3327400" cy="838200"/>
        </p:xfrm>
        <a:graphic>
          <a:graphicData uri="http://schemas.openxmlformats.org/presentationml/2006/ole">
            <p:oleObj spid="_x0000_s8208" name="Equation" r:id="rId11" imgW="3327400" imgH="838200" progId="Equation.3">
              <p:embed/>
            </p:oleObj>
          </a:graphicData>
        </a:graphic>
      </p:graphicFrame>
      <p:graphicFrame>
        <p:nvGraphicFramePr>
          <p:cNvPr id="14351" name="Object 8"/>
          <p:cNvGraphicFramePr>
            <a:graphicFrameLocks noChangeAspect="1"/>
          </p:cNvGraphicFramePr>
          <p:nvPr/>
        </p:nvGraphicFramePr>
        <p:xfrm>
          <a:off x="7548563" y="6061075"/>
          <a:ext cx="1422400" cy="355600"/>
        </p:xfrm>
        <a:graphic>
          <a:graphicData uri="http://schemas.openxmlformats.org/presentationml/2006/ole">
            <p:oleObj spid="_x0000_s8209" name="Equation" r:id="rId12" imgW="1422400" imgH="355600" progId="Equation.3">
              <p:embed/>
            </p:oleObj>
          </a:graphicData>
        </a:graphic>
      </p:graphicFrame>
    </p:spTree>
    <p:extLst>
      <p:ext uri="{BB962C8B-B14F-4D97-AF65-F5344CB8AC3E}">
        <p14:creationId xmlns="" xmlns:p14="http://schemas.microsoft.com/office/powerpoint/2010/main" val="40929504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3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43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434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434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434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435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43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Forced Vibration..(Introduction)</a:t>
            </a:r>
            <a:endParaRPr lang="en-US" dirty="0"/>
          </a:p>
        </p:txBody>
      </p:sp>
      <p:sp>
        <p:nvSpPr>
          <p:cNvPr id="3" name="Text Box 7"/>
          <p:cNvSpPr txBox="1">
            <a:spLocks noChangeArrowheads="1"/>
          </p:cNvSpPr>
          <p:nvPr/>
        </p:nvSpPr>
        <p:spPr bwMode="auto">
          <a:xfrm>
            <a:off x="5486400" y="2185654"/>
            <a:ext cx="3298825" cy="1311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i="1" dirty="0"/>
              <a:t>Forced vibrations</a:t>
            </a:r>
            <a:r>
              <a:rPr lang="en-US" dirty="0"/>
              <a:t> - Occur when a system is subjected to a periodic force or a periodic displacement of a support.</a:t>
            </a:r>
          </a:p>
        </p:txBody>
      </p:sp>
      <p:pic>
        <p:nvPicPr>
          <p:cNvPr id="4" name="Picture 3" descr="C:\DOCUME~1\WALTOL~1\LOCALS~1\Temp\\msotw9_temp0.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85800" y="2590800"/>
            <a:ext cx="2632075" cy="31702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aphicFrame>
        <p:nvGraphicFramePr>
          <p:cNvPr id="5" name="Object 6"/>
          <p:cNvGraphicFramePr>
            <a:graphicFrameLocks noChangeAspect="1"/>
          </p:cNvGraphicFramePr>
          <p:nvPr>
            <p:extLst>
              <p:ext uri="{D42A27DB-BD31-4B8C-83A1-F6EECF244321}">
                <p14:modId xmlns="" xmlns:p14="http://schemas.microsoft.com/office/powerpoint/2010/main" val="2839902404"/>
              </p:ext>
            </p:extLst>
          </p:nvPr>
        </p:nvGraphicFramePr>
        <p:xfrm>
          <a:off x="5791200" y="3886200"/>
          <a:ext cx="596900" cy="368300"/>
        </p:xfrm>
        <a:graphic>
          <a:graphicData uri="http://schemas.openxmlformats.org/presentationml/2006/ole">
            <p:oleObj spid="_x0000_s9219" name="Equation" r:id="rId4" imgW="596900" imgH="368300" progId="Equation.3">
              <p:embed/>
            </p:oleObj>
          </a:graphicData>
        </a:graphic>
      </p:graphicFrame>
      <p:sp>
        <p:nvSpPr>
          <p:cNvPr id="6" name="Rectangle 5"/>
          <p:cNvSpPr/>
          <p:nvPr/>
        </p:nvSpPr>
        <p:spPr>
          <a:xfrm>
            <a:off x="6477000" y="3826821"/>
            <a:ext cx="1751313" cy="369332"/>
          </a:xfrm>
          <a:prstGeom prst="rect">
            <a:avLst/>
          </a:prstGeom>
        </p:spPr>
        <p:txBody>
          <a:bodyPr wrap="none">
            <a:spAutoFit/>
          </a:bodyPr>
          <a:lstStyle/>
          <a:p>
            <a:pPr>
              <a:spcBef>
                <a:spcPct val="50000"/>
              </a:spcBef>
            </a:pPr>
            <a:r>
              <a:rPr lang="en-US" i="1" dirty="0" smtClean="0"/>
              <a:t>forced frequency</a:t>
            </a:r>
            <a:endParaRPr lang="en-US" i="1" dirty="0"/>
          </a:p>
        </p:txBody>
      </p:sp>
    </p:spTree>
    <p:extLst>
      <p:ext uri="{BB962C8B-B14F-4D97-AF65-F5344CB8AC3E}">
        <p14:creationId xmlns="" xmlns:p14="http://schemas.microsoft.com/office/powerpoint/2010/main" val="15314171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533400" y="36513"/>
            <a:ext cx="8229600" cy="960604"/>
          </a:xfrm>
        </p:spPr>
        <p:txBody>
          <a:bodyPr/>
          <a:lstStyle/>
          <a:p>
            <a:r>
              <a:rPr lang="en-US" dirty="0" smtClean="0">
                <a:ea typeface="ＭＳ Ｐゴシック" pitchFamily="34" charset="-128"/>
              </a:rPr>
              <a:t>Damped Free Vibrations</a:t>
            </a:r>
          </a:p>
        </p:txBody>
      </p:sp>
      <p:sp>
        <p:nvSpPr>
          <p:cNvPr id="36867"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sz="1200" dirty="0" smtClean="0">
                <a:solidFill>
                  <a:srgbClr val="618A53"/>
                </a:solidFill>
                <a:latin typeface="Arial" charset="0"/>
              </a:rPr>
              <a:t> </a:t>
            </a:r>
            <a:fld id="{FDC91708-4A8B-4A62-9FF2-45C0E2E69AB1}" type="slidenum">
              <a:rPr lang="en-US" sz="1200" smtClean="0">
                <a:solidFill>
                  <a:srgbClr val="618A53"/>
                </a:solidFill>
                <a:latin typeface="Arial" charset="0"/>
              </a:rPr>
              <a:pPr eaLnBrk="1" hangingPunct="1"/>
              <a:t>26</a:t>
            </a:fld>
            <a:endParaRPr lang="en-US" sz="1200" dirty="0" smtClean="0">
              <a:solidFill>
                <a:srgbClr val="618A53"/>
              </a:solidFill>
              <a:latin typeface="Arial" charset="0"/>
            </a:endParaRPr>
          </a:p>
        </p:txBody>
      </p:sp>
      <p:pic>
        <p:nvPicPr>
          <p:cNvPr id="36868" name="Picture 3" descr="C:\DOCUME~1\WALTOL~1\LOCALS~1\Temp\\msotw9_temp0.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28600" y="1742646"/>
            <a:ext cx="2895600" cy="34733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2" name="Group 18"/>
          <p:cNvGrpSpPr>
            <a:grpSpLocks/>
          </p:cNvGrpSpPr>
          <p:nvPr/>
        </p:nvGrpSpPr>
        <p:grpSpPr bwMode="auto">
          <a:xfrm>
            <a:off x="3657600" y="2163763"/>
            <a:ext cx="5484813" cy="1106487"/>
            <a:chOff x="2289" y="1271"/>
            <a:chExt cx="3455" cy="697"/>
          </a:xfrm>
        </p:grpSpPr>
        <p:sp>
          <p:nvSpPr>
            <p:cNvPr id="36877" name="Text Box 5"/>
            <p:cNvSpPr txBox="1">
              <a:spLocks noChangeArrowheads="1"/>
            </p:cNvSpPr>
            <p:nvPr/>
          </p:nvSpPr>
          <p:spPr bwMode="auto">
            <a:xfrm>
              <a:off x="2289" y="1271"/>
              <a:ext cx="345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With </a:t>
              </a:r>
              <a:r>
                <a:rPr lang="en-US" i="1"/>
                <a:t>viscous damping</a:t>
              </a:r>
              <a:r>
                <a:rPr lang="en-US"/>
                <a:t> due to fluid friction,</a:t>
              </a:r>
            </a:p>
          </p:txBody>
        </p:sp>
        <p:grpSp>
          <p:nvGrpSpPr>
            <p:cNvPr id="36878" name="Group 17"/>
            <p:cNvGrpSpPr>
              <a:grpSpLocks/>
            </p:cNvGrpSpPr>
            <p:nvPr/>
          </p:nvGrpSpPr>
          <p:grpSpPr bwMode="auto">
            <a:xfrm>
              <a:off x="2500" y="1552"/>
              <a:ext cx="2697" cy="416"/>
              <a:chOff x="2500" y="1552"/>
              <a:chExt cx="2697" cy="416"/>
            </a:xfrm>
          </p:grpSpPr>
          <p:grpSp>
            <p:nvGrpSpPr>
              <p:cNvPr id="36879" name="Group 6"/>
              <p:cNvGrpSpPr>
                <a:grpSpLocks/>
              </p:cNvGrpSpPr>
              <p:nvPr/>
            </p:nvGrpSpPr>
            <p:grpSpPr bwMode="auto">
              <a:xfrm>
                <a:off x="2500" y="1563"/>
                <a:ext cx="869" cy="200"/>
                <a:chOff x="251" y="3182"/>
                <a:chExt cx="869" cy="200"/>
              </a:xfrm>
            </p:grpSpPr>
            <p:graphicFrame>
              <p:nvGraphicFramePr>
                <p:cNvPr id="36881" name="Object 5"/>
                <p:cNvGraphicFramePr>
                  <a:graphicFrameLocks noChangeAspect="1"/>
                </p:cNvGraphicFramePr>
                <p:nvPr/>
              </p:nvGraphicFramePr>
              <p:xfrm>
                <a:off x="392" y="3182"/>
                <a:ext cx="728" cy="200"/>
              </p:xfrm>
              <a:graphic>
                <a:graphicData uri="http://schemas.openxmlformats.org/presentationml/2006/ole">
                  <p:oleObj spid="_x0000_s10242" name="Equation" r:id="rId4" imgW="1155199" imgH="317362" progId="Equation.3">
                    <p:embed/>
                  </p:oleObj>
                </a:graphicData>
              </a:graphic>
            </p:graphicFrame>
            <p:graphicFrame>
              <p:nvGraphicFramePr>
                <p:cNvPr id="36882" name="Object 6"/>
                <p:cNvGraphicFramePr>
                  <a:graphicFrameLocks noChangeAspect="1"/>
                </p:cNvGraphicFramePr>
                <p:nvPr/>
              </p:nvGraphicFramePr>
              <p:xfrm>
                <a:off x="251" y="3198"/>
                <a:ext cx="127" cy="168"/>
              </p:xfrm>
              <a:graphic>
                <a:graphicData uri="http://schemas.openxmlformats.org/presentationml/2006/ole">
                  <p:oleObj spid="_x0000_s10243" name="Bitmap Image" r:id="rId5" imgW="200159" imgH="266737" progId="PBrush">
                    <p:embed/>
                  </p:oleObj>
                </a:graphicData>
              </a:graphic>
            </p:graphicFrame>
          </p:grpSp>
          <p:graphicFrame>
            <p:nvGraphicFramePr>
              <p:cNvPr id="36880" name="Object 4"/>
              <p:cNvGraphicFramePr>
                <a:graphicFrameLocks noChangeAspect="1"/>
              </p:cNvGraphicFramePr>
              <p:nvPr/>
            </p:nvGraphicFramePr>
            <p:xfrm>
              <a:off x="3629" y="1552"/>
              <a:ext cx="1568" cy="416"/>
            </p:xfrm>
            <a:graphic>
              <a:graphicData uri="http://schemas.openxmlformats.org/presentationml/2006/ole">
                <p:oleObj spid="_x0000_s10244" name="Equation" r:id="rId6" imgW="2489200" imgH="660400" progId="Equation.3">
                  <p:embed/>
                </p:oleObj>
              </a:graphicData>
            </a:graphic>
          </p:graphicFrame>
        </p:grpSp>
      </p:grpSp>
      <p:grpSp>
        <p:nvGrpSpPr>
          <p:cNvPr id="5" name="Group 19"/>
          <p:cNvGrpSpPr>
            <a:grpSpLocks/>
          </p:cNvGrpSpPr>
          <p:nvPr/>
        </p:nvGrpSpPr>
        <p:grpSpPr bwMode="auto">
          <a:xfrm>
            <a:off x="3635375" y="3489325"/>
            <a:ext cx="5508625" cy="1493838"/>
            <a:chOff x="2290" y="2131"/>
            <a:chExt cx="3470" cy="941"/>
          </a:xfrm>
        </p:grpSpPr>
        <p:sp>
          <p:nvSpPr>
            <p:cNvPr id="36875" name="Text Box 10"/>
            <p:cNvSpPr txBox="1">
              <a:spLocks noChangeArrowheads="1"/>
            </p:cNvSpPr>
            <p:nvPr/>
          </p:nvSpPr>
          <p:spPr bwMode="auto">
            <a:xfrm>
              <a:off x="2290" y="2131"/>
              <a:ext cx="3470" cy="4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Substituting </a:t>
              </a:r>
              <a:r>
                <a:rPr lang="en-US" i="1"/>
                <a:t>x = e</a:t>
              </a:r>
              <a:r>
                <a:rPr lang="en-US" i="1" baseline="30000">
                  <a:latin typeface="Symbol" pitchFamily="18" charset="2"/>
                </a:rPr>
                <a:t>l</a:t>
              </a:r>
              <a:r>
                <a:rPr lang="en-US" i="1" baseline="30000"/>
                <a:t>t</a:t>
              </a:r>
              <a:r>
                <a:rPr lang="en-US"/>
                <a:t> and dividing through by </a:t>
              </a:r>
              <a:r>
                <a:rPr lang="en-US" i="1"/>
                <a:t>e</a:t>
              </a:r>
              <a:r>
                <a:rPr lang="en-US" i="1" baseline="30000">
                  <a:latin typeface="Symbol" pitchFamily="18" charset="2"/>
                </a:rPr>
                <a:t>l</a:t>
              </a:r>
              <a:r>
                <a:rPr lang="en-US" i="1" baseline="30000"/>
                <a:t>t</a:t>
              </a:r>
              <a:r>
                <a:rPr lang="en-US"/>
                <a:t> yields the </a:t>
              </a:r>
              <a:r>
                <a:rPr lang="en-US" i="1"/>
                <a:t>characteristic equation</a:t>
              </a:r>
              <a:r>
                <a:rPr lang="en-US"/>
                <a:t>,</a:t>
              </a:r>
            </a:p>
          </p:txBody>
        </p:sp>
        <p:graphicFrame>
          <p:nvGraphicFramePr>
            <p:cNvPr id="36876" name="Object 3"/>
            <p:cNvGraphicFramePr>
              <a:graphicFrameLocks noChangeAspect="1"/>
            </p:cNvGraphicFramePr>
            <p:nvPr/>
          </p:nvGraphicFramePr>
          <p:xfrm>
            <a:off x="2536" y="2576"/>
            <a:ext cx="2992" cy="496"/>
          </p:xfrm>
          <a:graphic>
            <a:graphicData uri="http://schemas.openxmlformats.org/presentationml/2006/ole">
              <p:oleObj spid="_x0000_s10245" name="Equation" r:id="rId7" imgW="4749800" imgH="787400" progId="Equation.3">
                <p:embed/>
              </p:oleObj>
            </a:graphicData>
          </a:graphic>
        </p:graphicFrame>
      </p:grpSp>
      <p:grpSp>
        <p:nvGrpSpPr>
          <p:cNvPr id="6" name="Group 20"/>
          <p:cNvGrpSpPr>
            <a:grpSpLocks/>
          </p:cNvGrpSpPr>
          <p:nvPr/>
        </p:nvGrpSpPr>
        <p:grpSpPr bwMode="auto">
          <a:xfrm>
            <a:off x="3633788" y="5202238"/>
            <a:ext cx="5473700" cy="1228725"/>
            <a:chOff x="2289" y="3277"/>
            <a:chExt cx="3448" cy="774"/>
          </a:xfrm>
        </p:grpSpPr>
        <p:sp>
          <p:nvSpPr>
            <p:cNvPr id="36873" name="Text Box 13"/>
            <p:cNvSpPr txBox="1">
              <a:spLocks noChangeArrowheads="1"/>
            </p:cNvSpPr>
            <p:nvPr/>
          </p:nvSpPr>
          <p:spPr bwMode="auto">
            <a:xfrm>
              <a:off x="2289" y="3277"/>
              <a:ext cx="3448"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Define the critical damping coefficient such that</a:t>
              </a:r>
            </a:p>
          </p:txBody>
        </p:sp>
        <p:graphicFrame>
          <p:nvGraphicFramePr>
            <p:cNvPr id="36874" name="Object 2"/>
            <p:cNvGraphicFramePr>
              <a:graphicFrameLocks noChangeAspect="1"/>
            </p:cNvGraphicFramePr>
            <p:nvPr/>
          </p:nvGraphicFramePr>
          <p:xfrm>
            <a:off x="2568" y="3571"/>
            <a:ext cx="2640" cy="480"/>
          </p:xfrm>
          <a:graphic>
            <a:graphicData uri="http://schemas.openxmlformats.org/presentationml/2006/ole">
              <p:oleObj spid="_x0000_s10246" name="Equation" r:id="rId8" imgW="4191000" imgH="762000" progId="Equation.3">
                <p:embed/>
              </p:oleObj>
            </a:graphicData>
          </a:graphic>
        </p:graphicFrame>
      </p:grpSp>
      <p:sp>
        <p:nvSpPr>
          <p:cNvPr id="36872" name="Text Box 16"/>
          <p:cNvSpPr txBox="1">
            <a:spLocks noChangeArrowheads="1"/>
          </p:cNvSpPr>
          <p:nvPr/>
        </p:nvSpPr>
        <p:spPr bwMode="auto">
          <a:xfrm>
            <a:off x="3633788" y="938213"/>
            <a:ext cx="5426075" cy="1006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a:t>All vibrations are damped to some degree by forces due to </a:t>
            </a:r>
            <a:r>
              <a:rPr lang="en-US" i="1"/>
              <a:t>dry friction</a:t>
            </a:r>
            <a:r>
              <a:rPr lang="en-US"/>
              <a:t>, </a:t>
            </a:r>
            <a:r>
              <a:rPr lang="en-US" i="1"/>
              <a:t>fluid friction</a:t>
            </a:r>
            <a:r>
              <a:rPr lang="en-US"/>
              <a:t>, or </a:t>
            </a:r>
            <a:r>
              <a:rPr lang="en-US" i="1"/>
              <a:t>internal friction</a:t>
            </a:r>
            <a:r>
              <a:rPr lang="en-US"/>
              <a:t>.</a:t>
            </a:r>
          </a:p>
        </p:txBody>
      </p:sp>
    </p:spTree>
    <p:extLst>
      <p:ext uri="{BB962C8B-B14F-4D97-AF65-F5344CB8AC3E}">
        <p14:creationId xmlns="" xmlns:p14="http://schemas.microsoft.com/office/powerpoint/2010/main" val="1604753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274638"/>
            <a:ext cx="8229600" cy="563562"/>
          </a:xfrm>
        </p:spPr>
        <p:txBody>
          <a:bodyPr>
            <a:normAutofit fontScale="90000"/>
          </a:bodyPr>
          <a:lstStyle/>
          <a:p>
            <a:r>
              <a:rPr lang="en-US" dirty="0" smtClean="0">
                <a:ea typeface="ＭＳ Ｐゴシック" pitchFamily="34" charset="-128"/>
              </a:rPr>
              <a:t>Damped Free Vibrations</a:t>
            </a:r>
          </a:p>
        </p:txBody>
      </p:sp>
      <p:sp>
        <p:nvSpPr>
          <p:cNvPr id="37891" name="Slide Number Placeholder 2"/>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endParaRPr lang="en-US" sz="1200" dirty="0">
              <a:solidFill>
                <a:srgbClr val="618A53"/>
              </a:solidFill>
              <a:latin typeface="Arial" charset="0"/>
            </a:endParaRPr>
          </a:p>
          <a:p>
            <a:pPr eaLnBrk="1" hangingPunct="1"/>
            <a:r>
              <a:rPr lang="en-US" sz="1200" dirty="0" smtClean="0">
                <a:solidFill>
                  <a:srgbClr val="618A53"/>
                </a:solidFill>
                <a:latin typeface="Arial" charset="0"/>
              </a:rPr>
              <a:t> </a:t>
            </a:r>
            <a:fld id="{9F993618-CFBF-4BF6-A110-0F1F40FFBD1E}" type="slidenum">
              <a:rPr lang="en-US" sz="1200" smtClean="0">
                <a:solidFill>
                  <a:srgbClr val="618A53"/>
                </a:solidFill>
                <a:latin typeface="Arial" charset="0"/>
              </a:rPr>
              <a:pPr eaLnBrk="1" hangingPunct="1"/>
              <a:t>27</a:t>
            </a:fld>
            <a:endParaRPr lang="en-US" sz="1200" dirty="0" smtClean="0">
              <a:solidFill>
                <a:srgbClr val="618A53"/>
              </a:solidFill>
              <a:latin typeface="Arial" charset="0"/>
            </a:endParaRPr>
          </a:p>
        </p:txBody>
      </p:sp>
      <p:grpSp>
        <p:nvGrpSpPr>
          <p:cNvPr id="37892" name="Group 28"/>
          <p:cNvGrpSpPr>
            <a:grpSpLocks/>
          </p:cNvGrpSpPr>
          <p:nvPr/>
        </p:nvGrpSpPr>
        <p:grpSpPr bwMode="auto">
          <a:xfrm>
            <a:off x="3633788" y="958850"/>
            <a:ext cx="5508625" cy="1506538"/>
            <a:chOff x="2289" y="604"/>
            <a:chExt cx="3470" cy="949"/>
          </a:xfrm>
        </p:grpSpPr>
        <p:sp>
          <p:nvSpPr>
            <p:cNvPr id="37912" name="Text Box 12"/>
            <p:cNvSpPr txBox="1">
              <a:spLocks noChangeArrowheads="1"/>
            </p:cNvSpPr>
            <p:nvPr/>
          </p:nvSpPr>
          <p:spPr bwMode="auto">
            <a:xfrm>
              <a:off x="2289" y="604"/>
              <a:ext cx="347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dirty="0"/>
                <a:t>Characteristic equation,</a:t>
              </a:r>
            </a:p>
          </p:txBody>
        </p:sp>
        <p:graphicFrame>
          <p:nvGraphicFramePr>
            <p:cNvPr id="37913" name="Object 6"/>
            <p:cNvGraphicFramePr>
              <a:graphicFrameLocks noChangeAspect="1"/>
            </p:cNvGraphicFramePr>
            <p:nvPr/>
          </p:nvGraphicFramePr>
          <p:xfrm>
            <a:off x="2493" y="781"/>
            <a:ext cx="2992" cy="496"/>
          </p:xfrm>
          <a:graphic>
            <a:graphicData uri="http://schemas.openxmlformats.org/presentationml/2006/ole">
              <p:oleObj spid="_x0000_s11266" name="Equation" r:id="rId3" imgW="4749800" imgH="787400" progId="Equation.3">
                <p:embed/>
              </p:oleObj>
            </a:graphicData>
          </a:graphic>
        </p:graphicFrame>
        <p:grpSp>
          <p:nvGrpSpPr>
            <p:cNvPr id="37914" name="Group 15"/>
            <p:cNvGrpSpPr>
              <a:grpSpLocks/>
            </p:cNvGrpSpPr>
            <p:nvPr/>
          </p:nvGrpSpPr>
          <p:grpSpPr bwMode="auto">
            <a:xfrm>
              <a:off x="2493" y="1303"/>
              <a:ext cx="2676" cy="250"/>
              <a:chOff x="2478" y="1422"/>
              <a:chExt cx="2676" cy="250"/>
            </a:xfrm>
          </p:grpSpPr>
          <p:graphicFrame>
            <p:nvGraphicFramePr>
              <p:cNvPr id="37915" name="Object 7"/>
              <p:cNvGraphicFramePr>
                <a:graphicFrameLocks noChangeAspect="1"/>
              </p:cNvGraphicFramePr>
              <p:nvPr/>
            </p:nvGraphicFramePr>
            <p:xfrm>
              <a:off x="2478" y="1458"/>
              <a:ext cx="782" cy="208"/>
            </p:xfrm>
            <a:graphic>
              <a:graphicData uri="http://schemas.openxmlformats.org/presentationml/2006/ole">
                <p:oleObj spid="_x0000_s11267" name="Equation" r:id="rId4" imgW="1384300" imgH="330200" progId="Equation.3">
                  <p:embed/>
                </p:oleObj>
              </a:graphicData>
            </a:graphic>
          </p:graphicFrame>
          <p:sp>
            <p:nvSpPr>
              <p:cNvPr id="37916" name="Text Box 14"/>
              <p:cNvSpPr txBox="1">
                <a:spLocks noChangeArrowheads="1"/>
              </p:cNvSpPr>
              <p:nvPr/>
            </p:nvSpPr>
            <p:spPr bwMode="auto">
              <a:xfrm>
                <a:off x="3254" y="1422"/>
                <a:ext cx="190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a:t>critical damping coefficient</a:t>
                </a:r>
              </a:p>
            </p:txBody>
          </p:sp>
        </p:grpSp>
      </p:grpSp>
      <p:grpSp>
        <p:nvGrpSpPr>
          <p:cNvPr id="4" name="Group 26"/>
          <p:cNvGrpSpPr>
            <a:grpSpLocks/>
          </p:cNvGrpSpPr>
          <p:nvPr/>
        </p:nvGrpSpPr>
        <p:grpSpPr bwMode="auto">
          <a:xfrm>
            <a:off x="3633788" y="2487613"/>
            <a:ext cx="5249862" cy="1062037"/>
            <a:chOff x="2289" y="1652"/>
            <a:chExt cx="3307" cy="669"/>
          </a:xfrm>
        </p:grpSpPr>
        <p:sp>
          <p:nvSpPr>
            <p:cNvPr id="37908" name="Text Box 16"/>
            <p:cNvSpPr txBox="1">
              <a:spLocks noChangeArrowheads="1"/>
            </p:cNvSpPr>
            <p:nvPr/>
          </p:nvSpPr>
          <p:spPr bwMode="auto">
            <a:xfrm>
              <a:off x="2289" y="1652"/>
              <a:ext cx="196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i="1"/>
                <a:t>Heavy damping</a:t>
              </a:r>
              <a:r>
                <a:rPr lang="en-US"/>
                <a:t>:  </a:t>
              </a:r>
              <a:r>
                <a:rPr lang="en-US" i="1"/>
                <a:t>c &gt; c</a:t>
              </a:r>
              <a:r>
                <a:rPr lang="en-US" i="1" baseline="-25000"/>
                <a:t>c</a:t>
              </a:r>
              <a:endParaRPr lang="en-US" i="1"/>
            </a:p>
          </p:txBody>
        </p:sp>
        <p:grpSp>
          <p:nvGrpSpPr>
            <p:cNvPr id="37909" name="Group 24"/>
            <p:cNvGrpSpPr>
              <a:grpSpLocks/>
            </p:cNvGrpSpPr>
            <p:nvPr/>
          </p:nvGrpSpPr>
          <p:grpSpPr bwMode="auto">
            <a:xfrm>
              <a:off x="2493" y="1879"/>
              <a:ext cx="3103" cy="442"/>
              <a:chOff x="2493" y="1907"/>
              <a:chExt cx="3103" cy="442"/>
            </a:xfrm>
          </p:grpSpPr>
          <p:graphicFrame>
            <p:nvGraphicFramePr>
              <p:cNvPr id="37910" name="Object 5"/>
              <p:cNvGraphicFramePr>
                <a:graphicFrameLocks noChangeAspect="1"/>
              </p:cNvGraphicFramePr>
              <p:nvPr/>
            </p:nvGraphicFramePr>
            <p:xfrm>
              <a:off x="2493" y="1924"/>
              <a:ext cx="1240" cy="248"/>
            </p:xfrm>
            <a:graphic>
              <a:graphicData uri="http://schemas.openxmlformats.org/presentationml/2006/ole">
                <p:oleObj spid="_x0000_s11268" name="Equation" r:id="rId5" imgW="1968500" imgH="393700" progId="Equation.3">
                  <p:embed/>
                </p:oleObj>
              </a:graphicData>
            </a:graphic>
          </p:graphicFrame>
          <p:sp>
            <p:nvSpPr>
              <p:cNvPr id="37911" name="Text Box 22"/>
              <p:cNvSpPr txBox="1">
                <a:spLocks noChangeArrowheads="1"/>
              </p:cNvSpPr>
              <p:nvPr/>
            </p:nvSpPr>
            <p:spPr bwMode="auto">
              <a:xfrm>
                <a:off x="3996" y="1907"/>
                <a:ext cx="1600" cy="4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a:t>-	negative roots </a:t>
                </a:r>
              </a:p>
              <a:p>
                <a:pPr eaLnBrk="1" hangingPunct="1"/>
                <a:r>
                  <a:rPr lang="en-US"/>
                  <a:t>-	nonvibratory motion</a:t>
                </a:r>
              </a:p>
            </p:txBody>
          </p:sp>
        </p:grpSp>
      </p:grpSp>
      <p:grpSp>
        <p:nvGrpSpPr>
          <p:cNvPr id="6" name="Group 27"/>
          <p:cNvGrpSpPr>
            <a:grpSpLocks/>
          </p:cNvGrpSpPr>
          <p:nvPr/>
        </p:nvGrpSpPr>
        <p:grpSpPr bwMode="auto">
          <a:xfrm>
            <a:off x="3633788" y="3571875"/>
            <a:ext cx="5249862" cy="1117600"/>
            <a:chOff x="2289" y="2394"/>
            <a:chExt cx="3307" cy="704"/>
          </a:xfrm>
        </p:grpSpPr>
        <p:sp>
          <p:nvSpPr>
            <p:cNvPr id="37904" name="Text Box 18"/>
            <p:cNvSpPr txBox="1">
              <a:spLocks noChangeArrowheads="1"/>
            </p:cNvSpPr>
            <p:nvPr/>
          </p:nvSpPr>
          <p:spPr bwMode="auto">
            <a:xfrm>
              <a:off x="2289" y="2394"/>
              <a:ext cx="1997"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i="1"/>
                <a:t>Critical damping</a:t>
              </a:r>
              <a:r>
                <a:rPr lang="en-US"/>
                <a:t>:  </a:t>
              </a:r>
              <a:r>
                <a:rPr lang="en-US" i="1"/>
                <a:t>c = c</a:t>
              </a:r>
              <a:r>
                <a:rPr lang="en-US" i="1" baseline="-25000"/>
                <a:t>c</a:t>
              </a:r>
              <a:endParaRPr lang="en-US" i="1"/>
            </a:p>
          </p:txBody>
        </p:sp>
        <p:grpSp>
          <p:nvGrpSpPr>
            <p:cNvPr id="37905" name="Group 25"/>
            <p:cNvGrpSpPr>
              <a:grpSpLocks/>
            </p:cNvGrpSpPr>
            <p:nvPr/>
          </p:nvGrpSpPr>
          <p:grpSpPr bwMode="auto">
            <a:xfrm>
              <a:off x="2493" y="2637"/>
              <a:ext cx="3103" cy="461"/>
              <a:chOff x="2493" y="2672"/>
              <a:chExt cx="3103" cy="461"/>
            </a:xfrm>
          </p:grpSpPr>
          <p:graphicFrame>
            <p:nvGraphicFramePr>
              <p:cNvPr id="37906" name="Object 4"/>
              <p:cNvGraphicFramePr>
                <a:graphicFrameLocks noChangeAspect="1"/>
              </p:cNvGraphicFramePr>
              <p:nvPr/>
            </p:nvGraphicFramePr>
            <p:xfrm>
              <a:off x="2493" y="2672"/>
              <a:ext cx="1272" cy="248"/>
            </p:xfrm>
            <a:graphic>
              <a:graphicData uri="http://schemas.openxmlformats.org/presentationml/2006/ole">
                <p:oleObj spid="_x0000_s11269" name="Equation" r:id="rId6" imgW="2019300" imgH="393700" progId="Equation.3">
                  <p:embed/>
                </p:oleObj>
              </a:graphicData>
            </a:graphic>
          </p:graphicFrame>
          <p:sp>
            <p:nvSpPr>
              <p:cNvPr id="37907" name="Text Box 23"/>
              <p:cNvSpPr txBox="1">
                <a:spLocks noChangeArrowheads="1"/>
              </p:cNvSpPr>
              <p:nvPr/>
            </p:nvSpPr>
            <p:spPr bwMode="auto">
              <a:xfrm>
                <a:off x="3996" y="2691"/>
                <a:ext cx="1600" cy="4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r>
                  <a:rPr lang="en-US"/>
                  <a:t>-	double roots </a:t>
                </a:r>
              </a:p>
              <a:p>
                <a:pPr eaLnBrk="1" hangingPunct="1"/>
                <a:r>
                  <a:rPr lang="en-US"/>
                  <a:t>-	nonvibratory motion</a:t>
                </a:r>
              </a:p>
            </p:txBody>
          </p:sp>
        </p:grpSp>
      </p:grpSp>
      <p:grpSp>
        <p:nvGrpSpPr>
          <p:cNvPr id="8" name="Group 34"/>
          <p:cNvGrpSpPr>
            <a:grpSpLocks/>
          </p:cNvGrpSpPr>
          <p:nvPr/>
        </p:nvGrpSpPr>
        <p:grpSpPr bwMode="auto">
          <a:xfrm>
            <a:off x="306388" y="1603375"/>
            <a:ext cx="8088312" cy="4881563"/>
            <a:chOff x="193" y="1010"/>
            <a:chExt cx="5095" cy="3075"/>
          </a:xfrm>
        </p:grpSpPr>
        <p:pic>
          <p:nvPicPr>
            <p:cNvPr id="37896" name="Picture 4" descr="C:\DOCUME~1\WALTOL~1\LOCALS~1\Temp\\msotw9_temp0.jpg"/>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193" y="1010"/>
              <a:ext cx="2107" cy="1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37897" name="Group 33"/>
            <p:cNvGrpSpPr>
              <a:grpSpLocks/>
            </p:cNvGrpSpPr>
            <p:nvPr/>
          </p:nvGrpSpPr>
          <p:grpSpPr bwMode="auto">
            <a:xfrm>
              <a:off x="2289" y="2969"/>
              <a:ext cx="2999" cy="1116"/>
              <a:chOff x="2289" y="2969"/>
              <a:chExt cx="2999" cy="1116"/>
            </a:xfrm>
          </p:grpSpPr>
          <p:grpSp>
            <p:nvGrpSpPr>
              <p:cNvPr id="37898" name="Group 29"/>
              <p:cNvGrpSpPr>
                <a:grpSpLocks/>
              </p:cNvGrpSpPr>
              <p:nvPr/>
            </p:nvGrpSpPr>
            <p:grpSpPr bwMode="auto">
              <a:xfrm>
                <a:off x="2289" y="2969"/>
                <a:ext cx="2628" cy="537"/>
                <a:chOff x="2289" y="3149"/>
                <a:chExt cx="2628" cy="537"/>
              </a:xfrm>
            </p:grpSpPr>
            <p:sp>
              <p:nvSpPr>
                <p:cNvPr id="37902" name="Text Box 20"/>
                <p:cNvSpPr txBox="1">
                  <a:spLocks noChangeArrowheads="1"/>
                </p:cNvSpPr>
                <p:nvPr/>
              </p:nvSpPr>
              <p:spPr bwMode="auto">
                <a:xfrm>
                  <a:off x="2289" y="3149"/>
                  <a:ext cx="181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27013" indent="-227013"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buFontTx/>
                    <a:buChar char="•"/>
                  </a:pPr>
                  <a:r>
                    <a:rPr lang="en-US" i="1"/>
                    <a:t>Light damping</a:t>
                  </a:r>
                  <a:r>
                    <a:rPr lang="en-US"/>
                    <a:t>:  </a:t>
                  </a:r>
                  <a:r>
                    <a:rPr lang="en-US" i="1"/>
                    <a:t>c &lt; c</a:t>
                  </a:r>
                  <a:r>
                    <a:rPr lang="en-US" i="1" baseline="-25000"/>
                    <a:t>c</a:t>
                  </a:r>
                  <a:endParaRPr lang="en-US"/>
                </a:p>
              </p:txBody>
            </p:sp>
            <p:graphicFrame>
              <p:nvGraphicFramePr>
                <p:cNvPr id="37903" name="Object 3"/>
                <p:cNvGraphicFramePr>
                  <a:graphicFrameLocks noChangeAspect="1"/>
                </p:cNvGraphicFramePr>
                <p:nvPr/>
              </p:nvGraphicFramePr>
              <p:xfrm>
                <a:off x="2493" y="3430"/>
                <a:ext cx="2424" cy="256"/>
              </p:xfrm>
              <a:graphic>
                <a:graphicData uri="http://schemas.openxmlformats.org/presentationml/2006/ole">
                  <p:oleObj spid="_x0000_s11270" name="Equation" r:id="rId8" imgW="3848100" imgH="406400" progId="Equation.3">
                    <p:embed/>
                  </p:oleObj>
                </a:graphicData>
              </a:graphic>
            </p:graphicFrame>
          </p:grpSp>
          <p:grpSp>
            <p:nvGrpSpPr>
              <p:cNvPr id="37899" name="Group 32"/>
              <p:cNvGrpSpPr>
                <a:grpSpLocks/>
              </p:cNvGrpSpPr>
              <p:nvPr/>
            </p:nvGrpSpPr>
            <p:grpSpPr bwMode="auto">
              <a:xfrm>
                <a:off x="2489" y="3541"/>
                <a:ext cx="2799" cy="544"/>
                <a:chOff x="2489" y="3541"/>
                <a:chExt cx="2799" cy="544"/>
              </a:xfrm>
            </p:grpSpPr>
            <p:graphicFrame>
              <p:nvGraphicFramePr>
                <p:cNvPr id="37900" name="Object 2"/>
                <p:cNvGraphicFramePr>
                  <a:graphicFrameLocks noChangeAspect="1"/>
                </p:cNvGraphicFramePr>
                <p:nvPr/>
              </p:nvGraphicFramePr>
              <p:xfrm>
                <a:off x="2489" y="3541"/>
                <a:ext cx="1440" cy="544"/>
              </p:xfrm>
              <a:graphic>
                <a:graphicData uri="http://schemas.openxmlformats.org/presentationml/2006/ole">
                  <p:oleObj spid="_x0000_s11271" name="Equation" r:id="rId9" imgW="2286000" imgH="863600" progId="Equation.3">
                    <p:embed/>
                  </p:oleObj>
                </a:graphicData>
              </a:graphic>
            </p:graphicFrame>
            <p:sp>
              <p:nvSpPr>
                <p:cNvPr id="37901" name="Text Box 31"/>
                <p:cNvSpPr txBox="1">
                  <a:spLocks noChangeArrowheads="1"/>
                </p:cNvSpPr>
                <p:nvPr/>
              </p:nvSpPr>
              <p:spPr bwMode="auto">
                <a:xfrm>
                  <a:off x="3912" y="3702"/>
                  <a:ext cx="137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ea typeface="ＭＳ Ｐゴシック" pitchFamily="34" charset="-128"/>
                    </a:defRPr>
                  </a:lvl1pPr>
                  <a:lvl2pPr marL="742950" indent="-285750" eaLnBrk="0" hangingPunct="0">
                    <a:defRPr sz="2000">
                      <a:solidFill>
                        <a:schemeClr val="tx1"/>
                      </a:solidFill>
                      <a:latin typeface="Times New Roman" pitchFamily="18" charset="0"/>
                      <a:ea typeface="ＭＳ Ｐゴシック" pitchFamily="34" charset="-128"/>
                    </a:defRPr>
                  </a:lvl2pPr>
                  <a:lvl3pPr marL="1143000" indent="-228600" eaLnBrk="0" hangingPunct="0">
                    <a:defRPr sz="2000">
                      <a:solidFill>
                        <a:schemeClr val="tx1"/>
                      </a:solidFill>
                      <a:latin typeface="Times New Roman" pitchFamily="18" charset="0"/>
                      <a:ea typeface="ＭＳ Ｐゴシック" pitchFamily="34" charset="-128"/>
                    </a:defRPr>
                  </a:lvl3pPr>
                  <a:lvl4pPr marL="1600200" indent="-228600" eaLnBrk="0" hangingPunct="0">
                    <a:defRPr sz="2000">
                      <a:solidFill>
                        <a:schemeClr val="tx1"/>
                      </a:solidFill>
                      <a:latin typeface="Times New Roman" pitchFamily="18" charset="0"/>
                      <a:ea typeface="ＭＳ Ｐゴシック" pitchFamily="34" charset="-128"/>
                    </a:defRPr>
                  </a:lvl4pPr>
                  <a:lvl5pPr marL="2057400" indent="-228600" eaLnBrk="0" hangingPunct="0">
                    <a:defRPr sz="20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a:solidFill>
                        <a:schemeClr val="tx1"/>
                      </a:solidFill>
                      <a:latin typeface="Times New Roman" pitchFamily="18" charset="0"/>
                      <a:ea typeface="ＭＳ Ｐゴシック" pitchFamily="34" charset="-128"/>
                    </a:defRPr>
                  </a:lvl9pPr>
                </a:lstStyle>
                <a:p>
                  <a:pPr eaLnBrk="1" hangingPunct="1">
                    <a:spcBef>
                      <a:spcPct val="50000"/>
                    </a:spcBef>
                  </a:pPr>
                  <a:r>
                    <a:rPr lang="en-US"/>
                    <a:t>damped frequency</a:t>
                  </a:r>
                </a:p>
              </p:txBody>
            </p:sp>
          </p:grpSp>
        </p:grpSp>
      </p:grpSp>
    </p:spTree>
    <p:extLst>
      <p:ext uri="{BB962C8B-B14F-4D97-AF65-F5344CB8AC3E}">
        <p14:creationId xmlns="" xmlns:p14="http://schemas.microsoft.com/office/powerpoint/2010/main" val="6733499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1182</Words>
  <Application>Microsoft Office PowerPoint</Application>
  <PresentationFormat>On-screen Show (4:3)</PresentationFormat>
  <Paragraphs>125</Paragraphs>
  <Slides>27</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27</vt:i4>
      </vt:variant>
    </vt:vector>
  </HeadingPairs>
  <TitlesOfParts>
    <vt:vector size="30" baseType="lpstr">
      <vt:lpstr>Office Theme</vt:lpstr>
      <vt:lpstr>Equation</vt:lpstr>
      <vt:lpstr>Bitmap Image</vt:lpstr>
      <vt:lpstr>Slide 1</vt:lpstr>
      <vt:lpstr>Slide 2</vt:lpstr>
      <vt:lpstr>Slide 3</vt:lpstr>
      <vt:lpstr>Introduction</vt:lpstr>
      <vt:lpstr>PARTS OF VIBRATING SYSTEM</vt:lpstr>
      <vt:lpstr>Slide 6</vt:lpstr>
      <vt:lpstr>Slide 7</vt:lpstr>
      <vt:lpstr>Slide 8</vt:lpstr>
      <vt:lpstr>Slide 9</vt:lpstr>
      <vt:lpstr>Slide 10</vt:lpstr>
      <vt:lpstr>Slide 11</vt:lpstr>
      <vt:lpstr>Slide 12</vt:lpstr>
      <vt:lpstr>Slide 13</vt:lpstr>
      <vt:lpstr>Slide 14</vt:lpstr>
      <vt:lpstr>Slide 15</vt:lpstr>
      <vt:lpstr>Slide 16</vt:lpstr>
      <vt:lpstr>Free vibrations – Simple Harmonic motion  </vt:lpstr>
      <vt:lpstr> </vt:lpstr>
      <vt:lpstr>Free Vibrations of Particles.  Simple Harmonic Motion</vt:lpstr>
      <vt:lpstr>Simple Pendulum (Approximate Solution)</vt:lpstr>
      <vt:lpstr>Simple Pendulum (Exact Solution)</vt:lpstr>
      <vt:lpstr>Sample Problem </vt:lpstr>
      <vt:lpstr>Sample Problem </vt:lpstr>
      <vt:lpstr>Principle of Conservation of Energy</vt:lpstr>
      <vt:lpstr>Forced Vibration..(Introduction)</vt:lpstr>
      <vt:lpstr>Damped Free Vibrations</vt:lpstr>
      <vt:lpstr>Damped Free Vibrations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 pc</dc:creator>
  <cp:lastModifiedBy>AKR</cp:lastModifiedBy>
  <cp:revision>38</cp:revision>
  <dcterms:created xsi:type="dcterms:W3CDTF">2018-10-11T13:06:28Z</dcterms:created>
  <dcterms:modified xsi:type="dcterms:W3CDTF">2020-04-09T04:40:38Z</dcterms:modified>
</cp:coreProperties>
</file>