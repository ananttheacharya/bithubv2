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Default Extension="bin" ContentType="application/vnd.openxmlformats-officedocument.oleObject"/>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67" r:id="rId3"/>
    <p:sldId id="257" r:id="rId4"/>
    <p:sldId id="269" r:id="rId5"/>
    <p:sldId id="266" r:id="rId6"/>
    <p:sldId id="276" r:id="rId7"/>
    <p:sldId id="277" r:id="rId8"/>
    <p:sldId id="294" r:id="rId9"/>
    <p:sldId id="278" r:id="rId10"/>
    <p:sldId id="279" r:id="rId11"/>
    <p:sldId id="280" r:id="rId12"/>
    <p:sldId id="289" r:id="rId13"/>
    <p:sldId id="293" r:id="rId14"/>
    <p:sldId id="286" r:id="rId15"/>
    <p:sldId id="295" r:id="rId16"/>
    <p:sldId id="311" r:id="rId17"/>
    <p:sldId id="312"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 Id="rId4" Type="http://schemas.openxmlformats.org/officeDocument/2006/relationships/image" Target="../media/image28.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309C05-B3AC-4830-8926-D91C4DD49F5B}" type="datetimeFigureOut">
              <a:rPr lang="en-IN" smtClean="0"/>
              <a:pPr/>
              <a:t>09-04-2020</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965B776-B3DE-46BD-B69C-111064874DD4}" type="slidenum">
              <a:rPr lang="en-IN" smtClean="0"/>
              <a:pPr/>
              <a:t>‹#›</a:t>
            </a:fld>
            <a:endParaRPr lang="en-IN"/>
          </a:p>
        </p:txBody>
      </p:sp>
    </p:spTree>
    <p:extLst>
      <p:ext uri="{BB962C8B-B14F-4D97-AF65-F5344CB8AC3E}">
        <p14:creationId xmlns="" xmlns:p14="http://schemas.microsoft.com/office/powerpoint/2010/main" val="224896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965B776-B3DE-46BD-B69C-111064874DD4}" type="slidenum">
              <a:rPr lang="en-IN" smtClean="0"/>
              <a:pPr/>
              <a:t>3</a:t>
            </a:fld>
            <a:endParaRPr lang="en-IN"/>
          </a:p>
        </p:txBody>
      </p:sp>
    </p:spTree>
    <p:extLst>
      <p:ext uri="{BB962C8B-B14F-4D97-AF65-F5344CB8AC3E}">
        <p14:creationId xmlns="" xmlns:p14="http://schemas.microsoft.com/office/powerpoint/2010/main" val="12476158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a:t>
            </a:r>
            <a:r>
              <a:rPr lang="en-US" baseline="0" smtClean="0"/>
              <a:t> simpler way of saying this </a:t>
            </a:r>
            <a:r>
              <a:rPr lang="en-US" baseline="0" smtClean="0">
                <a:sym typeface="Wingdings" pitchFamily="2" charset="2"/>
              </a:rPr>
              <a:t> rb/a = constant (since it is a rigid body)</a:t>
            </a:r>
            <a:endParaRPr lang="en-US"/>
          </a:p>
        </p:txBody>
      </p:sp>
      <p:sp>
        <p:nvSpPr>
          <p:cNvPr id="4" name="Slide Number Placeholder 3"/>
          <p:cNvSpPr>
            <a:spLocks noGrp="1"/>
          </p:cNvSpPr>
          <p:nvPr>
            <p:ph type="sldNum" sz="quarter" idx="10"/>
          </p:nvPr>
        </p:nvSpPr>
        <p:spPr/>
        <p:txBody>
          <a:bodyPr/>
          <a:lstStyle/>
          <a:p>
            <a:fld id="{7893F5CE-A152-47FF-851E-436B45ACA8DE}" type="slidenum">
              <a:rPr lang="en-US" smtClean="0"/>
              <a:pPr/>
              <a:t>4</a:t>
            </a:fld>
            <a:endParaRPr lang="en-US"/>
          </a:p>
        </p:txBody>
      </p:sp>
    </p:spTree>
    <p:extLst>
      <p:ext uri="{BB962C8B-B14F-4D97-AF65-F5344CB8AC3E}">
        <p14:creationId xmlns="" xmlns:p14="http://schemas.microsoft.com/office/powerpoint/2010/main" val="3356216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Rot="1" noChangeAspect="1" noChangeArrowheads="1" noTextEdit="1"/>
          </p:cNvSpPr>
          <p:nvPr>
            <p:ph type="sldImg"/>
          </p:nvPr>
        </p:nvSpPr>
        <p:spPr>
          <a:ln/>
        </p:spPr>
      </p:sp>
      <p:sp>
        <p:nvSpPr>
          <p:cNvPr id="263171"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Rot="1" noChangeAspect="1" noChangeArrowheads="1" noTextEdit="1"/>
          </p:cNvSpPr>
          <p:nvPr>
            <p:ph type="sldImg"/>
          </p:nvPr>
        </p:nvSpPr>
        <p:spPr>
          <a:ln/>
        </p:spPr>
      </p:sp>
      <p:sp>
        <p:nvSpPr>
          <p:cNvPr id="265219"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p:cNvSpPr>
            <a:spLocks noGrp="1" noRot="1" noChangeAspect="1" noChangeArrowheads="1" noTextEdit="1"/>
          </p:cNvSpPr>
          <p:nvPr>
            <p:ph type="sldImg"/>
          </p:nvPr>
        </p:nvSpPr>
        <p:spPr>
          <a:ln/>
        </p:spPr>
      </p:sp>
      <p:sp>
        <p:nvSpPr>
          <p:cNvPr id="267267"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Rot="1" noChangeAspect="1" noChangeArrowheads="1" noTextEdit="1"/>
          </p:cNvSpPr>
          <p:nvPr>
            <p:ph type="sldImg"/>
          </p:nvPr>
        </p:nvSpPr>
        <p:spPr>
          <a:ln/>
        </p:spPr>
      </p:sp>
      <p:sp>
        <p:nvSpPr>
          <p:cNvPr id="269315"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Rot="1" noChangeAspect="1" noChangeArrowheads="1" noTextEdit="1"/>
          </p:cNvSpPr>
          <p:nvPr>
            <p:ph type="sldImg"/>
          </p:nvPr>
        </p:nvSpPr>
        <p:spPr>
          <a:ln/>
        </p:spPr>
      </p:sp>
      <p:sp>
        <p:nvSpPr>
          <p:cNvPr id="283651"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Rot="1" noChangeAspect="1" noChangeArrowheads="1" noTextEdit="1"/>
          </p:cNvSpPr>
          <p:nvPr>
            <p:ph type="sldImg"/>
          </p:nvPr>
        </p:nvSpPr>
        <p:spPr>
          <a:ln/>
        </p:spPr>
      </p:sp>
      <p:sp>
        <p:nvSpPr>
          <p:cNvPr id="271363"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Rot="1" noChangeAspect="1" noChangeArrowheads="1" noTextEdit="1"/>
          </p:cNvSpPr>
          <p:nvPr>
            <p:ph type="sldImg"/>
          </p:nvPr>
        </p:nvSpPr>
        <p:spPr>
          <a:ln/>
        </p:spPr>
      </p:sp>
      <p:sp>
        <p:nvSpPr>
          <p:cNvPr id="273411"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Rot="1" noChangeAspect="1" noChangeArrowheads="1" noTextEdit="1"/>
          </p:cNvSpPr>
          <p:nvPr>
            <p:ph type="sldImg"/>
          </p:nvPr>
        </p:nvSpPr>
        <p:spPr>
          <a:ln/>
        </p:spPr>
      </p:sp>
      <p:sp>
        <p:nvSpPr>
          <p:cNvPr id="275459" name="Rectangle 3"/>
          <p:cNvSpPr>
            <a:spLocks noGrp="1" noChangeArrowheads="1"/>
          </p:cNvSpPr>
          <p:nvPr>
            <p:ph type="body" idx="1"/>
          </p:nvPr>
        </p:nvSpPr>
        <p:spPr>
          <a:xfrm>
            <a:off x="914400" y="4343400"/>
            <a:ext cx="50292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42582C9-77B4-4DEB-A567-1A90FE2B6353}" type="datetimeFigureOut">
              <a:rPr lang="en-IN" smtClean="0"/>
              <a:pPr/>
              <a:t>09-04-2020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AB16CC-CA12-4F89-A03B-5922F8426CD0}" type="slidenum">
              <a:rPr lang="en-IN" smtClean="0"/>
              <a:pPr/>
              <a:t>‹#›</a:t>
            </a:fld>
            <a:endParaRPr lang="en-IN"/>
          </a:p>
        </p:txBody>
      </p:sp>
    </p:spTree>
    <p:extLst>
      <p:ext uri="{BB962C8B-B14F-4D97-AF65-F5344CB8AC3E}">
        <p14:creationId xmlns="" xmlns:p14="http://schemas.microsoft.com/office/powerpoint/2010/main" val="909937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42582C9-77B4-4DEB-A567-1A90FE2B6353}" type="datetimeFigureOut">
              <a:rPr lang="en-IN" smtClean="0"/>
              <a:pPr/>
              <a:t>09-04-2020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AB16CC-CA12-4F89-A03B-5922F8426CD0}" type="slidenum">
              <a:rPr lang="en-IN" smtClean="0"/>
              <a:pPr/>
              <a:t>‹#›</a:t>
            </a:fld>
            <a:endParaRPr lang="en-IN"/>
          </a:p>
        </p:txBody>
      </p:sp>
    </p:spTree>
    <p:extLst>
      <p:ext uri="{BB962C8B-B14F-4D97-AF65-F5344CB8AC3E}">
        <p14:creationId xmlns="" xmlns:p14="http://schemas.microsoft.com/office/powerpoint/2010/main" val="685975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2582C9-77B4-4DEB-A567-1A90FE2B6353}" type="datetimeFigureOut">
              <a:rPr lang="en-IN" smtClean="0"/>
              <a:pPr/>
              <a:t>09-04-2020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AB16CC-CA12-4F89-A03B-5922F8426CD0}" type="slidenum">
              <a:rPr lang="en-IN" smtClean="0"/>
              <a:pPr/>
              <a:t>‹#›</a:t>
            </a:fld>
            <a:endParaRPr lang="en-IN"/>
          </a:p>
        </p:txBody>
      </p:sp>
    </p:spTree>
    <p:extLst>
      <p:ext uri="{BB962C8B-B14F-4D97-AF65-F5344CB8AC3E}">
        <p14:creationId xmlns="" xmlns:p14="http://schemas.microsoft.com/office/powerpoint/2010/main" val="1300201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42582C9-77B4-4DEB-A567-1A90FE2B6353}" type="datetimeFigureOut">
              <a:rPr lang="en-IN" smtClean="0"/>
              <a:pPr/>
              <a:t>09-04-2020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AB16CC-CA12-4F89-A03B-5922F8426CD0}" type="slidenum">
              <a:rPr lang="en-IN" smtClean="0"/>
              <a:pPr/>
              <a:t>‹#›</a:t>
            </a:fld>
            <a:endParaRPr lang="en-IN"/>
          </a:p>
        </p:txBody>
      </p:sp>
    </p:spTree>
    <p:extLst>
      <p:ext uri="{BB962C8B-B14F-4D97-AF65-F5344CB8AC3E}">
        <p14:creationId xmlns="" xmlns:p14="http://schemas.microsoft.com/office/powerpoint/2010/main" val="568901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42582C9-77B4-4DEB-A567-1A90FE2B6353}" type="datetimeFigureOut">
              <a:rPr lang="en-IN" smtClean="0"/>
              <a:pPr/>
              <a:t>09-04-2020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3AB16CC-CA12-4F89-A03B-5922F8426CD0}" type="slidenum">
              <a:rPr lang="en-IN" smtClean="0"/>
              <a:pPr/>
              <a:t>‹#›</a:t>
            </a:fld>
            <a:endParaRPr lang="en-IN"/>
          </a:p>
        </p:txBody>
      </p:sp>
    </p:spTree>
    <p:extLst>
      <p:ext uri="{BB962C8B-B14F-4D97-AF65-F5344CB8AC3E}">
        <p14:creationId xmlns="" xmlns:p14="http://schemas.microsoft.com/office/powerpoint/2010/main" val="3603102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42582C9-77B4-4DEB-A567-1A90FE2B6353}" type="datetimeFigureOut">
              <a:rPr lang="en-IN" smtClean="0"/>
              <a:pPr/>
              <a:t>09-04-2020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3AB16CC-CA12-4F89-A03B-5922F8426CD0}" type="slidenum">
              <a:rPr lang="en-IN" smtClean="0"/>
              <a:pPr/>
              <a:t>‹#›</a:t>
            </a:fld>
            <a:endParaRPr lang="en-IN"/>
          </a:p>
        </p:txBody>
      </p:sp>
    </p:spTree>
    <p:extLst>
      <p:ext uri="{BB962C8B-B14F-4D97-AF65-F5344CB8AC3E}">
        <p14:creationId xmlns="" xmlns:p14="http://schemas.microsoft.com/office/powerpoint/2010/main" val="3252523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2582C9-77B4-4DEB-A567-1A90FE2B6353}" type="datetimeFigureOut">
              <a:rPr lang="en-IN" smtClean="0"/>
              <a:pPr/>
              <a:t>09-04-2020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3AB16CC-CA12-4F89-A03B-5922F8426CD0}" type="slidenum">
              <a:rPr lang="en-IN" smtClean="0"/>
              <a:pPr/>
              <a:t>‹#›</a:t>
            </a:fld>
            <a:endParaRPr lang="en-IN"/>
          </a:p>
        </p:txBody>
      </p:sp>
    </p:spTree>
    <p:extLst>
      <p:ext uri="{BB962C8B-B14F-4D97-AF65-F5344CB8AC3E}">
        <p14:creationId xmlns="" xmlns:p14="http://schemas.microsoft.com/office/powerpoint/2010/main" val="3989329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2582C9-77B4-4DEB-A567-1A90FE2B6353}" type="datetimeFigureOut">
              <a:rPr lang="en-IN" smtClean="0"/>
              <a:pPr/>
              <a:t>09-04-2020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AB16CC-CA12-4F89-A03B-5922F8426CD0}" type="slidenum">
              <a:rPr lang="en-IN" smtClean="0"/>
              <a:pPr/>
              <a:t>‹#›</a:t>
            </a:fld>
            <a:endParaRPr lang="en-IN"/>
          </a:p>
        </p:txBody>
      </p:sp>
    </p:spTree>
    <p:extLst>
      <p:ext uri="{BB962C8B-B14F-4D97-AF65-F5344CB8AC3E}">
        <p14:creationId xmlns="" xmlns:p14="http://schemas.microsoft.com/office/powerpoint/2010/main" val="3258410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2582C9-77B4-4DEB-A567-1A90FE2B6353}" type="datetimeFigureOut">
              <a:rPr lang="en-IN" smtClean="0"/>
              <a:pPr/>
              <a:t>09-04-2020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AB16CC-CA12-4F89-A03B-5922F8426CD0}" type="slidenum">
              <a:rPr lang="en-IN" smtClean="0"/>
              <a:pPr/>
              <a:t>‹#›</a:t>
            </a:fld>
            <a:endParaRPr lang="en-IN"/>
          </a:p>
        </p:txBody>
      </p:sp>
    </p:spTree>
    <p:extLst>
      <p:ext uri="{BB962C8B-B14F-4D97-AF65-F5344CB8AC3E}">
        <p14:creationId xmlns="" xmlns:p14="http://schemas.microsoft.com/office/powerpoint/2010/main" val="3033347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42582C9-77B4-4DEB-A567-1A90FE2B6353}" type="datetimeFigureOut">
              <a:rPr lang="en-IN" smtClean="0"/>
              <a:pPr/>
              <a:t>09-04-2020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AB16CC-CA12-4F89-A03B-5922F8426CD0}" type="slidenum">
              <a:rPr lang="en-IN" smtClean="0"/>
              <a:pPr/>
              <a:t>‹#›</a:t>
            </a:fld>
            <a:endParaRPr lang="en-IN"/>
          </a:p>
        </p:txBody>
      </p:sp>
    </p:spTree>
    <p:extLst>
      <p:ext uri="{BB962C8B-B14F-4D97-AF65-F5344CB8AC3E}">
        <p14:creationId xmlns="" xmlns:p14="http://schemas.microsoft.com/office/powerpoint/2010/main" val="2909667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42582C9-77B4-4DEB-A567-1A90FE2B6353}" type="datetimeFigureOut">
              <a:rPr lang="en-IN" smtClean="0"/>
              <a:pPr/>
              <a:t>09-04-2020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AB16CC-CA12-4F89-A03B-5922F8426CD0}" type="slidenum">
              <a:rPr lang="en-IN" smtClean="0"/>
              <a:pPr/>
              <a:t>‹#›</a:t>
            </a:fld>
            <a:endParaRPr lang="en-IN"/>
          </a:p>
        </p:txBody>
      </p:sp>
    </p:spTree>
    <p:extLst>
      <p:ext uri="{BB962C8B-B14F-4D97-AF65-F5344CB8AC3E}">
        <p14:creationId xmlns="" xmlns:p14="http://schemas.microsoft.com/office/powerpoint/2010/main" val="4254516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2582C9-77B4-4DEB-A567-1A90FE2B6353}" type="datetimeFigureOut">
              <a:rPr lang="en-IN" smtClean="0"/>
              <a:pPr/>
              <a:t>09-04-2020</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AB16CC-CA12-4F89-A03B-5922F8426CD0}" type="slidenum">
              <a:rPr lang="en-IN" smtClean="0"/>
              <a:pPr/>
              <a:t>‹#›</a:t>
            </a:fld>
            <a:endParaRPr lang="en-IN"/>
          </a:p>
        </p:txBody>
      </p:sp>
    </p:spTree>
    <p:extLst>
      <p:ext uri="{BB962C8B-B14F-4D97-AF65-F5344CB8AC3E}">
        <p14:creationId xmlns="" xmlns:p14="http://schemas.microsoft.com/office/powerpoint/2010/main" val="5220155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2.xml"/><Relationship Id="rId7"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6.jpeg"/><Relationship Id="rId4" Type="http://schemas.openxmlformats.org/officeDocument/2006/relationships/image" Target="../media/image2.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oleObject" Target="../embeddings/oleObject5.bin"/><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13.jpeg"/><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notesSlide" Target="../notesSlides/notesSlide4.xml"/><Relationship Id="rId7" Type="http://schemas.openxmlformats.org/officeDocument/2006/relationships/oleObject" Target="../embeddings/oleObject7.bin"/><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image" Target="../media/image18.jpeg"/><Relationship Id="rId5" Type="http://schemas.openxmlformats.org/officeDocument/2006/relationships/oleObject" Target="../embeddings/oleObject6.bin"/><Relationship Id="rId4" Type="http://schemas.openxmlformats.org/officeDocument/2006/relationships/image" Target="../media/image17.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oleObject" Target="../embeddings/oleObject10.bin"/><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oleObject" Target="../embeddings/oleObject9.bin"/><Relationship Id="rId5" Type="http://schemas.openxmlformats.org/officeDocument/2006/relationships/image" Target="../media/image22.jpeg"/><Relationship Id="rId4" Type="http://schemas.openxmlformats.org/officeDocument/2006/relationships/image" Target="../media/image21.jpeg"/></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24.jpeg"/></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notesSlide" Target="../notesSlides/notesSlide7.xml"/><Relationship Id="rId7" Type="http://schemas.openxmlformats.org/officeDocument/2006/relationships/oleObject" Target="../embeddings/oleObject13.bin"/><Relationship Id="rId2" Type="http://schemas.openxmlformats.org/officeDocument/2006/relationships/slideLayout" Target="../slideLayouts/slideLayout6.xml"/><Relationship Id="rId1" Type="http://schemas.openxmlformats.org/officeDocument/2006/relationships/vmlDrawing" Target="../drawings/vmlDrawing5.vml"/><Relationship Id="rId6" Type="http://schemas.openxmlformats.org/officeDocument/2006/relationships/oleObject" Target="../embeddings/oleObject12.bin"/><Relationship Id="rId5" Type="http://schemas.openxmlformats.org/officeDocument/2006/relationships/oleObject" Target="../embeddings/oleObject11.bin"/><Relationship Id="rId4" Type="http://schemas.openxmlformats.org/officeDocument/2006/relationships/image" Target="../media/image2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31.jpeg"/></Relationships>
</file>

<file path=ppt/slides/_rels/slide1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33.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37.jpeg"/><Relationship Id="rId2" Type="http://schemas.openxmlformats.org/officeDocument/2006/relationships/slideLayout" Target="../slideLayouts/slideLayout6.xml"/><Relationship Id="rId1" Type="http://schemas.openxmlformats.org/officeDocument/2006/relationships/vmlDrawing" Target="../drawings/vmlDrawing6.vml"/><Relationship Id="rId6" Type="http://schemas.openxmlformats.org/officeDocument/2006/relationships/oleObject" Target="../embeddings/oleObject16.bin"/><Relationship Id="rId5" Type="http://schemas.openxmlformats.org/officeDocument/2006/relationships/oleObject" Target="../embeddings/oleObject15.bin"/><Relationship Id="rId4" Type="http://schemas.openxmlformats.org/officeDocument/2006/relationships/image" Target="../media/image3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9592" y="1124744"/>
            <a:ext cx="7704856" cy="1512167"/>
          </a:xfrm>
        </p:spPr>
        <p:txBody>
          <a:bodyPr/>
          <a:lstStyle/>
          <a:p>
            <a:r>
              <a:rPr lang="en-IN" dirty="0" smtClean="0"/>
              <a:t>KINEMATICS AND KINETIC OF RIGID BODIES</a:t>
            </a:r>
            <a:endParaRPr lang="en-IN" dirty="0"/>
          </a:p>
        </p:txBody>
      </p:sp>
      <p:sp>
        <p:nvSpPr>
          <p:cNvPr id="3" name="Subtitle 2"/>
          <p:cNvSpPr>
            <a:spLocks noGrp="1"/>
          </p:cNvSpPr>
          <p:nvPr>
            <p:ph type="subTitle" idx="1"/>
          </p:nvPr>
        </p:nvSpPr>
        <p:spPr>
          <a:xfrm>
            <a:off x="1547664" y="3861048"/>
            <a:ext cx="6400800" cy="1752600"/>
          </a:xfrm>
        </p:spPr>
        <p:txBody>
          <a:bodyPr/>
          <a:lstStyle/>
          <a:p>
            <a:r>
              <a:rPr lang="en-IN" dirty="0" smtClean="0"/>
              <a:t>	</a:t>
            </a:r>
            <a:endParaRPr lang="en-IN" dirty="0"/>
          </a:p>
        </p:txBody>
      </p:sp>
    </p:spTree>
    <p:extLst>
      <p:ext uri="{BB962C8B-B14F-4D97-AF65-F5344CB8AC3E}">
        <p14:creationId xmlns="" xmlns:p14="http://schemas.microsoft.com/office/powerpoint/2010/main" val="41371973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IN" dirty="0" smtClean="0"/>
              <a:t>WHICH TYPE OF OBJECT IS CONSIDRED AS A RIGID BODY?</a:t>
            </a:r>
            <a:endParaRPr lang="en-IN" dirty="0"/>
          </a:p>
        </p:txBody>
      </p:sp>
      <p:sp>
        <p:nvSpPr>
          <p:cNvPr id="5" name="Content Placeholder 4"/>
          <p:cNvSpPr>
            <a:spLocks noGrp="1"/>
          </p:cNvSpPr>
          <p:nvPr>
            <p:ph idx="1"/>
          </p:nvPr>
        </p:nvSpPr>
        <p:spPr/>
        <p:txBody>
          <a:bodyPr/>
          <a:lstStyle/>
          <a:p>
            <a:r>
              <a:rPr lang="en-IN" dirty="0" smtClean="0"/>
              <a:t>A RIGID BODY IS ONE IN WHICH THE DISTANCE BETWEEN ANY TWO POINTS DOES NOT CHANGE DUE TO AN APPLICATION OF EXTERNAL FORCES ON IT.</a:t>
            </a:r>
          </a:p>
          <a:p>
            <a:endParaRPr lang="en-IN" dirty="0" smtClean="0"/>
          </a:p>
          <a:p>
            <a:endParaRPr lang="en-IN" dirty="0"/>
          </a:p>
        </p:txBody>
      </p:sp>
      <p:pic>
        <p:nvPicPr>
          <p:cNvPr id="2050"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259632" y="3798912"/>
            <a:ext cx="5280670" cy="2640335"/>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26295575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Types of rigid body motion</a:t>
            </a:r>
            <a:endParaRPr lang="en-IN" dirty="0"/>
          </a:p>
        </p:txBody>
      </p:sp>
      <p:sp>
        <p:nvSpPr>
          <p:cNvPr id="7" name="Content Placeholder 6"/>
          <p:cNvSpPr>
            <a:spLocks noGrp="1"/>
          </p:cNvSpPr>
          <p:nvPr>
            <p:ph idx="1"/>
          </p:nvPr>
        </p:nvSpPr>
        <p:spPr>
          <a:xfrm>
            <a:off x="251520" y="1556792"/>
            <a:ext cx="8229600" cy="4958011"/>
          </a:xfrm>
        </p:spPr>
        <p:txBody>
          <a:bodyPr/>
          <a:lstStyle/>
          <a:p>
            <a:r>
              <a:rPr lang="en-IN" dirty="0" smtClean="0"/>
              <a:t>TRANSLATION</a:t>
            </a:r>
          </a:p>
          <a:p>
            <a:pPr marL="0" indent="0">
              <a:buNone/>
            </a:pPr>
            <a:r>
              <a:rPr lang="en-IN" dirty="0" smtClean="0"/>
              <a:t>A rigid body is said to have </a:t>
            </a:r>
            <a:r>
              <a:rPr lang="en-IN" dirty="0" err="1" smtClean="0"/>
              <a:t>translatory</a:t>
            </a:r>
            <a:r>
              <a:rPr lang="en-IN" dirty="0" smtClean="0"/>
              <a:t> motion if an imaginary straight line is drawn on the body remains parallel to the original position during its motion.</a:t>
            </a:r>
          </a:p>
          <a:p>
            <a:pPr marL="0" indent="0">
              <a:buNone/>
            </a:pPr>
            <a:r>
              <a:rPr lang="en-IN" dirty="0" smtClean="0"/>
              <a:t>For example the line AB drawn</a:t>
            </a:r>
          </a:p>
          <a:p>
            <a:pPr marL="0" indent="0">
              <a:buNone/>
            </a:pPr>
            <a:r>
              <a:rPr lang="en-IN" dirty="0" smtClean="0"/>
              <a:t>Will remains as it is during </a:t>
            </a:r>
          </a:p>
          <a:p>
            <a:pPr marL="0" indent="0">
              <a:buNone/>
            </a:pPr>
            <a:r>
              <a:rPr lang="en-IN" dirty="0" smtClean="0"/>
              <a:t>Translation.</a:t>
            </a:r>
          </a:p>
          <a:p>
            <a:pPr marL="0" indent="0">
              <a:buNone/>
            </a:pPr>
            <a:endParaRPr lang="en-IN" dirty="0"/>
          </a:p>
        </p:txBody>
      </p:sp>
      <p:grpSp>
        <p:nvGrpSpPr>
          <p:cNvPr id="9" name="Group 5"/>
          <p:cNvGrpSpPr/>
          <p:nvPr/>
        </p:nvGrpSpPr>
        <p:grpSpPr>
          <a:xfrm>
            <a:off x="5508104" y="4491917"/>
            <a:ext cx="1158343" cy="1901486"/>
            <a:chOff x="5105400" y="3886200"/>
            <a:chExt cx="838200" cy="1752600"/>
          </a:xfrm>
        </p:grpSpPr>
        <p:sp>
          <p:nvSpPr>
            <p:cNvPr id="10" name="Oval 9"/>
            <p:cNvSpPr/>
            <p:nvPr/>
          </p:nvSpPr>
          <p:spPr>
            <a:xfrm>
              <a:off x="5105400" y="3886200"/>
              <a:ext cx="838200" cy="1752600"/>
            </a:xfrm>
            <a:prstGeom prst="ellipse">
              <a:avLst/>
            </a:prstGeom>
            <a:blipFill dpi="0" rotWithShape="1">
              <a:blip r:embed="rId3" cstate="print"/>
              <a:srcRect/>
              <a:tile tx="0" ty="0" sx="100000" sy="100000" flip="none" algn="ctr"/>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srgbClr val="FFFFFF"/>
                </a:solidFill>
              </a:endParaRPr>
            </a:p>
          </p:txBody>
        </p:sp>
        <p:cxnSp>
          <p:nvCxnSpPr>
            <p:cNvPr id="11" name="Straight Connector 10"/>
            <p:cNvCxnSpPr/>
            <p:nvPr/>
          </p:nvCxnSpPr>
          <p:spPr>
            <a:xfrm rot="5400000">
              <a:off x="5169495" y="4745766"/>
              <a:ext cx="71927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5486400" y="4343400"/>
              <a:ext cx="76200" cy="762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fontAlgn="base">
                <a:spcBef>
                  <a:spcPct val="0"/>
                </a:spcBef>
                <a:spcAft>
                  <a:spcPct val="0"/>
                </a:spcAft>
              </a:pPr>
              <a:endParaRPr lang="en-US">
                <a:solidFill>
                  <a:srgbClr val="FFFFFF"/>
                </a:solidFill>
              </a:endParaRPr>
            </a:p>
          </p:txBody>
        </p:sp>
        <p:sp>
          <p:nvSpPr>
            <p:cNvPr id="13" name="TextBox 12"/>
            <p:cNvSpPr txBox="1"/>
            <p:nvPr/>
          </p:nvSpPr>
          <p:spPr>
            <a:xfrm>
              <a:off x="5486400" y="4114800"/>
              <a:ext cx="304800" cy="307777"/>
            </a:xfrm>
            <a:prstGeom prst="rect">
              <a:avLst/>
            </a:prstGeom>
            <a:noFill/>
          </p:spPr>
          <p:txBody>
            <a:bodyPr wrap="square" rtlCol="0">
              <a:spAutoFit/>
            </a:bodyPr>
            <a:lstStyle/>
            <a:p>
              <a:pPr fontAlgn="base">
                <a:spcBef>
                  <a:spcPct val="0"/>
                </a:spcBef>
                <a:spcAft>
                  <a:spcPct val="0"/>
                </a:spcAft>
              </a:pPr>
              <a:r>
                <a:rPr lang="en-US" sz="1400" b="1" dirty="0">
                  <a:solidFill>
                    <a:srgbClr val="000000"/>
                  </a:solidFill>
                </a:rPr>
                <a:t>B</a:t>
              </a:r>
            </a:p>
          </p:txBody>
        </p:sp>
        <p:sp>
          <p:nvSpPr>
            <p:cNvPr id="14" name="Oval 13"/>
            <p:cNvSpPr/>
            <p:nvPr/>
          </p:nvSpPr>
          <p:spPr>
            <a:xfrm>
              <a:off x="5486400" y="5105400"/>
              <a:ext cx="76200" cy="762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fontAlgn="base">
                <a:spcBef>
                  <a:spcPct val="0"/>
                </a:spcBef>
                <a:spcAft>
                  <a:spcPct val="0"/>
                </a:spcAft>
              </a:pPr>
              <a:endParaRPr lang="en-US">
                <a:solidFill>
                  <a:srgbClr val="FFFFFF"/>
                </a:solidFill>
              </a:endParaRPr>
            </a:p>
          </p:txBody>
        </p:sp>
        <p:sp>
          <p:nvSpPr>
            <p:cNvPr id="15" name="TextBox 14"/>
            <p:cNvSpPr txBox="1"/>
            <p:nvPr/>
          </p:nvSpPr>
          <p:spPr>
            <a:xfrm>
              <a:off x="5486400" y="5105400"/>
              <a:ext cx="304800" cy="307777"/>
            </a:xfrm>
            <a:prstGeom prst="rect">
              <a:avLst/>
            </a:prstGeom>
            <a:noFill/>
          </p:spPr>
          <p:txBody>
            <a:bodyPr wrap="square" rtlCol="0">
              <a:spAutoFit/>
            </a:bodyPr>
            <a:lstStyle/>
            <a:p>
              <a:pPr fontAlgn="base">
                <a:spcBef>
                  <a:spcPct val="0"/>
                </a:spcBef>
                <a:spcAft>
                  <a:spcPct val="0"/>
                </a:spcAft>
              </a:pPr>
              <a:r>
                <a:rPr lang="en-US" sz="1400" b="1" dirty="0">
                  <a:solidFill>
                    <a:srgbClr val="000000"/>
                  </a:solidFill>
                </a:rPr>
                <a:t>A</a:t>
              </a:r>
            </a:p>
          </p:txBody>
        </p:sp>
      </p:grpSp>
    </p:spTree>
    <p:extLst>
      <p:ext uri="{BB962C8B-B14F-4D97-AF65-F5344CB8AC3E}">
        <p14:creationId xmlns="" xmlns:p14="http://schemas.microsoft.com/office/powerpoint/2010/main" val="3435413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 0  L 0.25 0  E" pathEditMode="relative" ptsTypes="">
                                      <p:cBhvr>
                                        <p:cTn id="6" dur="20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smtClean="0"/>
              <a:t>Kinematics of translation</a:t>
            </a:r>
            <a:endParaRPr lang="en-US" sz="3600"/>
          </a:p>
        </p:txBody>
      </p:sp>
      <p:sp>
        <p:nvSpPr>
          <p:cNvPr id="46" name="Rectangle 3"/>
          <p:cNvSpPr>
            <a:spLocks noGrp="1" noChangeArrowheads="1"/>
          </p:cNvSpPr>
          <p:nvPr>
            <p:ph idx="1"/>
          </p:nvPr>
        </p:nvSpPr>
        <p:spPr>
          <a:xfrm>
            <a:off x="76200" y="1112837"/>
            <a:ext cx="8382000" cy="4525963"/>
          </a:xfrm>
        </p:spPr>
        <p:txBody>
          <a:bodyPr>
            <a:normAutofit fontScale="92500" lnSpcReduction="10000"/>
          </a:bodyPr>
          <a:lstStyle/>
          <a:p>
            <a:pPr eaLnBrk="1" hangingPunct="1">
              <a:spcBef>
                <a:spcPts val="300"/>
              </a:spcBef>
            </a:pPr>
            <a:r>
              <a:rPr lang="en-US" sz="2800" dirty="0" smtClean="0"/>
              <a:t>Kinematics</a:t>
            </a:r>
          </a:p>
          <a:p>
            <a:pPr lvl="1" eaLnBrk="1" hangingPunct="1">
              <a:spcBef>
                <a:spcPts val="300"/>
              </a:spcBef>
            </a:pPr>
            <a:r>
              <a:rPr lang="en-US" sz="2400" dirty="0" smtClean="0"/>
              <a:t>Position</a:t>
            </a:r>
          </a:p>
          <a:p>
            <a:pPr lvl="1" eaLnBrk="1" hangingPunct="1">
              <a:spcBef>
                <a:spcPts val="300"/>
              </a:spcBef>
              <a:buNone/>
            </a:pPr>
            <a:r>
              <a:rPr lang="en-US" sz="2400" dirty="0" smtClean="0"/>
              <a:t>	</a:t>
            </a:r>
          </a:p>
          <a:p>
            <a:pPr lvl="1" eaLnBrk="1" hangingPunct="1">
              <a:spcBef>
                <a:spcPts val="300"/>
              </a:spcBef>
              <a:buNone/>
            </a:pPr>
            <a:endParaRPr lang="en-US" sz="2400" dirty="0" smtClean="0"/>
          </a:p>
          <a:p>
            <a:pPr lvl="1" eaLnBrk="1" hangingPunct="1">
              <a:spcBef>
                <a:spcPts val="300"/>
              </a:spcBef>
            </a:pPr>
            <a:r>
              <a:rPr lang="en-US" sz="2400" dirty="0" smtClean="0"/>
              <a:t>Velocity </a:t>
            </a:r>
          </a:p>
          <a:p>
            <a:pPr lvl="1" eaLnBrk="1" hangingPunct="1">
              <a:spcBef>
                <a:spcPts val="300"/>
              </a:spcBef>
            </a:pPr>
            <a:endParaRPr lang="en-US" sz="2400" dirty="0" smtClean="0"/>
          </a:p>
          <a:p>
            <a:pPr lvl="1" eaLnBrk="1" hangingPunct="1">
              <a:spcBef>
                <a:spcPts val="300"/>
              </a:spcBef>
              <a:buNone/>
            </a:pPr>
            <a:endParaRPr lang="en-US" sz="2400" dirty="0" smtClean="0"/>
          </a:p>
          <a:p>
            <a:pPr lvl="1" eaLnBrk="1" hangingPunct="1">
              <a:spcBef>
                <a:spcPts val="300"/>
              </a:spcBef>
            </a:pPr>
            <a:r>
              <a:rPr lang="en-US" sz="2400" dirty="0" smtClean="0"/>
              <a:t>Acceleration</a:t>
            </a:r>
          </a:p>
          <a:p>
            <a:pPr lvl="1" eaLnBrk="1" hangingPunct="1">
              <a:spcBef>
                <a:spcPts val="300"/>
              </a:spcBef>
            </a:pPr>
            <a:endParaRPr lang="en-US" sz="2400" dirty="0" smtClean="0"/>
          </a:p>
          <a:p>
            <a:pPr lvl="1" eaLnBrk="1" hangingPunct="1">
              <a:spcBef>
                <a:spcPts val="300"/>
              </a:spcBef>
            </a:pPr>
            <a:endParaRPr lang="en-US" sz="2400" dirty="0" smtClean="0"/>
          </a:p>
          <a:p>
            <a:pPr eaLnBrk="1" hangingPunct="1">
              <a:spcBef>
                <a:spcPts val="300"/>
              </a:spcBef>
            </a:pPr>
            <a:r>
              <a:rPr lang="en-US" sz="2800" dirty="0" smtClean="0"/>
              <a:t>True for all points in  a rigid body.</a:t>
            </a:r>
            <a:br>
              <a:rPr lang="en-US" sz="2800" dirty="0" smtClean="0"/>
            </a:br>
            <a:r>
              <a:rPr lang="en-US" sz="2800" dirty="0" smtClean="0"/>
              <a:t>(follows particle kinematics)</a:t>
            </a:r>
          </a:p>
          <a:p>
            <a:pPr eaLnBrk="1" hangingPunct="1">
              <a:spcBef>
                <a:spcPts val="300"/>
              </a:spcBef>
            </a:pPr>
            <a:endParaRPr lang="en-US" sz="2800" dirty="0" smtClean="0"/>
          </a:p>
        </p:txBody>
      </p:sp>
      <p:cxnSp>
        <p:nvCxnSpPr>
          <p:cNvPr id="47" name="Straight Connector 46"/>
          <p:cNvCxnSpPr/>
          <p:nvPr/>
        </p:nvCxnSpPr>
        <p:spPr>
          <a:xfrm>
            <a:off x="5562600" y="1832974"/>
            <a:ext cx="2348098" cy="243266"/>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5247119" y="2501681"/>
            <a:ext cx="2434979" cy="293829"/>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49" name="Group 5"/>
          <p:cNvGrpSpPr/>
          <p:nvPr/>
        </p:nvGrpSpPr>
        <p:grpSpPr>
          <a:xfrm rot="1571977">
            <a:off x="4977926" y="1290314"/>
            <a:ext cx="838200" cy="1752600"/>
            <a:chOff x="5105400" y="3886200"/>
            <a:chExt cx="838200" cy="1752600"/>
          </a:xfrm>
        </p:grpSpPr>
        <p:sp>
          <p:nvSpPr>
            <p:cNvPr id="50" name="Oval 49"/>
            <p:cNvSpPr/>
            <p:nvPr/>
          </p:nvSpPr>
          <p:spPr>
            <a:xfrm>
              <a:off x="5105400" y="3886200"/>
              <a:ext cx="838200" cy="1752600"/>
            </a:xfrm>
            <a:prstGeom prst="ellipse">
              <a:avLst/>
            </a:prstGeom>
            <a:blipFill dpi="0" rotWithShape="1">
              <a:blip r:embed="rId4" cstate="print"/>
              <a:srcRect/>
              <a:tile tx="0" ty="0" sx="100000" sy="100000" flip="none" algn="ctr"/>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srgbClr val="FFFFFF"/>
                </a:solidFill>
              </a:endParaRPr>
            </a:p>
          </p:txBody>
        </p:sp>
        <p:cxnSp>
          <p:nvCxnSpPr>
            <p:cNvPr id="51" name="Straight Connector 50"/>
            <p:cNvCxnSpPr/>
            <p:nvPr/>
          </p:nvCxnSpPr>
          <p:spPr>
            <a:xfrm rot="5400000">
              <a:off x="5169495" y="4745766"/>
              <a:ext cx="71927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52" name="Oval 51"/>
            <p:cNvSpPr/>
            <p:nvPr/>
          </p:nvSpPr>
          <p:spPr>
            <a:xfrm>
              <a:off x="5486400" y="4343400"/>
              <a:ext cx="76200" cy="762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fontAlgn="base">
                <a:spcBef>
                  <a:spcPct val="0"/>
                </a:spcBef>
                <a:spcAft>
                  <a:spcPct val="0"/>
                </a:spcAft>
              </a:pPr>
              <a:endParaRPr lang="en-US">
                <a:solidFill>
                  <a:srgbClr val="FFFFFF"/>
                </a:solidFill>
              </a:endParaRPr>
            </a:p>
          </p:txBody>
        </p:sp>
        <p:sp>
          <p:nvSpPr>
            <p:cNvPr id="53" name="TextBox 52"/>
            <p:cNvSpPr txBox="1"/>
            <p:nvPr/>
          </p:nvSpPr>
          <p:spPr>
            <a:xfrm rot="20028023">
              <a:off x="5177101" y="4201830"/>
              <a:ext cx="304800" cy="307777"/>
            </a:xfrm>
            <a:prstGeom prst="rect">
              <a:avLst/>
            </a:prstGeom>
            <a:noFill/>
          </p:spPr>
          <p:txBody>
            <a:bodyPr wrap="square" rtlCol="0">
              <a:spAutoFit/>
            </a:bodyPr>
            <a:lstStyle/>
            <a:p>
              <a:pPr fontAlgn="base">
                <a:spcBef>
                  <a:spcPct val="0"/>
                </a:spcBef>
                <a:spcAft>
                  <a:spcPct val="0"/>
                </a:spcAft>
              </a:pPr>
              <a:r>
                <a:rPr lang="en-US" sz="1400" b="1" dirty="0">
                  <a:solidFill>
                    <a:srgbClr val="000000"/>
                  </a:solidFill>
                </a:rPr>
                <a:t>B</a:t>
              </a:r>
            </a:p>
          </p:txBody>
        </p:sp>
        <p:sp>
          <p:nvSpPr>
            <p:cNvPr id="54" name="Oval 53"/>
            <p:cNvSpPr/>
            <p:nvPr/>
          </p:nvSpPr>
          <p:spPr>
            <a:xfrm>
              <a:off x="5486400" y="5105400"/>
              <a:ext cx="76200" cy="762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fontAlgn="base">
                <a:spcBef>
                  <a:spcPct val="0"/>
                </a:spcBef>
                <a:spcAft>
                  <a:spcPct val="0"/>
                </a:spcAft>
              </a:pPr>
              <a:endParaRPr lang="en-US">
                <a:solidFill>
                  <a:srgbClr val="FFFFFF"/>
                </a:solidFill>
              </a:endParaRPr>
            </a:p>
          </p:txBody>
        </p:sp>
        <p:sp>
          <p:nvSpPr>
            <p:cNvPr id="55" name="TextBox 54"/>
            <p:cNvSpPr txBox="1"/>
            <p:nvPr/>
          </p:nvSpPr>
          <p:spPr>
            <a:xfrm rot="20028023">
              <a:off x="5138025" y="4985383"/>
              <a:ext cx="304800" cy="307777"/>
            </a:xfrm>
            <a:prstGeom prst="rect">
              <a:avLst/>
            </a:prstGeom>
            <a:noFill/>
          </p:spPr>
          <p:txBody>
            <a:bodyPr wrap="square" rtlCol="0">
              <a:spAutoFit/>
            </a:bodyPr>
            <a:lstStyle/>
            <a:p>
              <a:pPr fontAlgn="base">
                <a:spcBef>
                  <a:spcPct val="0"/>
                </a:spcBef>
                <a:spcAft>
                  <a:spcPct val="0"/>
                </a:spcAft>
              </a:pPr>
              <a:r>
                <a:rPr lang="en-US" sz="1400" b="1" dirty="0">
                  <a:solidFill>
                    <a:srgbClr val="000000"/>
                  </a:solidFill>
                </a:rPr>
                <a:t>A</a:t>
              </a:r>
            </a:p>
          </p:txBody>
        </p:sp>
      </p:grpSp>
      <p:pic>
        <p:nvPicPr>
          <p:cNvPr id="56" name="Picture 2" descr="D:\JPEG Images\chapter16\fig16_03.jpg"/>
          <p:cNvPicPr>
            <a:picLocks noChangeAspect="1" noChangeArrowheads="1"/>
          </p:cNvPicPr>
          <p:nvPr/>
        </p:nvPicPr>
        <p:blipFill>
          <a:blip r:embed="rId5" cstate="print">
            <a:clrChange>
              <a:clrFrom>
                <a:srgbClr val="FEFEFE"/>
              </a:clrFrom>
              <a:clrTo>
                <a:srgbClr val="FEFEFE">
                  <a:alpha val="0"/>
                </a:srgbClr>
              </a:clrTo>
            </a:clrChange>
          </a:blip>
          <a:srcRect/>
          <a:stretch>
            <a:fillRect/>
          </a:stretch>
        </p:blipFill>
        <p:spPr bwMode="auto">
          <a:xfrm>
            <a:off x="5024537" y="3710369"/>
            <a:ext cx="3803843" cy="2995231"/>
          </a:xfrm>
          <a:prstGeom prst="rect">
            <a:avLst/>
          </a:prstGeom>
          <a:noFill/>
        </p:spPr>
      </p:pic>
      <p:graphicFrame>
        <p:nvGraphicFramePr>
          <p:cNvPr id="57" name="Object 56"/>
          <p:cNvGraphicFramePr>
            <a:graphicFrameLocks noChangeAspect="1"/>
          </p:cNvGraphicFramePr>
          <p:nvPr>
            <p:extLst>
              <p:ext uri="{D42A27DB-BD31-4B8C-83A1-F6EECF244321}">
                <p14:modId xmlns="" xmlns:p14="http://schemas.microsoft.com/office/powerpoint/2010/main" val="2102244426"/>
              </p:ext>
            </p:extLst>
          </p:nvPr>
        </p:nvGraphicFramePr>
        <p:xfrm>
          <a:off x="1143000" y="1981200"/>
          <a:ext cx="1524000" cy="435429"/>
        </p:xfrm>
        <a:graphic>
          <a:graphicData uri="http://schemas.openxmlformats.org/presentationml/2006/ole">
            <p:oleObj spid="_x0000_s4116" name="Equation" r:id="rId6" imgW="800100" imgH="228600" progId="Equation.3">
              <p:embed/>
            </p:oleObj>
          </a:graphicData>
        </a:graphic>
      </p:graphicFrame>
      <p:graphicFrame>
        <p:nvGraphicFramePr>
          <p:cNvPr id="58" name="Object 4"/>
          <p:cNvGraphicFramePr>
            <a:graphicFrameLocks noChangeAspect="1"/>
          </p:cNvGraphicFramePr>
          <p:nvPr>
            <p:extLst>
              <p:ext uri="{D42A27DB-BD31-4B8C-83A1-F6EECF244321}">
                <p14:modId xmlns="" xmlns:p14="http://schemas.microsoft.com/office/powerpoint/2010/main" val="954453962"/>
              </p:ext>
            </p:extLst>
          </p:nvPr>
        </p:nvGraphicFramePr>
        <p:xfrm>
          <a:off x="1162050" y="3073854"/>
          <a:ext cx="895350" cy="409575"/>
        </p:xfrm>
        <a:graphic>
          <a:graphicData uri="http://schemas.openxmlformats.org/presentationml/2006/ole">
            <p:oleObj spid="_x0000_s4117" name="Equation" r:id="rId7" imgW="469696" imgH="215806" progId="Equation.3">
              <p:embed/>
            </p:oleObj>
          </a:graphicData>
        </a:graphic>
      </p:graphicFrame>
      <p:graphicFrame>
        <p:nvGraphicFramePr>
          <p:cNvPr id="59" name="Object 5"/>
          <p:cNvGraphicFramePr>
            <a:graphicFrameLocks noChangeAspect="1"/>
          </p:cNvGraphicFramePr>
          <p:nvPr>
            <p:extLst>
              <p:ext uri="{D42A27DB-BD31-4B8C-83A1-F6EECF244321}">
                <p14:modId xmlns="" xmlns:p14="http://schemas.microsoft.com/office/powerpoint/2010/main" val="2636319480"/>
              </p:ext>
            </p:extLst>
          </p:nvPr>
        </p:nvGraphicFramePr>
        <p:xfrm>
          <a:off x="1190625" y="4093029"/>
          <a:ext cx="942975" cy="409575"/>
        </p:xfrm>
        <a:graphic>
          <a:graphicData uri="http://schemas.openxmlformats.org/presentationml/2006/ole">
            <p:oleObj spid="_x0000_s4118" name="Equation" r:id="rId8" imgW="494870" imgH="215713" progId="Equation.3">
              <p:embed/>
            </p:oleObj>
          </a:graphicData>
        </a:graphic>
      </p:graphicFrame>
      <p:cxnSp>
        <p:nvCxnSpPr>
          <p:cNvPr id="60" name="Straight Connector 59"/>
          <p:cNvCxnSpPr/>
          <p:nvPr/>
        </p:nvCxnSpPr>
        <p:spPr>
          <a:xfrm rot="5400000">
            <a:off x="2324100" y="2628900"/>
            <a:ext cx="22098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rot="10800000">
            <a:off x="3429000" y="3737974"/>
            <a:ext cx="2362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5638800" y="3661774"/>
            <a:ext cx="228600" cy="369332"/>
          </a:xfrm>
          <a:prstGeom prst="rect">
            <a:avLst/>
          </a:prstGeom>
          <a:noFill/>
        </p:spPr>
        <p:txBody>
          <a:bodyPr wrap="square" rtlCol="0">
            <a:spAutoFit/>
          </a:bodyPr>
          <a:lstStyle/>
          <a:p>
            <a:pPr fontAlgn="base">
              <a:spcBef>
                <a:spcPct val="0"/>
              </a:spcBef>
              <a:spcAft>
                <a:spcPct val="0"/>
              </a:spcAft>
            </a:pPr>
            <a:r>
              <a:rPr lang="en-US" dirty="0">
                <a:solidFill>
                  <a:srgbClr val="000000"/>
                </a:solidFill>
              </a:rPr>
              <a:t>x</a:t>
            </a:r>
          </a:p>
        </p:txBody>
      </p:sp>
      <p:sp>
        <p:nvSpPr>
          <p:cNvPr id="63" name="TextBox 62"/>
          <p:cNvSpPr txBox="1"/>
          <p:nvPr/>
        </p:nvSpPr>
        <p:spPr>
          <a:xfrm>
            <a:off x="3124200" y="1451974"/>
            <a:ext cx="228600" cy="369332"/>
          </a:xfrm>
          <a:prstGeom prst="rect">
            <a:avLst/>
          </a:prstGeom>
          <a:noFill/>
        </p:spPr>
        <p:txBody>
          <a:bodyPr wrap="square" rtlCol="0">
            <a:spAutoFit/>
          </a:bodyPr>
          <a:lstStyle/>
          <a:p>
            <a:pPr fontAlgn="base">
              <a:spcBef>
                <a:spcPct val="0"/>
              </a:spcBef>
              <a:spcAft>
                <a:spcPct val="0"/>
              </a:spcAft>
            </a:pPr>
            <a:r>
              <a:rPr lang="en-US" dirty="0">
                <a:solidFill>
                  <a:srgbClr val="000000"/>
                </a:solidFill>
              </a:rPr>
              <a:t>y</a:t>
            </a:r>
          </a:p>
        </p:txBody>
      </p:sp>
      <p:pic>
        <p:nvPicPr>
          <p:cNvPr id="64" name="Picture 7"/>
          <p:cNvPicPr>
            <a:picLocks noChangeAspect="1" noChangeArrowheads="1"/>
          </p:cNvPicPr>
          <p:nvPr/>
        </p:nvPicPr>
        <p:blipFill>
          <a:blip r:embed="rId9" cstate="print">
            <a:lum bright="4000" contrast="-58000"/>
          </a:blip>
          <a:srcRect/>
          <a:stretch>
            <a:fillRect/>
          </a:stretch>
        </p:blipFill>
        <p:spPr bwMode="auto">
          <a:xfrm>
            <a:off x="4836133" y="1331933"/>
            <a:ext cx="1116013" cy="1652587"/>
          </a:xfrm>
          <a:prstGeom prst="rect">
            <a:avLst/>
          </a:prstGeom>
          <a:noFill/>
          <a:ln w="9525">
            <a:noFill/>
            <a:miter lim="800000"/>
            <a:headEnd/>
            <a:tailEnd/>
          </a:ln>
          <a:effectLst/>
        </p:spPr>
      </p:pic>
      <p:cxnSp>
        <p:nvCxnSpPr>
          <p:cNvPr id="65" name="Straight Arrow Connector 64"/>
          <p:cNvCxnSpPr>
            <a:endCxn id="54" idx="4"/>
          </p:cNvCxnSpPr>
          <p:nvPr/>
        </p:nvCxnSpPr>
        <p:spPr>
          <a:xfrm flipV="1">
            <a:off x="3429000" y="2542657"/>
            <a:ext cx="1782994" cy="1195317"/>
          </a:xfrm>
          <a:prstGeom prst="straightConnector1">
            <a:avLst/>
          </a:prstGeom>
          <a:ln w="15875" cap="sq">
            <a:solidFill>
              <a:schemeClr val="tx1"/>
            </a:solidFill>
            <a:bevel/>
            <a:headEnd type="none" w="med" len="med"/>
            <a:tailEnd type="stealth" w="lg" len="lg"/>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endCxn id="52" idx="6"/>
          </p:cNvCxnSpPr>
          <p:nvPr/>
        </p:nvCxnSpPr>
        <p:spPr>
          <a:xfrm flipV="1">
            <a:off x="3429000" y="1841578"/>
            <a:ext cx="2170423" cy="1872514"/>
          </a:xfrm>
          <a:prstGeom prst="straightConnector1">
            <a:avLst/>
          </a:prstGeom>
          <a:ln w="15875" cap="sq">
            <a:solidFill>
              <a:schemeClr val="tx1"/>
            </a:solidFill>
            <a:bevel/>
            <a:headEnd type="none" w="med" len="med"/>
            <a:tailEnd type="stealth" w="lg" len="lg"/>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114800" y="2518774"/>
            <a:ext cx="609600" cy="369332"/>
          </a:xfrm>
          <a:prstGeom prst="rect">
            <a:avLst/>
          </a:prstGeom>
          <a:noFill/>
        </p:spPr>
        <p:txBody>
          <a:bodyPr wrap="square" rtlCol="0">
            <a:spAutoFit/>
          </a:bodyPr>
          <a:lstStyle/>
          <a:p>
            <a:pPr fontAlgn="base">
              <a:spcBef>
                <a:spcPct val="0"/>
              </a:spcBef>
              <a:spcAft>
                <a:spcPct val="0"/>
              </a:spcAft>
            </a:pPr>
            <a:r>
              <a:rPr lang="en-US" b="1" dirty="0" err="1">
                <a:solidFill>
                  <a:srgbClr val="000000"/>
                </a:solidFill>
              </a:rPr>
              <a:t>r</a:t>
            </a:r>
            <a:r>
              <a:rPr lang="en-US" baseline="-25000" dirty="0" err="1">
                <a:solidFill>
                  <a:srgbClr val="000000"/>
                </a:solidFill>
              </a:rPr>
              <a:t>B</a:t>
            </a:r>
            <a:endParaRPr lang="en-US" baseline="-25000" dirty="0">
              <a:solidFill>
                <a:srgbClr val="000000"/>
              </a:solidFill>
            </a:endParaRPr>
          </a:p>
        </p:txBody>
      </p:sp>
      <p:sp>
        <p:nvSpPr>
          <p:cNvPr id="68" name="TextBox 67"/>
          <p:cNvSpPr txBox="1"/>
          <p:nvPr/>
        </p:nvSpPr>
        <p:spPr>
          <a:xfrm>
            <a:off x="4495800" y="2899774"/>
            <a:ext cx="609600" cy="369332"/>
          </a:xfrm>
          <a:prstGeom prst="rect">
            <a:avLst/>
          </a:prstGeom>
          <a:noFill/>
        </p:spPr>
        <p:txBody>
          <a:bodyPr wrap="square" rtlCol="0">
            <a:spAutoFit/>
          </a:bodyPr>
          <a:lstStyle/>
          <a:p>
            <a:pPr fontAlgn="base">
              <a:spcBef>
                <a:spcPct val="0"/>
              </a:spcBef>
              <a:spcAft>
                <a:spcPct val="0"/>
              </a:spcAft>
            </a:pPr>
            <a:r>
              <a:rPr lang="en-US" b="1" dirty="0" err="1">
                <a:solidFill>
                  <a:srgbClr val="000000"/>
                </a:solidFill>
              </a:rPr>
              <a:t>r</a:t>
            </a:r>
            <a:r>
              <a:rPr lang="en-US" baseline="-25000" dirty="0" err="1">
                <a:solidFill>
                  <a:srgbClr val="000000"/>
                </a:solidFill>
              </a:rPr>
              <a:t>A</a:t>
            </a:r>
            <a:endParaRPr lang="en-US" baseline="-25000" dirty="0">
              <a:solidFill>
                <a:srgbClr val="000000"/>
              </a:solidFill>
            </a:endParaRPr>
          </a:p>
        </p:txBody>
      </p:sp>
      <p:sp>
        <p:nvSpPr>
          <p:cNvPr id="3" name="Oval 2"/>
          <p:cNvSpPr/>
          <p:nvPr/>
        </p:nvSpPr>
        <p:spPr>
          <a:xfrm>
            <a:off x="7372545" y="4572000"/>
            <a:ext cx="309553" cy="3048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6948497" y="5166074"/>
            <a:ext cx="309553" cy="3048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7125269" y="5879663"/>
            <a:ext cx="1713931" cy="307777"/>
          </a:xfrm>
          <a:prstGeom prst="rect">
            <a:avLst/>
          </a:prstGeom>
          <a:noFill/>
        </p:spPr>
        <p:txBody>
          <a:bodyPr wrap="none" rtlCol="0">
            <a:spAutoFit/>
          </a:bodyPr>
          <a:lstStyle/>
          <a:p>
            <a:r>
              <a:rPr lang="en-US" sz="1400" b="1">
                <a:solidFill>
                  <a:srgbClr val="C00000"/>
                </a:solidFill>
                <a:latin typeface="Georgia" pitchFamily="18" charset="0"/>
              </a:rPr>
              <a:t>f</a:t>
            </a:r>
            <a:r>
              <a:rPr lang="en-US" sz="1400" b="1" smtClean="0">
                <a:solidFill>
                  <a:srgbClr val="C00000"/>
                </a:solidFill>
                <a:latin typeface="Georgia" pitchFamily="18" charset="0"/>
              </a:rPr>
              <a:t>ixed in the body</a:t>
            </a:r>
            <a:endParaRPr lang="en-US" sz="1400" b="1">
              <a:solidFill>
                <a:srgbClr val="C00000"/>
              </a:solidFill>
              <a:latin typeface="Georgia" pitchFamily="18" charset="0"/>
            </a:endParaRPr>
          </a:p>
        </p:txBody>
      </p:sp>
    </p:spTree>
    <p:extLst>
      <p:ext uri="{BB962C8B-B14F-4D97-AF65-F5344CB8AC3E}">
        <p14:creationId xmlns="" xmlns:p14="http://schemas.microsoft.com/office/powerpoint/2010/main" val="3940049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
                                            <p:txEl>
                                              <p:pRg st="1" end="1"/>
                                            </p:txEl>
                                          </p:spTgt>
                                        </p:tgtEl>
                                        <p:attrNameLst>
                                          <p:attrName>style.visibility</p:attrName>
                                        </p:attrNameLst>
                                      </p:cBhvr>
                                      <p:to>
                                        <p:strVal val="visible"/>
                                      </p:to>
                                    </p:set>
                                    <p:animEffect transition="in" filter="fade">
                                      <p:cBhvr>
                                        <p:cTn id="7" dur="1000"/>
                                        <p:tgtEl>
                                          <p:spTgt spid="46">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6">
                                            <p:txEl>
                                              <p:pRg st="2" end="2"/>
                                            </p:txEl>
                                          </p:spTgt>
                                        </p:tgtEl>
                                        <p:attrNameLst>
                                          <p:attrName>style.visibility</p:attrName>
                                        </p:attrNameLst>
                                      </p:cBhvr>
                                      <p:to>
                                        <p:strVal val="visible"/>
                                      </p:to>
                                    </p:set>
                                    <p:animEffect transition="in" filter="fade">
                                      <p:cBhvr>
                                        <p:cTn id="10" dur="1000"/>
                                        <p:tgtEl>
                                          <p:spTgt spid="46">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7"/>
                                        </p:tgtEl>
                                        <p:attrNameLst>
                                          <p:attrName>style.visibility</p:attrName>
                                        </p:attrNameLst>
                                      </p:cBhvr>
                                      <p:to>
                                        <p:strVal val="visible"/>
                                      </p:to>
                                    </p:set>
                                    <p:animEffect transition="in" filter="fade">
                                      <p:cBhvr>
                                        <p:cTn id="13" dur="2000"/>
                                        <p:tgtEl>
                                          <p:spTgt spid="57"/>
                                        </p:tgtEl>
                                      </p:cBhvr>
                                    </p:animEffect>
                                  </p:childTnLst>
                                </p:cTn>
                              </p:par>
                            </p:childTnLst>
                          </p:cTn>
                        </p:par>
                      </p:childTnLst>
                    </p:cTn>
                  </p:par>
                  <p:par>
                    <p:cTn id="14" fill="hold">
                      <p:stCondLst>
                        <p:cond delay="indefinite"/>
                      </p:stCondLst>
                      <p:childTnLst>
                        <p:par>
                          <p:cTn id="15" fill="hold">
                            <p:stCondLst>
                              <p:cond delay="0"/>
                            </p:stCondLst>
                            <p:childTnLst>
                              <p:par>
                                <p:cTn id="16" presetID="63" presetClass="path" presetSubtype="0" accel="50000" decel="50000" fill="hold" nodeType="clickEffect">
                                  <p:stCondLst>
                                    <p:cond delay="0"/>
                                  </p:stCondLst>
                                  <p:childTnLst>
                                    <p:animMotion origin="layout" path="M -3.61111E-6 -2.96322E-6 L 0.24983 0.03609 " pathEditMode="relative" rAng="0" ptsTypes="AA">
                                      <p:cBhvr>
                                        <p:cTn id="17" dur="2000" fill="hold"/>
                                        <p:tgtEl>
                                          <p:spTgt spid="49"/>
                                        </p:tgtEl>
                                        <p:attrNameLst>
                                          <p:attrName>ppt_x</p:attrName>
                                          <p:attrName>ppt_y</p:attrName>
                                        </p:attrNameLst>
                                      </p:cBhvr>
                                      <p:rCtr x="12500" y="1800"/>
                                    </p:animMotion>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6">
                                            <p:txEl>
                                              <p:pRg st="4" end="4"/>
                                            </p:txEl>
                                          </p:spTgt>
                                        </p:tgtEl>
                                        <p:attrNameLst>
                                          <p:attrName>style.visibility</p:attrName>
                                        </p:attrNameLst>
                                      </p:cBhvr>
                                      <p:to>
                                        <p:strVal val="visible"/>
                                      </p:to>
                                    </p:set>
                                    <p:animEffect transition="in" filter="fade">
                                      <p:cBhvr>
                                        <p:cTn id="22" dur="1000"/>
                                        <p:tgtEl>
                                          <p:spTgt spid="46">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fade">
                                      <p:cBhvr>
                                        <p:cTn id="25" dur="2000"/>
                                        <p:tgtEl>
                                          <p:spTgt spid="5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6">
                                            <p:txEl>
                                              <p:pRg st="7" end="7"/>
                                            </p:txEl>
                                          </p:spTgt>
                                        </p:tgtEl>
                                        <p:attrNameLst>
                                          <p:attrName>style.visibility</p:attrName>
                                        </p:attrNameLst>
                                      </p:cBhvr>
                                      <p:to>
                                        <p:strVal val="visible"/>
                                      </p:to>
                                    </p:set>
                                    <p:animEffect transition="in" filter="fade">
                                      <p:cBhvr>
                                        <p:cTn id="30" dur="1000"/>
                                        <p:tgtEl>
                                          <p:spTgt spid="46">
                                            <p:txEl>
                                              <p:pRg st="7" end="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59"/>
                                        </p:tgtEl>
                                        <p:attrNameLst>
                                          <p:attrName>style.visibility</p:attrName>
                                        </p:attrNameLst>
                                      </p:cBhvr>
                                      <p:to>
                                        <p:strVal val="visible"/>
                                      </p:to>
                                    </p:set>
                                    <p:animEffect transition="in" filter="fade">
                                      <p:cBhvr>
                                        <p:cTn id="33" dur="2000"/>
                                        <p:tgtEl>
                                          <p:spTgt spid="5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6">
                                            <p:txEl>
                                              <p:pRg st="10" end="10"/>
                                            </p:txEl>
                                          </p:spTgt>
                                        </p:tgtEl>
                                        <p:attrNameLst>
                                          <p:attrName>style.visibility</p:attrName>
                                        </p:attrNameLst>
                                      </p:cBhvr>
                                      <p:to>
                                        <p:strVal val="visible"/>
                                      </p:to>
                                    </p:set>
                                    <p:animEffect transition="in" filter="fade">
                                      <p:cBhvr>
                                        <p:cTn id="38" dur="1000"/>
                                        <p:tgtEl>
                                          <p:spTgt spid="46">
                                            <p:txEl>
                                              <p:pRg st="10" end="1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fade">
                                      <p:cBhvr>
                                        <p:cTn id="43" dur="500"/>
                                        <p:tgtEl>
                                          <p:spTgt spid="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500"/>
                                        <p:tgtEl>
                                          <p:spTgt spid="2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fade">
                                      <p:cBhvr>
                                        <p:cTn id="4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uild="p"/>
      <p:bldP spid="3" grpId="0" animBg="1"/>
      <p:bldP spid="27" grpId="0" animBg="1"/>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0" y="116632"/>
            <a:ext cx="9144000" cy="6624736"/>
          </a:xfrm>
        </p:spPr>
        <p:txBody>
          <a:bodyPr/>
          <a:lstStyle/>
          <a:p>
            <a:r>
              <a:rPr lang="en-IN" dirty="0" smtClean="0"/>
              <a:t>ROTATION</a:t>
            </a:r>
          </a:p>
          <a:p>
            <a:pPr marL="0" indent="0">
              <a:buNone/>
            </a:pPr>
            <a:r>
              <a:rPr lang="en-IN" dirty="0" smtClean="0"/>
              <a:t>In case  of rotation, all the particles of a rigid body will move in concentric circular paths.</a:t>
            </a:r>
          </a:p>
          <a:p>
            <a:pPr marL="0" indent="0">
              <a:buNone/>
            </a:pPr>
            <a:endParaRPr lang="en-IN" dirty="0"/>
          </a:p>
          <a:p>
            <a:pPr marL="0" indent="0">
              <a:buNone/>
            </a:pPr>
            <a:r>
              <a:rPr lang="en-IN" dirty="0" smtClean="0"/>
              <a:t>. The common centre of the circles may be located within or outside the body .</a:t>
            </a:r>
          </a:p>
          <a:p>
            <a:pPr marL="0" indent="0">
              <a:buNone/>
            </a:pPr>
            <a:endParaRPr lang="en-IN" dirty="0" smtClean="0"/>
          </a:p>
          <a:p>
            <a:pPr marL="0" indent="0">
              <a:buNone/>
            </a:pPr>
            <a:endParaRPr lang="en-IN" dirty="0" smtClean="0"/>
          </a:p>
          <a:p>
            <a:pPr marL="0" indent="0">
              <a:buNone/>
            </a:pPr>
            <a:r>
              <a:rPr lang="en-IN" dirty="0" smtClean="0"/>
              <a:t>.</a:t>
            </a:r>
          </a:p>
        </p:txBody>
      </p:sp>
      <p:pic>
        <p:nvPicPr>
          <p:cNvPr id="3077" name="Picture 5"/>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835696" y="3861048"/>
            <a:ext cx="5285744" cy="240441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11059528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smtClean="0"/>
              <a:t>Example problem 1</a:t>
            </a:r>
            <a:endParaRPr lang="en-US" sz="3600"/>
          </a:p>
        </p:txBody>
      </p:sp>
      <p:sp>
        <p:nvSpPr>
          <p:cNvPr id="3" name="Content Placeholder 3"/>
          <p:cNvSpPr>
            <a:spLocks noGrp="1"/>
          </p:cNvSpPr>
          <p:nvPr>
            <p:ph idx="1"/>
          </p:nvPr>
        </p:nvSpPr>
        <p:spPr>
          <a:xfrm>
            <a:off x="381000" y="1219200"/>
            <a:ext cx="8229600" cy="2057399"/>
          </a:xfrm>
        </p:spPr>
        <p:txBody>
          <a:bodyPr/>
          <a:lstStyle/>
          <a:p>
            <a:pPr marL="0">
              <a:buNone/>
            </a:pPr>
            <a:r>
              <a:rPr lang="en-US" sz="2400" dirty="0" smtClean="0"/>
              <a:t>When the gear rotates 20 revolutions, it achieves an angular velocity of </a:t>
            </a:r>
            <a:r>
              <a:rPr lang="el-GR" sz="2400" i="1" dirty="0" smtClean="0">
                <a:cs typeface="Times New Roman"/>
              </a:rPr>
              <a:t>ω</a:t>
            </a:r>
            <a:r>
              <a:rPr lang="en-US" sz="2400" dirty="0" smtClean="0">
                <a:cs typeface="Times New Roman"/>
              </a:rPr>
              <a:t> = 30 </a:t>
            </a:r>
            <a:r>
              <a:rPr lang="en-US" sz="2400" dirty="0" err="1" smtClean="0">
                <a:cs typeface="Times New Roman"/>
              </a:rPr>
              <a:t>rad</a:t>
            </a:r>
            <a:r>
              <a:rPr lang="en-US" sz="2400" dirty="0" smtClean="0">
                <a:cs typeface="Times New Roman"/>
              </a:rPr>
              <a:t>/s, starting from rest.  Determine its constant angular acceleration and the time required. </a:t>
            </a:r>
          </a:p>
        </p:txBody>
      </p:sp>
      <p:pic>
        <p:nvPicPr>
          <p:cNvPr id="4" name="Picture 2" descr="D:\JPEG Images\chapter16\FP16_01.jpg"/>
          <p:cNvPicPr>
            <a:picLocks noChangeAspect="1" noChangeArrowheads="1"/>
          </p:cNvPicPr>
          <p:nvPr/>
        </p:nvPicPr>
        <p:blipFill>
          <a:blip r:embed="rId2" cstate="print">
            <a:clrChange>
              <a:clrFrom>
                <a:srgbClr val="FEFEFE"/>
              </a:clrFrom>
              <a:clrTo>
                <a:srgbClr val="FEFEFE">
                  <a:alpha val="0"/>
                </a:srgbClr>
              </a:clrTo>
            </a:clrChange>
          </a:blip>
          <a:srcRect/>
          <a:stretch>
            <a:fillRect/>
          </a:stretch>
        </p:blipFill>
        <p:spPr bwMode="auto">
          <a:xfrm>
            <a:off x="4724400" y="2971800"/>
            <a:ext cx="3674280" cy="3498850"/>
          </a:xfrm>
          <a:prstGeom prst="rect">
            <a:avLst/>
          </a:prstGeom>
          <a:noFill/>
        </p:spPr>
      </p:pic>
    </p:spTree>
    <p:extLst>
      <p:ext uri="{BB962C8B-B14F-4D97-AF65-F5344CB8AC3E}">
        <p14:creationId xmlns="" xmlns:p14="http://schemas.microsoft.com/office/powerpoint/2010/main" val="30304841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smtClean="0"/>
              <a:t>Example problem 2</a:t>
            </a:r>
            <a:endParaRPr lang="en-US" sz="3600"/>
          </a:p>
        </p:txBody>
      </p:sp>
      <p:sp>
        <p:nvSpPr>
          <p:cNvPr id="6" name="Content Placeholder 3"/>
          <p:cNvSpPr>
            <a:spLocks noGrp="1"/>
          </p:cNvSpPr>
          <p:nvPr>
            <p:ph idx="1"/>
          </p:nvPr>
        </p:nvSpPr>
        <p:spPr>
          <a:xfrm>
            <a:off x="304800" y="1295400"/>
            <a:ext cx="8229600" cy="2743200"/>
          </a:xfrm>
        </p:spPr>
        <p:txBody>
          <a:bodyPr>
            <a:normAutofit/>
          </a:bodyPr>
          <a:lstStyle/>
          <a:p>
            <a:pPr marL="0">
              <a:buNone/>
            </a:pPr>
            <a:r>
              <a:rPr lang="en-US" sz="2200" dirty="0" smtClean="0"/>
              <a:t>A  disk is originally rotating at </a:t>
            </a:r>
            <a:r>
              <a:rPr lang="el-GR" sz="2200" dirty="0" smtClean="0"/>
              <a:t>ω</a:t>
            </a:r>
            <a:r>
              <a:rPr lang="en-US" sz="2200" baseline="-25000" dirty="0" smtClean="0"/>
              <a:t>0</a:t>
            </a:r>
            <a:r>
              <a:rPr lang="en-US" sz="2200" dirty="0" smtClean="0"/>
              <a:t> = 8 rad/s. If it is subjected to a constant angular acceleration of </a:t>
            </a:r>
            <a:r>
              <a:rPr lang="el-GR" sz="2200" dirty="0" smtClean="0"/>
              <a:t>α</a:t>
            </a:r>
            <a:r>
              <a:rPr lang="en-US" sz="2200" dirty="0" smtClean="0"/>
              <a:t> = 6 rad/s</a:t>
            </a:r>
            <a:r>
              <a:rPr lang="en-US" sz="2200" baseline="30000" dirty="0" smtClean="0"/>
              <a:t>2</a:t>
            </a:r>
            <a:r>
              <a:rPr lang="en-US" sz="2200" dirty="0" smtClean="0"/>
              <a:t>, determine the magnitudes of the velocity and the n and t components of acceleration of point A at the instant t = 0.5 s.</a:t>
            </a:r>
          </a:p>
        </p:txBody>
      </p:sp>
    </p:spTree>
    <p:extLst>
      <p:ext uri="{BB962C8B-B14F-4D97-AF65-F5344CB8AC3E}">
        <p14:creationId xmlns="" xmlns:p14="http://schemas.microsoft.com/office/powerpoint/2010/main" val="26756085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EXAMPLE PROBLEM 3</a:t>
            </a:r>
            <a:br>
              <a:rPr lang="en-IN" dirty="0" smtClean="0"/>
            </a:br>
            <a:endParaRPr lang="en-IN" dirty="0"/>
          </a:p>
        </p:txBody>
      </p:sp>
      <p:sp>
        <p:nvSpPr>
          <p:cNvPr id="3" name="Content Placeholder 2"/>
          <p:cNvSpPr>
            <a:spLocks noGrp="1"/>
          </p:cNvSpPr>
          <p:nvPr>
            <p:ph idx="1"/>
          </p:nvPr>
        </p:nvSpPr>
        <p:spPr/>
        <p:txBody>
          <a:bodyPr>
            <a:normAutofit/>
          </a:bodyPr>
          <a:lstStyle/>
          <a:p>
            <a:r>
              <a:rPr lang="en-IN" dirty="0" smtClean="0"/>
              <a:t>A wheel is attached to the shaft of an electric motor of rated speed of 200 rpm . when the power is switched on the unit it attains the rated speed in 10 s and when the power is switched off, the unit comes to rest in 100s. Assume uniformly accelerated motion and determine                                                                                        a. the number of revolutions the unit turns to attain the rated speed b) to come to rest</a:t>
            </a:r>
            <a:endParaRPr lang="en-IN" dirty="0"/>
          </a:p>
        </p:txBody>
      </p:sp>
    </p:spTree>
    <p:extLst>
      <p:ext uri="{BB962C8B-B14F-4D97-AF65-F5344CB8AC3E}">
        <p14:creationId xmlns="" xmlns:p14="http://schemas.microsoft.com/office/powerpoint/2010/main" val="33778375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noChangeArrowheads="1"/>
          </p:cNvSpPr>
          <p:nvPr>
            <p:ph type="title"/>
          </p:nvPr>
        </p:nvSpPr>
        <p:spPr>
          <a:xfrm>
            <a:off x="301625" y="0"/>
            <a:ext cx="8540750" cy="11430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tLang="en-US" smtClean="0">
                <a:effectLst/>
              </a:rPr>
              <a:t>General Plane Motion</a:t>
            </a:r>
          </a:p>
        </p:txBody>
      </p:sp>
      <p:pic>
        <p:nvPicPr>
          <p:cNvPr id="262147" name="Picture 3"/>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263525" y="944563"/>
            <a:ext cx="8880475" cy="24733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62148" name="Text Box 4"/>
          <p:cNvSpPr txBox="1">
            <a:spLocks noChangeArrowheads="1"/>
          </p:cNvSpPr>
          <p:nvPr/>
        </p:nvSpPr>
        <p:spPr bwMode="auto">
          <a:xfrm>
            <a:off x="307975" y="3609975"/>
            <a:ext cx="5426075" cy="701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i="1">
                <a:solidFill>
                  <a:srgbClr val="000099"/>
                </a:solidFill>
                <a:latin typeface="Times New Roman" pitchFamily="18" charset="0"/>
              </a:rPr>
              <a:t>General plane motion</a:t>
            </a:r>
            <a:r>
              <a:rPr lang="en-US" altLang="en-US" sz="2000">
                <a:solidFill>
                  <a:srgbClr val="000099"/>
                </a:solidFill>
                <a:latin typeface="Times New Roman" pitchFamily="18" charset="0"/>
              </a:rPr>
              <a:t> is neither a translation nor a rotation.</a:t>
            </a:r>
          </a:p>
        </p:txBody>
      </p:sp>
      <p:sp>
        <p:nvSpPr>
          <p:cNvPr id="262149" name="Text Box 5"/>
          <p:cNvSpPr txBox="1">
            <a:spLocks noChangeArrowheads="1"/>
          </p:cNvSpPr>
          <p:nvPr/>
        </p:nvSpPr>
        <p:spPr bwMode="auto">
          <a:xfrm>
            <a:off x="295275" y="4383088"/>
            <a:ext cx="5534025" cy="701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a:solidFill>
                  <a:srgbClr val="000099"/>
                </a:solidFill>
                <a:latin typeface="Times New Roman" pitchFamily="18" charset="0"/>
              </a:rPr>
              <a:t>General plane motion can be considered as the </a:t>
            </a:r>
            <a:r>
              <a:rPr lang="en-US" altLang="en-US" sz="2000" i="1">
                <a:solidFill>
                  <a:srgbClr val="000099"/>
                </a:solidFill>
                <a:latin typeface="Times New Roman" pitchFamily="18" charset="0"/>
              </a:rPr>
              <a:t>sum</a:t>
            </a:r>
            <a:r>
              <a:rPr lang="en-US" altLang="en-US" sz="2000">
                <a:solidFill>
                  <a:srgbClr val="000099"/>
                </a:solidFill>
                <a:latin typeface="Times New Roman" pitchFamily="18" charset="0"/>
              </a:rPr>
              <a:t> of a translation and rotation.</a:t>
            </a:r>
          </a:p>
        </p:txBody>
      </p:sp>
      <p:grpSp>
        <p:nvGrpSpPr>
          <p:cNvPr id="262150" name="Group 6"/>
          <p:cNvGrpSpPr>
            <a:grpSpLocks/>
          </p:cNvGrpSpPr>
          <p:nvPr/>
        </p:nvGrpSpPr>
        <p:grpSpPr bwMode="auto">
          <a:xfrm>
            <a:off x="284163" y="4300538"/>
            <a:ext cx="8859837" cy="2184400"/>
            <a:chOff x="179" y="2709"/>
            <a:chExt cx="5581" cy="1376"/>
          </a:xfrm>
        </p:grpSpPr>
        <p:pic>
          <p:nvPicPr>
            <p:cNvPr id="262151" name="Picture 7"/>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3779" y="2709"/>
              <a:ext cx="1981" cy="137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grpSp>
          <p:nvGrpSpPr>
            <p:cNvPr id="262152" name="Group 8"/>
            <p:cNvGrpSpPr>
              <a:grpSpLocks/>
            </p:cNvGrpSpPr>
            <p:nvPr/>
          </p:nvGrpSpPr>
          <p:grpSpPr bwMode="auto">
            <a:xfrm>
              <a:off x="179" y="3247"/>
              <a:ext cx="3374" cy="826"/>
              <a:chOff x="194" y="3083"/>
              <a:chExt cx="3374" cy="826"/>
            </a:xfrm>
          </p:grpSpPr>
          <p:sp>
            <p:nvSpPr>
              <p:cNvPr id="262153" name="Text Box 9"/>
              <p:cNvSpPr txBox="1">
                <a:spLocks noChangeArrowheads="1"/>
              </p:cNvSpPr>
              <p:nvPr/>
            </p:nvSpPr>
            <p:spPr bwMode="auto">
              <a:xfrm>
                <a:off x="194" y="3083"/>
                <a:ext cx="3374" cy="8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marL="571500" indent="-225425">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a:solidFill>
                      <a:srgbClr val="000099"/>
                    </a:solidFill>
                    <a:latin typeface="Times New Roman" pitchFamily="18" charset="0"/>
                  </a:rPr>
                  <a:t>Displacement of particles </a:t>
                </a:r>
                <a:r>
                  <a:rPr lang="en-US" altLang="en-US" sz="2000" i="1">
                    <a:solidFill>
                      <a:srgbClr val="000099"/>
                    </a:solidFill>
                    <a:latin typeface="Times New Roman" pitchFamily="18" charset="0"/>
                  </a:rPr>
                  <a:t>A</a:t>
                </a:r>
                <a:r>
                  <a:rPr lang="en-US" altLang="en-US" sz="2000">
                    <a:solidFill>
                      <a:srgbClr val="000099"/>
                    </a:solidFill>
                    <a:latin typeface="Times New Roman" pitchFamily="18" charset="0"/>
                  </a:rPr>
                  <a:t> and </a:t>
                </a:r>
                <a:r>
                  <a:rPr lang="en-US" altLang="en-US" sz="2000" i="1">
                    <a:solidFill>
                      <a:srgbClr val="000099"/>
                    </a:solidFill>
                    <a:latin typeface="Times New Roman" pitchFamily="18" charset="0"/>
                  </a:rPr>
                  <a:t>B</a:t>
                </a:r>
                <a:r>
                  <a:rPr lang="en-US" altLang="en-US" sz="2000">
                    <a:solidFill>
                      <a:srgbClr val="000099"/>
                    </a:solidFill>
                    <a:latin typeface="Times New Roman" pitchFamily="18" charset="0"/>
                  </a:rPr>
                  <a:t> to </a:t>
                </a:r>
                <a:r>
                  <a:rPr lang="en-US" altLang="en-US" sz="2000" i="1">
                    <a:solidFill>
                      <a:srgbClr val="000099"/>
                    </a:solidFill>
                    <a:latin typeface="Times New Roman" pitchFamily="18" charset="0"/>
                  </a:rPr>
                  <a:t>A</a:t>
                </a:r>
                <a:r>
                  <a:rPr lang="en-US" altLang="en-US" sz="2000" baseline="-25000">
                    <a:solidFill>
                      <a:srgbClr val="000099"/>
                    </a:solidFill>
                    <a:latin typeface="Times New Roman" pitchFamily="18" charset="0"/>
                  </a:rPr>
                  <a:t>2</a:t>
                </a:r>
                <a:r>
                  <a:rPr lang="en-US" altLang="en-US" sz="2000" i="1">
                    <a:solidFill>
                      <a:srgbClr val="000099"/>
                    </a:solidFill>
                    <a:latin typeface="Times New Roman" pitchFamily="18" charset="0"/>
                  </a:rPr>
                  <a:t> </a:t>
                </a:r>
                <a:r>
                  <a:rPr lang="en-US" altLang="en-US" sz="2000">
                    <a:solidFill>
                      <a:srgbClr val="000099"/>
                    </a:solidFill>
                    <a:latin typeface="Times New Roman" pitchFamily="18" charset="0"/>
                  </a:rPr>
                  <a:t>and </a:t>
                </a:r>
                <a:r>
                  <a:rPr lang="en-US" altLang="en-US" sz="2000" i="1">
                    <a:solidFill>
                      <a:srgbClr val="000099"/>
                    </a:solidFill>
                    <a:latin typeface="Times New Roman" pitchFamily="18" charset="0"/>
                  </a:rPr>
                  <a:t>B</a:t>
                </a:r>
                <a:r>
                  <a:rPr lang="en-US" altLang="en-US" sz="2000" baseline="-25000">
                    <a:solidFill>
                      <a:srgbClr val="000099"/>
                    </a:solidFill>
                    <a:latin typeface="Times New Roman" pitchFamily="18" charset="0"/>
                  </a:rPr>
                  <a:t>2</a:t>
                </a:r>
                <a:r>
                  <a:rPr lang="en-US" altLang="en-US" sz="2000">
                    <a:solidFill>
                      <a:srgbClr val="000099"/>
                    </a:solidFill>
                    <a:latin typeface="Times New Roman" pitchFamily="18" charset="0"/>
                  </a:rPr>
                  <a:t> can be divided into two parts:  </a:t>
                </a:r>
              </a:p>
              <a:p>
                <a:pPr lvl="1" eaLnBrk="1" hangingPunct="1">
                  <a:buFontTx/>
                  <a:buChar char="-"/>
                </a:pPr>
                <a:r>
                  <a:rPr lang="en-US" altLang="en-US" sz="2000">
                    <a:solidFill>
                      <a:srgbClr val="000099"/>
                    </a:solidFill>
                    <a:latin typeface="Times New Roman" pitchFamily="18" charset="0"/>
                  </a:rPr>
                  <a:t>translation to </a:t>
                </a:r>
                <a:r>
                  <a:rPr lang="en-US" altLang="en-US" sz="2000" i="1">
                    <a:solidFill>
                      <a:srgbClr val="000099"/>
                    </a:solidFill>
                    <a:latin typeface="Times New Roman" pitchFamily="18" charset="0"/>
                  </a:rPr>
                  <a:t>A</a:t>
                </a:r>
                <a:r>
                  <a:rPr lang="en-US" altLang="en-US" sz="2000" baseline="-25000">
                    <a:solidFill>
                      <a:srgbClr val="000099"/>
                    </a:solidFill>
                    <a:latin typeface="Times New Roman" pitchFamily="18" charset="0"/>
                  </a:rPr>
                  <a:t>2</a:t>
                </a:r>
                <a:r>
                  <a:rPr lang="en-US" altLang="en-US" sz="2000" i="1">
                    <a:solidFill>
                      <a:srgbClr val="000099"/>
                    </a:solidFill>
                    <a:latin typeface="Times New Roman" pitchFamily="18" charset="0"/>
                  </a:rPr>
                  <a:t> </a:t>
                </a:r>
                <a:r>
                  <a:rPr lang="en-US" altLang="en-US" sz="2000">
                    <a:solidFill>
                      <a:srgbClr val="000099"/>
                    </a:solidFill>
                    <a:latin typeface="Times New Roman" pitchFamily="18" charset="0"/>
                  </a:rPr>
                  <a:t>and</a:t>
                </a:r>
              </a:p>
              <a:p>
                <a:pPr lvl="1" eaLnBrk="1" hangingPunct="1">
                  <a:buFontTx/>
                  <a:buChar char="-"/>
                </a:pPr>
                <a:r>
                  <a:rPr lang="en-US" altLang="en-US" sz="2000">
                    <a:solidFill>
                      <a:srgbClr val="000099"/>
                    </a:solidFill>
                    <a:latin typeface="Times New Roman" pitchFamily="18" charset="0"/>
                  </a:rPr>
                  <a:t>rotation of       about </a:t>
                </a:r>
                <a:r>
                  <a:rPr lang="en-US" altLang="en-US" sz="2000" i="1">
                    <a:solidFill>
                      <a:srgbClr val="000099"/>
                    </a:solidFill>
                    <a:latin typeface="Times New Roman" pitchFamily="18" charset="0"/>
                  </a:rPr>
                  <a:t>A</a:t>
                </a:r>
                <a:r>
                  <a:rPr lang="en-US" altLang="en-US" sz="2000" baseline="-25000">
                    <a:solidFill>
                      <a:srgbClr val="000099"/>
                    </a:solidFill>
                    <a:latin typeface="Times New Roman" pitchFamily="18" charset="0"/>
                  </a:rPr>
                  <a:t>2</a:t>
                </a:r>
                <a:r>
                  <a:rPr lang="en-US" altLang="en-US" sz="2000">
                    <a:solidFill>
                      <a:srgbClr val="000099"/>
                    </a:solidFill>
                    <a:latin typeface="Times New Roman" pitchFamily="18" charset="0"/>
                  </a:rPr>
                  <a:t> to </a:t>
                </a:r>
                <a:r>
                  <a:rPr lang="en-US" altLang="en-US" sz="2000" i="1">
                    <a:solidFill>
                      <a:srgbClr val="000099"/>
                    </a:solidFill>
                    <a:latin typeface="Times New Roman" pitchFamily="18" charset="0"/>
                  </a:rPr>
                  <a:t>B</a:t>
                </a:r>
                <a:r>
                  <a:rPr lang="en-US" altLang="en-US" sz="2000" baseline="-25000">
                    <a:solidFill>
                      <a:srgbClr val="000099"/>
                    </a:solidFill>
                    <a:latin typeface="Times New Roman" pitchFamily="18" charset="0"/>
                  </a:rPr>
                  <a:t>2</a:t>
                </a:r>
                <a:r>
                  <a:rPr lang="en-US" altLang="en-US" sz="2000">
                    <a:solidFill>
                      <a:srgbClr val="000099"/>
                    </a:solidFill>
                    <a:latin typeface="Times New Roman" pitchFamily="18" charset="0"/>
                  </a:rPr>
                  <a:t> </a:t>
                </a:r>
              </a:p>
            </p:txBody>
          </p:sp>
          <p:graphicFrame>
            <p:nvGraphicFramePr>
              <p:cNvPr id="262154" name="Object 10"/>
              <p:cNvGraphicFramePr>
                <a:graphicFrameLocks noChangeAspect="1"/>
              </p:cNvGraphicFramePr>
              <p:nvPr/>
            </p:nvGraphicFramePr>
            <p:xfrm>
              <a:off x="1950" y="3511"/>
              <a:ext cx="168" cy="200"/>
            </p:xfrm>
            <a:graphic>
              <a:graphicData uri="http://schemas.openxmlformats.org/presentationml/2006/ole">
                <p:oleObj spid="_x0000_s8204" name="Equation" r:id="rId6" imgW="266353" imgH="317087" progId="Equation.3">
                  <p:embed/>
                </p:oleObj>
              </a:graphicData>
            </a:graphic>
          </p:graphicFrame>
          <p:graphicFrame>
            <p:nvGraphicFramePr>
              <p:cNvPr id="262155" name="Object 11"/>
              <p:cNvGraphicFramePr>
                <a:graphicFrameLocks noChangeAspect="1"/>
              </p:cNvGraphicFramePr>
              <p:nvPr/>
            </p:nvGraphicFramePr>
            <p:xfrm>
              <a:off x="1327" y="3704"/>
              <a:ext cx="168" cy="200"/>
            </p:xfrm>
            <a:graphic>
              <a:graphicData uri="http://schemas.openxmlformats.org/presentationml/2006/ole">
                <p:oleObj spid="_x0000_s8205" name="Equation" r:id="rId7" imgW="266353" imgH="317087" progId="Equation.3">
                  <p:embed/>
                </p:oleObj>
              </a:graphicData>
            </a:graphic>
          </p:graphicFrame>
        </p:grpSp>
      </p:grpSp>
    </p:spTree>
    <p:extLst>
      <p:ext uri="{BB962C8B-B14F-4D97-AF65-F5344CB8AC3E}">
        <p14:creationId xmlns="" xmlns:p14="http://schemas.microsoft.com/office/powerpoint/2010/main" val="35458993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6214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621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9"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4194" name="Group 2"/>
          <p:cNvGrpSpPr>
            <a:grpSpLocks/>
          </p:cNvGrpSpPr>
          <p:nvPr/>
        </p:nvGrpSpPr>
        <p:grpSpPr bwMode="auto">
          <a:xfrm>
            <a:off x="609600" y="4038600"/>
            <a:ext cx="4319588" cy="2360613"/>
            <a:chOff x="387" y="2537"/>
            <a:chExt cx="2721" cy="1487"/>
          </a:xfrm>
        </p:grpSpPr>
        <p:pic>
          <p:nvPicPr>
            <p:cNvPr id="264195" name="Picture 3"/>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387" y="2537"/>
              <a:ext cx="815" cy="14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graphicFrame>
          <p:nvGraphicFramePr>
            <p:cNvPr id="264196" name="Object 4"/>
            <p:cNvGraphicFramePr>
              <a:graphicFrameLocks noChangeAspect="1"/>
            </p:cNvGraphicFramePr>
            <p:nvPr/>
          </p:nvGraphicFramePr>
          <p:xfrm>
            <a:off x="2124" y="3099"/>
            <a:ext cx="984" cy="232"/>
          </p:xfrm>
          <a:graphic>
            <a:graphicData uri="http://schemas.openxmlformats.org/presentationml/2006/ole">
              <p:oleObj spid="_x0000_s9233" name="Equation" r:id="rId5" imgW="1562100" imgH="368300" progId="Equation.3">
                <p:embed/>
              </p:oleObj>
            </a:graphicData>
          </a:graphic>
        </p:graphicFrame>
      </p:grpSp>
      <p:grpSp>
        <p:nvGrpSpPr>
          <p:cNvPr id="264197" name="Group 5"/>
          <p:cNvGrpSpPr>
            <a:grpSpLocks/>
          </p:cNvGrpSpPr>
          <p:nvPr/>
        </p:nvGrpSpPr>
        <p:grpSpPr bwMode="auto">
          <a:xfrm>
            <a:off x="736600" y="6149975"/>
            <a:ext cx="895350" cy="0"/>
            <a:chOff x="464" y="3874"/>
            <a:chExt cx="564" cy="0"/>
          </a:xfrm>
        </p:grpSpPr>
        <p:sp>
          <p:nvSpPr>
            <p:cNvPr id="264198" name="Line 6"/>
            <p:cNvSpPr>
              <a:spLocks noChangeShapeType="1"/>
            </p:cNvSpPr>
            <p:nvPr/>
          </p:nvSpPr>
          <p:spPr bwMode="auto">
            <a:xfrm>
              <a:off x="464" y="3874"/>
              <a:ext cx="96" cy="0"/>
            </a:xfrm>
            <a:prstGeom prst="line">
              <a:avLst/>
            </a:prstGeom>
            <a:noFill/>
            <a:ln w="9525">
              <a:solidFill>
                <a:schemeClr val="tx1"/>
              </a:solidFill>
              <a:round/>
              <a:headEnd/>
              <a:tailEnd type="triangl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64199" name="Line 7"/>
            <p:cNvSpPr>
              <a:spLocks noChangeShapeType="1"/>
            </p:cNvSpPr>
            <p:nvPr/>
          </p:nvSpPr>
          <p:spPr bwMode="auto">
            <a:xfrm>
              <a:off x="932" y="3874"/>
              <a:ext cx="96" cy="0"/>
            </a:xfrm>
            <a:prstGeom prst="line">
              <a:avLst/>
            </a:prstGeom>
            <a:noFill/>
            <a:ln w="9525">
              <a:solidFill>
                <a:schemeClr val="tx1"/>
              </a:solidFill>
              <a:round/>
              <a:headEnd/>
              <a:tailEnd type="triangl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64200" name="Line 8"/>
            <p:cNvSpPr>
              <a:spLocks noChangeShapeType="1"/>
            </p:cNvSpPr>
            <p:nvPr/>
          </p:nvSpPr>
          <p:spPr bwMode="auto">
            <a:xfrm>
              <a:off x="704" y="3874"/>
              <a:ext cx="96" cy="0"/>
            </a:xfrm>
            <a:prstGeom prst="line">
              <a:avLst/>
            </a:prstGeom>
            <a:noFill/>
            <a:ln w="9525">
              <a:solidFill>
                <a:schemeClr val="tx1"/>
              </a:solidFill>
              <a:round/>
              <a:headEnd/>
              <a:tailEnd type="triangl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264201" name="Rectangle 9"/>
          <p:cNvSpPr>
            <a:spLocks noGrp="1" noChangeArrowheads="1"/>
          </p:cNvSpPr>
          <p:nvPr>
            <p:ph type="title"/>
          </p:nvPr>
        </p:nvSpPr>
        <p:spPr>
          <a:xfrm>
            <a:off x="301625" y="-76200"/>
            <a:ext cx="8540750" cy="11430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tLang="en-US" sz="2800" smtClean="0">
                <a:effectLst/>
              </a:rPr>
              <a:t>Absolute and Relative Velocity in Plane Motion</a:t>
            </a:r>
          </a:p>
        </p:txBody>
      </p:sp>
      <p:pic>
        <p:nvPicPr>
          <p:cNvPr id="264202" name="Picture 10"/>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1008063" y="989013"/>
            <a:ext cx="7134225" cy="26511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64203" name="Text Box 11"/>
          <p:cNvSpPr txBox="1">
            <a:spLocks noChangeArrowheads="1"/>
          </p:cNvSpPr>
          <p:nvPr/>
        </p:nvSpPr>
        <p:spPr bwMode="auto">
          <a:xfrm>
            <a:off x="2684463" y="3859213"/>
            <a:ext cx="6459537" cy="1006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a:solidFill>
                  <a:srgbClr val="000099"/>
                </a:solidFill>
                <a:latin typeface="Times New Roman" pitchFamily="18" charset="0"/>
              </a:rPr>
              <a:t>Any plane motion can be replaced by a translation of an arbitrary reference point </a:t>
            </a:r>
            <a:r>
              <a:rPr lang="en-US" altLang="en-US" sz="2000" i="1">
                <a:solidFill>
                  <a:srgbClr val="000099"/>
                </a:solidFill>
                <a:latin typeface="Times New Roman" pitchFamily="18" charset="0"/>
              </a:rPr>
              <a:t>A</a:t>
            </a:r>
            <a:r>
              <a:rPr lang="en-US" altLang="en-US" sz="2000">
                <a:solidFill>
                  <a:srgbClr val="000099"/>
                </a:solidFill>
                <a:latin typeface="Times New Roman" pitchFamily="18" charset="0"/>
              </a:rPr>
              <a:t> and a simultaneous rotation about </a:t>
            </a:r>
            <a:r>
              <a:rPr lang="en-US" altLang="en-US" sz="2000" i="1">
                <a:solidFill>
                  <a:srgbClr val="000099"/>
                </a:solidFill>
                <a:latin typeface="Times New Roman" pitchFamily="18" charset="0"/>
              </a:rPr>
              <a:t>A</a:t>
            </a:r>
            <a:r>
              <a:rPr lang="en-US" altLang="en-US" sz="2000">
                <a:solidFill>
                  <a:srgbClr val="000099"/>
                </a:solidFill>
                <a:latin typeface="Times New Roman" pitchFamily="18" charset="0"/>
              </a:rPr>
              <a:t>.</a:t>
            </a:r>
          </a:p>
        </p:txBody>
      </p:sp>
      <p:graphicFrame>
        <p:nvGraphicFramePr>
          <p:cNvPr id="264204" name="Object 12"/>
          <p:cNvGraphicFramePr>
            <a:graphicFrameLocks noChangeAspect="1"/>
          </p:cNvGraphicFramePr>
          <p:nvPr/>
        </p:nvGraphicFramePr>
        <p:xfrm>
          <a:off x="3371850" y="5411788"/>
          <a:ext cx="3327400" cy="406400"/>
        </p:xfrm>
        <a:graphic>
          <a:graphicData uri="http://schemas.openxmlformats.org/presentationml/2006/ole">
            <p:oleObj spid="_x0000_s9234" name="Equation" r:id="rId7" imgW="3327400" imgH="406400" progId="Equation.3">
              <p:embed/>
            </p:oleObj>
          </a:graphicData>
        </a:graphic>
      </p:graphicFrame>
      <p:graphicFrame>
        <p:nvGraphicFramePr>
          <p:cNvPr id="264205" name="Object 13"/>
          <p:cNvGraphicFramePr>
            <a:graphicFrameLocks noChangeAspect="1"/>
          </p:cNvGraphicFramePr>
          <p:nvPr/>
        </p:nvGraphicFramePr>
        <p:xfrm>
          <a:off x="3371850" y="5942013"/>
          <a:ext cx="2057400" cy="406400"/>
        </p:xfrm>
        <a:graphic>
          <a:graphicData uri="http://schemas.openxmlformats.org/presentationml/2006/ole">
            <p:oleObj spid="_x0000_s9235" name="Equation" r:id="rId8" imgW="2057400" imgH="406400" progId="Equation.3">
              <p:embed/>
            </p:oleObj>
          </a:graphicData>
        </a:graphic>
      </p:graphicFrame>
    </p:spTree>
    <p:extLst>
      <p:ext uri="{BB962C8B-B14F-4D97-AF65-F5344CB8AC3E}">
        <p14:creationId xmlns="" xmlns:p14="http://schemas.microsoft.com/office/powerpoint/2010/main" val="23895487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64194"/>
                                        </p:tgtEl>
                                        <p:attrNameLst>
                                          <p:attrName>style.visibility</p:attrName>
                                        </p:attrNameLst>
                                      </p:cBhvr>
                                      <p:to>
                                        <p:strVal val="visible"/>
                                      </p:to>
                                    </p:set>
                                  </p:childTnLst>
                                </p:cTn>
                              </p:par>
                            </p:childTnLst>
                          </p:cTn>
                        </p:par>
                        <p:par>
                          <p:cTn id="7" fill="hold" nodeType="afterGroup">
                            <p:stCondLst>
                              <p:cond delay="500"/>
                            </p:stCondLst>
                            <p:childTnLst>
                              <p:par>
                                <p:cTn id="8" presetID="22" presetClass="entr" presetSubtype="8" fill="hold" nodeType="afterEffect">
                                  <p:stCondLst>
                                    <p:cond delay="0"/>
                                  </p:stCondLst>
                                  <p:childTnLst>
                                    <p:set>
                                      <p:cBhvr>
                                        <p:cTn id="9" dur="1" fill="hold">
                                          <p:stCondLst>
                                            <p:cond delay="0"/>
                                          </p:stCondLst>
                                        </p:cTn>
                                        <p:tgtEl>
                                          <p:spTgt spid="264197"/>
                                        </p:tgtEl>
                                        <p:attrNameLst>
                                          <p:attrName>style.visibility</p:attrName>
                                        </p:attrNameLst>
                                      </p:cBhvr>
                                      <p:to>
                                        <p:strVal val="visible"/>
                                      </p:to>
                                    </p:set>
                                    <p:animEffect transition="in" filter="wipe(left)">
                                      <p:cBhvr>
                                        <p:cTn id="10" dur="500"/>
                                        <p:tgtEl>
                                          <p:spTgt spid="26419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26420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64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a:xfrm>
            <a:off x="301625" y="0"/>
            <a:ext cx="8540750" cy="11430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tLang="en-US" sz="2800" smtClean="0">
                <a:effectLst/>
              </a:rPr>
              <a:t>Absolute and Relative Velocity in Plane Motion</a:t>
            </a:r>
          </a:p>
        </p:txBody>
      </p:sp>
      <p:grpSp>
        <p:nvGrpSpPr>
          <p:cNvPr id="266243" name="Group 3"/>
          <p:cNvGrpSpPr>
            <a:grpSpLocks/>
          </p:cNvGrpSpPr>
          <p:nvPr/>
        </p:nvGrpSpPr>
        <p:grpSpPr bwMode="auto">
          <a:xfrm>
            <a:off x="381000" y="1062038"/>
            <a:ext cx="8123238" cy="3354387"/>
            <a:chOff x="240" y="669"/>
            <a:chExt cx="5117" cy="2113"/>
          </a:xfrm>
        </p:grpSpPr>
        <p:pic>
          <p:nvPicPr>
            <p:cNvPr id="266244" name="Picture 4"/>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299" y="669"/>
              <a:ext cx="3653" cy="159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66245" name="Text Box 5"/>
            <p:cNvSpPr txBox="1">
              <a:spLocks noChangeArrowheads="1"/>
            </p:cNvSpPr>
            <p:nvPr/>
          </p:nvSpPr>
          <p:spPr bwMode="auto">
            <a:xfrm>
              <a:off x="240" y="2340"/>
              <a:ext cx="5117" cy="44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a:solidFill>
                    <a:srgbClr val="000099"/>
                  </a:solidFill>
                  <a:latin typeface="Times New Roman" pitchFamily="18" charset="0"/>
                </a:rPr>
                <a:t>Assuming that the velocity </a:t>
              </a:r>
              <a:r>
                <a:rPr lang="en-US" altLang="en-US" sz="2000" i="1">
                  <a:solidFill>
                    <a:srgbClr val="000099"/>
                  </a:solidFill>
                  <a:latin typeface="Times New Roman" pitchFamily="18" charset="0"/>
                </a:rPr>
                <a:t>v</a:t>
              </a:r>
              <a:r>
                <a:rPr lang="en-US" altLang="en-US" sz="2000" i="1" baseline="-25000">
                  <a:solidFill>
                    <a:srgbClr val="000099"/>
                  </a:solidFill>
                  <a:latin typeface="Times New Roman" pitchFamily="18" charset="0"/>
                </a:rPr>
                <a:t>A</a:t>
              </a:r>
              <a:r>
                <a:rPr lang="en-US" altLang="en-US" sz="2000">
                  <a:solidFill>
                    <a:srgbClr val="000099"/>
                  </a:solidFill>
                  <a:latin typeface="Times New Roman" pitchFamily="18" charset="0"/>
                </a:rPr>
                <a:t> of end </a:t>
              </a:r>
              <a:r>
                <a:rPr lang="en-US" altLang="en-US" sz="2000" i="1">
                  <a:solidFill>
                    <a:srgbClr val="000099"/>
                  </a:solidFill>
                  <a:latin typeface="Times New Roman" pitchFamily="18" charset="0"/>
                </a:rPr>
                <a:t>A</a:t>
              </a:r>
              <a:r>
                <a:rPr lang="en-US" altLang="en-US" sz="2000">
                  <a:solidFill>
                    <a:srgbClr val="000099"/>
                  </a:solidFill>
                  <a:latin typeface="Times New Roman" pitchFamily="18" charset="0"/>
                </a:rPr>
                <a:t> is known, wish to determine the velocity </a:t>
              </a:r>
              <a:r>
                <a:rPr lang="en-US" altLang="en-US" sz="2000" i="1">
                  <a:solidFill>
                    <a:srgbClr val="000099"/>
                  </a:solidFill>
                  <a:latin typeface="Times New Roman" pitchFamily="18" charset="0"/>
                </a:rPr>
                <a:t>v</a:t>
              </a:r>
              <a:r>
                <a:rPr lang="en-US" altLang="en-US" sz="2000" i="1" baseline="-25000">
                  <a:solidFill>
                    <a:srgbClr val="000099"/>
                  </a:solidFill>
                  <a:latin typeface="Times New Roman" pitchFamily="18" charset="0"/>
                </a:rPr>
                <a:t>B</a:t>
              </a:r>
              <a:r>
                <a:rPr lang="en-US" altLang="en-US" sz="2000">
                  <a:solidFill>
                    <a:srgbClr val="000099"/>
                  </a:solidFill>
                  <a:latin typeface="Times New Roman" pitchFamily="18" charset="0"/>
                </a:rPr>
                <a:t> of end </a:t>
              </a:r>
              <a:r>
                <a:rPr lang="en-US" altLang="en-US" sz="2000" i="1">
                  <a:solidFill>
                    <a:srgbClr val="000099"/>
                  </a:solidFill>
                  <a:latin typeface="Times New Roman" pitchFamily="18" charset="0"/>
                </a:rPr>
                <a:t>B</a:t>
              </a:r>
              <a:r>
                <a:rPr lang="en-US" altLang="en-US" sz="2000">
                  <a:solidFill>
                    <a:srgbClr val="000099"/>
                  </a:solidFill>
                  <a:latin typeface="Times New Roman" pitchFamily="18" charset="0"/>
                </a:rPr>
                <a:t> and the angular velocity </a:t>
              </a:r>
              <a:r>
                <a:rPr lang="en-US" altLang="en-US" sz="2000">
                  <a:solidFill>
                    <a:srgbClr val="000099"/>
                  </a:solidFill>
                  <a:latin typeface="Symbol" pitchFamily="18" charset="2"/>
                </a:rPr>
                <a:t>w</a:t>
              </a:r>
              <a:r>
                <a:rPr lang="en-US" altLang="en-US" sz="2000">
                  <a:solidFill>
                    <a:srgbClr val="000099"/>
                  </a:solidFill>
                  <a:latin typeface="Times New Roman" pitchFamily="18" charset="0"/>
                </a:rPr>
                <a:t> in terms of </a:t>
              </a:r>
              <a:r>
                <a:rPr lang="en-US" altLang="en-US" sz="2000" i="1">
                  <a:solidFill>
                    <a:srgbClr val="000099"/>
                  </a:solidFill>
                  <a:latin typeface="Times New Roman" pitchFamily="18" charset="0"/>
                </a:rPr>
                <a:t>v</a:t>
              </a:r>
              <a:r>
                <a:rPr lang="en-US" altLang="en-US" sz="2000" i="1" baseline="-25000">
                  <a:solidFill>
                    <a:srgbClr val="000099"/>
                  </a:solidFill>
                  <a:latin typeface="Times New Roman" pitchFamily="18" charset="0"/>
                </a:rPr>
                <a:t>A</a:t>
              </a:r>
              <a:r>
                <a:rPr lang="en-US" altLang="en-US" sz="2000">
                  <a:solidFill>
                    <a:srgbClr val="000099"/>
                  </a:solidFill>
                  <a:latin typeface="Times New Roman" pitchFamily="18" charset="0"/>
                </a:rPr>
                <a:t>, </a:t>
              </a:r>
              <a:r>
                <a:rPr lang="en-US" altLang="en-US" sz="2000" i="1">
                  <a:solidFill>
                    <a:srgbClr val="000099"/>
                  </a:solidFill>
                  <a:latin typeface="Times New Roman" pitchFamily="18" charset="0"/>
                </a:rPr>
                <a:t>l</a:t>
              </a:r>
              <a:r>
                <a:rPr lang="en-US" altLang="en-US" sz="2000">
                  <a:solidFill>
                    <a:srgbClr val="000099"/>
                  </a:solidFill>
                  <a:latin typeface="Times New Roman" pitchFamily="18" charset="0"/>
                </a:rPr>
                <a:t>, and </a:t>
              </a:r>
              <a:r>
                <a:rPr lang="en-US" altLang="en-US" sz="2000">
                  <a:solidFill>
                    <a:srgbClr val="000099"/>
                  </a:solidFill>
                  <a:latin typeface="Symbol" pitchFamily="18" charset="2"/>
                </a:rPr>
                <a:t>q</a:t>
              </a:r>
              <a:r>
                <a:rPr lang="en-US" altLang="en-US" sz="2000">
                  <a:solidFill>
                    <a:srgbClr val="000099"/>
                  </a:solidFill>
                  <a:latin typeface="Times New Roman" pitchFamily="18" charset="0"/>
                </a:rPr>
                <a:t>.</a:t>
              </a:r>
            </a:p>
          </p:txBody>
        </p:sp>
      </p:grpSp>
      <p:grpSp>
        <p:nvGrpSpPr>
          <p:cNvPr id="266246" name="Group 6"/>
          <p:cNvGrpSpPr>
            <a:grpSpLocks/>
          </p:cNvGrpSpPr>
          <p:nvPr/>
        </p:nvGrpSpPr>
        <p:grpSpPr bwMode="auto">
          <a:xfrm>
            <a:off x="403225" y="1143000"/>
            <a:ext cx="8386763" cy="3730625"/>
            <a:chOff x="254" y="720"/>
            <a:chExt cx="5283" cy="2350"/>
          </a:xfrm>
        </p:grpSpPr>
        <p:pic>
          <p:nvPicPr>
            <p:cNvPr id="266247" name="Picture 7"/>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4434" y="720"/>
              <a:ext cx="1103" cy="15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66248" name="Text Box 8"/>
            <p:cNvSpPr txBox="1">
              <a:spLocks noChangeArrowheads="1"/>
            </p:cNvSpPr>
            <p:nvPr/>
          </p:nvSpPr>
          <p:spPr bwMode="auto">
            <a:xfrm>
              <a:off x="254" y="2820"/>
              <a:ext cx="5102" cy="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a:solidFill>
                    <a:srgbClr val="000099"/>
                  </a:solidFill>
                  <a:latin typeface="Times New Roman" pitchFamily="18" charset="0"/>
                </a:rPr>
                <a:t>The direction of </a:t>
              </a:r>
              <a:r>
                <a:rPr lang="en-US" altLang="en-US" sz="2000" i="1">
                  <a:solidFill>
                    <a:srgbClr val="000099"/>
                  </a:solidFill>
                  <a:latin typeface="Times New Roman" pitchFamily="18" charset="0"/>
                </a:rPr>
                <a:t>v</a:t>
              </a:r>
              <a:r>
                <a:rPr lang="en-US" altLang="en-US" sz="2000" i="1" baseline="-25000">
                  <a:solidFill>
                    <a:srgbClr val="000099"/>
                  </a:solidFill>
                  <a:latin typeface="Times New Roman" pitchFamily="18" charset="0"/>
                </a:rPr>
                <a:t>B</a:t>
              </a:r>
              <a:r>
                <a:rPr lang="en-US" altLang="en-US" sz="2000">
                  <a:solidFill>
                    <a:srgbClr val="000099"/>
                  </a:solidFill>
                  <a:latin typeface="Times New Roman" pitchFamily="18" charset="0"/>
                </a:rPr>
                <a:t> and </a:t>
              </a:r>
              <a:r>
                <a:rPr lang="en-US" altLang="en-US" sz="2000" i="1">
                  <a:solidFill>
                    <a:srgbClr val="000099"/>
                  </a:solidFill>
                  <a:latin typeface="Times New Roman" pitchFamily="18" charset="0"/>
                </a:rPr>
                <a:t>v</a:t>
              </a:r>
              <a:r>
                <a:rPr lang="en-US" altLang="en-US" sz="2000" i="1" baseline="-25000">
                  <a:solidFill>
                    <a:srgbClr val="000099"/>
                  </a:solidFill>
                  <a:latin typeface="Times New Roman" pitchFamily="18" charset="0"/>
                </a:rPr>
                <a:t>B/A</a:t>
              </a:r>
              <a:r>
                <a:rPr lang="en-US" altLang="en-US" sz="2000">
                  <a:solidFill>
                    <a:srgbClr val="000099"/>
                  </a:solidFill>
                  <a:latin typeface="Times New Roman" pitchFamily="18" charset="0"/>
                </a:rPr>
                <a:t> are known.  Complete the velocity diagram.</a:t>
              </a:r>
            </a:p>
          </p:txBody>
        </p:sp>
      </p:grpSp>
      <p:graphicFrame>
        <p:nvGraphicFramePr>
          <p:cNvPr id="266249" name="Object 9"/>
          <p:cNvGraphicFramePr>
            <a:graphicFrameLocks noChangeAspect="1"/>
          </p:cNvGraphicFramePr>
          <p:nvPr/>
        </p:nvGraphicFramePr>
        <p:xfrm>
          <a:off x="2079625" y="5057775"/>
          <a:ext cx="1397000" cy="1066800"/>
        </p:xfrm>
        <a:graphic>
          <a:graphicData uri="http://schemas.openxmlformats.org/presentationml/2006/ole">
            <p:oleObj spid="_x0000_s10252" name="Equation" r:id="rId6" imgW="1397000" imgH="1066800" progId="Equation.3">
              <p:embed/>
            </p:oleObj>
          </a:graphicData>
        </a:graphic>
      </p:graphicFrame>
      <p:graphicFrame>
        <p:nvGraphicFramePr>
          <p:cNvPr id="266250" name="Object 10"/>
          <p:cNvGraphicFramePr>
            <a:graphicFrameLocks noChangeAspect="1"/>
          </p:cNvGraphicFramePr>
          <p:nvPr/>
        </p:nvGraphicFramePr>
        <p:xfrm>
          <a:off x="4781550" y="5057775"/>
          <a:ext cx="1905000" cy="1397000"/>
        </p:xfrm>
        <a:graphic>
          <a:graphicData uri="http://schemas.openxmlformats.org/presentationml/2006/ole">
            <p:oleObj spid="_x0000_s10253" name="Equation" r:id="rId7" imgW="1905000" imgH="1397000" progId="Equation.3">
              <p:embed/>
            </p:oleObj>
          </a:graphicData>
        </a:graphic>
      </p:graphicFrame>
    </p:spTree>
    <p:extLst>
      <p:ext uri="{BB962C8B-B14F-4D97-AF65-F5344CB8AC3E}">
        <p14:creationId xmlns="" xmlns:p14="http://schemas.microsoft.com/office/powerpoint/2010/main" val="29387300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6624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6624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2662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ChangeArrowheads="1"/>
          </p:cNvSpPr>
          <p:nvPr>
            <p:ph type="title"/>
          </p:nvPr>
        </p:nvSpPr>
        <p:spPr>
          <a:xfrm>
            <a:off x="301625" y="0"/>
            <a:ext cx="8540750" cy="11430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tLang="en-US" sz="2800" smtClean="0">
                <a:effectLst/>
              </a:rPr>
              <a:t>Absolute and Relative Velocity in Plane Motion</a:t>
            </a:r>
          </a:p>
        </p:txBody>
      </p:sp>
      <p:pic>
        <p:nvPicPr>
          <p:cNvPr id="268291" name="Picture 3"/>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342900" y="1106488"/>
            <a:ext cx="6188075" cy="284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268292" name="Picture 4"/>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6880225" y="1189038"/>
            <a:ext cx="1624013" cy="24479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68293" name="Text Box 5"/>
          <p:cNvSpPr txBox="1">
            <a:spLocks noChangeArrowheads="1"/>
          </p:cNvSpPr>
          <p:nvPr/>
        </p:nvSpPr>
        <p:spPr bwMode="auto">
          <a:xfrm>
            <a:off x="450850" y="4227513"/>
            <a:ext cx="8467725" cy="701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a:solidFill>
                  <a:srgbClr val="000099"/>
                </a:solidFill>
                <a:latin typeface="Times New Roman" pitchFamily="18" charset="0"/>
              </a:rPr>
              <a:t>Selecting point </a:t>
            </a:r>
            <a:r>
              <a:rPr lang="en-US" altLang="en-US" sz="2000" i="1">
                <a:solidFill>
                  <a:srgbClr val="000099"/>
                </a:solidFill>
                <a:latin typeface="Times New Roman" pitchFamily="18" charset="0"/>
              </a:rPr>
              <a:t>B</a:t>
            </a:r>
            <a:r>
              <a:rPr lang="en-US" altLang="en-US" sz="2000">
                <a:solidFill>
                  <a:srgbClr val="000099"/>
                </a:solidFill>
                <a:latin typeface="Times New Roman" pitchFamily="18" charset="0"/>
              </a:rPr>
              <a:t> as the reference point and solving for the velocity </a:t>
            </a:r>
            <a:r>
              <a:rPr lang="en-US" altLang="en-US" sz="2000" i="1">
                <a:solidFill>
                  <a:srgbClr val="000099"/>
                </a:solidFill>
                <a:latin typeface="Times New Roman" pitchFamily="18" charset="0"/>
              </a:rPr>
              <a:t>v</a:t>
            </a:r>
            <a:r>
              <a:rPr lang="en-US" altLang="en-US" sz="2000" i="1" baseline="-25000">
                <a:solidFill>
                  <a:srgbClr val="000099"/>
                </a:solidFill>
                <a:latin typeface="Times New Roman" pitchFamily="18" charset="0"/>
              </a:rPr>
              <a:t>A</a:t>
            </a:r>
            <a:r>
              <a:rPr lang="en-US" altLang="en-US" sz="2000">
                <a:solidFill>
                  <a:srgbClr val="000099"/>
                </a:solidFill>
                <a:latin typeface="Times New Roman" pitchFamily="18" charset="0"/>
              </a:rPr>
              <a:t> of end </a:t>
            </a:r>
            <a:r>
              <a:rPr lang="en-US" altLang="en-US" sz="2000" i="1">
                <a:solidFill>
                  <a:srgbClr val="000099"/>
                </a:solidFill>
                <a:latin typeface="Times New Roman" pitchFamily="18" charset="0"/>
              </a:rPr>
              <a:t>A</a:t>
            </a:r>
            <a:r>
              <a:rPr lang="en-US" altLang="en-US" sz="2000">
                <a:solidFill>
                  <a:srgbClr val="000099"/>
                </a:solidFill>
                <a:latin typeface="Times New Roman" pitchFamily="18" charset="0"/>
              </a:rPr>
              <a:t> and the angular velocity </a:t>
            </a:r>
            <a:r>
              <a:rPr lang="en-US" altLang="en-US" sz="2000" i="1">
                <a:solidFill>
                  <a:srgbClr val="000099"/>
                </a:solidFill>
                <a:latin typeface="Symbol" pitchFamily="18" charset="2"/>
              </a:rPr>
              <a:t>w</a:t>
            </a:r>
            <a:r>
              <a:rPr lang="en-US" altLang="en-US" sz="2000">
                <a:solidFill>
                  <a:srgbClr val="000099"/>
                </a:solidFill>
                <a:latin typeface="Times New Roman" pitchFamily="18" charset="0"/>
              </a:rPr>
              <a:t> leads to an equivalent velocity triangle.</a:t>
            </a:r>
          </a:p>
        </p:txBody>
      </p:sp>
      <p:sp>
        <p:nvSpPr>
          <p:cNvPr id="268294" name="Text Box 6"/>
          <p:cNvSpPr txBox="1">
            <a:spLocks noChangeArrowheads="1"/>
          </p:cNvSpPr>
          <p:nvPr/>
        </p:nvSpPr>
        <p:spPr bwMode="auto">
          <a:xfrm>
            <a:off x="476250" y="5016500"/>
            <a:ext cx="8288338" cy="701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i="1">
                <a:solidFill>
                  <a:srgbClr val="000099"/>
                </a:solidFill>
                <a:latin typeface="Times New Roman" pitchFamily="18" charset="0"/>
              </a:rPr>
              <a:t>v</a:t>
            </a:r>
            <a:r>
              <a:rPr lang="en-US" altLang="en-US" sz="2000" i="1" baseline="-25000">
                <a:solidFill>
                  <a:srgbClr val="000099"/>
                </a:solidFill>
                <a:latin typeface="Times New Roman" pitchFamily="18" charset="0"/>
              </a:rPr>
              <a:t>A/B</a:t>
            </a:r>
            <a:r>
              <a:rPr lang="en-US" altLang="en-US" sz="2000">
                <a:solidFill>
                  <a:srgbClr val="000099"/>
                </a:solidFill>
                <a:latin typeface="Times New Roman" pitchFamily="18" charset="0"/>
              </a:rPr>
              <a:t> has the same magnitude but opposite sense of </a:t>
            </a:r>
            <a:r>
              <a:rPr lang="en-US" altLang="en-US" sz="2000" i="1">
                <a:solidFill>
                  <a:srgbClr val="000099"/>
                </a:solidFill>
                <a:latin typeface="Times New Roman" pitchFamily="18" charset="0"/>
              </a:rPr>
              <a:t>v</a:t>
            </a:r>
            <a:r>
              <a:rPr lang="en-US" altLang="en-US" sz="2000" i="1" baseline="-25000">
                <a:solidFill>
                  <a:srgbClr val="000099"/>
                </a:solidFill>
                <a:latin typeface="Times New Roman" pitchFamily="18" charset="0"/>
              </a:rPr>
              <a:t>B/A</a:t>
            </a:r>
            <a:r>
              <a:rPr lang="en-US" altLang="en-US" sz="2000">
                <a:solidFill>
                  <a:srgbClr val="000099"/>
                </a:solidFill>
                <a:latin typeface="Times New Roman" pitchFamily="18" charset="0"/>
              </a:rPr>
              <a:t>.  The sense of the relative velocity is dependent on the choice of reference point.</a:t>
            </a:r>
          </a:p>
        </p:txBody>
      </p:sp>
      <p:sp>
        <p:nvSpPr>
          <p:cNvPr id="268295" name="Text Box 7"/>
          <p:cNvSpPr txBox="1">
            <a:spLocks noChangeArrowheads="1"/>
          </p:cNvSpPr>
          <p:nvPr/>
        </p:nvSpPr>
        <p:spPr bwMode="auto">
          <a:xfrm>
            <a:off x="487363" y="5805488"/>
            <a:ext cx="8418512" cy="701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a:solidFill>
                  <a:srgbClr val="000099"/>
                </a:solidFill>
                <a:latin typeface="Times New Roman" pitchFamily="18" charset="0"/>
              </a:rPr>
              <a:t>Angular velocity </a:t>
            </a:r>
            <a:r>
              <a:rPr lang="en-US" altLang="en-US" sz="2000" i="1">
                <a:solidFill>
                  <a:srgbClr val="000099"/>
                </a:solidFill>
                <a:latin typeface="Symbol" pitchFamily="18" charset="2"/>
              </a:rPr>
              <a:t>w</a:t>
            </a:r>
            <a:r>
              <a:rPr lang="en-US" altLang="en-US" sz="2000">
                <a:solidFill>
                  <a:srgbClr val="000099"/>
                </a:solidFill>
                <a:latin typeface="Times New Roman" pitchFamily="18" charset="0"/>
              </a:rPr>
              <a:t> of the rod in its rotation about </a:t>
            </a:r>
            <a:r>
              <a:rPr lang="en-US" altLang="en-US" sz="2000" i="1">
                <a:solidFill>
                  <a:srgbClr val="000099"/>
                </a:solidFill>
                <a:latin typeface="Times New Roman" pitchFamily="18" charset="0"/>
              </a:rPr>
              <a:t>B</a:t>
            </a:r>
            <a:r>
              <a:rPr lang="en-US" altLang="en-US" sz="2000">
                <a:solidFill>
                  <a:srgbClr val="000099"/>
                </a:solidFill>
                <a:latin typeface="Times New Roman" pitchFamily="18" charset="0"/>
              </a:rPr>
              <a:t> is the same as its rotation about </a:t>
            </a:r>
            <a:r>
              <a:rPr lang="en-US" altLang="en-US" sz="2000" i="1">
                <a:solidFill>
                  <a:srgbClr val="000099"/>
                </a:solidFill>
                <a:latin typeface="Times New Roman" pitchFamily="18" charset="0"/>
              </a:rPr>
              <a:t>A.  </a:t>
            </a:r>
            <a:r>
              <a:rPr lang="en-US" altLang="en-US" sz="2000">
                <a:solidFill>
                  <a:srgbClr val="000099"/>
                </a:solidFill>
                <a:latin typeface="Times New Roman" pitchFamily="18" charset="0"/>
              </a:rPr>
              <a:t>Angular velocity is not dependent on the choice of reference point.</a:t>
            </a:r>
          </a:p>
        </p:txBody>
      </p:sp>
    </p:spTree>
    <p:extLst>
      <p:ext uri="{BB962C8B-B14F-4D97-AF65-F5344CB8AC3E}">
        <p14:creationId xmlns="" xmlns:p14="http://schemas.microsoft.com/office/powerpoint/2010/main" val="18750911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6829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682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294" grpId="0" autoUpdateAnimBg="0"/>
      <p:bldP spid="268295"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Grp="1" noChangeArrowheads="1"/>
          </p:cNvSpPr>
          <p:nvPr>
            <p:ph type="title"/>
          </p:nvPr>
        </p:nvSpPr>
        <p:spPr>
          <a:xfrm>
            <a:off x="301625" y="76200"/>
            <a:ext cx="8540750" cy="11430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tLang="en-US" sz="2800" smtClean="0">
                <a:effectLst/>
              </a:rPr>
              <a:t>Analysis of Plane Motion in Terms of a Parameter</a:t>
            </a:r>
          </a:p>
        </p:txBody>
      </p:sp>
      <p:pic>
        <p:nvPicPr>
          <p:cNvPr id="282627" name="Picture 3"/>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415925" y="1211263"/>
            <a:ext cx="2054225" cy="3033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82628" name="Text Box 4"/>
          <p:cNvSpPr txBox="1">
            <a:spLocks noChangeArrowheads="1"/>
          </p:cNvSpPr>
          <p:nvPr/>
        </p:nvSpPr>
        <p:spPr bwMode="auto">
          <a:xfrm>
            <a:off x="2660650" y="1081088"/>
            <a:ext cx="5911850" cy="1006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a:solidFill>
                  <a:srgbClr val="000099"/>
                </a:solidFill>
                <a:latin typeface="Times New Roman" pitchFamily="18" charset="0"/>
              </a:rPr>
              <a:t>In some cases, it is advantageous to determine the absolute velocity and acceleration of a mechanism directly.</a:t>
            </a:r>
          </a:p>
        </p:txBody>
      </p:sp>
      <p:grpSp>
        <p:nvGrpSpPr>
          <p:cNvPr id="282629" name="Group 5"/>
          <p:cNvGrpSpPr>
            <a:grpSpLocks/>
          </p:cNvGrpSpPr>
          <p:nvPr/>
        </p:nvGrpSpPr>
        <p:grpSpPr bwMode="auto">
          <a:xfrm>
            <a:off x="3065463" y="2236788"/>
            <a:ext cx="4448175" cy="328612"/>
            <a:chOff x="1931" y="1409"/>
            <a:chExt cx="2802" cy="207"/>
          </a:xfrm>
        </p:grpSpPr>
        <p:graphicFrame>
          <p:nvGraphicFramePr>
            <p:cNvPr id="282630" name="Object 6"/>
            <p:cNvGraphicFramePr>
              <a:graphicFrameLocks noChangeAspect="1"/>
            </p:cNvGraphicFramePr>
            <p:nvPr/>
          </p:nvGraphicFramePr>
          <p:xfrm>
            <a:off x="1931" y="1409"/>
            <a:ext cx="744" cy="200"/>
          </p:xfrm>
          <a:graphic>
            <a:graphicData uri="http://schemas.openxmlformats.org/presentationml/2006/ole">
              <p:oleObj spid="_x0000_s11286" name="Equation" r:id="rId5" imgW="1180588" imgH="317362" progId="Equation.3">
                <p:embed/>
              </p:oleObj>
            </a:graphicData>
          </a:graphic>
        </p:graphicFrame>
        <p:graphicFrame>
          <p:nvGraphicFramePr>
            <p:cNvPr id="282631" name="Object 7"/>
            <p:cNvGraphicFramePr>
              <a:graphicFrameLocks noChangeAspect="1"/>
            </p:cNvGraphicFramePr>
            <p:nvPr/>
          </p:nvGraphicFramePr>
          <p:xfrm>
            <a:off x="3957" y="1416"/>
            <a:ext cx="776" cy="200"/>
          </p:xfrm>
          <a:graphic>
            <a:graphicData uri="http://schemas.openxmlformats.org/presentationml/2006/ole">
              <p:oleObj spid="_x0000_s11287" name="Equation" r:id="rId6" imgW="1231366" imgH="317362" progId="Equation.3">
                <p:embed/>
              </p:oleObj>
            </a:graphicData>
          </a:graphic>
        </p:graphicFrame>
      </p:grpSp>
      <p:grpSp>
        <p:nvGrpSpPr>
          <p:cNvPr id="282632" name="Group 8"/>
          <p:cNvGrpSpPr>
            <a:grpSpLocks/>
          </p:cNvGrpSpPr>
          <p:nvPr/>
        </p:nvGrpSpPr>
        <p:grpSpPr bwMode="auto">
          <a:xfrm>
            <a:off x="3065463" y="2828925"/>
            <a:ext cx="4714875" cy="1054100"/>
            <a:chOff x="1931" y="1782"/>
            <a:chExt cx="2970" cy="664"/>
          </a:xfrm>
        </p:grpSpPr>
        <p:graphicFrame>
          <p:nvGraphicFramePr>
            <p:cNvPr id="282633" name="Object 9"/>
            <p:cNvGraphicFramePr>
              <a:graphicFrameLocks noChangeAspect="1"/>
            </p:cNvGraphicFramePr>
            <p:nvPr/>
          </p:nvGraphicFramePr>
          <p:xfrm>
            <a:off x="1931" y="1782"/>
            <a:ext cx="872" cy="664"/>
          </p:xfrm>
          <a:graphic>
            <a:graphicData uri="http://schemas.openxmlformats.org/presentationml/2006/ole">
              <p:oleObj spid="_x0000_s11288" name="Equation" r:id="rId7" imgW="1384300" imgH="1054100" progId="Equation.3">
                <p:embed/>
              </p:oleObj>
            </a:graphicData>
          </a:graphic>
        </p:graphicFrame>
        <p:graphicFrame>
          <p:nvGraphicFramePr>
            <p:cNvPr id="282634" name="Object 10"/>
            <p:cNvGraphicFramePr>
              <a:graphicFrameLocks noChangeAspect="1"/>
            </p:cNvGraphicFramePr>
            <p:nvPr/>
          </p:nvGraphicFramePr>
          <p:xfrm>
            <a:off x="3957" y="1782"/>
            <a:ext cx="944" cy="664"/>
          </p:xfrm>
          <a:graphic>
            <a:graphicData uri="http://schemas.openxmlformats.org/presentationml/2006/ole">
              <p:oleObj spid="_x0000_s11289" name="Equation" r:id="rId8" imgW="1498600" imgH="1054100" progId="Equation.3">
                <p:embed/>
              </p:oleObj>
            </a:graphicData>
          </a:graphic>
        </p:graphicFrame>
      </p:grpSp>
    </p:spTree>
    <p:extLst>
      <p:ext uri="{BB962C8B-B14F-4D97-AF65-F5344CB8AC3E}">
        <p14:creationId xmlns="" xmlns:p14="http://schemas.microsoft.com/office/powerpoint/2010/main" val="11164276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8262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826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 problem 4</a:t>
            </a:r>
            <a:endParaRPr lang="en-IN" dirty="0"/>
          </a:p>
        </p:txBody>
      </p:sp>
      <p:sp>
        <p:nvSpPr>
          <p:cNvPr id="3" name="Content Placeholder 2"/>
          <p:cNvSpPr>
            <a:spLocks noGrp="1"/>
          </p:cNvSpPr>
          <p:nvPr>
            <p:ph idx="1"/>
          </p:nvPr>
        </p:nvSpPr>
        <p:spPr/>
        <p:txBody>
          <a:bodyPr/>
          <a:lstStyle/>
          <a:p>
            <a:r>
              <a:rPr lang="en-IN" dirty="0" smtClean="0"/>
              <a:t>The bar AB of length 5m slides in </a:t>
            </a:r>
            <a:r>
              <a:rPr lang="en-IN" dirty="0" err="1" smtClean="0"/>
              <a:t>xy</a:t>
            </a:r>
            <a:r>
              <a:rPr lang="en-IN" dirty="0" smtClean="0"/>
              <a:t> plane. The velocity of point A shown is 10 m/s downwards and makes an angle 60 degree with vertical. Determine the velocity of point B and mid-point C.</a:t>
            </a:r>
            <a:endParaRPr lang="en-IN" dirty="0"/>
          </a:p>
        </p:txBody>
      </p:sp>
    </p:spTree>
    <p:extLst>
      <p:ext uri="{BB962C8B-B14F-4D97-AF65-F5344CB8AC3E}">
        <p14:creationId xmlns="" xmlns:p14="http://schemas.microsoft.com/office/powerpoint/2010/main" val="81297493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a:xfrm>
            <a:off x="301625" y="76200"/>
            <a:ext cx="8540750" cy="11430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tLang="en-US" sz="2800" smtClean="0">
                <a:effectLst/>
              </a:rPr>
              <a:t>Instantaneous Center of Rotation in Plane Motion</a:t>
            </a:r>
          </a:p>
        </p:txBody>
      </p:sp>
      <p:grpSp>
        <p:nvGrpSpPr>
          <p:cNvPr id="270339" name="Group 3"/>
          <p:cNvGrpSpPr>
            <a:grpSpLocks/>
          </p:cNvGrpSpPr>
          <p:nvPr/>
        </p:nvGrpSpPr>
        <p:grpSpPr bwMode="auto">
          <a:xfrm>
            <a:off x="377825" y="1074738"/>
            <a:ext cx="8694738" cy="1892300"/>
            <a:chOff x="238" y="677"/>
            <a:chExt cx="5477" cy="1192"/>
          </a:xfrm>
        </p:grpSpPr>
        <p:pic>
          <p:nvPicPr>
            <p:cNvPr id="270340" name="Picture 4"/>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38" y="677"/>
              <a:ext cx="1436" cy="11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70341" name="Text Box 5"/>
            <p:cNvSpPr txBox="1">
              <a:spLocks noChangeArrowheads="1"/>
            </p:cNvSpPr>
            <p:nvPr/>
          </p:nvSpPr>
          <p:spPr bwMode="auto">
            <a:xfrm>
              <a:off x="1795" y="725"/>
              <a:ext cx="3920" cy="8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a:solidFill>
                    <a:srgbClr val="000099"/>
                  </a:solidFill>
                  <a:latin typeface="Times New Roman" pitchFamily="18" charset="0"/>
                </a:rPr>
                <a:t>Plane motion of all particles in a slab can always be replaced by the translation of an arbitrary point </a:t>
              </a:r>
              <a:r>
                <a:rPr lang="en-US" altLang="en-US" sz="2000" i="1">
                  <a:solidFill>
                    <a:srgbClr val="000099"/>
                  </a:solidFill>
                  <a:latin typeface="Times New Roman" pitchFamily="18" charset="0"/>
                </a:rPr>
                <a:t>A </a:t>
              </a:r>
              <a:r>
                <a:rPr lang="en-US" altLang="en-US" sz="2000">
                  <a:solidFill>
                    <a:srgbClr val="000099"/>
                  </a:solidFill>
                  <a:latin typeface="Times New Roman" pitchFamily="18" charset="0"/>
                </a:rPr>
                <a:t>and a rotation about </a:t>
              </a:r>
              <a:r>
                <a:rPr lang="en-US" altLang="en-US" sz="2000" i="1">
                  <a:solidFill>
                    <a:srgbClr val="000099"/>
                  </a:solidFill>
                  <a:latin typeface="Times New Roman" pitchFamily="18" charset="0"/>
                </a:rPr>
                <a:t>A </a:t>
              </a:r>
              <a:r>
                <a:rPr lang="en-US" altLang="en-US" sz="2000">
                  <a:solidFill>
                    <a:srgbClr val="000099"/>
                  </a:solidFill>
                  <a:latin typeface="Times New Roman" pitchFamily="18" charset="0"/>
                </a:rPr>
                <a:t>with an angular velocity that is independent of the choice of </a:t>
              </a:r>
              <a:r>
                <a:rPr lang="en-US" altLang="en-US" sz="2000" i="1">
                  <a:solidFill>
                    <a:srgbClr val="000099"/>
                  </a:solidFill>
                  <a:latin typeface="Times New Roman" pitchFamily="18" charset="0"/>
                </a:rPr>
                <a:t>A.</a:t>
              </a:r>
              <a:endParaRPr lang="en-US" altLang="en-US" sz="2000">
                <a:solidFill>
                  <a:srgbClr val="000099"/>
                </a:solidFill>
                <a:latin typeface="Times New Roman" pitchFamily="18" charset="0"/>
              </a:endParaRPr>
            </a:p>
          </p:txBody>
        </p:sp>
      </p:grpSp>
      <p:grpSp>
        <p:nvGrpSpPr>
          <p:cNvPr id="270342" name="Group 6"/>
          <p:cNvGrpSpPr>
            <a:grpSpLocks/>
          </p:cNvGrpSpPr>
          <p:nvPr/>
        </p:nvGrpSpPr>
        <p:grpSpPr bwMode="auto">
          <a:xfrm>
            <a:off x="463550" y="2578100"/>
            <a:ext cx="8680450" cy="3914775"/>
            <a:chOff x="292" y="1624"/>
            <a:chExt cx="5468" cy="2466"/>
          </a:xfrm>
        </p:grpSpPr>
        <p:pic>
          <p:nvPicPr>
            <p:cNvPr id="270343" name="Picture 7"/>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292" y="2077"/>
              <a:ext cx="1423" cy="20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70344" name="Text Box 8"/>
            <p:cNvSpPr txBox="1">
              <a:spLocks noChangeArrowheads="1"/>
            </p:cNvSpPr>
            <p:nvPr/>
          </p:nvSpPr>
          <p:spPr bwMode="auto">
            <a:xfrm>
              <a:off x="1795" y="1624"/>
              <a:ext cx="3965" cy="8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a:solidFill>
                    <a:srgbClr val="000099"/>
                  </a:solidFill>
                  <a:latin typeface="Times New Roman" pitchFamily="18" charset="0"/>
                </a:rPr>
                <a:t>The same translational and rotational velocities at </a:t>
              </a:r>
              <a:r>
                <a:rPr lang="en-US" altLang="en-US" sz="2000" i="1">
                  <a:solidFill>
                    <a:srgbClr val="000099"/>
                  </a:solidFill>
                  <a:latin typeface="Times New Roman" pitchFamily="18" charset="0"/>
                </a:rPr>
                <a:t>A </a:t>
              </a:r>
              <a:r>
                <a:rPr lang="en-US" altLang="en-US" sz="2000">
                  <a:solidFill>
                    <a:srgbClr val="000099"/>
                  </a:solidFill>
                  <a:latin typeface="Times New Roman" pitchFamily="18" charset="0"/>
                </a:rPr>
                <a:t>are obtained by allowing the slab to rotate with the same angular velocity about the point </a:t>
              </a:r>
              <a:r>
                <a:rPr lang="en-US" altLang="en-US" sz="2000" i="1">
                  <a:solidFill>
                    <a:srgbClr val="000099"/>
                  </a:solidFill>
                  <a:latin typeface="Times New Roman" pitchFamily="18" charset="0"/>
                </a:rPr>
                <a:t>C </a:t>
              </a:r>
              <a:r>
                <a:rPr lang="en-US" altLang="en-US" sz="2000">
                  <a:solidFill>
                    <a:srgbClr val="000099"/>
                  </a:solidFill>
                  <a:latin typeface="Times New Roman" pitchFamily="18" charset="0"/>
                </a:rPr>
                <a:t>on a perpendicular to the velocity at </a:t>
              </a:r>
              <a:r>
                <a:rPr lang="en-US" altLang="en-US" sz="2000" i="1">
                  <a:solidFill>
                    <a:srgbClr val="000099"/>
                  </a:solidFill>
                  <a:latin typeface="Times New Roman" pitchFamily="18" charset="0"/>
                </a:rPr>
                <a:t>A.</a:t>
              </a:r>
              <a:endParaRPr lang="en-US" altLang="en-US" sz="2000">
                <a:solidFill>
                  <a:srgbClr val="000099"/>
                </a:solidFill>
                <a:latin typeface="Times New Roman" pitchFamily="18" charset="0"/>
              </a:endParaRPr>
            </a:p>
          </p:txBody>
        </p:sp>
      </p:grpSp>
      <p:sp>
        <p:nvSpPr>
          <p:cNvPr id="270345" name="Text Box 9"/>
          <p:cNvSpPr txBox="1">
            <a:spLocks noChangeArrowheads="1"/>
          </p:cNvSpPr>
          <p:nvPr/>
        </p:nvSpPr>
        <p:spPr bwMode="auto">
          <a:xfrm>
            <a:off x="2849563" y="4005263"/>
            <a:ext cx="6234112" cy="1006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a:solidFill>
                  <a:srgbClr val="000099"/>
                </a:solidFill>
                <a:latin typeface="Times New Roman" pitchFamily="18" charset="0"/>
              </a:rPr>
              <a:t>The velocity of all other particles in the slab are the same as originally defined since the angular velocity and translational velocity at </a:t>
            </a:r>
            <a:r>
              <a:rPr lang="en-US" altLang="en-US" sz="2000" i="1">
                <a:solidFill>
                  <a:srgbClr val="000099"/>
                </a:solidFill>
                <a:latin typeface="Times New Roman" pitchFamily="18" charset="0"/>
              </a:rPr>
              <a:t>A</a:t>
            </a:r>
            <a:r>
              <a:rPr lang="en-US" altLang="en-US" sz="2000">
                <a:solidFill>
                  <a:srgbClr val="000099"/>
                </a:solidFill>
                <a:latin typeface="Times New Roman" pitchFamily="18" charset="0"/>
              </a:rPr>
              <a:t> are equivalent.</a:t>
            </a:r>
          </a:p>
        </p:txBody>
      </p:sp>
      <p:sp>
        <p:nvSpPr>
          <p:cNvPr id="270346" name="Text Box 10"/>
          <p:cNvSpPr txBox="1">
            <a:spLocks noChangeArrowheads="1"/>
          </p:cNvSpPr>
          <p:nvPr/>
        </p:nvSpPr>
        <p:spPr bwMode="auto">
          <a:xfrm>
            <a:off x="2849563" y="5129213"/>
            <a:ext cx="6115050" cy="701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a:solidFill>
                  <a:srgbClr val="000099"/>
                </a:solidFill>
                <a:latin typeface="Times New Roman" pitchFamily="18" charset="0"/>
              </a:rPr>
              <a:t>As far as the velocities are concerned, the slab seems to rotate about the </a:t>
            </a:r>
            <a:r>
              <a:rPr lang="en-US" altLang="en-US" sz="2000" i="1">
                <a:solidFill>
                  <a:srgbClr val="000099"/>
                </a:solidFill>
                <a:latin typeface="Times New Roman" pitchFamily="18" charset="0"/>
              </a:rPr>
              <a:t>instantaneous center of rotation C</a:t>
            </a:r>
            <a:r>
              <a:rPr lang="en-US" altLang="en-US" sz="2000">
                <a:solidFill>
                  <a:srgbClr val="000099"/>
                </a:solidFill>
                <a:latin typeface="Times New Roman" pitchFamily="18" charset="0"/>
              </a:rPr>
              <a:t>.</a:t>
            </a:r>
          </a:p>
        </p:txBody>
      </p:sp>
    </p:spTree>
    <p:extLst>
      <p:ext uri="{BB962C8B-B14F-4D97-AF65-F5344CB8AC3E}">
        <p14:creationId xmlns="" xmlns:p14="http://schemas.microsoft.com/office/powerpoint/2010/main" val="41756380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7034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7034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703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45" grpId="0" autoUpdateAnimBg="0"/>
      <p:bldP spid="270346"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ChangeArrowheads="1"/>
          </p:cNvSpPr>
          <p:nvPr>
            <p:ph type="title"/>
          </p:nvPr>
        </p:nvSpPr>
        <p:spPr>
          <a:xfrm>
            <a:off x="301625" y="0"/>
            <a:ext cx="8540750" cy="11430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tLang="en-US" sz="2800" smtClean="0">
                <a:effectLst/>
              </a:rPr>
              <a:t>Instantaneous Center of Rotation in Plane Motion</a:t>
            </a:r>
          </a:p>
        </p:txBody>
      </p:sp>
      <p:grpSp>
        <p:nvGrpSpPr>
          <p:cNvPr id="272387" name="Group 3"/>
          <p:cNvGrpSpPr>
            <a:grpSpLocks/>
          </p:cNvGrpSpPr>
          <p:nvPr/>
        </p:nvGrpSpPr>
        <p:grpSpPr bwMode="auto">
          <a:xfrm>
            <a:off x="447675" y="944563"/>
            <a:ext cx="8659813" cy="2774950"/>
            <a:chOff x="282" y="595"/>
            <a:chExt cx="5455" cy="1748"/>
          </a:xfrm>
        </p:grpSpPr>
        <p:pic>
          <p:nvPicPr>
            <p:cNvPr id="272388" name="Picture 4"/>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82" y="595"/>
              <a:ext cx="1398" cy="17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72389" name="Text Box 5"/>
            <p:cNvSpPr txBox="1">
              <a:spLocks noChangeArrowheads="1"/>
            </p:cNvSpPr>
            <p:nvPr/>
          </p:nvSpPr>
          <p:spPr bwMode="auto">
            <a:xfrm>
              <a:off x="1893" y="688"/>
              <a:ext cx="3844" cy="8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a:solidFill>
                    <a:srgbClr val="000099"/>
                  </a:solidFill>
                  <a:latin typeface="Times New Roman" pitchFamily="18" charset="0"/>
                </a:rPr>
                <a:t>If the velocity at two points </a:t>
              </a:r>
              <a:r>
                <a:rPr lang="en-US" altLang="en-US" sz="2000" i="1">
                  <a:solidFill>
                    <a:srgbClr val="000099"/>
                  </a:solidFill>
                  <a:latin typeface="Times New Roman" pitchFamily="18" charset="0"/>
                </a:rPr>
                <a:t>A</a:t>
              </a:r>
              <a:r>
                <a:rPr lang="en-US" altLang="en-US" sz="2000">
                  <a:solidFill>
                    <a:srgbClr val="000099"/>
                  </a:solidFill>
                  <a:latin typeface="Times New Roman" pitchFamily="18" charset="0"/>
                </a:rPr>
                <a:t> and </a:t>
              </a:r>
              <a:r>
                <a:rPr lang="en-US" altLang="en-US" sz="2000" i="1">
                  <a:solidFill>
                    <a:srgbClr val="000099"/>
                  </a:solidFill>
                  <a:latin typeface="Times New Roman" pitchFamily="18" charset="0"/>
                </a:rPr>
                <a:t>B</a:t>
              </a:r>
              <a:r>
                <a:rPr lang="en-US" altLang="en-US" sz="2000">
                  <a:solidFill>
                    <a:srgbClr val="000099"/>
                  </a:solidFill>
                  <a:latin typeface="Times New Roman" pitchFamily="18" charset="0"/>
                </a:rPr>
                <a:t> are known, the instantaneous center of rotation lies at the intersection of the perpendiculars to the velocity vectors through </a:t>
              </a:r>
              <a:r>
                <a:rPr lang="en-US" altLang="en-US" sz="2000" i="1">
                  <a:solidFill>
                    <a:srgbClr val="000099"/>
                  </a:solidFill>
                  <a:latin typeface="Times New Roman" pitchFamily="18" charset="0"/>
                </a:rPr>
                <a:t>A</a:t>
              </a:r>
              <a:r>
                <a:rPr lang="en-US" altLang="en-US" sz="2000">
                  <a:solidFill>
                    <a:srgbClr val="000099"/>
                  </a:solidFill>
                  <a:latin typeface="Times New Roman" pitchFamily="18" charset="0"/>
                </a:rPr>
                <a:t> and </a:t>
              </a:r>
              <a:r>
                <a:rPr lang="en-US" altLang="en-US" sz="2000" i="1">
                  <a:solidFill>
                    <a:srgbClr val="000099"/>
                  </a:solidFill>
                  <a:latin typeface="Times New Roman" pitchFamily="18" charset="0"/>
                </a:rPr>
                <a:t>B</a:t>
              </a:r>
              <a:r>
                <a:rPr lang="en-US" altLang="en-US" sz="2000">
                  <a:solidFill>
                    <a:srgbClr val="000099"/>
                  </a:solidFill>
                  <a:latin typeface="Times New Roman" pitchFamily="18" charset="0"/>
                </a:rPr>
                <a:t> .</a:t>
              </a:r>
            </a:p>
          </p:txBody>
        </p:sp>
      </p:grpSp>
      <p:grpSp>
        <p:nvGrpSpPr>
          <p:cNvPr id="272390" name="Group 6"/>
          <p:cNvGrpSpPr>
            <a:grpSpLocks/>
          </p:cNvGrpSpPr>
          <p:nvPr/>
        </p:nvGrpSpPr>
        <p:grpSpPr bwMode="auto">
          <a:xfrm>
            <a:off x="422275" y="3624263"/>
            <a:ext cx="8710613" cy="2865437"/>
            <a:chOff x="266" y="2283"/>
            <a:chExt cx="5487" cy="1805"/>
          </a:xfrm>
        </p:grpSpPr>
        <p:pic>
          <p:nvPicPr>
            <p:cNvPr id="272391" name="Picture 7"/>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266" y="2283"/>
              <a:ext cx="1252" cy="180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72392" name="Text Box 8"/>
            <p:cNvSpPr txBox="1">
              <a:spLocks noChangeArrowheads="1"/>
            </p:cNvSpPr>
            <p:nvPr/>
          </p:nvSpPr>
          <p:spPr bwMode="auto">
            <a:xfrm>
              <a:off x="1893" y="2340"/>
              <a:ext cx="3860" cy="8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a:solidFill>
                    <a:srgbClr val="000099"/>
                  </a:solidFill>
                  <a:latin typeface="Times New Roman" pitchFamily="18" charset="0"/>
                </a:rPr>
                <a:t>If the velocity vectors at </a:t>
              </a:r>
              <a:r>
                <a:rPr lang="en-US" altLang="en-US" sz="2000" i="1">
                  <a:solidFill>
                    <a:srgbClr val="000099"/>
                  </a:solidFill>
                  <a:latin typeface="Times New Roman" pitchFamily="18" charset="0"/>
                </a:rPr>
                <a:t>A</a:t>
              </a:r>
              <a:r>
                <a:rPr lang="en-US" altLang="en-US" sz="2000">
                  <a:solidFill>
                    <a:srgbClr val="000099"/>
                  </a:solidFill>
                  <a:latin typeface="Times New Roman" pitchFamily="18" charset="0"/>
                </a:rPr>
                <a:t> and </a:t>
              </a:r>
              <a:r>
                <a:rPr lang="en-US" altLang="en-US" sz="2000" i="1">
                  <a:solidFill>
                    <a:srgbClr val="000099"/>
                  </a:solidFill>
                  <a:latin typeface="Times New Roman" pitchFamily="18" charset="0"/>
                </a:rPr>
                <a:t>B</a:t>
              </a:r>
              <a:r>
                <a:rPr lang="en-US" altLang="en-US" sz="2000">
                  <a:solidFill>
                    <a:srgbClr val="000099"/>
                  </a:solidFill>
                  <a:latin typeface="Times New Roman" pitchFamily="18" charset="0"/>
                </a:rPr>
                <a:t> are perpendicular to the line </a:t>
              </a:r>
              <a:r>
                <a:rPr lang="en-US" altLang="en-US" sz="2000" i="1">
                  <a:solidFill>
                    <a:srgbClr val="000099"/>
                  </a:solidFill>
                  <a:latin typeface="Times New Roman" pitchFamily="18" charset="0"/>
                </a:rPr>
                <a:t>AB</a:t>
              </a:r>
              <a:r>
                <a:rPr lang="en-US" altLang="en-US" sz="2000">
                  <a:solidFill>
                    <a:srgbClr val="000099"/>
                  </a:solidFill>
                  <a:latin typeface="Times New Roman" pitchFamily="18" charset="0"/>
                </a:rPr>
                <a:t>, the instantaneous center of rotation lies at the intersection of the line </a:t>
              </a:r>
              <a:r>
                <a:rPr lang="en-US" altLang="en-US" sz="2000" i="1">
                  <a:solidFill>
                    <a:srgbClr val="000099"/>
                  </a:solidFill>
                  <a:latin typeface="Times New Roman" pitchFamily="18" charset="0"/>
                </a:rPr>
                <a:t>AB</a:t>
              </a:r>
              <a:r>
                <a:rPr lang="en-US" altLang="en-US" sz="2000">
                  <a:solidFill>
                    <a:srgbClr val="000099"/>
                  </a:solidFill>
                  <a:latin typeface="Times New Roman" pitchFamily="18" charset="0"/>
                </a:rPr>
                <a:t> with the line joining the extremities of the velocity vectors at </a:t>
              </a:r>
              <a:r>
                <a:rPr lang="en-US" altLang="en-US" sz="2000" i="1">
                  <a:solidFill>
                    <a:srgbClr val="000099"/>
                  </a:solidFill>
                  <a:latin typeface="Times New Roman" pitchFamily="18" charset="0"/>
                </a:rPr>
                <a:t>A</a:t>
              </a:r>
              <a:r>
                <a:rPr lang="en-US" altLang="en-US" sz="2000">
                  <a:solidFill>
                    <a:srgbClr val="000099"/>
                  </a:solidFill>
                  <a:latin typeface="Times New Roman" pitchFamily="18" charset="0"/>
                </a:rPr>
                <a:t> and </a:t>
              </a:r>
              <a:r>
                <a:rPr lang="en-US" altLang="en-US" sz="2000" i="1">
                  <a:solidFill>
                    <a:srgbClr val="000099"/>
                  </a:solidFill>
                  <a:latin typeface="Times New Roman" pitchFamily="18" charset="0"/>
                </a:rPr>
                <a:t>B</a:t>
              </a:r>
              <a:r>
                <a:rPr lang="en-US" altLang="en-US" sz="2000">
                  <a:solidFill>
                    <a:srgbClr val="000099"/>
                  </a:solidFill>
                  <a:latin typeface="Times New Roman" pitchFamily="18" charset="0"/>
                </a:rPr>
                <a:t>.</a:t>
              </a:r>
            </a:p>
          </p:txBody>
        </p:sp>
      </p:grpSp>
      <p:sp>
        <p:nvSpPr>
          <p:cNvPr id="272393" name="Text Box 9"/>
          <p:cNvSpPr txBox="1">
            <a:spLocks noChangeArrowheads="1"/>
          </p:cNvSpPr>
          <p:nvPr/>
        </p:nvSpPr>
        <p:spPr bwMode="auto">
          <a:xfrm>
            <a:off x="3005138" y="2555875"/>
            <a:ext cx="6138862" cy="1006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a:solidFill>
                  <a:srgbClr val="000099"/>
                </a:solidFill>
                <a:latin typeface="Times New Roman" pitchFamily="18" charset="0"/>
              </a:rPr>
              <a:t>If the velocity vectors are parallel, the instantaneous center of rotation is at infinity and the angular velocity is zero.</a:t>
            </a:r>
          </a:p>
        </p:txBody>
      </p:sp>
      <p:sp>
        <p:nvSpPr>
          <p:cNvPr id="272394" name="Text Box 10"/>
          <p:cNvSpPr txBox="1">
            <a:spLocks noChangeArrowheads="1"/>
          </p:cNvSpPr>
          <p:nvPr/>
        </p:nvSpPr>
        <p:spPr bwMode="auto">
          <a:xfrm>
            <a:off x="3005138" y="5178425"/>
            <a:ext cx="6080125" cy="1006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a:solidFill>
                  <a:srgbClr val="000099"/>
                </a:solidFill>
                <a:latin typeface="Times New Roman" pitchFamily="18" charset="0"/>
              </a:rPr>
              <a:t>If the velocity magnitudes are equal, the instantaneous center of rotation is at infinity and the angular velocity is zero.</a:t>
            </a:r>
          </a:p>
        </p:txBody>
      </p:sp>
    </p:spTree>
    <p:extLst>
      <p:ext uri="{BB962C8B-B14F-4D97-AF65-F5344CB8AC3E}">
        <p14:creationId xmlns="" xmlns:p14="http://schemas.microsoft.com/office/powerpoint/2010/main" val="32952928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7239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7239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723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93" grpId="0" autoUpdateAnimBg="0"/>
      <p:bldP spid="272394"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a:xfrm>
            <a:off x="301625" y="0"/>
            <a:ext cx="8540750" cy="11430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tLang="en-US" sz="2800" smtClean="0">
                <a:effectLst/>
              </a:rPr>
              <a:t>Instantaneous Center of Rotation in Plane Motion</a:t>
            </a:r>
          </a:p>
        </p:txBody>
      </p:sp>
      <p:grpSp>
        <p:nvGrpSpPr>
          <p:cNvPr id="274435" name="Group 3"/>
          <p:cNvGrpSpPr>
            <a:grpSpLocks/>
          </p:cNvGrpSpPr>
          <p:nvPr/>
        </p:nvGrpSpPr>
        <p:grpSpPr bwMode="auto">
          <a:xfrm>
            <a:off x="333375" y="984250"/>
            <a:ext cx="8810625" cy="2954338"/>
            <a:chOff x="210" y="620"/>
            <a:chExt cx="5550" cy="1861"/>
          </a:xfrm>
        </p:grpSpPr>
        <p:pic>
          <p:nvPicPr>
            <p:cNvPr id="274436" name="Picture 4"/>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210" y="662"/>
              <a:ext cx="1385" cy="181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74437" name="Text Box 5"/>
            <p:cNvSpPr txBox="1">
              <a:spLocks noChangeArrowheads="1"/>
            </p:cNvSpPr>
            <p:nvPr/>
          </p:nvSpPr>
          <p:spPr bwMode="auto">
            <a:xfrm>
              <a:off x="1594" y="620"/>
              <a:ext cx="4166" cy="44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a:solidFill>
                    <a:srgbClr val="000099"/>
                  </a:solidFill>
                  <a:latin typeface="Times New Roman" pitchFamily="18" charset="0"/>
                </a:rPr>
                <a:t>The instantaneous center of rotation lies at the intersection of the perpendiculars to the velocity vectors through </a:t>
              </a:r>
              <a:r>
                <a:rPr lang="en-US" altLang="en-US" sz="2000" i="1">
                  <a:solidFill>
                    <a:srgbClr val="000099"/>
                  </a:solidFill>
                  <a:latin typeface="Times New Roman" pitchFamily="18" charset="0"/>
                </a:rPr>
                <a:t>A</a:t>
              </a:r>
              <a:r>
                <a:rPr lang="en-US" altLang="en-US" sz="2000">
                  <a:solidFill>
                    <a:srgbClr val="000099"/>
                  </a:solidFill>
                  <a:latin typeface="Times New Roman" pitchFamily="18" charset="0"/>
                </a:rPr>
                <a:t> and </a:t>
              </a:r>
              <a:r>
                <a:rPr lang="en-US" altLang="en-US" sz="2000" i="1">
                  <a:solidFill>
                    <a:srgbClr val="000099"/>
                  </a:solidFill>
                  <a:latin typeface="Times New Roman" pitchFamily="18" charset="0"/>
                </a:rPr>
                <a:t>B</a:t>
              </a:r>
              <a:r>
                <a:rPr lang="en-US" altLang="en-US" sz="2000">
                  <a:solidFill>
                    <a:srgbClr val="000099"/>
                  </a:solidFill>
                  <a:latin typeface="Times New Roman" pitchFamily="18" charset="0"/>
                </a:rPr>
                <a:t> .</a:t>
              </a:r>
            </a:p>
          </p:txBody>
        </p:sp>
      </p:grpSp>
      <p:graphicFrame>
        <p:nvGraphicFramePr>
          <p:cNvPr id="274438" name="Object 6"/>
          <p:cNvGraphicFramePr>
            <a:graphicFrameLocks noChangeAspect="1"/>
          </p:cNvGraphicFramePr>
          <p:nvPr/>
        </p:nvGraphicFramePr>
        <p:xfrm>
          <a:off x="2955925" y="1711325"/>
          <a:ext cx="1778000" cy="609600"/>
        </p:xfrm>
        <a:graphic>
          <a:graphicData uri="http://schemas.openxmlformats.org/presentationml/2006/ole">
            <p:oleObj spid="_x0000_s12300" name="Equation" r:id="rId5" imgW="1778000" imgH="609600" progId="Equation.3">
              <p:embed/>
            </p:oleObj>
          </a:graphicData>
        </a:graphic>
      </p:graphicFrame>
      <p:graphicFrame>
        <p:nvGraphicFramePr>
          <p:cNvPr id="274439" name="Object 7"/>
          <p:cNvGraphicFramePr>
            <a:graphicFrameLocks noChangeAspect="1"/>
          </p:cNvGraphicFramePr>
          <p:nvPr/>
        </p:nvGraphicFramePr>
        <p:xfrm>
          <a:off x="5927725" y="1711325"/>
          <a:ext cx="2959100" cy="990600"/>
        </p:xfrm>
        <a:graphic>
          <a:graphicData uri="http://schemas.openxmlformats.org/presentationml/2006/ole">
            <p:oleObj spid="_x0000_s12301" name="Equation" r:id="rId6" imgW="2959100" imgH="990600" progId="Equation.3">
              <p:embed/>
            </p:oleObj>
          </a:graphicData>
        </a:graphic>
      </p:graphicFrame>
      <p:sp>
        <p:nvSpPr>
          <p:cNvPr id="274440" name="Text Box 8"/>
          <p:cNvSpPr txBox="1">
            <a:spLocks noChangeArrowheads="1"/>
          </p:cNvSpPr>
          <p:nvPr/>
        </p:nvSpPr>
        <p:spPr bwMode="auto">
          <a:xfrm>
            <a:off x="2530475" y="2838450"/>
            <a:ext cx="6554788" cy="701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a:solidFill>
                  <a:srgbClr val="000099"/>
                </a:solidFill>
                <a:latin typeface="Times New Roman" pitchFamily="18" charset="0"/>
              </a:rPr>
              <a:t>The velocities of all particles on the rod are as if they were rotated about </a:t>
            </a:r>
            <a:r>
              <a:rPr lang="en-US" altLang="en-US" sz="2000" i="1">
                <a:solidFill>
                  <a:srgbClr val="000099"/>
                </a:solidFill>
                <a:latin typeface="Times New Roman" pitchFamily="18" charset="0"/>
              </a:rPr>
              <a:t>C.</a:t>
            </a:r>
            <a:endParaRPr lang="en-US" altLang="en-US" sz="2000">
              <a:solidFill>
                <a:srgbClr val="000099"/>
              </a:solidFill>
              <a:latin typeface="Times New Roman" pitchFamily="18" charset="0"/>
            </a:endParaRPr>
          </a:p>
        </p:txBody>
      </p:sp>
      <p:sp>
        <p:nvSpPr>
          <p:cNvPr id="274441" name="Text Box 9"/>
          <p:cNvSpPr txBox="1">
            <a:spLocks noChangeArrowheads="1"/>
          </p:cNvSpPr>
          <p:nvPr/>
        </p:nvSpPr>
        <p:spPr bwMode="auto">
          <a:xfrm>
            <a:off x="2530475" y="3576638"/>
            <a:ext cx="654208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a:solidFill>
                  <a:srgbClr val="000099"/>
                </a:solidFill>
                <a:latin typeface="Times New Roman" pitchFamily="18" charset="0"/>
              </a:rPr>
              <a:t>The particle at the center of rotation has zero velocity.</a:t>
            </a:r>
          </a:p>
        </p:txBody>
      </p:sp>
      <p:sp>
        <p:nvSpPr>
          <p:cNvPr id="274442" name="Text Box 10"/>
          <p:cNvSpPr txBox="1">
            <a:spLocks noChangeArrowheads="1"/>
          </p:cNvSpPr>
          <p:nvPr/>
        </p:nvSpPr>
        <p:spPr bwMode="auto">
          <a:xfrm>
            <a:off x="2530475" y="4011613"/>
            <a:ext cx="6554788" cy="1006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a:solidFill>
                  <a:srgbClr val="000099"/>
                </a:solidFill>
                <a:latin typeface="Times New Roman" pitchFamily="18" charset="0"/>
              </a:rPr>
              <a:t>The particle coinciding with the center of rotation changes with time and the acceleration of the particle at the instantaneous center of rotation is not zero.</a:t>
            </a:r>
          </a:p>
        </p:txBody>
      </p:sp>
      <p:sp>
        <p:nvSpPr>
          <p:cNvPr id="274443" name="Text Box 11"/>
          <p:cNvSpPr txBox="1">
            <a:spLocks noChangeArrowheads="1"/>
          </p:cNvSpPr>
          <p:nvPr/>
        </p:nvSpPr>
        <p:spPr bwMode="auto">
          <a:xfrm>
            <a:off x="2530475" y="5054600"/>
            <a:ext cx="6542088" cy="701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a:solidFill>
                  <a:srgbClr val="000099"/>
                </a:solidFill>
                <a:latin typeface="Times New Roman" pitchFamily="18" charset="0"/>
              </a:rPr>
              <a:t>The acceleration of the particles in the slab cannot be determined as if the slab were simply rotating about </a:t>
            </a:r>
            <a:r>
              <a:rPr lang="en-US" altLang="en-US" sz="2000" i="1">
                <a:solidFill>
                  <a:srgbClr val="000099"/>
                </a:solidFill>
                <a:latin typeface="Times New Roman" pitchFamily="18" charset="0"/>
              </a:rPr>
              <a:t>C.</a:t>
            </a:r>
            <a:endParaRPr lang="en-US" altLang="en-US" sz="2000">
              <a:solidFill>
                <a:srgbClr val="000099"/>
              </a:solidFill>
              <a:latin typeface="Times New Roman" pitchFamily="18" charset="0"/>
            </a:endParaRPr>
          </a:p>
        </p:txBody>
      </p:sp>
      <p:grpSp>
        <p:nvGrpSpPr>
          <p:cNvPr id="274444" name="Group 12"/>
          <p:cNvGrpSpPr>
            <a:grpSpLocks/>
          </p:cNvGrpSpPr>
          <p:nvPr/>
        </p:nvGrpSpPr>
        <p:grpSpPr bwMode="auto">
          <a:xfrm>
            <a:off x="300038" y="4397375"/>
            <a:ext cx="8701087" cy="2098675"/>
            <a:chOff x="189" y="2770"/>
            <a:chExt cx="5481" cy="1322"/>
          </a:xfrm>
        </p:grpSpPr>
        <p:pic>
          <p:nvPicPr>
            <p:cNvPr id="274445" name="Picture 13"/>
            <p:cNvPicPr>
              <a:picLocks noChangeAspect="1" noChangeArrowheads="1"/>
            </p:cNvPicPr>
            <p:nvPr/>
          </p:nvPicPr>
          <p:blipFill>
            <a:blip r:embed="rId7" cstate="print">
              <a:extLst>
                <a:ext uri="{28A0092B-C50C-407E-A947-70E740481C1C}">
                  <a14:useLocalDpi xmlns="" xmlns:a14="http://schemas.microsoft.com/office/drawing/2010/main" val="0"/>
                </a:ext>
              </a:extLst>
            </a:blip>
            <a:srcRect/>
            <a:stretch>
              <a:fillRect/>
            </a:stretch>
          </p:blipFill>
          <p:spPr bwMode="auto">
            <a:xfrm>
              <a:off x="189" y="2770"/>
              <a:ext cx="1485" cy="125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274446" name="Text Box 14"/>
            <p:cNvSpPr txBox="1">
              <a:spLocks noChangeArrowheads="1"/>
            </p:cNvSpPr>
            <p:nvPr/>
          </p:nvSpPr>
          <p:spPr bwMode="auto">
            <a:xfrm>
              <a:off x="1594" y="3650"/>
              <a:ext cx="4076" cy="44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marL="227013" indent="-227013">
                <a:defRPr>
                  <a:solidFill>
                    <a:schemeClr val="tx1"/>
                  </a:solidFill>
                  <a:latin typeface="Tahoma" pitchFamily="34" charset="0"/>
                </a:defRPr>
              </a:lvl1pPr>
              <a:lvl2pPr>
                <a:defRPr>
                  <a:solidFill>
                    <a:schemeClr val="tx1"/>
                  </a:solidFill>
                  <a:latin typeface="Tahoma" pitchFamily="34" charset="0"/>
                </a:defRPr>
              </a:lvl2pPr>
              <a:lvl3pPr>
                <a:defRPr>
                  <a:solidFill>
                    <a:schemeClr val="tx1"/>
                  </a:solidFill>
                  <a:latin typeface="Tahoma" pitchFamily="34" charset="0"/>
                </a:defRPr>
              </a:lvl3pPr>
              <a:lvl4pPr>
                <a:defRPr>
                  <a:solidFill>
                    <a:schemeClr val="tx1"/>
                  </a:solidFill>
                  <a:latin typeface="Tahoma" pitchFamily="34" charset="0"/>
                </a:defRPr>
              </a:lvl4pPr>
              <a:lvl5pPr>
                <a:defRPr>
                  <a:solidFill>
                    <a:schemeClr val="tx1"/>
                  </a:solidFill>
                  <a:latin typeface="Tahoma" pitchFamily="34" charset="0"/>
                </a:defRPr>
              </a:lvl5pPr>
              <a:lvl6pPr eaLnBrk="0" fontAlgn="base" hangingPunct="0">
                <a:spcBef>
                  <a:spcPct val="0"/>
                </a:spcBef>
                <a:spcAft>
                  <a:spcPct val="0"/>
                </a:spcAft>
                <a:defRPr>
                  <a:solidFill>
                    <a:schemeClr val="tx1"/>
                  </a:solidFill>
                  <a:latin typeface="Tahoma" pitchFamily="34" charset="0"/>
                </a:defRPr>
              </a:lvl6pPr>
              <a:lvl7pPr eaLnBrk="0" fontAlgn="base" hangingPunct="0">
                <a:spcBef>
                  <a:spcPct val="0"/>
                </a:spcBef>
                <a:spcAft>
                  <a:spcPct val="0"/>
                </a:spcAft>
                <a:defRPr>
                  <a:solidFill>
                    <a:schemeClr val="tx1"/>
                  </a:solidFill>
                  <a:latin typeface="Tahoma" pitchFamily="34" charset="0"/>
                </a:defRPr>
              </a:lvl7pPr>
              <a:lvl8pPr eaLnBrk="0" fontAlgn="base" hangingPunct="0">
                <a:spcBef>
                  <a:spcPct val="0"/>
                </a:spcBef>
                <a:spcAft>
                  <a:spcPct val="0"/>
                </a:spcAft>
                <a:defRPr>
                  <a:solidFill>
                    <a:schemeClr val="tx1"/>
                  </a:solidFill>
                  <a:latin typeface="Tahoma" pitchFamily="34" charset="0"/>
                </a:defRPr>
              </a:lvl8pPr>
              <a:lvl9pPr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buFontTx/>
                <a:buChar char="•"/>
              </a:pPr>
              <a:r>
                <a:rPr lang="en-US" altLang="en-US" sz="2000">
                  <a:solidFill>
                    <a:srgbClr val="000099"/>
                  </a:solidFill>
                  <a:latin typeface="Times New Roman" pitchFamily="18" charset="0"/>
                </a:rPr>
                <a:t>The trace of the locus of the center of rotation on the body is the body centrode and in space is the space centrode.</a:t>
              </a:r>
            </a:p>
          </p:txBody>
        </p:sp>
      </p:grpSp>
    </p:spTree>
    <p:extLst>
      <p:ext uri="{BB962C8B-B14F-4D97-AF65-F5344CB8AC3E}">
        <p14:creationId xmlns="" xmlns:p14="http://schemas.microsoft.com/office/powerpoint/2010/main" val="32433143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7443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7443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7444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7444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7444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7444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2744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40" grpId="0" autoUpdateAnimBg="0"/>
      <p:bldP spid="274441" grpId="0" autoUpdateAnimBg="0"/>
      <p:bldP spid="274442" grpId="0" autoUpdateAnimBg="0"/>
      <p:bldP spid="274443" grpId="0" autoUpdateAnimBg="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232</TotalTime>
  <Words>1023</Words>
  <Application>Microsoft Office PowerPoint</Application>
  <PresentationFormat>On-screen Show (4:3)</PresentationFormat>
  <Paragraphs>83</Paragraphs>
  <Slides>17</Slides>
  <Notes>10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19" baseType="lpstr">
      <vt:lpstr>Office Theme</vt:lpstr>
      <vt:lpstr>Equation</vt:lpstr>
      <vt:lpstr>KINEMATICS AND KINETIC OF RIGID BODIES</vt:lpstr>
      <vt:lpstr>WHICH TYPE OF OBJECT IS CONSIDRED AS A RIGID BODY?</vt:lpstr>
      <vt:lpstr>Types of rigid body motion</vt:lpstr>
      <vt:lpstr>Kinematics of translation</vt:lpstr>
      <vt:lpstr>Slide 5</vt:lpstr>
      <vt:lpstr>Example problem 1</vt:lpstr>
      <vt:lpstr>Example problem 2</vt:lpstr>
      <vt:lpstr>EXAMPLE PROBLEM 3 </vt:lpstr>
      <vt:lpstr>General Plane Motion</vt:lpstr>
      <vt:lpstr>Absolute and Relative Velocity in Plane Motion</vt:lpstr>
      <vt:lpstr>Absolute and Relative Velocity in Plane Motion</vt:lpstr>
      <vt:lpstr>Absolute and Relative Velocity in Plane Motion</vt:lpstr>
      <vt:lpstr>Analysis of Plane Motion in Terms of a Parameter</vt:lpstr>
      <vt:lpstr>Example problem 4</vt:lpstr>
      <vt:lpstr>Instantaneous Center of Rotation in Plane Motion</vt:lpstr>
      <vt:lpstr>Instantaneous Center of Rotation in Plane Motion</vt:lpstr>
      <vt:lpstr>Instantaneous Center of Rotation in Plane Motion</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KINEMATICS AND KINETIC OF RIGID BODIES</dc:title>
  <dc:creator>HP</dc:creator>
  <cp:lastModifiedBy>AKR</cp:lastModifiedBy>
  <cp:revision>22</cp:revision>
  <dcterms:created xsi:type="dcterms:W3CDTF">2018-09-22T20:55:00Z</dcterms:created>
  <dcterms:modified xsi:type="dcterms:W3CDTF">2020-04-09T04:23:40Z</dcterms:modified>
</cp:coreProperties>
</file>